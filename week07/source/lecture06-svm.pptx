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Default Extension="xlsx" ContentType="application/vnd.openxmlformats-officedocument.spreadsheetml.sheet"/>
  <Override PartName="/ppt/media/cu_image174.png" ContentType="image/png"/>
  <Override PartName="/ppt/media/cu_image175.png" ContentType="image/png"/>
  <Override PartName="/ppt/media/cu_image177.png" ContentType="image/png"/>
  <Override PartName="/ppt/media/cu_image178.png" ContentType="image/png"/>
  <Override PartName="/ppt/media/cu_image179.png" ContentType="image/png"/>
  <Override PartName="/ppt/media/cu_image180.png" ContentType="image/png"/>
  <Override PartName="/ppt/media/cu_image181.png" ContentType="image/png"/>
  <Override PartName="/ppt/media/cu_image182.png" ContentType="image/png"/>
  <Override PartName="/ppt/media/cu_image167.png" ContentType="image/png"/>
  <Override PartName="/ppt/media/cu_image183.png" ContentType="image/png"/>
  <Override PartName="/ppt/media/cu_image184.png" ContentType="image/png"/>
  <Override PartName="/ppt/media/cu_image185.png" ContentType="image/png"/>
  <Override PartName="/ppt/media/cu_image186.png" ContentType="image/png"/>
  <Override PartName="/ppt/media/cu_image187.png" ContentType="image/png"/>
  <Override PartName="/ppt/media/cu_image188.png" ContentType="image/png"/>
  <Override PartName="/ppt/media/cu_image189.png" ContentType="image/png"/>
  <Override PartName="/ppt/media/cu_image190.png" ContentType="image/png"/>
  <Override PartName="/ppt/media/cu_image191.png" ContentType="image/png"/>
  <Override PartName="/ppt/media/cu_image192.png" ContentType="image/png"/>
  <Override PartName="/ppt/media/cu_image193.png" ContentType="image/png"/>
  <Override PartName="/ppt/media/cu_image194.png" ContentType="image/png"/>
  <Override PartName="/ppt/media/cu_image195.png" ContentType="image/png"/>
  <Override PartName="/ppt/media/cu_image196.png" ContentType="image/png"/>
  <Override PartName="/ppt/media/cu_image197.png" ContentType="image/png"/>
  <Override PartName="/ppt/media/cu_image198.svg" ContentType="image/svg+xml"/>
  <Override PartName="/ppt/media/cu_image199.svg" ContentType="image/svg+xml"/>
  <Override PartName="/ppt/media/cu_image200.png" ContentType="image/png"/>
  <Override PartName="/ppt/media/cu_image201.svg" ContentType="image/svg+xml"/>
  <Override PartName="/ppt/media/cu_image202.svg" ContentType="image/svg+xml"/>
  <Override PartName="/ppt/media/cu_image204.png" ContentType="image/png"/>
  <Override PartName="/ppt/media/cu_image205.svg" ContentType="image/svg+xml"/>
  <Override PartName="/ppt/media/cu_image206.svg" ContentType="image/svg+xml"/>
  <Override PartName="/ppt/media/cu_image207.svg" ContentType="image/svg+xml"/>
  <Override PartName="/ppt/media/cu_image208.png" ContentType="image/png"/>
  <Override PartName="/ppt/media/cu_image209.png" ContentType="image/png"/>
  <Override PartName="/ppt/media/cu_image210.png" ContentType="image/png"/>
  <Override PartName="/ppt/media/cu_image223.png" ContentType="image/png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06e2f8dc03495e" /><Relationship Type="http://schemas.openxmlformats.org/officeDocument/2006/relationships/extended-properties" Target="/docProps/app.xml" Id="R4816767ea1624ca0" /><Relationship Type="http://schemas.openxmlformats.org/officeDocument/2006/relationships/officeDocument" Target="/ppt/presentation.xml" Id="Rd82ccfe450814d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e15e1689f439a"/>
  </p:sldMasterIdLst>
  <p:notesMasterIdLst>
    <p:notesMasterId xmlns:r="http://schemas.openxmlformats.org/officeDocument/2006/relationships" r:id="R45f89c7eeef447ad"/>
  </p:notesMasterIdLst>
  <p:sldIdLst>
    <p:sldId xmlns:ns0="http://schemas.openxmlformats.org/officeDocument/2006/relationships" id="256" ns0:id="readable1"/>
    <p:sldId xmlns:ns1="http://schemas.openxmlformats.org/officeDocument/2006/relationships" id="257" ns1:id="readable2"/>
    <p:sldId xmlns:ns2="http://schemas.openxmlformats.org/officeDocument/2006/relationships" id="258" ns2:id="readable3"/>
    <p:sldId xmlns:ns3="http://schemas.openxmlformats.org/officeDocument/2006/relationships" id="259" ns3:id="readable4"/>
    <p:sldId xmlns:ns4="http://schemas.openxmlformats.org/officeDocument/2006/relationships" id="260" ns4:id="readable5"/>
    <p:sldId xmlns:ns5="http://schemas.openxmlformats.org/officeDocument/2006/relationships" id="261" ns5:id="readable6"/>
    <p:sldId xmlns:ns6="http://schemas.openxmlformats.org/officeDocument/2006/relationships" id="262" ns6:id="readable7"/>
    <p:sldId xmlns:ns7="http://schemas.openxmlformats.org/officeDocument/2006/relationships" id="263" ns7:id="readable8"/>
    <p:sldId xmlns:ns8="http://schemas.openxmlformats.org/officeDocument/2006/relationships" id="264" ns8:id="readable9"/>
    <p:sldId xmlns:ns9="http://schemas.openxmlformats.org/officeDocument/2006/relationships" id="265" ns9:id="readable10"/>
    <p:sldId xmlns:ns10="http://schemas.openxmlformats.org/officeDocument/2006/relationships" id="266" ns10:id="readable11"/>
    <p:sldId xmlns:ns11="http://schemas.openxmlformats.org/officeDocument/2006/relationships" id="267" ns11:id="readable12"/>
    <p:sldId xmlns:ns12="http://schemas.openxmlformats.org/officeDocument/2006/relationships" id="268" ns12:id="readable13"/>
    <p:sldId xmlns:ns13="http://schemas.openxmlformats.org/officeDocument/2006/relationships" id="269" ns13:id="readable14"/>
    <p:sldId xmlns:ns14="http://schemas.openxmlformats.org/officeDocument/2006/relationships" id="270" ns14:id="readable15"/>
    <p:sldId xmlns:ns15="http://schemas.openxmlformats.org/officeDocument/2006/relationships" id="271" ns15:id="readable16"/>
    <p:sldId xmlns:ns16="http://schemas.openxmlformats.org/officeDocument/2006/relationships" id="272" ns16:id="readable17"/>
    <p:sldId xmlns:ns17="http://schemas.openxmlformats.org/officeDocument/2006/relationships" id="273" ns17:id="readable18"/>
    <p:sldId xmlns:ns18="http://schemas.openxmlformats.org/officeDocument/2006/relationships" id="274" ns18:id="readable19"/>
    <p:sldId xmlns:ns19="http://schemas.openxmlformats.org/officeDocument/2006/relationships" id="275" ns19:id="readable20"/>
    <p:sldId xmlns:ns20="http://schemas.openxmlformats.org/officeDocument/2006/relationships" id="276" ns20:id="readable21"/>
    <p:sldId xmlns:ns21="http://schemas.openxmlformats.org/officeDocument/2006/relationships" id="277" ns21:id="readable22"/>
    <p:sldId xmlns:ns22="http://schemas.openxmlformats.org/officeDocument/2006/relationships" id="278" ns22:id="readable23"/>
    <p:sldId xmlns:ns23="http://schemas.openxmlformats.org/officeDocument/2006/relationships" id="279" ns23:id="readable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5501375061a4742"/><Relationship Type="http://schemas.openxmlformats.org/officeDocument/2006/relationships/slideMaster" Target="/ppt/slideMasters/slideMaster1.xml" Id="Rf75e15e1689f439a"/><Relationship Type="http://schemas.openxmlformats.org/officeDocument/2006/relationships/notesMaster" Target="/ppt/notesMasters/notesMaster1.xml" Id="R45f89c7eeef447ad"/><Relationship Type="http://schemas.openxmlformats.org/officeDocument/2006/relationships/presProps" Target="/ppt/presProps.xml" Id="R3396fa260af54df5"/><Relationship Type="http://schemas.openxmlformats.org/officeDocument/2006/relationships/viewProps" Target="/ppt/viewProps.xml" Id="Ra7b5544df3fb44f6"/><Relationship Type="http://schemas.openxmlformats.org/officeDocument/2006/relationships/tableStyles" Target="/ppt/tableStyles.xml" Id="Rfe90d4a232684825"/><Relationship Id="readable1" Type="http://schemas.openxmlformats.org/officeDocument/2006/relationships/slide" Target="/ppt/slides/slide1.xml"/><Relationship Id="readable2" Type="http://schemas.openxmlformats.org/officeDocument/2006/relationships/slide" Target="/ppt/slides/slide2.xml"/><Relationship Id="readable3" Type="http://schemas.openxmlformats.org/officeDocument/2006/relationships/slide" Target="/ppt/slides/slide3.xml"/><Relationship Id="readable4" Type="http://schemas.openxmlformats.org/officeDocument/2006/relationships/slide" Target="/ppt/slides/slide4.xml"/><Relationship Id="readable5" Type="http://schemas.openxmlformats.org/officeDocument/2006/relationships/slide" Target="/ppt/slides/slide5.xml"/><Relationship Id="readable6" Type="http://schemas.openxmlformats.org/officeDocument/2006/relationships/slide" Target="/ppt/slides/slide6.xml"/><Relationship Id="readable7" Type="http://schemas.openxmlformats.org/officeDocument/2006/relationships/slide" Target="/ppt/slides/slide7.xml"/><Relationship Id="readable8" Type="http://schemas.openxmlformats.org/officeDocument/2006/relationships/slide" Target="/ppt/slides/slide8.xml"/><Relationship Id="readable9" Type="http://schemas.openxmlformats.org/officeDocument/2006/relationships/slide" Target="/ppt/slides/slide9.xml"/><Relationship Id="readable10" Type="http://schemas.openxmlformats.org/officeDocument/2006/relationships/slide" Target="/ppt/slides/slide10.xml"/><Relationship Id="readable11" Type="http://schemas.openxmlformats.org/officeDocument/2006/relationships/slide" Target="/ppt/slides/slide11.xml"/><Relationship Id="readable12" Type="http://schemas.openxmlformats.org/officeDocument/2006/relationships/slide" Target="/ppt/slides/slide12.xml"/><Relationship Id="readable13" Type="http://schemas.openxmlformats.org/officeDocument/2006/relationships/slide" Target="/ppt/slides/slide13.xml"/><Relationship Id="readable14" Type="http://schemas.openxmlformats.org/officeDocument/2006/relationships/slide" Target="/ppt/slides/slide14.xml"/><Relationship Id="readable15" Type="http://schemas.openxmlformats.org/officeDocument/2006/relationships/slide" Target="/ppt/slides/slide15.xml"/><Relationship Id="readable16" Type="http://schemas.openxmlformats.org/officeDocument/2006/relationships/slide" Target="/ppt/slides/slide16.xml"/><Relationship Id="readable17" Type="http://schemas.openxmlformats.org/officeDocument/2006/relationships/slide" Target="/ppt/slides/slide17.xml"/><Relationship Id="readable18" Type="http://schemas.openxmlformats.org/officeDocument/2006/relationships/slide" Target="/ppt/slides/slide18.xml"/><Relationship Id="readable19" Type="http://schemas.openxmlformats.org/officeDocument/2006/relationships/slide" Target="/ppt/slides/slide19.xml"/><Relationship Id="readable20" Type="http://schemas.openxmlformats.org/officeDocument/2006/relationships/slide" Target="/ppt/slides/slide20.xml"/><Relationship Id="readable21" Type="http://schemas.openxmlformats.org/officeDocument/2006/relationships/slide" Target="/ppt/slides/slide21.xml"/><Relationship Id="readable22" Type="http://schemas.openxmlformats.org/officeDocument/2006/relationships/slide" Target="/ppt/slides/slide22.xml"/><Relationship Id="readable23" Type="http://schemas.openxmlformats.org/officeDocument/2006/relationships/slide" Target="/ppt/slides/slide23.xml"/><Relationship Id="readable24" Type="http://schemas.openxmlformats.org/officeDocument/2006/relationships/slide" Target="/ppt/slides/slide24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57dce0d244a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.xml"/></Relationships>
</file>

<file path=ppt/notesSlides/_rels/notesSlide2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2.xml"/></Relationships>
</file>

<file path=ppt/notesSlides/_rels/notesSlide3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3.xml"/></Relationships>
</file>

<file path=ppt/notesSlides/_rels/notesSlide4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4.xml"/></Relationships>
</file>

<file path=ppt/notesSlides/_rels/notesSlide5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5.xml"/></Relationships>
</file>

<file path=ppt/notesSlides/_rels/notesSlide6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6.xml"/></Relationships>
</file>

<file path=ppt/notesSlides/_rels/notesSlide7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7.xml"/></Relationships>
</file>

<file path=ppt/notesSlides/_rels/notesSlide8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8.xml"/></Relationships>
</file>

<file path=ppt/notesSlides/_rels/notesSlide9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9.xml"/></Relationships>
</file>

<file path=ppt/notesSlides/_rels/notesSlide10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0.xml"/></Relationships>
</file>

<file path=ppt/notesSlides/_rels/notesSlide11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1.xml"/></Relationships>
</file>

<file path=ppt/notesSlides/_rels/notesSlide12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2.xml"/></Relationships>
</file>

<file path=ppt/notesSlides/_rels/notesSlide13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3.xml"/></Relationships>
</file>

<file path=ppt/notesSlides/_rels/notesSlide14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4.xml"/></Relationships>
</file>

<file path=ppt/notesSlides/_rels/notesSlide15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5.xml"/></Relationships>
</file>

<file path=ppt/notesSlides/_rels/notesSlide16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6.xml"/></Relationships>
</file>

<file path=ppt/notesSlides/_rels/notesSlide17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7.xml"/></Relationships>
</file>

<file path=ppt/notesSlides/_rels/notesSlide18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8.xml"/></Relationships>
</file>

<file path=ppt/notesSlides/_rels/notesSlide19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19.xml"/></Relationships>
</file>

<file path=ppt/notesSlides/_rels/notesSlide20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20.xml"/></Relationships>
</file>

<file path=ppt/notesSlides/_rels/notesSlide21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21.xml"/></Relationships>
</file>

<file path=ppt/notesSlides/_rels/notesSlide22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22.xml"/></Relationships>
</file>

<file path=ppt/notesSlides/_rels/notesSlide23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23.xml"/></Relationships>
</file>

<file path=ppt/notesSlides/_rels/notesSlide24.xml.rels><?xml version='1.0' encoding='UTF-8' standalone='yes'?>
<Relationships xmlns="http://schemas.openxmlformats.org/package/2006/relationships"><Relationship Id="notesMaster" Type="http://schemas.openxmlformats.org/officeDocument/2006/relationships/notesMaster" Target="/ppt/notesMasters/notesMaster1.xml"/><Relationship Id="slide" Type="http://schemas.openxmlformats.org/officeDocument/2006/relationships/slide" Target="/ppt/slides/slide2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40. Продолжение исходного слайда. Изменена только верстка.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50. Продолжение исходного слайда. Изменена только верстка.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62.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63.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МАГА2026_Презентация_Неделя 5.pptx, слайд 63. Продолжение исходного слайда. Изменена только верстка.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6f373603e40a6" /><Relationship Type="http://schemas.openxmlformats.org/officeDocument/2006/relationships/image" Target="/ppt/media/image.jpeg" Id="R24e00e3d91644683" /><Relationship Type="http://schemas.openxmlformats.org/officeDocument/2006/relationships/image" Target="/ppt/media/image.png" Id="R649c64c3fdc74d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80d9313ee4a8d" /><Relationship Type="http://schemas.openxmlformats.org/officeDocument/2006/relationships/image" Target="/ppt/media/image2.jpeg" Id="R3dc2670ba8ed47bd" /><Relationship Type="http://schemas.openxmlformats.org/officeDocument/2006/relationships/image" Target="/ppt/media/image2.png" Id="Rf14cc16c1be949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5934f0a114f59" /><Relationship Type="http://schemas.openxmlformats.org/officeDocument/2006/relationships/image" Target="/ppt/media/image2.jpeg" Id="Ref88932282104afe" /><Relationship Type="http://schemas.openxmlformats.org/officeDocument/2006/relationships/image" Target="/ppt/media/image2.png" Id="R1b1f5995dce044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4495954564dfe" /><Relationship Type="http://schemas.openxmlformats.org/officeDocument/2006/relationships/image" Target="/ppt/media/image2.jpeg" Id="R2989d121f0994360" /><Relationship Type="http://schemas.openxmlformats.org/officeDocument/2006/relationships/image" Target="/ppt/media/image2.png" Id="Redce5c212a7d46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6b71d5e4a415c" /><Relationship Type="http://schemas.openxmlformats.org/officeDocument/2006/relationships/image" Target="/ppt/media/image2.jpeg" Id="R30b507c4bb394cc1" /><Relationship Type="http://schemas.openxmlformats.org/officeDocument/2006/relationships/image" Target="/ppt/media/image2.png" Id="R9b71b49da89244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fac82768143a8" /><Relationship Type="http://schemas.openxmlformats.org/officeDocument/2006/relationships/image" Target="/ppt/media/image2.jpeg" Id="R5484ff40b24140c0" /><Relationship Type="http://schemas.openxmlformats.org/officeDocument/2006/relationships/image" Target="/ppt/media/image2.png" Id="R9d8b76081986468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19ff9e18b43bf" /><Relationship Type="http://schemas.openxmlformats.org/officeDocument/2006/relationships/image" Target="/ppt/media/image2.jpeg" Id="R842c070a24d043de" /><Relationship Type="http://schemas.openxmlformats.org/officeDocument/2006/relationships/image" Target="/ppt/media/image2.png" Id="R038eea6c903048c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e6f99b2524d02" /><Relationship Type="http://schemas.openxmlformats.org/officeDocument/2006/relationships/image" Target="/ppt/media/image2.jpeg" Id="R15a6d482e9e34c84" /><Relationship Type="http://schemas.openxmlformats.org/officeDocument/2006/relationships/image" Target="/ppt/media/image2.png" Id="Rca7aaa29568842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95ec5e5bb49bc" /><Relationship Type="http://schemas.openxmlformats.org/officeDocument/2006/relationships/image" Target="/ppt/media/image2.jpeg" Id="Rd609e67589b84060" /><Relationship Type="http://schemas.openxmlformats.org/officeDocument/2006/relationships/image" Target="/ppt/media/image2.png" Id="R875e7289500a406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22e03c71d4624" /><Relationship Type="http://schemas.openxmlformats.org/officeDocument/2006/relationships/image" Target="/ppt/media/image2.jpeg" Id="R54ad8bdbfd5d4f57" /><Relationship Type="http://schemas.openxmlformats.org/officeDocument/2006/relationships/image" Target="/ppt/media/image2.png" Id="Rcdaa3be97a6449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39ecfb73e4928" /><Relationship Type="http://schemas.openxmlformats.org/officeDocument/2006/relationships/image" Target="/ppt/media/image2.jpeg" Id="R9560996d161f41aa" /><Relationship Type="http://schemas.openxmlformats.org/officeDocument/2006/relationships/image" Target="/ppt/media/image2.png" Id="R70e95445de8b430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feb597b0a445c" /><Relationship Type="http://schemas.openxmlformats.org/officeDocument/2006/relationships/image" Target="/ppt/media/image2.jpeg" Id="R20f2050be48a43ac" /><Relationship Type="http://schemas.openxmlformats.org/officeDocument/2006/relationships/image" Target="/ppt/media/image3.png" Id="Rcca1200a36f8402a" /></Relationships>
</file>

<file path=ppt/slideLayouts/slideLayout1.xml><?xml version="1.0" encoding="utf-8"?>
<p:sldLayout xmlns:p="http://schemas.openxmlformats.org/presentationml/2006/main" preserve="1" userDrawn="1">
  <p:cSld name="Обложка">
    <p:bg>
      <p:bgPr>
        <a:blipFill xmlns:a="http://schemas.openxmlformats.org/drawingml/2006/main" rotWithShape="1">
          <a:blip xmlns:r="http://schemas.openxmlformats.org/officeDocument/2006/relationships" r:embed="R24e00e3d9164468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8">
            <a:extLst xmlns:a="http://schemas.openxmlformats.org/drawingml/2006/main">
              <a:ext uri="{FF2B5EF4-FFF2-40B4-BE49-F238E27FC236}">
                <a16:creationId xmlns:a16="http://schemas.microsoft.com/office/drawing/2014/main" id="{229B9E91-14C3-4AC7-B638-2E677AF1F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c64c3fdc74d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859" y="962173"/>
            <a:ext cx="886499" cy="886499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EEADE9BC-9B37-4F22-9ABB-E7498666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12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traight Connector 50">
            <a:extLst xmlns:a="http://schemas.openxmlformats.org/drawingml/2006/main">
              <a:ext uri="{FF2B5EF4-FFF2-40B4-BE49-F238E27FC236}">
                <a16:creationId xmlns:a16="http://schemas.microsoft.com/office/drawing/2014/main" id="{4B8E1B1F-71D4-4C20-A3A9-A5693DF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581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raight Connector 51">
            <a:extLst xmlns:a="http://schemas.openxmlformats.org/drawingml/2006/main">
              <a:ext uri="{FF2B5EF4-FFF2-40B4-BE49-F238E27FC236}">
                <a16:creationId xmlns:a16="http://schemas.microsoft.com/office/drawing/2014/main" id="{1FDDDC34-4D03-46F3-AE7A-163F8858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047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Заголовок 15">
            <a:extLst xmlns:a="http://schemas.openxmlformats.org/drawingml/2006/main"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7967" y="2404670"/>
            <a:ext cx="7634059" cy="1978323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300" b="0" i="0" baseline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br/>
            <a:br/>
            <a:endParaRPr sz="4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074947" y="1187841"/>
            <a:ext cx="3848717" cy="435163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/>
                <a:ea typeface="HSE Sans"/>
                <a:cs typeface="HSE Sans"/>
              </a:defRPr>
            </a:lvl1pPr>
            <a:lvl2pPr marL="457200" indent="0" algn="l">
              <a:buNone/>
              <a:defRPr sz="1600" b="0" i="0">
                <a:latin typeface="HSE Sans"/>
                <a:ea typeface="HSE Sans"/>
                <a:cs typeface="HSE Sans"/>
              </a:defRPr>
            </a:lvl2pPr>
            <a:lvl3pPr marL="914400" indent="0" algn="l">
              <a:buNone/>
              <a:defRPr sz="1600" b="0" i="0">
                <a:latin typeface="HSE Sans"/>
                <a:ea typeface="HSE Sans"/>
                <a:cs typeface="HSE Sans"/>
              </a:defRPr>
            </a:lvl3pPr>
            <a:lvl4pPr marL="1371600" indent="0" algn="l">
              <a:buNone/>
              <a:defRPr sz="1600" b="0" i="0">
                <a:latin typeface="HSE Sans"/>
                <a:ea typeface="HSE Sans"/>
                <a:cs typeface="HSE Sans"/>
              </a:defRPr>
            </a:lvl4pPr>
            <a:lvl5pPr marL="1828800" indent="0" algn="l">
              <a:buNone/>
              <a:defRPr sz="16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br/>
            <a:endParaRPr>
              <a:latin typeface="HSE Sans"/>
              <a:ea typeface="HSE Sans"/>
              <a:cs typeface="HSE Sans"/>
            </a:endParaRPr>
          </a:p>
        </p:txBody>
      </p:sp>
      <p:sp>
        <p:nvSpPr>
          <p:cNvPr id="25" name="Текст 24">
            <a:extLst xmlns:a="http://schemas.openxmlformats.org/drawingml/2006/main"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259420" y="1173829"/>
            <a:ext cx="2278063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7" name="Текст 26">
            <a:extLst xmlns:a="http://schemas.openxmlformats.org/drawingml/2006/main"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786720" y="1173829"/>
            <a:ext cx="2217738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9" name="Текст 28">
            <a:extLst xmlns:a="http://schemas.openxmlformats.org/drawingml/2006/main"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027967" y="4824914"/>
            <a:ext cx="7625267" cy="652860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 sz="16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Текст_1">
    <p:bg>
      <p:bgPr>
        <a:blipFill xmlns:a="http://schemas.openxmlformats.org/drawingml/2006/main" rotWithShape="1">
          <a:blip xmlns:r="http://schemas.openxmlformats.org/officeDocument/2006/relationships" r:embed="R3dc2670ba8ed47b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4">
            <a:extLst xmlns:a="http://schemas.openxmlformats.org/drawingml/2006/main">
              <a:ext uri="{FF2B5EF4-FFF2-40B4-BE49-F238E27FC236}">
                <a16:creationId xmlns:a16="http://schemas.microsoft.com/office/drawing/2014/main" id="{DB79B7E6-4917-4E18-BC7D-0D0E22AD1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cc16c1be949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C3055ED3-604C-4B81-91CE-1DDBBB35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CCB29F97-9CA1-4DB3-8938-6A52A7BB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2006DE1D-9F0C-4B9D-B1B0-F607E956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C57E620C-8BE2-4AF7-9C99-CD8485DD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Рисунок 23">
            <a:extLst xmlns:a="http://schemas.openxmlformats.org/drawingml/2006/main"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684653" y="1447790"/>
            <a:ext cx="4325167" cy="432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 sz="2800">
              <a:solidFill>
                <a:schemeClr val="tx1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2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8" y="1447790"/>
            <a:ext cx="524556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br/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7" y="2379663"/>
            <a:ext cx="5245561" cy="3393234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38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0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1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Текст_2">
    <p:bg>
      <p:bgPr>
        <a:blipFill xmlns:a="http://schemas.openxmlformats.org/drawingml/2006/main" rotWithShape="1">
          <a:blip xmlns:r="http://schemas.openxmlformats.org/officeDocument/2006/relationships" r:embed="Ref88932282104a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4">
            <a:extLst xmlns:a="http://schemas.openxmlformats.org/drawingml/2006/main">
              <a:ext uri="{FF2B5EF4-FFF2-40B4-BE49-F238E27FC236}">
                <a16:creationId xmlns:a16="http://schemas.microsoft.com/office/drawing/2014/main" id="{04B28A75-D8C2-4581-9866-451B00C6C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f5995dce0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5AB669A-F86F-41B6-A63D-94F97D67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C57E3C49-BAC6-419A-BA1B-590331B0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C9060E4-0970-4B1E-B49E-B701FA6A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EE7F59C3-65B5-4D92-8DCC-BE23EA5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7" y="2379663"/>
            <a:ext cx="11057971" cy="3745092"/>
          </a:xfrm>
        </p:spPr>
        <p:txBody>
          <a:bodyPr xmlns:a="http://schemas.openxmlformats.org/drawingml/2006/main" lIns="0" tIns="0" r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/>
          </a:p>
        </p:txBody>
      </p:sp>
      <p:sp>
        <p:nvSpPr>
          <p:cNvPr id="18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Текст_3">
    <p:bg>
      <p:bgPr>
        <a:blipFill xmlns:a="http://schemas.openxmlformats.org/drawingml/2006/main" rotWithShape="1">
          <a:blip xmlns:r="http://schemas.openxmlformats.org/officeDocument/2006/relationships" r:embed="R2989d121f099436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4">
            <a:extLst xmlns:a="http://schemas.openxmlformats.org/drawingml/2006/main">
              <a:ext uri="{FF2B5EF4-FFF2-40B4-BE49-F238E27FC236}">
                <a16:creationId xmlns:a16="http://schemas.microsoft.com/office/drawing/2014/main" id="{2E25BEC7-6E5D-4B21-B245-998AC3889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e5c212a7d4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FFABCA9E-6DCB-417D-B9E0-FC26E2ED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7AF5C5B0-B330-4B12-BBF3-A9A6C846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B27E8F8-2EE0-4F74-BAB5-F77FD2CF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252B18F1-14E1-4A26-8802-5189A433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259892" y="2379663"/>
            <a:ext cx="5383968" cy="3451794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5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График_1">
    <p:bg>
      <p:bgPr>
        <a:blipFill xmlns:a="http://schemas.openxmlformats.org/drawingml/2006/main" rotWithShape="1">
          <a:blip xmlns:r="http://schemas.openxmlformats.org/officeDocument/2006/relationships" r:embed="R30b507c4bb394cc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>
            <a:extLst xmlns:a="http://schemas.openxmlformats.org/drawingml/2006/main">
              <a:ext uri="{FF2B5EF4-FFF2-40B4-BE49-F238E27FC236}">
                <a16:creationId xmlns:a16="http://schemas.microsoft.com/office/drawing/2014/main" id="{6BBEF4D4-27F0-4D43-A645-7C5AE4F002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1b49da892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6374445-4437-43DF-8A0C-34B019E2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818244FD-1EC5-4E34-A6BE-350F8A0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33084662-68F3-4C04-B765-1789B918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A0269AFA-AABA-40AA-864B-9540D48F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br/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300"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График_2">
    <p:bg>
      <p:bgPr>
        <a:blipFill xmlns:a="http://schemas.openxmlformats.org/drawingml/2006/main" rotWithShape="1">
          <a:blip xmlns:r="http://schemas.openxmlformats.org/officeDocument/2006/relationships" r:embed="R5484ff40b24140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4">
            <a:extLst xmlns:a="http://schemas.openxmlformats.org/drawingml/2006/main">
              <a:ext uri="{FF2B5EF4-FFF2-40B4-BE49-F238E27FC236}">
                <a16:creationId xmlns:a16="http://schemas.microsoft.com/office/drawing/2014/main" id="{8A540312-D7C5-4091-B624-171B5AB718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b7608198646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1787CF7-BA47-4FA6-9240-D8B49B8D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1CB78848-65D7-4239-8C8A-FFC51E97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0FFA75B8-2A58-44AD-AD7B-BEFB34F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23A0A609-A378-475B-BD8A-C68FCDDF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85788" y="1447064"/>
            <a:ext cx="4322762" cy="7032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Цифры">
    <p:bg>
      <p:bgPr>
        <a:blipFill xmlns:a="http://schemas.openxmlformats.org/drawingml/2006/main" rotWithShape="1">
          <a:blip xmlns:r="http://schemas.openxmlformats.org/officeDocument/2006/relationships" r:embed="R842c070a24d043d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4">
            <a:extLst xmlns:a="http://schemas.openxmlformats.org/drawingml/2006/main">
              <a:ext uri="{FF2B5EF4-FFF2-40B4-BE49-F238E27FC236}">
                <a16:creationId xmlns:a16="http://schemas.microsoft.com/office/drawing/2014/main" id="{02ADD7FD-98B6-47BB-87A1-BA3FD7C9EE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eea6c903048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7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596DF74C-549B-4AD1-9D87-1DCD7BC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2C44802-8064-4C1E-B0A4-051F113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A7070A2C-A7B2-4AE8-B311-028F8B2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1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6516AFD1-B5F9-4E2D-8919-4AA56D97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3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75076" y="4103994"/>
            <a:ext cx="2758143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/>
          </a:p>
        </p:txBody>
      </p:sp>
      <p:sp>
        <p:nvSpPr>
          <p:cNvPr id="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047007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/>
          </a:p>
        </p:txBody>
      </p:sp>
      <p:sp>
        <p:nvSpPr>
          <p:cNvPr id="2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7518938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/>
          </a:p>
        </p:txBody>
      </p:sp>
      <p:sp>
        <p:nvSpPr>
          <p:cNvPr id="28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75076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9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4047007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30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518938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Таблица_1">
    <p:bg>
      <p:bgPr>
        <a:blipFill xmlns:a="http://schemas.openxmlformats.org/drawingml/2006/main" rotWithShape="1">
          <a:blip xmlns:r="http://schemas.openxmlformats.org/officeDocument/2006/relationships" r:embed="R15a6d482e9e34c8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4">
            <a:extLst xmlns:a="http://schemas.openxmlformats.org/drawingml/2006/main">
              <a:ext uri="{FF2B5EF4-FFF2-40B4-BE49-F238E27FC236}">
                <a16:creationId xmlns:a16="http://schemas.microsoft.com/office/drawing/2014/main" id="{C8E4630D-498E-4203-B990-2A77D07CF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aa29568842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6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74D037-03B1-46A1-A949-E8B6F278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68C7D808-C067-4FA0-8BD8-813E17B3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26488E19-A4F8-499B-B864-283655A8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0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DAE8BD7C-CE0B-4131-8298-1490CC9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2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85787" y="1447065"/>
            <a:ext cx="11058065" cy="307778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19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1984076"/>
            <a:ext cx="11058527" cy="35195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Таблица_2">
    <p:bg>
      <p:bgPr>
        <a:blipFill xmlns:a="http://schemas.openxmlformats.org/drawingml/2006/main" rotWithShape="1">
          <a:blip xmlns:r="http://schemas.openxmlformats.org/officeDocument/2006/relationships" r:embed="Rd609e67589b8406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>
            <a:extLst xmlns:a="http://schemas.openxmlformats.org/drawingml/2006/main">
              <a:ext uri="{FF2B5EF4-FFF2-40B4-BE49-F238E27FC236}">
                <a16:creationId xmlns:a16="http://schemas.microsoft.com/office/drawing/2014/main" id="{4222EE1B-A511-4CC1-A546-99B2802E51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e7289500a40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E4EE1AF-C4B6-466E-B82C-B8BF9C53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7B1B533C-79D2-4256-8E7C-E4E887A0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3883AC1C-68CD-4449-9440-129D982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D8270CE3-7A2D-478D-8A77-56F51D4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85787" y="1447064"/>
            <a:ext cx="7617877" cy="537011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20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2208362"/>
            <a:ext cx="7617895" cy="32952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686807" y="2208363"/>
            <a:ext cx="2930666" cy="2570672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цвет">
    <p:bg>
      <p:bgPr>
        <a:blipFill xmlns:a="http://schemas.openxmlformats.org/drawingml/2006/main" rotWithShape="1">
          <a:blip xmlns:r="http://schemas.openxmlformats.org/officeDocument/2006/relationships" r:embed="R54ad8bdbfd5d4f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Picture 4">
            <a:extLst xmlns:a="http://schemas.openxmlformats.org/drawingml/2006/main">
              <a:ext uri="{FF2B5EF4-FFF2-40B4-BE49-F238E27FC236}">
                <a16:creationId xmlns:a16="http://schemas.microsoft.com/office/drawing/2014/main" id="{892D017A-8374-4AD1-895C-5E0A490A42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a3be97a6449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6D76FAB-2276-4698-95FA-A23C3408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D859B8C4-2B42-403B-9ECC-66744E54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D0128C4D-CDD7-4F9E-93FD-92DE00BB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E695D1D3-EC01-4558-8401-76C135E5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9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br/>
            <a:endParaRPr/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/>
          </a:p>
        </p:txBody>
      </p:sp>
      <p:sp>
        <p:nvSpPr>
          <p:cNvPr id="21" name="Oval 5">
            <a:extLst xmlns:a="http://schemas.openxmlformats.org/drawingml/2006/main"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D6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0">
            <a:extLst xmlns:a="http://schemas.openxmlformats.org/drawingml/2006/main"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A9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0D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9C6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6">
            <a:extLst xmlns:a="http://schemas.openxmlformats.org/drawingml/2006/main"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9">
            <a:extLst xmlns:a="http://schemas.openxmlformats.org/drawingml/2006/main"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4EB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33">
            <a:extLst xmlns:a="http://schemas.openxmlformats.org/drawingml/2006/main"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F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34">
            <a:extLst xmlns:a="http://schemas.openxmlformats.org/drawingml/2006/main"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A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35">
            <a:extLst xmlns:a="http://schemas.openxmlformats.org/drawingml/2006/main"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A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36">
            <a:extLst xmlns:a="http://schemas.openxmlformats.org/drawingml/2006/main"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A0A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7">
            <a:extLst xmlns:a="http://schemas.openxmlformats.org/drawingml/2006/main"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8C3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8">
            <a:extLst xmlns:a="http://schemas.openxmlformats.org/drawingml/2006/main"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2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9">
            <a:extLst xmlns:a="http://schemas.openxmlformats.org/drawingml/2006/main"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5A5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40">
            <a:extLst xmlns:a="http://schemas.openxmlformats.org/drawingml/2006/main"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41">
            <a:extLst xmlns:a="http://schemas.openxmlformats.org/drawingml/2006/main"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D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42">
            <a:extLst xmlns:a="http://schemas.openxmlformats.org/drawingml/2006/main"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BB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43">
            <a:extLst xmlns:a="http://schemas.openxmlformats.org/drawingml/2006/main"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C9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44">
            <a:extLst xmlns:a="http://schemas.openxmlformats.org/drawingml/2006/main"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3F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45">
            <a:extLst xmlns:a="http://schemas.openxmlformats.org/drawingml/2006/main"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46">
            <a:extLst xmlns:a="http://schemas.openxmlformats.org/drawingml/2006/main"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чистый_2">
    <p:bg>
      <p:bgPr>
        <a:blipFill xmlns:a="http://schemas.openxmlformats.org/drawingml/2006/main" rotWithShape="1">
          <a:blip xmlns:r="http://schemas.openxmlformats.org/officeDocument/2006/relationships" r:embed="R9560996d161f41a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4">
            <a:extLst xmlns:a="http://schemas.openxmlformats.org/drawingml/2006/main">
              <a:ext uri="{FF2B5EF4-FFF2-40B4-BE49-F238E27FC236}">
                <a16:creationId xmlns:a16="http://schemas.microsoft.com/office/drawing/2014/main" id="{5EE0C03A-B1A5-487D-8921-2F2700B69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95445de8b4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AFA74B24-35A9-4F42-8E52-9A7B71FC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92CE5736-81BE-4D7B-98AD-28D47463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87B23417-4D87-41A6-A3F8-1F23F8D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64508F68-13CC-47DD-ACF7-D598C360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чистый">
    <p:bg>
      <p:bgPr>
        <a:blipFill xmlns:a="http://schemas.openxmlformats.org/drawingml/2006/main" rotWithShape="1">
          <a:blip xmlns:r="http://schemas.openxmlformats.org/officeDocument/2006/relationships" r:embed="R20f2050be48a43a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" name="Picture 1">
            <a:extLst xmlns:a="http://schemas.openxmlformats.org/drawingml/2006/main">
              <a:ext uri="{FF2B5EF4-FFF2-40B4-BE49-F238E27FC236}">
                <a16:creationId xmlns:a16="http://schemas.microsoft.com/office/drawing/2014/main" id="{BE99E176-E8FA-42A9-A94F-0E68BFC0A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1200a36f840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0809" y="2643809"/>
            <a:ext cx="1570383" cy="157038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1c049bb784683" /><Relationship Type="http://schemas.openxmlformats.org/officeDocument/2006/relationships/slideLayout" Target="/ppt/slideLayouts/slideLayout1.xml" Id="R7b8d71e630e74c7f" /><Relationship Type="http://schemas.openxmlformats.org/officeDocument/2006/relationships/slideLayout" Target="/ppt/slideLayouts/slideLayout2.xml" Id="Rb18d873648554268" /><Relationship Type="http://schemas.openxmlformats.org/officeDocument/2006/relationships/slideLayout" Target="/ppt/slideLayouts/slideLayout3.xml" Id="R36988b12dd0c4ad4" /><Relationship Type="http://schemas.openxmlformats.org/officeDocument/2006/relationships/slideLayout" Target="/ppt/slideLayouts/slideLayout4.xml" Id="R90131b1f0bdb438d" /><Relationship Type="http://schemas.openxmlformats.org/officeDocument/2006/relationships/slideLayout" Target="/ppt/slideLayouts/slideLayout5.xml" Id="R6fedad4458f34051" /><Relationship Type="http://schemas.openxmlformats.org/officeDocument/2006/relationships/slideLayout" Target="/ppt/slideLayouts/slideLayout6.xml" Id="Reb68a543d55c4864" /><Relationship Type="http://schemas.openxmlformats.org/officeDocument/2006/relationships/slideLayout" Target="/ppt/slideLayouts/slideLayout7.xml" Id="Rea9eb270462841c1" /><Relationship Type="http://schemas.openxmlformats.org/officeDocument/2006/relationships/slideLayout" Target="/ppt/slideLayouts/slideLayout8.xml" Id="R33dcab37566d4bcd" /><Relationship Type="http://schemas.openxmlformats.org/officeDocument/2006/relationships/slideLayout" Target="/ppt/slideLayouts/slideLayout9.xml" Id="R701af88b97ff4103" /><Relationship Type="http://schemas.openxmlformats.org/officeDocument/2006/relationships/slideLayout" Target="/ppt/slideLayouts/slideLayout10.xml" Id="Re85a563558d94d72" /><Relationship Type="http://schemas.openxmlformats.org/officeDocument/2006/relationships/slideLayout" Target="/ppt/slideLayouts/slideLayout11.xml" Id="R698f25956e674b33" /><Relationship Type="http://schemas.openxmlformats.org/officeDocument/2006/relationships/slideLayout" Target="/ppt/slideLayouts/slideLayout12.xml" Id="R2cd124697cc849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3063DFB-8595-A44B-9F09-A50FA310E559}" type="datetimeFigureOut">
              <a:t>30.09.2026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20F133-126C-5944-A0E4-6A9616EDC0D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8d71e630e74c7f"/>
    <p:sldLayoutId xmlns:r="http://schemas.openxmlformats.org/officeDocument/2006/relationships" id="2147483650" r:id="Rb18d873648554268"/>
    <p:sldLayoutId xmlns:r="http://schemas.openxmlformats.org/officeDocument/2006/relationships" id="2147483651" r:id="R36988b12dd0c4ad4"/>
    <p:sldLayoutId xmlns:r="http://schemas.openxmlformats.org/officeDocument/2006/relationships" id="2147483652" r:id="R90131b1f0bdb438d"/>
    <p:sldLayoutId xmlns:r="http://schemas.openxmlformats.org/officeDocument/2006/relationships" id="2147483653" r:id="R6fedad4458f34051"/>
    <p:sldLayoutId xmlns:r="http://schemas.openxmlformats.org/officeDocument/2006/relationships" id="2147483654" r:id="Reb68a543d55c4864"/>
    <p:sldLayoutId xmlns:r="http://schemas.openxmlformats.org/officeDocument/2006/relationships" id="2147483655" r:id="Rea9eb270462841c1"/>
    <p:sldLayoutId xmlns:r="http://schemas.openxmlformats.org/officeDocument/2006/relationships" id="2147483656" r:id="R33dcab37566d4bcd"/>
    <p:sldLayoutId xmlns:r="http://schemas.openxmlformats.org/officeDocument/2006/relationships" id="2147483657" r:id="R701af88b97ff4103"/>
    <p:sldLayoutId xmlns:r="http://schemas.openxmlformats.org/officeDocument/2006/relationships" id="2147483658" r:id="Re85a563558d94d72"/>
    <p:sldLayoutId xmlns:r="http://schemas.openxmlformats.org/officeDocument/2006/relationships" id="2147483659" r:id="R698f25956e674b33"/>
    <p:sldLayoutId xmlns:r="http://schemas.openxmlformats.org/officeDocument/2006/relationships" id="2147483660" r:id="R2cd124697cc849a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sourceNotes" Type="http://schemas.openxmlformats.org/officeDocument/2006/relationships/notesSlide" Target="/ppt/notesSlides/notesSlide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74.png"/><Relationship Id="sourceNotes" Type="http://schemas.openxmlformats.org/officeDocument/2006/relationships/notesSlide" Target="/ppt/notesSlides/notesSlide2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75.png"/><Relationship Id="sourceNotes" Type="http://schemas.openxmlformats.org/officeDocument/2006/relationships/notesSlide" Target="/ppt/notesSlides/notesSlide3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77.png"/><Relationship Id="cuRel2" Type="http://schemas.openxmlformats.org/officeDocument/2006/relationships/image" Target="/ppt/media/cu_image178.png"/><Relationship Id="cuRel3" Type="http://schemas.openxmlformats.org/officeDocument/2006/relationships/image" Target="/ppt/media/cu_image179.png"/><Relationship Id="cuRel4" Type="http://schemas.openxmlformats.org/officeDocument/2006/relationships/image" Target="/ppt/media/cu_image180.png"/><Relationship Id="sourceNotes" Type="http://schemas.openxmlformats.org/officeDocument/2006/relationships/notesSlide" Target="/ppt/notesSlides/notesSlide4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81.png"/><Relationship Id="cuRel2" Type="http://schemas.openxmlformats.org/officeDocument/2006/relationships/image" Target="/ppt/media/cu_image182.png"/><Relationship Id="cuRel3" Type="http://schemas.openxmlformats.org/officeDocument/2006/relationships/image" Target="/ppt/media/cu_image167.png"/><Relationship Id="cuRel4" Type="http://schemas.openxmlformats.org/officeDocument/2006/relationships/image" Target="/ppt/media/cu_image183.png"/><Relationship Id="sourceNotes" Type="http://schemas.openxmlformats.org/officeDocument/2006/relationships/notesSlide" Target="/ppt/notesSlides/notesSlide5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83.png"/><Relationship Id="cuRel2" Type="http://schemas.openxmlformats.org/officeDocument/2006/relationships/image" Target="/ppt/media/cu_image184.png"/><Relationship Id="cuRel3" Type="http://schemas.openxmlformats.org/officeDocument/2006/relationships/image" Target="/ppt/media/cu_image185.png"/><Relationship Id="sourceNotes" Type="http://schemas.openxmlformats.org/officeDocument/2006/relationships/notesSlide" Target="/ppt/notesSlides/notesSlide6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sourceNotes" Type="http://schemas.openxmlformats.org/officeDocument/2006/relationships/notesSlide" Target="/ppt/notesSlides/notesSlide7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83.png"/><Relationship Id="cuRel2" Type="http://schemas.openxmlformats.org/officeDocument/2006/relationships/image" Target="/ppt/media/cu_image184.png"/><Relationship Id="cuRel3" Type="http://schemas.openxmlformats.org/officeDocument/2006/relationships/image" Target="/ppt/media/cu_image186.png"/><Relationship Id="cuRel4" Type="http://schemas.openxmlformats.org/officeDocument/2006/relationships/image" Target="/ppt/media/cu_image187.png"/><Relationship Id="cuRel5" Type="http://schemas.openxmlformats.org/officeDocument/2006/relationships/image" Target="/ppt/media/cu_image188.png"/><Relationship Id="cuRel6" Type="http://schemas.openxmlformats.org/officeDocument/2006/relationships/image" Target="/ppt/media/cu_image189.png"/><Relationship Id="cuRel7" Type="http://schemas.openxmlformats.org/officeDocument/2006/relationships/image" Target="/ppt/media/cu_image185.png"/><Relationship Id="sourceNotes" Type="http://schemas.openxmlformats.org/officeDocument/2006/relationships/notesSlide" Target="/ppt/notesSlides/notesSlide8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83.png"/><Relationship Id="cuRel2" Type="http://schemas.openxmlformats.org/officeDocument/2006/relationships/image" Target="/ppt/media/cu_image184.png"/><Relationship Id="cuRel3" Type="http://schemas.openxmlformats.org/officeDocument/2006/relationships/image" Target="/ppt/media/cu_image186.png"/><Relationship Id="cuRel4" Type="http://schemas.openxmlformats.org/officeDocument/2006/relationships/image" Target="/ppt/media/cu_image187.png"/><Relationship Id="cuRel5" Type="http://schemas.openxmlformats.org/officeDocument/2006/relationships/image" Target="/ppt/media/cu_image188.png"/><Relationship Id="cuRel6" Type="http://schemas.openxmlformats.org/officeDocument/2006/relationships/image" Target="/ppt/media/cu_image189.png"/><Relationship Id="cuRel7" Type="http://schemas.openxmlformats.org/officeDocument/2006/relationships/image" Target="/ppt/media/cu_image185.png"/><Relationship Id="sourceNotes" Type="http://schemas.openxmlformats.org/officeDocument/2006/relationships/notesSlide" Target="/ppt/notesSlides/notesSlide9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sourceNotes" Type="http://schemas.openxmlformats.org/officeDocument/2006/relationships/notesSlide" Target="/ppt/notesSlides/notesSlide10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90.png"/><Relationship Id="cuRel2" Type="http://schemas.openxmlformats.org/officeDocument/2006/relationships/image" Target="/ppt/media/cu_image191.png"/><Relationship Id="cuRel3" Type="http://schemas.openxmlformats.org/officeDocument/2006/relationships/image" Target="/ppt/media/cu_image192.png"/><Relationship Id="cuRel4" Type="http://schemas.openxmlformats.org/officeDocument/2006/relationships/image" Target="/ppt/media/cu_image193.png"/><Relationship Id="cuRel5" Type="http://schemas.openxmlformats.org/officeDocument/2006/relationships/image" Target="/ppt/media/cu_image194.png"/><Relationship Id="sourceNotes" Type="http://schemas.openxmlformats.org/officeDocument/2006/relationships/notesSlide" Target="/ppt/notesSlides/notesSlide11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95.png"/><Relationship Id="cuRel2" Type="http://schemas.openxmlformats.org/officeDocument/2006/relationships/image" Target="/ppt/media/cu_image196.png"/><Relationship Id="cuRel3" Type="http://schemas.openxmlformats.org/officeDocument/2006/relationships/image" Target="/ppt/media/cu_image197.png"/><Relationship Id="sourceNotes" Type="http://schemas.openxmlformats.org/officeDocument/2006/relationships/notesSlide" Target="/ppt/notesSlides/notesSlide12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198.svg"/><Relationship Id="cuRel2" Type="http://schemas.openxmlformats.org/officeDocument/2006/relationships/image" Target="/ppt/media/cu_image199.svg"/><Relationship Id="cuRel3" Type="http://schemas.openxmlformats.org/officeDocument/2006/relationships/image" Target="/ppt/media/cu_image200.png"/><Relationship Id="sourceNotes" Type="http://schemas.openxmlformats.org/officeDocument/2006/relationships/notesSlide" Target="/ppt/notesSlides/notesSlide13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201.svg"/><Relationship Id="cuRel2" Type="http://schemas.openxmlformats.org/officeDocument/2006/relationships/image" Target="/ppt/media/cu_image202.svg"/><Relationship Id="sourceNotes" Type="http://schemas.openxmlformats.org/officeDocument/2006/relationships/notesSlide" Target="/ppt/notesSlides/notesSlide14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sourceNotes" Type="http://schemas.openxmlformats.org/officeDocument/2006/relationships/notesSlide" Target="/ppt/notesSlides/notesSlide15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204.png"/><Relationship Id="sourceNotes" Type="http://schemas.openxmlformats.org/officeDocument/2006/relationships/notesSlide" Target="/ppt/notesSlides/notesSlide16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205.svg"/><Relationship Id="cuRel2" Type="http://schemas.openxmlformats.org/officeDocument/2006/relationships/image" Target="/ppt/media/cu_image206.svg"/><Relationship Id="cuRel3" Type="http://schemas.openxmlformats.org/officeDocument/2006/relationships/image" Target="/ppt/media/cu_image207.svg"/><Relationship Id="sourceNotes" Type="http://schemas.openxmlformats.org/officeDocument/2006/relationships/notesSlide" Target="/ppt/notesSlides/notesSlide17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208.png"/><Relationship Id="cuRel2" Type="http://schemas.openxmlformats.org/officeDocument/2006/relationships/image" Target="/ppt/media/cu_image209.png"/><Relationship Id="cuRel3" Type="http://schemas.openxmlformats.org/officeDocument/2006/relationships/image" Target="/ppt/media/cu_image210.png"/><Relationship Id="sourceNotes" Type="http://schemas.openxmlformats.org/officeDocument/2006/relationships/notesSlide" Target="/ppt/notesSlides/notesSlide18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sourceNotes" Type="http://schemas.openxmlformats.org/officeDocument/2006/relationships/notesSlide" Target="/ppt/notesSlides/notesSlide19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sourceNotes" Type="http://schemas.openxmlformats.org/officeDocument/2006/relationships/notesSlide" Target="/ppt/notesSlides/notesSlide20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sourceNotes" Type="http://schemas.openxmlformats.org/officeDocument/2006/relationships/notesSlide" Target="/ppt/notesSlides/notesSlide21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sourceNotes" Type="http://schemas.openxmlformats.org/officeDocument/2006/relationships/notesSlide" Target="/ppt/notesSlides/notesSlide22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223.png"/><Relationship Id="sourceNotes" Type="http://schemas.openxmlformats.org/officeDocument/2006/relationships/notesSlide" Target="/ppt/notesSlides/notesSlide23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hseLayout"/><Relationship Id="cuRel1" Type="http://schemas.openxmlformats.org/officeDocument/2006/relationships/image" Target="/ppt/media/cu_image223.png"/><Relationship Id="sourceNotes" Type="http://schemas.openxmlformats.org/officeDocument/2006/relationships/notesSlide" Target="/ppt/notesSlides/notesSlide24.xml"/><Relationship Id="readablePlot" Type="http://schemas.openxmlformats.org/officeDocument/2006/relationships/image" Target="/ppt/media/readable-losses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6BDFA5EB-AB73-41AE-A47B-B7A2A5DD5FA9}"/>
              </a:ext>
            </a:extLst>
          </p:cNvPr>
          <p:cNvSpPr>
            <a:spLocks noGrp="1"/>
          </p:cNvSpPr>
          <p:nvPr/>
        </p:nvSpPr>
        <p:spPr>
          <a:xfrm>
            <a:off x="585788" y="2714625"/>
            <a:ext cx="11058525" cy="1524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750" b="1">
                <a:solidFill>
                  <a:srgbClr val="102D69"/>
                </a:solidFill>
                <a:latin typeface="HSE Sans"/>
              </a:defRPr>
            </a:defPPr>
            <a:lvl1pPr>
              <a:defRPr sz="3750" b="1">
                <a:solidFill>
                  <a:srgbClr val="102D69"/>
                </a:solidFill>
                <a:latin typeface="HSE Sans"/>
              </a:defRPr>
            </a:lvl1pPr>
            <a:lvl2pPr>
              <a:defRPr sz="3750" b="1">
                <a:solidFill>
                  <a:srgbClr val="102D69"/>
                </a:solidFill>
                <a:latin typeface="HSE Sans"/>
              </a:defRPr>
            </a:lvl2pPr>
            <a:lvl3pPr>
              <a:defRPr sz="3750" b="1">
                <a:solidFill>
                  <a:srgbClr val="102D69"/>
                </a:solidFill>
                <a:latin typeface="HSE Sans"/>
              </a:defRPr>
            </a:lvl3pPr>
            <a:lvl4pPr>
              <a:defRPr sz="3750" b="1">
                <a:solidFill>
                  <a:srgbClr val="102D69"/>
                </a:solidFill>
                <a:latin typeface="HSE Sans"/>
              </a:defRPr>
            </a:lvl4pPr>
            <a:lvl5pPr>
              <a:defRPr sz="3750" b="1">
                <a:solidFill>
                  <a:srgbClr val="102D69"/>
                </a:solidFill>
                <a:latin typeface="HSE Sans"/>
              </a:defRPr>
            </a:lvl5pPr>
            <a:lvl6pPr>
              <a:defRPr sz="3750" b="1">
                <a:solidFill>
                  <a:srgbClr val="102D69"/>
                </a:solidFill>
                <a:latin typeface="HSE Sans"/>
              </a:defRPr>
            </a:lvl6pPr>
            <a:lvl7pPr>
              <a:defRPr sz="3750" b="1">
                <a:solidFill>
                  <a:srgbClr val="102D69"/>
                </a:solidFill>
                <a:latin typeface="HSE Sans"/>
              </a:defRPr>
            </a:lvl7pPr>
            <a:lvl8pPr>
              <a:defRPr sz="3750" b="1">
                <a:solidFill>
                  <a:srgbClr val="102D69"/>
                </a:solidFill>
                <a:latin typeface="HSE Sans"/>
              </a:defRPr>
            </a:lvl8pPr>
            <a:lvl9pPr>
              <a:defRPr sz="3750" b="1">
                <a:solidFill>
                  <a:srgbClr val="102D69"/>
                </a:solidFill>
                <a:latin typeface="HSE Sans"/>
              </a:defRPr>
            </a:lvl9pPr>
          </a:lstStyle>
          <a:p>
            <a:pPr>
              <a:defRPr sz="3750" b="1">
                <a:solidFill>
                  <a:srgbClr val="102D69"/>
                </a:solidFill>
                <a:latin typeface="HSE Sans"/>
              </a:defRPr>
            </a:pPr>
            <a:r>
              <a:rPr sz="3750" b="1">
                <a:solidFill>
                  <a:srgbClr val="102D69"/>
                </a:solidFill>
                <a:latin typeface="HSE Sans"/>
              </a:rPr>
              <a:t>Метод опорных векторов (SVM)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3444BC85-DEC2-48ED-8BC0-ECDBC4FA04B7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Метод опорных векторов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16FCC2A-A332-473D-0C39-67419D864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cuRel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1" t="10041" r="77379" b="15388"/>
          <a:stretch/>
        </p:blipFill>
        <p:spPr bwMode="auto">
          <a:xfrm>
            <a:off x="1047750" y="4143375"/>
            <a:ext cx="2150745" cy="182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FFE3B1EB-D552-FE15-59AD-641314F8F625}"/>
              </a:ext>
            </a:extLst>
          </p:cNvPr>
          <p:cNvSpPr/>
          <p:nvPr/>
        </p:nvSpPr>
        <p:spPr>
          <a:xfrm rot="16200000">
            <a:off x="-19050" y="4991100"/>
            <a:ext cx="1828800" cy="171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746645" rtl="0" eaLnBrk="1" fontAlgn="auto" latinLnBrk="0" hangingPunct="1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ClrTx/>
              <a:buSzTx/>
              <a:buFontTx/>
              <a:buNone/>
              <a:tabLst/>
              <a:defRPr sz="1700">
                <a:latin typeface="HSE Sans"/>
                <a:ea typeface="HSE Sans"/>
                <a:cs typeface="HSE Sans"/>
              </a:defRPr>
            </a:pPr>
            <a:r>
              <a:rPr kumimoji="0" lang="ru-RU" b="0" i="0" u="none" strike="noStrike" kern="603" cap="none" spc="0" normalizeH="0" baseline="0" noProof="0" dirty="0" sz="170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SE Sans"/>
                <a:ea typeface="HSE Sans"/>
                <a:cs typeface="HSE Sans"/>
              </a:rPr>
              <a:t>Признак 2</a:t>
            </a:r>
            <a:endParaRPr kumimoji="0" lang="en-US" b="0" i="0" u="none" strike="noStrike" kern="603" cap="none" spc="0" normalizeH="0" baseline="0" noProof="0" dirty="0" sz="170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HSE Sans"/>
              <a:ea typeface="HSE Sans"/>
              <a:cs typeface="HSE San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7318CF-A5C3-7A53-6D16-91D5332E7592}"/>
              </a:ext>
            </a:extLst>
          </p:cNvPr>
          <p:cNvSpPr/>
          <p:nvPr/>
        </p:nvSpPr>
        <p:spPr>
          <a:xfrm>
            <a:off x="1047750" y="6067425"/>
            <a:ext cx="2152650" cy="285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746645" rtl="0" eaLnBrk="1" fontAlgn="auto" latinLnBrk="0" hangingPunct="1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ClrTx/>
              <a:buSzTx/>
              <a:buFontTx/>
              <a:buNone/>
              <a:tabLst/>
              <a:defRPr sz="1700">
                <a:latin typeface="HSE Sans"/>
                <a:ea typeface="HSE Sans"/>
                <a:cs typeface="HSE Sans"/>
              </a:defRPr>
            </a:pPr>
            <a:r>
              <a:rPr lang="ru-RU" dirty="0" sz="1700">
                <a:solidFill>
                  <a:srgbClr val="141414"/>
                </a:solidFill>
                <a:latin typeface="HSE Sans"/>
                <a:ea typeface="HSE Sans"/>
                <a:cs typeface="HSE Sans"/>
              </a:rPr>
              <a:t>Признак 1</a:t>
            </a:r>
            <a:endParaRPr kumimoji="0" lang="en-US" b="0" i="0" u="none" strike="noStrike" kern="603" cap="none" spc="0" normalizeH="0" baseline="0" noProof="0" dirty="0" sz="170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HSE Sans"/>
              <a:ea typeface="HSE Sans"/>
              <a:cs typeface="HSE Sans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7B91D5B-9F3D-A9B2-CEAD-0DF39E9DFE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cuRel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7" t="10041" r="52174" b="15388"/>
          <a:stretch/>
        </p:blipFill>
        <p:spPr bwMode="auto">
          <a:xfrm>
            <a:off x="3714750" y="4143375"/>
            <a:ext cx="2150745" cy="182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04635DD7-9C1A-92A0-0497-D7D65AC8B2E3}"/>
              </a:ext>
            </a:extLst>
          </p:cNvPr>
          <p:cNvSpPr/>
          <p:nvPr/>
        </p:nvSpPr>
        <p:spPr>
          <a:xfrm rot="16200000">
            <a:off x="2647950" y="4991100"/>
            <a:ext cx="1828800" cy="171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746645" rtl="0" eaLnBrk="1" fontAlgn="auto" latinLnBrk="0" hangingPunct="1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ClrTx/>
              <a:buSzTx/>
              <a:buFontTx/>
              <a:buNone/>
              <a:tabLst/>
              <a:defRPr sz="1700">
                <a:latin typeface="HSE Sans"/>
                <a:ea typeface="HSE Sans"/>
                <a:cs typeface="HSE Sans"/>
              </a:defRPr>
            </a:pPr>
            <a:r>
              <a:rPr kumimoji="0" lang="ru-RU" b="0" i="0" u="none" strike="noStrike" kern="603" cap="none" spc="0" normalizeH="0" baseline="0" noProof="0" dirty="0" sz="170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SE Sans"/>
                <a:ea typeface="HSE Sans"/>
                <a:cs typeface="HSE Sans"/>
              </a:rPr>
              <a:t>Признак 2</a:t>
            </a:r>
            <a:endParaRPr kumimoji="0" lang="en-US" b="0" i="0" u="none" strike="noStrike" kern="603" cap="none" spc="0" normalizeH="0" baseline="0" noProof="0" dirty="0" sz="170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HSE Sans"/>
              <a:ea typeface="HSE Sans"/>
              <a:cs typeface="HSE Sans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A41A009-817D-9370-4BAC-003561208D3C}"/>
              </a:ext>
            </a:extLst>
          </p:cNvPr>
          <p:cNvSpPr/>
          <p:nvPr/>
        </p:nvSpPr>
        <p:spPr>
          <a:xfrm>
            <a:off x="3714750" y="6067425"/>
            <a:ext cx="2152650" cy="285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746645" rtl="0" eaLnBrk="1" fontAlgn="auto" latinLnBrk="0" hangingPunct="1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ClrTx/>
              <a:buSzTx/>
              <a:buFontTx/>
              <a:buNone/>
              <a:tabLst/>
              <a:defRPr sz="1700">
                <a:latin typeface="HSE Sans"/>
                <a:ea typeface="HSE Sans"/>
                <a:cs typeface="HSE Sans"/>
              </a:defRPr>
            </a:pPr>
            <a:r>
              <a:rPr lang="ru-RU" dirty="0" sz="1700">
                <a:solidFill>
                  <a:srgbClr val="141414"/>
                </a:solidFill>
                <a:latin typeface="HSE Sans"/>
                <a:ea typeface="HSE Sans"/>
                <a:cs typeface="HSE Sans"/>
              </a:rPr>
              <a:t>Признак 1</a:t>
            </a:r>
            <a:endParaRPr kumimoji="0" lang="en-US" b="0" i="0" u="none" strike="noStrike" kern="603" cap="none" spc="0" normalizeH="0" baseline="0" noProof="0" dirty="0" sz="170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HSE Sans"/>
              <a:ea typeface="HSE Sans"/>
              <a:cs typeface="HSE Sans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22CB33B-E295-8FB4-207E-C2025B4310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cuRel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0041" r="26944" b="15388"/>
          <a:stretch/>
        </p:blipFill>
        <p:spPr bwMode="auto">
          <a:xfrm>
            <a:off x="6381750" y="4143375"/>
            <a:ext cx="2150745" cy="182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E5B32679-263D-52CB-4016-3703C6C113BE}"/>
              </a:ext>
            </a:extLst>
          </p:cNvPr>
          <p:cNvSpPr/>
          <p:nvPr/>
        </p:nvSpPr>
        <p:spPr>
          <a:xfrm rot="16200000">
            <a:off x="5314950" y="4991100"/>
            <a:ext cx="1828800" cy="171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746645" rtl="0" eaLnBrk="1" fontAlgn="auto" latinLnBrk="0" hangingPunct="1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ClrTx/>
              <a:buSzTx/>
              <a:buFontTx/>
              <a:buNone/>
              <a:tabLst/>
              <a:defRPr sz="1700">
                <a:latin typeface="HSE Sans"/>
                <a:ea typeface="HSE Sans"/>
                <a:cs typeface="HSE Sans"/>
              </a:defRPr>
            </a:pPr>
            <a:r>
              <a:rPr kumimoji="0" lang="ru-RU" b="0" i="0" u="none" strike="noStrike" kern="603" cap="none" spc="0" normalizeH="0" baseline="0" noProof="0" dirty="0" sz="170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SE Sans"/>
                <a:ea typeface="HSE Sans"/>
                <a:cs typeface="HSE Sans"/>
              </a:rPr>
              <a:t>Признак 2</a:t>
            </a:r>
            <a:endParaRPr kumimoji="0" lang="en-US" b="0" i="0" u="none" strike="noStrike" kern="603" cap="none" spc="0" normalizeH="0" baseline="0" noProof="0" dirty="0" sz="170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HSE Sans"/>
              <a:ea typeface="HSE Sans"/>
              <a:cs typeface="HSE Sans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88249D3-5B92-1BB8-617E-77B779153862}"/>
              </a:ext>
            </a:extLst>
          </p:cNvPr>
          <p:cNvSpPr/>
          <p:nvPr/>
        </p:nvSpPr>
        <p:spPr>
          <a:xfrm>
            <a:off x="6381750" y="6067425"/>
            <a:ext cx="2152650" cy="285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746645" rtl="0" eaLnBrk="1" fontAlgn="auto" latinLnBrk="0" hangingPunct="1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ClrTx/>
              <a:buSzTx/>
              <a:buFontTx/>
              <a:buNone/>
              <a:tabLst/>
              <a:defRPr sz="1700">
                <a:latin typeface="HSE Sans"/>
                <a:ea typeface="HSE Sans"/>
                <a:cs typeface="HSE Sans"/>
              </a:defRPr>
            </a:pPr>
            <a:r>
              <a:rPr lang="ru-RU" dirty="0" sz="1700">
                <a:solidFill>
                  <a:srgbClr val="141414"/>
                </a:solidFill>
                <a:latin typeface="HSE Sans"/>
                <a:ea typeface="HSE Sans"/>
                <a:cs typeface="HSE Sans"/>
              </a:rPr>
              <a:t>Признак 1</a:t>
            </a:r>
            <a:endParaRPr kumimoji="0" lang="en-US" b="0" i="0" u="none" strike="noStrike" kern="603" cap="none" spc="0" normalizeH="0" baseline="0" noProof="0" dirty="0" sz="170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HSE Sans"/>
              <a:ea typeface="HSE Sans"/>
              <a:cs typeface="HSE Sans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E1020E48-822E-A8DC-E3D2-246B8B539C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cuRel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20" t="10041" r="1761" b="15388"/>
          <a:stretch/>
        </p:blipFill>
        <p:spPr bwMode="auto">
          <a:xfrm>
            <a:off x="9048750" y="4143375"/>
            <a:ext cx="2150745" cy="182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B202B1F4-0FFF-1822-D9BF-EA58FB570E6D}"/>
              </a:ext>
            </a:extLst>
          </p:cNvPr>
          <p:cNvSpPr/>
          <p:nvPr/>
        </p:nvSpPr>
        <p:spPr>
          <a:xfrm rot="16200000">
            <a:off x="7981950" y="4991100"/>
            <a:ext cx="1828800" cy="171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746645" rtl="0" eaLnBrk="1" fontAlgn="auto" latinLnBrk="0" hangingPunct="1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ClrTx/>
              <a:buSzTx/>
              <a:buFontTx/>
              <a:buNone/>
              <a:tabLst/>
              <a:defRPr sz="1700">
                <a:latin typeface="HSE Sans"/>
                <a:ea typeface="HSE Sans"/>
                <a:cs typeface="HSE Sans"/>
              </a:defRPr>
            </a:pPr>
            <a:r>
              <a:rPr kumimoji="0" lang="ru-RU" b="0" i="0" u="none" strike="noStrike" kern="603" cap="none" spc="0" normalizeH="0" baseline="0" noProof="0" dirty="0" sz="170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SE Sans"/>
                <a:ea typeface="HSE Sans"/>
                <a:cs typeface="HSE Sans"/>
              </a:rPr>
              <a:t>Признак 2</a:t>
            </a:r>
            <a:endParaRPr kumimoji="0" lang="en-US" b="0" i="0" u="none" strike="noStrike" kern="603" cap="none" spc="0" normalizeH="0" baseline="0" noProof="0" dirty="0" sz="170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HSE Sans"/>
              <a:ea typeface="HSE Sans"/>
              <a:cs typeface="HSE Sans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8512835-4D2E-308F-18A7-0B1F54B45A1C}"/>
              </a:ext>
            </a:extLst>
          </p:cNvPr>
          <p:cNvSpPr/>
          <p:nvPr/>
        </p:nvSpPr>
        <p:spPr>
          <a:xfrm>
            <a:off x="9048750" y="6067425"/>
            <a:ext cx="2152650" cy="285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746645" rtl="0" eaLnBrk="1" fontAlgn="auto" latinLnBrk="0" hangingPunct="1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ClrTx/>
              <a:buSzTx/>
              <a:buFontTx/>
              <a:buNone/>
              <a:tabLst/>
              <a:defRPr sz="1700">
                <a:latin typeface="HSE Sans"/>
                <a:ea typeface="HSE Sans"/>
                <a:cs typeface="HSE Sans"/>
              </a:defRPr>
            </a:pPr>
            <a:r>
              <a:rPr lang="ru-RU" dirty="0" sz="1700">
                <a:solidFill>
                  <a:srgbClr val="141414"/>
                </a:solidFill>
                <a:latin typeface="HSE Sans"/>
                <a:ea typeface="HSE Sans"/>
                <a:cs typeface="HSE Sans"/>
              </a:rPr>
              <a:t>Признак 1</a:t>
            </a:r>
            <a:endParaRPr kumimoji="0" lang="en-US" b="0" i="0" u="none" strike="noStrike" kern="603" cap="none" spc="0" normalizeH="0" baseline="0" noProof="0" dirty="0" sz="170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HSE Sans"/>
              <a:ea typeface="HSE Sans"/>
              <a:cs typeface="HSE Sans"/>
            </a:endParaRPr>
          </a:p>
        </p:txBody>
      </p:sp>
      <p:sp>
        <p:nvSpPr>
          <p:cNvPr id="18" name="Readable 2">
            <a:extLst>
              <a:ext uri="{FF2B5EF4-FFF2-40B4-BE49-F238E27FC236}">
                <a16:creationId xmlns:a16="http://schemas.microsoft.com/office/drawing/2014/main" id="{0860645B-6A6B-43E9-97CB-2A1872D853D5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Support Vector Machine (SVM) – это алгоритм классификации, который ищет разделяющую гиперплоскость с максимальным отступом (margin) между классами.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8CC2F676-1B81-470E-902C-30C8B8C8EACB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Строительство забора между двух дворов</a:t>
            </a:r>
          </a:p>
        </p:txBody>
      </p:sp>
      <p:pic>
        <p:nvPicPr>
          <p:cNvPr id="6" name="Google Shape;8797;g3f54594db56_0_85"/>
          <p:cNvPicPr preferRelativeResize="0"/>
          <p:nvPr/>
        </p:nvPicPr>
        <p:blipFill>
          <a:blip r:embed="cuRel1">
            <a:alphaModFix/>
          </a:blip>
          <a:stretch>
            <a:fillRect/>
          </a:stretch>
        </p:blipFill>
        <p:spPr>
          <a:xfrm>
            <a:off x="6858000" y="3000375"/>
            <a:ext cx="428625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adable 3">
            <a:extLst>
              <a:ext uri="{FF2B5EF4-FFF2-40B4-BE49-F238E27FC236}">
                <a16:creationId xmlns:a16="http://schemas.microsoft.com/office/drawing/2014/main" id="{04159657-44B2-432A-AB7C-D236D2311D20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5238750" cy="20478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один сосед держит собаку, а другой – курей, забор логичнее ставить не впритык к одному из дворов, а точно посередине нейтральной полосы. Тогда у обоих соседей будет одинаковый запас безопасности.</a:t>
            </a:r>
          </a:p>
        </p:txBody>
      </p:sp>
      <p:sp>
        <p:nvSpPr>
          <p:cNvPr id="8" name="Readable 3">
            <a:extLst>
              <a:ext uri="{FF2B5EF4-FFF2-40B4-BE49-F238E27FC236}">
                <a16:creationId xmlns:a16="http://schemas.microsoft.com/office/drawing/2014/main" id="{D494D8F3-E830-457A-BC58-666B79163F1E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5238750" cy="1476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SVM решает точно такую же задачу: не просто разделить два класса, а провести границу так, чтобы расстояние до ближайших точек обоих классов было максимальным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0A6E9B46-ACC9-4F6B-85EA-3E1486E844FA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Метод опорных векторов</a:t>
            </a:r>
          </a:p>
        </p:txBody>
      </p:sp>
      <p:sp>
        <p:nvSpPr>
          <p:cNvPr id="6" name="Google Shape;8805;p20"/>
          <p:cNvSpPr/>
          <p:nvPr/>
        </p:nvSpPr>
        <p:spPr>
          <a:xfrm>
            <a:off x="6762750" y="4000500"/>
            <a:ext cx="4476750" cy="1666875"/>
          </a:xfrm>
          <a:prstGeom prst="roundRect">
            <a:avLst>
              <a:gd name="adj" fmla="val 7609"/>
            </a:avLst>
          </a:prstGeom>
          <a:solidFill>
            <a:srgbClr val="DFF1FF"/>
          </a:solidFill>
          <a:ln>
            <a:noFill/>
          </a:ln>
        </p:spPr>
        <p:txBody>
          <a:bodyPr spcFirstLastPara="1" wrap="square" lIns="38648" tIns="19319" rIns="38648" bIns="19319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1"/>
              <a:buFont typeface="Calibri"/>
              <a:buNone/>
            </a:pPr>
            <a:endParaRPr sz="761" b="0" i="0" u="none" strike="noStrike" cap="none">
              <a:solidFill>
                <a:srgbClr val="E6E6E6"/>
              </a:solidFill>
              <a:latin typeface="HSE Sans"/>
              <a:ea typeface="HSE Sans"/>
              <a:cs typeface="HSE Sans"/>
              <a:sym typeface="Calibri"/>
            </a:endParaRPr>
          </a:p>
        </p:txBody>
      </p:sp>
      <p:pic>
        <p:nvPicPr>
          <p:cNvPr id="7" name="Google Shape;8815;p20"/>
          <p:cNvPicPr preferRelativeResize="0"/>
          <p:nvPr/>
        </p:nvPicPr>
        <p:blipFill rotWithShape="1">
          <a:blip r:embed="cuRel1">
            <a:alphaModFix/>
          </a:blip>
          <a:srcRect/>
          <a:stretch/>
        </p:blipFill>
        <p:spPr>
          <a:xfrm>
            <a:off x="2238375" y="5048250"/>
            <a:ext cx="1428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816;p20"/>
          <p:cNvPicPr preferRelativeResize="0"/>
          <p:nvPr/>
        </p:nvPicPr>
        <p:blipFill rotWithShape="1">
          <a:blip r:embed="cuRel2">
            <a:alphaModFix/>
          </a:blip>
          <a:srcRect/>
          <a:stretch/>
        </p:blipFill>
        <p:spPr>
          <a:xfrm>
            <a:off x="2000250" y="4267200"/>
            <a:ext cx="20002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817;p20"/>
          <p:cNvPicPr preferRelativeResize="0"/>
          <p:nvPr/>
        </p:nvPicPr>
        <p:blipFill rotWithShape="1">
          <a:blip r:embed="cuRel3">
            <a:alphaModFix/>
          </a:blip>
          <a:srcRect/>
          <a:stretch/>
        </p:blipFill>
        <p:spPr>
          <a:xfrm>
            <a:off x="7143750" y="4286250"/>
            <a:ext cx="3524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818;p20"/>
          <p:cNvPicPr preferRelativeResize="0"/>
          <p:nvPr/>
        </p:nvPicPr>
        <p:blipFill rotWithShape="1">
          <a:blip r:embed="cuRel4">
            <a:alphaModFix/>
          </a:blip>
          <a:srcRect/>
          <a:stretch/>
        </p:blipFill>
        <p:spPr>
          <a:xfrm>
            <a:off x="7143750" y="5000625"/>
            <a:ext cx="35242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adable 4">
            <a:extLst>
              <a:ext uri="{FF2B5EF4-FFF2-40B4-BE49-F238E27FC236}">
                <a16:creationId xmlns:a16="http://schemas.microsoft.com/office/drawing/2014/main" id="{11FFF15F-4E5C-4BBD-8662-EE04F4904B30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Откуда появились «векторы» в названии?</a:t>
            </a:r>
          </a:p>
        </p:txBody>
      </p:sp>
      <p:sp>
        <p:nvSpPr>
          <p:cNvPr id="12" name="Readable 4">
            <a:extLst>
              <a:ext uri="{FF2B5EF4-FFF2-40B4-BE49-F238E27FC236}">
                <a16:creationId xmlns:a16="http://schemas.microsoft.com/office/drawing/2014/main" id="{751E8882-44B8-4FF6-93F3-9741E2417AD9}"/>
              </a:ext>
            </a:extLst>
          </p:cNvPr>
          <p:cNvSpPr>
            <a:spLocks noGrp="1"/>
          </p:cNvSpPr>
          <p:nvPr/>
        </p:nvSpPr>
        <p:spPr>
          <a:xfrm>
            <a:off x="762000" y="2790825"/>
            <a:ext cx="10668000" cy="6286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Вектор в SVM – это объект данных, представленный как точка в n-мерном пространстве признаков.</a:t>
            </a:r>
          </a:p>
        </p:txBody>
      </p:sp>
      <p:sp>
        <p:nvSpPr>
          <p:cNvPr id="13" name="Readable 4">
            <a:extLst>
              <a:ext uri="{FF2B5EF4-FFF2-40B4-BE49-F238E27FC236}">
                <a16:creationId xmlns:a16="http://schemas.microsoft.com/office/drawing/2014/main" id="{7E6BEB24-147D-4654-B213-5F7BE50FBBA1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Ключевые элементы</a:t>
            </a:r>
          </a:p>
        </p:txBody>
      </p:sp>
      <p:sp>
        <p:nvSpPr>
          <p:cNvPr id="14" name="Readable 4">
            <a:extLst>
              <a:ext uri="{FF2B5EF4-FFF2-40B4-BE49-F238E27FC236}">
                <a16:creationId xmlns:a16="http://schemas.microsoft.com/office/drawing/2014/main" id="{BFC03868-0700-4D16-9C34-B8BDF679DAD6}"/>
              </a:ext>
            </a:extLst>
          </p:cNvPr>
          <p:cNvSpPr>
            <a:spLocks noGrp="1"/>
          </p:cNvSpPr>
          <p:nvPr/>
        </p:nvSpPr>
        <p:spPr>
          <a:xfrm>
            <a:off x="762000" y="399097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Каждый объект – вектор признаков.</a:t>
            </a:r>
          </a:p>
        </p:txBody>
      </p:sp>
      <p:sp>
        <p:nvSpPr>
          <p:cNvPr id="15" name="Readable 4">
            <a:extLst>
              <a:ext uri="{FF2B5EF4-FFF2-40B4-BE49-F238E27FC236}">
                <a16:creationId xmlns:a16="http://schemas.microsoft.com/office/drawing/2014/main" id="{00237A46-376D-444E-B432-319CDC98790E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Гиперплоскость – линейная граница.</a:t>
            </a:r>
          </a:p>
        </p:txBody>
      </p:sp>
      <p:sp>
        <p:nvSpPr>
          <p:cNvPr id="16" name="Readable 4">
            <a:extLst>
              <a:ext uri="{FF2B5EF4-FFF2-40B4-BE49-F238E27FC236}">
                <a16:creationId xmlns:a16="http://schemas.microsoft.com/office/drawing/2014/main" id="{6547EBDC-97AC-4BF4-BBA9-371554C7DDDB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Вектор весов w диктует ориентацию границы (перпендикулярен гиперплоскости).</a:t>
            </a:r>
          </a:p>
        </p:txBody>
      </p:sp>
      <p:sp>
        <p:nvSpPr>
          <p:cNvPr id="17" name="Readable 4">
            <a:extLst>
              <a:ext uri="{FF2B5EF4-FFF2-40B4-BE49-F238E27FC236}">
                <a16:creationId xmlns:a16="http://schemas.microsoft.com/office/drawing/2014/main" id="{1B4B6352-D8E3-4972-85BD-405FC9BA7341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Параметр b определяет смещение относительно вектора w.</a:t>
            </a:r>
          </a:p>
        </p:txBody>
      </p:sp>
      <p:sp>
        <p:nvSpPr>
          <p:cNvPr id="18" name="Readable 4">
            <a:extLst>
              <a:ext uri="{FF2B5EF4-FFF2-40B4-BE49-F238E27FC236}">
                <a16:creationId xmlns:a16="http://schemas.microsoft.com/office/drawing/2014/main" id="{EBD1D5C4-12D8-4999-B910-1732C2F379FB}"/>
              </a:ext>
            </a:extLst>
          </p:cNvPr>
          <p:cNvSpPr>
            <a:spLocks noGrp="1"/>
          </p:cNvSpPr>
          <p:nvPr/>
        </p:nvSpPr>
        <p:spPr>
          <a:xfrm>
            <a:off x="6762750" y="3600450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Условия разделения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DB825695-7486-4501-ADFF-85890933D41B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Метод опорных векторов</a:t>
            </a:r>
          </a:p>
        </p:txBody>
      </p:sp>
      <p:pic>
        <p:nvPicPr>
          <p:cNvPr id="6" name="Google Shape;8829;p21"/>
          <p:cNvPicPr preferRelativeResize="0"/>
          <p:nvPr/>
        </p:nvPicPr>
        <p:blipFill rotWithShape="1">
          <a:blip r:embed="cuRel1">
            <a:alphaModFix/>
          </a:blip>
          <a:srcRect/>
          <a:stretch/>
        </p:blipFill>
        <p:spPr>
          <a:xfrm>
            <a:off x="1381125" y="3286125"/>
            <a:ext cx="1524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830;p21"/>
          <p:cNvPicPr preferRelativeResize="0"/>
          <p:nvPr/>
        </p:nvPicPr>
        <p:blipFill rotWithShape="1">
          <a:blip r:embed="cuRel2">
            <a:alphaModFix/>
          </a:blip>
          <a:srcRect/>
          <a:stretch/>
        </p:blipFill>
        <p:spPr>
          <a:xfrm>
            <a:off x="1381125" y="3743325"/>
            <a:ext cx="1724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831;p21"/>
          <p:cNvPicPr preferRelativeResize="0"/>
          <p:nvPr/>
        </p:nvPicPr>
        <p:blipFill rotWithShape="1">
          <a:blip r:embed="cuRel3">
            <a:alphaModFix/>
          </a:blip>
          <a:srcRect/>
          <a:stretch/>
        </p:blipFill>
        <p:spPr>
          <a:xfrm>
            <a:off x="904875" y="3314700"/>
            <a:ext cx="2667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832;p21"/>
          <p:cNvPicPr preferRelativeResize="0"/>
          <p:nvPr/>
        </p:nvPicPr>
        <p:blipFill rotWithShape="1">
          <a:blip r:embed="cuRel3">
            <a:alphaModFix/>
          </a:blip>
          <a:srcRect/>
          <a:stretch/>
        </p:blipFill>
        <p:spPr>
          <a:xfrm>
            <a:off x="904875" y="3771900"/>
            <a:ext cx="2667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834;p21" title="Рисунок 11. Визуализация _Полосы безопасности_ между точками и гиперплоскостью.png"/>
          <p:cNvPicPr preferRelativeResize="0"/>
          <p:nvPr/>
        </p:nvPicPr>
        <p:blipFill>
          <a:blip r:embed="cuRel4">
            <a:alphaModFix/>
          </a:blip>
          <a:stretch>
            <a:fillRect/>
          </a:stretch>
        </p:blipFill>
        <p:spPr>
          <a:xfrm>
            <a:off x="7048500" y="2714625"/>
            <a:ext cx="3905250" cy="37147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1" name="Readable 5">
            <a:extLst>
              <a:ext uri="{FF2B5EF4-FFF2-40B4-BE49-F238E27FC236}">
                <a16:creationId xmlns:a16="http://schemas.microsoft.com/office/drawing/2014/main" id="{E4B5CC4E-3EDF-42E2-9013-D72370723E5C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Почему векторы «опорные»?</a:t>
            </a:r>
          </a:p>
        </p:txBody>
      </p:sp>
      <p:sp>
        <p:nvSpPr>
          <p:cNvPr id="12" name="Readable 5">
            <a:extLst>
              <a:ext uri="{FF2B5EF4-FFF2-40B4-BE49-F238E27FC236}">
                <a16:creationId xmlns:a16="http://schemas.microsoft.com/office/drawing/2014/main" id="{2A036B46-1B43-4F84-B53F-CDA10532F8E5}"/>
              </a:ext>
            </a:extLst>
          </p:cNvPr>
          <p:cNvSpPr>
            <a:spLocks noGrp="1"/>
          </p:cNvSpPr>
          <p:nvPr/>
        </p:nvSpPr>
        <p:spPr>
          <a:xfrm>
            <a:off x="762000" y="2790825"/>
            <a:ext cx="5334000" cy="5238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Опорные векторы – это точки, для которых:</a:t>
            </a:r>
          </a:p>
        </p:txBody>
      </p:sp>
      <p:sp>
        <p:nvSpPr>
          <p:cNvPr id="13" name="Readable 5">
            <a:extLst>
              <a:ext uri="{FF2B5EF4-FFF2-40B4-BE49-F238E27FC236}">
                <a16:creationId xmlns:a16="http://schemas.microsoft.com/office/drawing/2014/main" id="{78826F18-503C-402B-A197-6C5F6CB7615F}"/>
              </a:ext>
            </a:extLst>
          </p:cNvPr>
          <p:cNvSpPr>
            <a:spLocks noGrp="1"/>
          </p:cNvSpPr>
          <p:nvPr/>
        </p:nvSpPr>
        <p:spPr>
          <a:xfrm>
            <a:off x="3476625" y="3286125"/>
            <a:ext cx="2524125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(для класса +1),</a:t>
            </a:r>
          </a:p>
        </p:txBody>
      </p:sp>
      <p:sp>
        <p:nvSpPr>
          <p:cNvPr id="14" name="Readable 5">
            <a:extLst>
              <a:ext uri="{FF2B5EF4-FFF2-40B4-BE49-F238E27FC236}">
                <a16:creationId xmlns:a16="http://schemas.microsoft.com/office/drawing/2014/main" id="{311B5AC0-1E80-4B11-B2DC-F903618EF923}"/>
              </a:ext>
            </a:extLst>
          </p:cNvPr>
          <p:cNvSpPr>
            <a:spLocks noGrp="1"/>
          </p:cNvSpPr>
          <p:nvPr/>
        </p:nvSpPr>
        <p:spPr>
          <a:xfrm>
            <a:off x="3476625" y="3743325"/>
            <a:ext cx="2524125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(для класса −1).</a:t>
            </a:r>
          </a:p>
        </p:txBody>
      </p:sp>
      <p:sp>
        <p:nvSpPr>
          <p:cNvPr id="15" name="Readable 5">
            <a:extLst>
              <a:ext uri="{FF2B5EF4-FFF2-40B4-BE49-F238E27FC236}">
                <a16:creationId xmlns:a16="http://schemas.microsoft.com/office/drawing/2014/main" id="{C8496506-67DD-4B3C-9364-37130403CCCE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5381625" cy="1095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убрать все точки, кроме опорных векторов, гиперплоскость останется той же. Здесь опорные точки как бы держат границы отступа.</a:t>
            </a:r>
          </a:p>
        </p:txBody>
      </p:sp>
      <p:sp>
        <p:nvSpPr>
          <p:cNvPr id="16" name="Readable 5">
            <a:extLst>
              <a:ext uri="{FF2B5EF4-FFF2-40B4-BE49-F238E27FC236}">
                <a16:creationId xmlns:a16="http://schemas.microsoft.com/office/drawing/2014/main" id="{CD5ADCFF-A143-4541-B81E-DE51B8C32FF2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5381625" cy="714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этом отступ между крайними точками классов должен быть максимально широким.</a:t>
            </a:r>
          </a:p>
        </p:txBody>
      </p:sp>
      <p:sp>
        <p:nvSpPr>
          <p:cNvPr id="17" name="Readable 5">
            <a:extLst>
              <a:ext uri="{FF2B5EF4-FFF2-40B4-BE49-F238E27FC236}">
                <a16:creationId xmlns:a16="http://schemas.microsoft.com/office/drawing/2014/main" id="{6FC3F655-BFF6-4C16-971F-0C3DDD8CF6F8}"/>
              </a:ext>
            </a:extLst>
          </p:cNvPr>
          <p:cNvSpPr>
            <a:spLocks noGrp="1"/>
          </p:cNvSpPr>
          <p:nvPr/>
        </p:nvSpPr>
        <p:spPr>
          <a:xfrm>
            <a:off x="762000" y="6286500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Формализуем определение таких точек.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F3B12033-1FF9-4A28-9A29-92B3BAEAEF6B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Математическая постановка</a:t>
            </a:r>
          </a:p>
        </p:txBody>
      </p:sp>
      <p:pic>
        <p:nvPicPr>
          <p:cNvPr id="6" name="Google Shape;8845;g3f002f7b2bc_0_210" title="Рисунок 11. Визуализация _Полосы безопасности_ между точками и гиперплоскостью.png"/>
          <p:cNvPicPr preferRelativeResize="0"/>
          <p:nvPr/>
        </p:nvPicPr>
        <p:blipFill>
          <a:blip r:embed="cuRel1">
            <a:alphaModFix/>
          </a:blip>
          <a:stretch>
            <a:fillRect/>
          </a:stretch>
        </p:blipFill>
        <p:spPr>
          <a:xfrm>
            <a:off x="6539366" y="2491463"/>
            <a:ext cx="4069187" cy="387540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Google Shape;8846;g3f002f7b2bc_0_210"/>
          <p:cNvPicPr preferRelativeResize="0"/>
          <p:nvPr/>
        </p:nvPicPr>
        <p:blipFill>
          <a:blip r:embed="cuRel2">
            <a:alphaModFix/>
          </a:blip>
          <a:stretch>
            <a:fillRect/>
          </a:stretch>
        </p:blipFill>
        <p:spPr>
          <a:xfrm>
            <a:off x="2333625" y="4048125"/>
            <a:ext cx="2190750" cy="561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8848;g3f002f7b2bc_0_210"/>
          <p:cNvCxnSpPr/>
          <p:nvPr/>
        </p:nvCxnSpPr>
        <p:spPr>
          <a:xfrm>
            <a:off x="8015247" y="4465540"/>
            <a:ext cx="330392" cy="369356"/>
          </a:xfrm>
          <a:prstGeom prst="straightConnector1">
            <a:avLst/>
          </a:prstGeom>
          <a:noFill/>
          <a:ln w="12710" cap="flat" cmpd="sng">
            <a:solidFill>
              <a:srgbClr val="102D6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8849;g3f002f7b2bc_0_210"/>
          <p:cNvSpPr txBox="1"/>
          <p:nvPr/>
        </p:nvSpPr>
        <p:spPr>
          <a:xfrm>
            <a:off x="8200603" y="4372859"/>
            <a:ext cx="331059" cy="32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None/>
            </a:pPr>
            <a:r>
              <a:rPr lang="ru-RU" sz="1700">
                <a:latin typeface="HSE Sans"/>
                <a:ea typeface="HSE Sans"/>
                <a:cs typeface="HSE Sans"/>
              </a:rPr>
              <a:t>𝜸</a:t>
            </a:r>
            <a:endParaRPr sz="1700">
              <a:latin typeface="HSE Sans"/>
              <a:ea typeface="HSE Sans"/>
              <a:cs typeface="HSE Sans"/>
            </a:endParaRPr>
          </a:p>
        </p:txBody>
      </p:sp>
      <p:sp>
        <p:nvSpPr>
          <p:cNvPr id="10" name="Google Shape;8850;g3f002f7b2bc_0_210"/>
          <p:cNvSpPr/>
          <p:nvPr/>
        </p:nvSpPr>
        <p:spPr>
          <a:xfrm rot="-2488062">
            <a:off x="8203368" y="4792493"/>
            <a:ext cx="122516" cy="94248"/>
          </a:xfrm>
          <a:prstGeom prst="rect">
            <a:avLst/>
          </a:prstGeom>
          <a:noFill/>
          <a:ln w="12710" cap="flat" cmpd="sng">
            <a:solidFill>
              <a:srgbClr val="102D6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40665" tIns="40665" rIns="40665" bIns="4066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HSE Sans"/>
              <a:ea typeface="HSE Sans"/>
              <a:cs typeface="HSE Sans"/>
            </a:endParaRPr>
          </a:p>
        </p:txBody>
      </p:sp>
      <p:pic>
        <p:nvPicPr>
          <p:cNvPr id="11" name="Google Shape;8851;g3f002f7b2bc_0_210"/>
          <p:cNvPicPr preferRelativeResize="0"/>
          <p:nvPr/>
        </p:nvPicPr>
        <p:blipFill>
          <a:blip r:embed="cuRel3">
            <a:alphaModFix/>
          </a:blip>
          <a:stretch>
            <a:fillRect/>
          </a:stretch>
        </p:blipFill>
        <p:spPr>
          <a:xfrm>
            <a:off x="2238375" y="2809875"/>
            <a:ext cx="23336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adable 6">
            <a:extLst>
              <a:ext uri="{FF2B5EF4-FFF2-40B4-BE49-F238E27FC236}">
                <a16:creationId xmlns:a16="http://schemas.microsoft.com/office/drawing/2014/main" id="{D3905457-1594-46AD-BECA-2AAEBC8D38ED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между точкой и гиперплоскостью:</a:t>
            </a:r>
          </a:p>
        </p:txBody>
      </p:sp>
      <p:sp>
        <p:nvSpPr>
          <p:cNvPr id="13" name="Readable 6">
            <a:extLst>
              <a:ext uri="{FF2B5EF4-FFF2-40B4-BE49-F238E27FC236}">
                <a16:creationId xmlns:a16="http://schemas.microsoft.com/office/drawing/2014/main" id="{50A6B3AF-593D-4E73-A791-F2F6C1A4FD41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 учетом правильной классификации:</a:t>
            </a:r>
          </a:p>
        </p:txBody>
      </p:sp>
      <p:sp>
        <p:nvSpPr>
          <p:cNvPr id="14" name="Readable 6">
            <a:extLst>
              <a:ext uri="{FF2B5EF4-FFF2-40B4-BE49-F238E27FC236}">
                <a16:creationId xmlns:a16="http://schemas.microsoft.com/office/drawing/2014/main" id="{C9AD6810-4A32-495C-BF0B-938BB4162C2E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5429250" cy="1095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Задача: найти минимальное расстояние по всем объектам выборки (i) и максимизировать его.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Google Shape;8860;g3f54594db56_0_122"/>
          <p:cNvSpPr/>
          <p:nvPr/>
        </p:nvSpPr>
        <p:spPr>
          <a:xfrm>
            <a:off x="1906058" y="3753361"/>
            <a:ext cx="8172034" cy="101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67"/>
              <a:buFont typeface="Arial"/>
              <a:buNone/>
            </a:pPr>
            <a:r>
              <a:rPr lang="ru-RU" sz="2384" b="1">
                <a:solidFill>
                  <a:srgbClr val="141414"/>
                </a:solidFill>
                <a:latin typeface="HSE Sans"/>
                <a:ea typeface="HSE Sans"/>
                <a:cs typeface="HSE Sans"/>
              </a:rPr>
              <a:t>Какая проблема может возникать при поиске оптимальной разделяющей гиперплоскости?</a:t>
            </a:r>
            <a:endParaRPr sz="2384" b="1">
              <a:solidFill>
                <a:srgbClr val="141414"/>
              </a:solidFill>
              <a:latin typeface="HSE Sans"/>
              <a:ea typeface="HSE Sans"/>
              <a:cs typeface="HSE Sans"/>
            </a:endParaRP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F0A39F0A-1B4C-4221-9978-B18FFCC387A9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Математическая постановка</a:t>
            </a:r>
          </a:p>
        </p:txBody>
      </p:sp>
      <p:pic>
        <p:nvPicPr>
          <p:cNvPr id="6" name="Google Shape;8870;g3f54594db56_0_102" title="Рисунок 11. Визуализация _Полосы безопасности_ между точками и гиперплоскостью.png"/>
          <p:cNvPicPr preferRelativeResize="0"/>
          <p:nvPr/>
        </p:nvPicPr>
        <p:blipFill>
          <a:blip r:embed="cuRel1">
            <a:alphaModFix/>
          </a:blip>
          <a:stretch>
            <a:fillRect/>
          </a:stretch>
        </p:blipFill>
        <p:spPr>
          <a:xfrm>
            <a:off x="6511733" y="2472721"/>
            <a:ext cx="3815569" cy="363386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Google Shape;8871;g3f54594db56_0_102"/>
          <p:cNvPicPr preferRelativeResize="0"/>
          <p:nvPr/>
        </p:nvPicPr>
        <p:blipFill>
          <a:blip r:embed="cuRel2">
            <a:alphaModFix/>
          </a:blip>
          <a:stretch>
            <a:fillRect/>
          </a:stretch>
        </p:blipFill>
        <p:spPr>
          <a:xfrm>
            <a:off x="2333625" y="4048125"/>
            <a:ext cx="2190750" cy="561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8877;g3f54594db56_0_102"/>
          <p:cNvCxnSpPr/>
          <p:nvPr/>
        </p:nvCxnSpPr>
        <p:spPr>
          <a:xfrm>
            <a:off x="7895627" y="4323760"/>
            <a:ext cx="309800" cy="346335"/>
          </a:xfrm>
          <a:prstGeom prst="straightConnector1">
            <a:avLst/>
          </a:prstGeom>
          <a:noFill/>
          <a:ln w="11918" cap="flat" cmpd="sng">
            <a:solidFill>
              <a:srgbClr val="102D6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8878;g3f54594db56_0_102"/>
          <p:cNvSpPr txBox="1"/>
          <p:nvPr/>
        </p:nvSpPr>
        <p:spPr>
          <a:xfrm>
            <a:off x="8069431" y="4236856"/>
            <a:ext cx="310425" cy="30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None/>
            </a:pPr>
            <a:r>
              <a:rPr lang="ru-RU" sz="1700">
                <a:latin typeface="HSE Sans"/>
                <a:ea typeface="HSE Sans"/>
                <a:cs typeface="HSE Sans"/>
              </a:rPr>
              <a:t>𝜸</a:t>
            </a:r>
            <a:endParaRPr sz="1700">
              <a:latin typeface="HSE Sans"/>
              <a:ea typeface="HSE Sans"/>
              <a:cs typeface="HSE Sans"/>
            </a:endParaRPr>
          </a:p>
        </p:txBody>
      </p:sp>
      <p:sp>
        <p:nvSpPr>
          <p:cNvPr id="10" name="Google Shape;8879;g3f54594db56_0_102"/>
          <p:cNvSpPr/>
          <p:nvPr/>
        </p:nvSpPr>
        <p:spPr>
          <a:xfrm rot="-2488062">
            <a:off x="8072023" y="4630336"/>
            <a:ext cx="114880" cy="88373"/>
          </a:xfrm>
          <a:prstGeom prst="rect">
            <a:avLst/>
          </a:prstGeom>
          <a:noFill/>
          <a:ln w="11918" cap="flat" cmpd="sng">
            <a:solidFill>
              <a:srgbClr val="102D6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38131" tIns="38131" rIns="38131" bIns="38131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HSE Sans"/>
              <a:ea typeface="HSE Sans"/>
              <a:cs typeface="HSE Sans"/>
            </a:endParaRPr>
          </a:p>
        </p:txBody>
      </p:sp>
      <p:pic>
        <p:nvPicPr>
          <p:cNvPr id="11" name="Google Shape;8880;g3f54594db56_0_102"/>
          <p:cNvPicPr preferRelativeResize="0"/>
          <p:nvPr/>
        </p:nvPicPr>
        <p:blipFill>
          <a:blip r:embed="cuRel7">
            <a:alphaModFix/>
          </a:blip>
          <a:stretch>
            <a:fillRect/>
          </a:stretch>
        </p:blipFill>
        <p:spPr>
          <a:xfrm>
            <a:off x="2238375" y="2809875"/>
            <a:ext cx="23336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adable 8">
            <a:extLst>
              <a:ext uri="{FF2B5EF4-FFF2-40B4-BE49-F238E27FC236}">
                <a16:creationId xmlns:a16="http://schemas.microsoft.com/office/drawing/2014/main" id="{5FFA5DE6-E701-4E9A-92EB-1131C392FA41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между точкой и гиперплоскостью:</a:t>
            </a:r>
          </a:p>
        </p:txBody>
      </p:sp>
      <p:sp>
        <p:nvSpPr>
          <p:cNvPr id="13" name="Readable 8">
            <a:extLst>
              <a:ext uri="{FF2B5EF4-FFF2-40B4-BE49-F238E27FC236}">
                <a16:creationId xmlns:a16="http://schemas.microsoft.com/office/drawing/2014/main" id="{DE27A19B-E093-4399-84CC-2A5A0ADE4DC9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 учетом правильной классификации:</a:t>
            </a:r>
          </a:p>
        </p:txBody>
      </p:sp>
      <p:sp>
        <p:nvSpPr>
          <p:cNvPr id="14" name="Readable 8">
            <a:extLst>
              <a:ext uri="{FF2B5EF4-FFF2-40B4-BE49-F238E27FC236}">
                <a16:creationId xmlns:a16="http://schemas.microsoft.com/office/drawing/2014/main" id="{9597947C-BA37-464F-9B65-ED8A1F4C525D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5429250" cy="1095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Задача: найти минимальное расстояние по всем объектам выборки (i) и максимизировать его.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F0A39F0A-1B4C-4221-9978-B18FFCC387A9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Математическая постановка</a:t>
            </a:r>
          </a:p>
        </p:txBody>
      </p:sp>
      <p:pic>
        <p:nvPicPr>
          <p:cNvPr id="6" name="Google Shape;8870;g3f54594db56_0_102" title="Рисунок 11. Визуализация _Полосы безопасности_ между точками и гиперплоскостью.png"/>
          <p:cNvPicPr preferRelativeResize="0"/>
          <p:nvPr/>
        </p:nvPicPr>
        <p:blipFill>
          <a:blip r:embed="cuRel1">
            <a:alphaModFix/>
          </a:blip>
          <a:stretch>
            <a:fillRect/>
          </a:stretch>
        </p:blipFill>
        <p:spPr>
          <a:xfrm>
            <a:off x="6511733" y="2472721"/>
            <a:ext cx="3815569" cy="363386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Google Shape;8873;g3f54594db56_0_102"/>
          <p:cNvPicPr preferRelativeResize="0"/>
          <p:nvPr/>
        </p:nvPicPr>
        <p:blipFill>
          <a:blip r:embed="cuRel3">
            <a:alphaModFix/>
          </a:blip>
          <a:stretch>
            <a:fillRect/>
          </a:stretch>
        </p:blipFill>
        <p:spPr>
          <a:xfrm>
            <a:off x="952500" y="3143250"/>
            <a:ext cx="11906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874;g3f54594db56_0_102"/>
          <p:cNvPicPr preferRelativeResize="0"/>
          <p:nvPr/>
        </p:nvPicPr>
        <p:blipFill rotWithShape="1">
          <a:blip r:embed="cuRel4">
            <a:alphaModFix/>
          </a:blip>
          <a:srcRect t="17824"/>
          <a:stretch/>
        </p:blipFill>
        <p:spPr>
          <a:xfrm>
            <a:off x="2714625" y="3143250"/>
            <a:ext cx="1571625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9" name="Google Shape;8875;g3f54594db56_0_102"/>
          <p:cNvPicPr preferRelativeResize="0"/>
          <p:nvPr/>
        </p:nvPicPr>
        <p:blipFill>
          <a:blip r:embed="cuRel5">
            <a:alphaModFix/>
          </a:blip>
          <a:stretch>
            <a:fillRect/>
          </a:stretch>
        </p:blipFill>
        <p:spPr>
          <a:xfrm>
            <a:off x="2286000" y="4429125"/>
            <a:ext cx="2190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876;g3f54594db56_0_102"/>
          <p:cNvPicPr preferRelativeResize="0"/>
          <p:nvPr/>
        </p:nvPicPr>
        <p:blipFill>
          <a:blip r:embed="cuRel6">
            <a:alphaModFix/>
          </a:blip>
          <a:stretch>
            <a:fillRect/>
          </a:stretch>
        </p:blipFill>
        <p:spPr>
          <a:xfrm>
            <a:off x="2571750" y="5572125"/>
            <a:ext cx="11906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cxnSp>
        <p:nvCxnSpPr>
          <p:cNvPr id="11" name="Google Shape;8877;g3f54594db56_0_102"/>
          <p:cNvCxnSpPr/>
          <p:nvPr/>
        </p:nvCxnSpPr>
        <p:spPr>
          <a:xfrm>
            <a:off x="7895627" y="4323760"/>
            <a:ext cx="309800" cy="346335"/>
          </a:xfrm>
          <a:prstGeom prst="straightConnector1">
            <a:avLst/>
          </a:prstGeom>
          <a:noFill/>
          <a:ln w="11918" cap="flat" cmpd="sng">
            <a:solidFill>
              <a:srgbClr val="102D6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8878;g3f54594db56_0_102"/>
          <p:cNvSpPr txBox="1"/>
          <p:nvPr/>
        </p:nvSpPr>
        <p:spPr>
          <a:xfrm>
            <a:off x="8069431" y="4236856"/>
            <a:ext cx="310425" cy="30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buNone/>
            </a:pPr>
            <a:r>
              <a:rPr lang="ru-RU" sz="1700">
                <a:latin typeface="HSE Sans"/>
                <a:ea typeface="HSE Sans"/>
                <a:cs typeface="HSE Sans"/>
              </a:rPr>
              <a:t>𝜸</a:t>
            </a:r>
            <a:endParaRPr sz="1700">
              <a:latin typeface="HSE Sans"/>
              <a:ea typeface="HSE Sans"/>
              <a:cs typeface="HSE Sans"/>
            </a:endParaRPr>
          </a:p>
        </p:txBody>
      </p:sp>
      <p:sp>
        <p:nvSpPr>
          <p:cNvPr id="13" name="Google Shape;8879;g3f54594db56_0_102"/>
          <p:cNvSpPr/>
          <p:nvPr/>
        </p:nvSpPr>
        <p:spPr>
          <a:xfrm rot="-2488062">
            <a:off x="8072023" y="4630336"/>
            <a:ext cx="114880" cy="88373"/>
          </a:xfrm>
          <a:prstGeom prst="rect">
            <a:avLst/>
          </a:prstGeom>
          <a:noFill/>
          <a:ln w="11918" cap="flat" cmpd="sng">
            <a:solidFill>
              <a:srgbClr val="102D6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38131" tIns="38131" rIns="38131" bIns="38131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4" name="Readable 8b">
            <a:extLst>
              <a:ext uri="{FF2B5EF4-FFF2-40B4-BE49-F238E27FC236}">
                <a16:creationId xmlns:a16="http://schemas.microsoft.com/office/drawing/2014/main" id="{25AF7041-ACC3-457C-A999-D05572DE3E50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Возникает неоднозначность:</a:t>
            </a:r>
          </a:p>
        </p:txBody>
      </p:sp>
      <p:sp>
        <p:nvSpPr>
          <p:cNvPr id="15" name="Readable 8b">
            <a:extLst>
              <a:ext uri="{FF2B5EF4-FFF2-40B4-BE49-F238E27FC236}">
                <a16:creationId xmlns:a16="http://schemas.microsoft.com/office/drawing/2014/main" id="{BFD42F40-44F3-452F-963D-BC5E48C9C184}"/>
              </a:ext>
            </a:extLst>
          </p:cNvPr>
          <p:cNvSpPr>
            <a:spLocks noGrp="1"/>
          </p:cNvSpPr>
          <p:nvPr/>
        </p:nvSpPr>
        <p:spPr>
          <a:xfrm>
            <a:off x="2333625" y="314325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</a:t>
            </a:r>
          </a:p>
        </p:txBody>
      </p:sp>
      <p:sp>
        <p:nvSpPr>
          <p:cNvPr id="16" name="Readable 8b">
            <a:extLst>
              <a:ext uri="{FF2B5EF4-FFF2-40B4-BE49-F238E27FC236}">
                <a16:creationId xmlns:a16="http://schemas.microsoft.com/office/drawing/2014/main" id="{7C898A24-CF83-48A8-A8B5-1C403480125D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задают одну и ту же гиперплоскость.</a:t>
            </a:r>
          </a:p>
        </p:txBody>
      </p:sp>
      <p:sp>
        <p:nvSpPr>
          <p:cNvPr id="17" name="Readable 8b">
            <a:extLst>
              <a:ext uri="{FF2B5EF4-FFF2-40B4-BE49-F238E27FC236}">
                <a16:creationId xmlns:a16="http://schemas.microsoft.com/office/drawing/2014/main" id="{78100E26-3503-4455-A0B7-C735D7115004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Наложим условие на опорные вектора:</a:t>
            </a:r>
          </a:p>
        </p:txBody>
      </p:sp>
      <p:sp>
        <p:nvSpPr>
          <p:cNvPr id="18" name="Readable 8b">
            <a:extLst>
              <a:ext uri="{FF2B5EF4-FFF2-40B4-BE49-F238E27FC236}">
                <a16:creationId xmlns:a16="http://schemas.microsoft.com/office/drawing/2014/main" id="{821F1AB1-F048-411D-BEB0-DA7165D9718D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Задача сводится к максимизации: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Google Shape;8887;g3f54594db56_0_129"/>
          <p:cNvSpPr/>
          <p:nvPr/>
        </p:nvSpPr>
        <p:spPr>
          <a:xfrm>
            <a:off x="1058793" y="1305852"/>
            <a:ext cx="9404827" cy="52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668"/>
              <a:buFont typeface="Arial"/>
              <a:buNone/>
            </a:pPr>
            <a:endParaRPr sz="642" b="0" i="0" u="none" strike="sngStrike" cap="none">
              <a:solidFill>
                <a:srgbClr val="000000"/>
              </a:solidFill>
              <a:latin typeface="HSE Sans"/>
              <a:ea typeface="HSE Sans"/>
              <a:cs typeface="HSE Sans"/>
              <a:sym typeface="Arial"/>
            </a:endParaRPr>
          </a:p>
        </p:txBody>
      </p:sp>
      <p:sp>
        <p:nvSpPr>
          <p:cNvPr id="6" name="Google Shape;8889;g3f54594db56_0_129"/>
          <p:cNvSpPr/>
          <p:nvPr/>
        </p:nvSpPr>
        <p:spPr>
          <a:xfrm>
            <a:off x="2004750" y="3778717"/>
            <a:ext cx="8172034" cy="130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67"/>
              <a:buFont typeface="Arial"/>
              <a:buNone/>
            </a:pPr>
            <a:r>
              <a:rPr lang="ru-RU" sz="2384" b="1">
                <a:solidFill>
                  <a:srgbClr val="141414"/>
                </a:solidFill>
                <a:latin typeface="HSE Sans"/>
                <a:ea typeface="HSE Sans"/>
                <a:cs typeface="HSE Sans"/>
              </a:rPr>
              <a:t>Какая ширина будет у полосы </a:t>
            </a:r>
            <a:endParaRPr sz="2384" b="1">
              <a:solidFill>
                <a:srgbClr val="141414"/>
              </a:solidFill>
              <a:latin typeface="HSE Sans"/>
              <a:ea typeface="HSE Sans"/>
              <a:cs typeface="HSE Sans"/>
            </a:endParaRPr>
          </a:p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67"/>
              <a:buFont typeface="Arial"/>
              <a:buNone/>
            </a:pPr>
            <a:r>
              <a:rPr lang="ru-RU" sz="2384" b="1">
                <a:solidFill>
                  <a:srgbClr val="141414"/>
                </a:solidFill>
                <a:latin typeface="HSE Sans"/>
                <a:ea typeface="HSE Sans"/>
                <a:cs typeface="HSE Sans"/>
              </a:rPr>
              <a:t>между разделяющей гиперплоскостью </a:t>
            </a:r>
            <a:endParaRPr sz="2384" b="1">
              <a:solidFill>
                <a:srgbClr val="141414"/>
              </a:solidFill>
              <a:latin typeface="HSE Sans"/>
              <a:ea typeface="HSE Sans"/>
              <a:cs typeface="HSE Sans"/>
            </a:endParaRPr>
          </a:p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67"/>
              <a:buFont typeface="Arial"/>
              <a:buNone/>
            </a:pPr>
            <a:r>
              <a:rPr lang="ru-RU" sz="2384" b="1">
                <a:solidFill>
                  <a:srgbClr val="141414"/>
                </a:solidFill>
                <a:latin typeface="HSE Sans"/>
                <a:ea typeface="HSE Sans"/>
                <a:cs typeface="HSE Sans"/>
              </a:rPr>
              <a:t>и опорными векторами?</a:t>
            </a:r>
            <a:endParaRPr sz="2384" b="1">
              <a:solidFill>
                <a:srgbClr val="141414"/>
              </a:solidFill>
              <a:latin typeface="HSE Sans"/>
              <a:ea typeface="HSE Sans"/>
              <a:cs typeface="HSE Sans"/>
            </a:endParaRP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D3386B77-2BBE-4F8F-9A0E-624989F221CF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Вычислим ширину полосы, разделяющей классы</a:t>
            </a:r>
          </a:p>
        </p:txBody>
      </p:sp>
      <p:pic>
        <p:nvPicPr>
          <p:cNvPr id="6" name="Google Shape;8899;g3f1e183fdcb_0_14" title="Рисунок 12. Добавляем расстояние от опорных точек до гиперплоскости.png"/>
          <p:cNvPicPr preferRelativeResize="0"/>
          <p:nvPr/>
        </p:nvPicPr>
        <p:blipFill>
          <a:blip r:embed="cuRel1">
            <a:alphaModFix/>
          </a:blip>
          <a:stretch>
            <a:fillRect/>
          </a:stretch>
        </p:blipFill>
        <p:spPr>
          <a:xfrm>
            <a:off x="7048500" y="2714625"/>
            <a:ext cx="390525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5">
            <a:extLst>
              <a:ext uri="{FF2B5EF4-FFF2-40B4-BE49-F238E27FC236}">
                <a16:creationId xmlns:a16="http://schemas.microsoft.com/office/drawing/2014/main" id="{68EEB918-2B0E-D475-C36D-3DB29763312A}"/>
              </a:ext>
            </a:extLst>
          </p:cNvPr>
          <p:cNvPicPr>
            <a:picLocks noChangeAspect="1"/>
          </p:cNvPicPr>
          <p:nvPr/>
        </p:nvPicPr>
        <p:blipFill>
          <a:blip r:embed="cuRel2"/>
          <a:stretch>
            <a:fillRect/>
          </a:stretch>
        </p:blipFill>
        <p:spPr>
          <a:xfrm>
            <a:off x="2190750" y="2952750"/>
            <a:ext cx="1714500" cy="857250"/>
          </a:xfrm>
          <a:prstGeom prst="rect">
            <a:avLst/>
          </a:prstGeom>
        </p:spPr>
      </p:pic>
      <p:pic>
        <p:nvPicPr>
          <p:cNvPr id="8" name="Рисунок 12">
            <a:extLst>
              <a:ext uri="{FF2B5EF4-FFF2-40B4-BE49-F238E27FC236}">
                <a16:creationId xmlns:a16="http://schemas.microsoft.com/office/drawing/2014/main" id="{2C8EB6EB-F426-2A4D-E254-22A604B28C02}"/>
              </a:ext>
            </a:extLst>
          </p:cNvPr>
          <p:cNvPicPr>
            <a:picLocks noChangeAspect="1"/>
          </p:cNvPicPr>
          <p:nvPr/>
        </p:nvPicPr>
        <p:blipFill>
          <a:blip r:embed="cuRel3"/>
          <a:stretch>
            <a:fillRect/>
          </a:stretch>
        </p:blipFill>
        <p:spPr>
          <a:xfrm>
            <a:off x="4333875" y="3905250"/>
            <a:ext cx="1428750" cy="428625"/>
          </a:xfrm>
          <a:prstGeom prst="rect">
            <a:avLst/>
          </a:prstGeom>
        </p:spPr>
      </p:pic>
      <p:pic>
        <p:nvPicPr>
          <p:cNvPr id="9" name="Рисунок 19">
            <a:extLst>
              <a:ext uri="{FF2B5EF4-FFF2-40B4-BE49-F238E27FC236}">
                <a16:creationId xmlns:a16="http://schemas.microsoft.com/office/drawing/2014/main" id="{B0C97D3D-0087-3613-27EF-FBAFDB7C3DEF}"/>
              </a:ext>
            </a:extLst>
          </p:cNvPr>
          <p:cNvPicPr>
            <a:picLocks noChangeAspect="1"/>
          </p:cNvPicPr>
          <p:nvPr/>
        </p:nvPicPr>
        <p:blipFill>
          <a:blip r:embed="cuRel4"/>
          <a:stretch>
            <a:fillRect/>
          </a:stretch>
        </p:blipFill>
        <p:spPr>
          <a:xfrm>
            <a:off x="1809750" y="4524375"/>
            <a:ext cx="2095500" cy="781050"/>
          </a:xfrm>
          <a:prstGeom prst="rect">
            <a:avLst/>
          </a:prstGeom>
        </p:spPr>
      </p:pic>
      <p:pic>
        <p:nvPicPr>
          <p:cNvPr id="10" name="Рисунок 24">
            <a:extLst>
              <a:ext uri="{FF2B5EF4-FFF2-40B4-BE49-F238E27FC236}">
                <a16:creationId xmlns:a16="http://schemas.microsoft.com/office/drawing/2014/main" id="{7AEBAF61-7F5D-6751-28EB-C66A12635E0F}"/>
              </a:ext>
            </a:extLst>
          </p:cNvPr>
          <p:cNvPicPr>
            <a:picLocks noChangeAspect="1"/>
          </p:cNvPicPr>
          <p:nvPr/>
        </p:nvPicPr>
        <p:blipFill>
          <a:blip r:embed="cuRel5"/>
          <a:stretch>
            <a:fillRect/>
          </a:stretch>
        </p:blipFill>
        <p:spPr>
          <a:xfrm>
            <a:off x="1666875" y="5953125"/>
            <a:ext cx="2857500" cy="647700"/>
          </a:xfrm>
          <a:prstGeom prst="rect">
            <a:avLst/>
          </a:prstGeom>
        </p:spPr>
      </p:pic>
      <p:sp>
        <p:nvSpPr>
          <p:cNvPr id="11" name="Readable 10">
            <a:extLst>
              <a:ext uri="{FF2B5EF4-FFF2-40B4-BE49-F238E27FC236}">
                <a16:creationId xmlns:a16="http://schemas.microsoft.com/office/drawing/2014/main" id="{5C4D59D2-102E-40D7-8C83-826DA7AF0A3E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5381625" cy="61912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После нормировки ближайшие объекты классов лежат на опорных границах:</a:t>
            </a:r>
          </a:p>
        </p:txBody>
      </p:sp>
      <p:sp>
        <p:nvSpPr>
          <p:cNvPr id="12" name="Readable 10">
            <a:extLst>
              <a:ext uri="{FF2B5EF4-FFF2-40B4-BE49-F238E27FC236}">
                <a16:creationId xmlns:a16="http://schemas.microsoft.com/office/drawing/2014/main" id="{7D5228A8-3D61-40B7-B62E-A3F415222750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от точки x до разделяющей гиперплоскости</a:t>
            </a:r>
          </a:p>
        </p:txBody>
      </p:sp>
      <p:sp>
        <p:nvSpPr>
          <p:cNvPr id="13" name="Readable 10">
            <a:extLst>
              <a:ext uri="{FF2B5EF4-FFF2-40B4-BE49-F238E27FC236}">
                <a16:creationId xmlns:a16="http://schemas.microsoft.com/office/drawing/2014/main" id="{2B057AD4-010D-4FC5-8C85-AD0C14BDCF8B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104775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равно:</a:t>
            </a:r>
          </a:p>
        </p:txBody>
      </p:sp>
      <p:sp>
        <p:nvSpPr>
          <p:cNvPr id="14" name="Readable 10">
            <a:extLst>
              <a:ext uri="{FF2B5EF4-FFF2-40B4-BE49-F238E27FC236}">
                <a16:creationId xmlns:a16="http://schemas.microsoft.com/office/drawing/2014/main" id="{E763CAA2-BDA3-424F-A928-1763CDBB21BF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5429250" cy="5238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Поэтому для показанных на рисунке опорных объектов: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04DD4F2F-3184-4ED6-8C6B-79D0F40030F0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Математическая постановка</a:t>
            </a:r>
          </a:p>
        </p:txBody>
      </p:sp>
      <p:pic>
        <p:nvPicPr>
          <p:cNvPr id="6" name="Google Shape;8911;g3f019c90232_0_25" title="Рисунок 13. Финальная разделяющая гиперплоскость.png"/>
          <p:cNvPicPr preferRelativeResize="0"/>
          <p:nvPr/>
        </p:nvPicPr>
        <p:blipFill>
          <a:blip r:embed="cuRel1">
            <a:alphaModFix/>
          </a:blip>
          <a:stretch>
            <a:fillRect/>
          </a:stretch>
        </p:blipFill>
        <p:spPr>
          <a:xfrm>
            <a:off x="7048500" y="2571750"/>
            <a:ext cx="39052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1">
            <a:extLst>
              <a:ext uri="{FF2B5EF4-FFF2-40B4-BE49-F238E27FC236}">
                <a16:creationId xmlns:a16="http://schemas.microsoft.com/office/drawing/2014/main" id="{A729EF19-0983-843A-68D4-7796EF2B317E}"/>
              </a:ext>
            </a:extLst>
          </p:cNvPr>
          <p:cNvPicPr>
            <a:picLocks noChangeAspect="1"/>
          </p:cNvPicPr>
          <p:nvPr/>
        </p:nvPicPr>
        <p:blipFill>
          <a:blip r:embed="cuRel2"/>
          <a:stretch>
            <a:fillRect/>
          </a:stretch>
        </p:blipFill>
        <p:spPr>
          <a:xfrm>
            <a:off x="2571750" y="3095625"/>
            <a:ext cx="1095375" cy="885825"/>
          </a:xfrm>
          <a:prstGeom prst="rect">
            <a:avLst/>
          </a:prstGeom>
        </p:spPr>
      </p:pic>
      <p:pic>
        <p:nvPicPr>
          <p:cNvPr id="8" name="Рисунок 4">
            <a:extLst>
              <a:ext uri="{FF2B5EF4-FFF2-40B4-BE49-F238E27FC236}">
                <a16:creationId xmlns:a16="http://schemas.microsoft.com/office/drawing/2014/main" id="{6A90F39C-6419-0F22-BE12-8FEC76836C6E}"/>
              </a:ext>
            </a:extLst>
          </p:cNvPr>
          <p:cNvPicPr>
            <a:picLocks noChangeAspect="1"/>
          </p:cNvPicPr>
          <p:nvPr/>
        </p:nvPicPr>
        <p:blipFill>
          <a:blip r:embed="cuRel3"/>
          <a:stretch>
            <a:fillRect/>
          </a:stretch>
        </p:blipFill>
        <p:spPr>
          <a:xfrm>
            <a:off x="1809750" y="4572000"/>
            <a:ext cx="2857500" cy="1266825"/>
          </a:xfrm>
          <a:prstGeom prst="rect">
            <a:avLst/>
          </a:prstGeom>
        </p:spPr>
      </p:pic>
      <p:sp>
        <p:nvSpPr>
          <p:cNvPr id="9" name="Readable 11">
            <a:extLst>
              <a:ext uri="{FF2B5EF4-FFF2-40B4-BE49-F238E27FC236}">
                <a16:creationId xmlns:a16="http://schemas.microsoft.com/office/drawing/2014/main" id="{8F5BB2CC-815C-4603-8E1A-73DF69D69188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от центральной гиперплоскости до каждой опорной границы равно:</a:t>
            </a:r>
          </a:p>
        </p:txBody>
      </p:sp>
      <p:sp>
        <p:nvSpPr>
          <p:cNvPr id="10" name="Readable 11">
            <a:extLst>
              <a:ext uri="{FF2B5EF4-FFF2-40B4-BE49-F238E27FC236}">
                <a16:creationId xmlns:a16="http://schemas.microsoft.com/office/drawing/2014/main" id="{7D4597D1-064A-4A0D-9564-6A699EE54B77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5429250" cy="61912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Поэтому полная ширина полосы складывается из двух расстояний:</a:t>
            </a:r>
          </a:p>
        </p:txBody>
      </p:sp>
      <p:sp>
        <p:nvSpPr>
          <p:cNvPr id="11" name="Readable 11">
            <a:extLst>
              <a:ext uri="{FF2B5EF4-FFF2-40B4-BE49-F238E27FC236}">
                <a16:creationId xmlns:a16="http://schemas.microsoft.com/office/drawing/2014/main" id="{CFBBB103-C06B-4CBD-BF77-B1AC9D1A788F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7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Таким образом, чем меньше норма ||w||, тем шире разделяющая полоса.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A2090863-57CC-47E4-BE04-94CA9B4D417C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Ширина зазора и целевая функция SVM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ADBAF20-A237-3170-83DB-ED789A27F156}"/>
              </a:ext>
            </a:extLst>
          </p:cNvPr>
          <p:cNvSpPr/>
          <p:nvPr/>
        </p:nvSpPr>
        <p:spPr>
          <a:xfrm>
            <a:off x="4762500" y="2381250"/>
            <a:ext cx="6477000" cy="1190625"/>
          </a:xfrm>
          <a:prstGeom prst="roundRect">
            <a:avLst>
              <a:gd name="adj" fmla="val 12079"/>
            </a:avLst>
          </a:prstGeom>
          <a:solidFill>
            <a:srgbClr val="DFF1FF"/>
          </a:solidFill>
          <a:ln w="11641">
            <a:noFill/>
            <a:prstDash val="solid"/>
          </a:ln>
        </p:spPr>
        <p:txBody>
          <a:bodyPr/>
          <a:lstStyle/>
          <a:p>
            <a:endParaRPr lang="ru-RU">
              <a:latin typeface="HSE Sans"/>
              <a:ea typeface="HSE Sans"/>
              <a:cs typeface="HSE Sans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41D8D435-00F3-EDF2-67BC-F50927378961}"/>
              </a:ext>
            </a:extLst>
          </p:cNvPr>
          <p:cNvSpPr/>
          <p:nvPr/>
        </p:nvSpPr>
        <p:spPr>
          <a:xfrm>
            <a:off x="4762500" y="5238750"/>
            <a:ext cx="6477000" cy="1190625"/>
          </a:xfrm>
          <a:prstGeom prst="roundRect">
            <a:avLst>
              <a:gd name="adj" fmla="val 12079"/>
            </a:avLst>
          </a:prstGeom>
          <a:solidFill>
            <a:srgbClr val="DFF1FF"/>
          </a:solidFill>
          <a:ln w="11641">
            <a:noFill/>
            <a:prstDash val="solid"/>
          </a:ln>
        </p:spPr>
        <p:txBody>
          <a:bodyPr/>
          <a:lstStyle/>
          <a:p>
            <a:endParaRPr lang="ru-RU">
              <a:latin typeface="HSE Sans"/>
              <a:ea typeface="HSE Sans"/>
              <a:cs typeface="HSE San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F1C732B-AF74-92BC-E220-258073898B6E}"/>
              </a:ext>
            </a:extLst>
          </p:cNvPr>
          <p:cNvSpPr/>
          <p:nvPr/>
        </p:nvSpPr>
        <p:spPr>
          <a:xfrm>
            <a:off x="4762500" y="3810000"/>
            <a:ext cx="6477000" cy="1190625"/>
          </a:xfrm>
          <a:prstGeom prst="roundRect">
            <a:avLst>
              <a:gd name="adj" fmla="val 12079"/>
            </a:avLst>
          </a:prstGeom>
          <a:solidFill>
            <a:srgbClr val="DFF1FF"/>
          </a:solidFill>
          <a:ln w="11641">
            <a:noFill/>
            <a:prstDash val="solid"/>
          </a:ln>
        </p:spPr>
        <p:txBody>
          <a:bodyPr/>
          <a:lstStyle/>
          <a:p>
            <a:endParaRPr lang="ru-RU">
              <a:latin typeface="HSE Sans"/>
              <a:ea typeface="HSE Sans"/>
              <a:cs typeface="HSE Sans"/>
            </a:endParaRPr>
          </a:p>
        </p:txBody>
      </p:sp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9A9A674D-7277-BC1E-C561-938752B85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cuRel1"/>
              </a:ext>
            </a:extLst>
          </a:blip>
          <a:stretch>
            <a:fillRect/>
          </a:stretch>
        </p:blipFill>
        <p:spPr>
          <a:xfrm>
            <a:off x="5191125" y="2667000"/>
            <a:ext cx="1809750" cy="638175"/>
          </a:xfrm>
          <a:prstGeom prst="rect">
            <a:avLst/>
          </a:prstGeom>
        </p:spPr>
      </p:pic>
      <p:pic>
        <p:nvPicPr>
          <p:cNvPr id="10" name="Рисунок 6">
            <a:extLst>
              <a:ext uri="{FF2B5EF4-FFF2-40B4-BE49-F238E27FC236}">
                <a16:creationId xmlns:a16="http://schemas.microsoft.com/office/drawing/2014/main" id="{A95C53F2-C3CA-7AA4-503F-7AC59A768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cuRel2"/>
              </a:ext>
            </a:extLst>
          </a:blip>
          <a:stretch>
            <a:fillRect/>
          </a:stretch>
        </p:blipFill>
        <p:spPr>
          <a:xfrm>
            <a:off x="5048250" y="4114800"/>
            <a:ext cx="5715000" cy="685800"/>
          </a:xfrm>
          <a:prstGeom prst="rect">
            <a:avLst/>
          </a:prstGeom>
        </p:spPr>
      </p:pic>
      <p:pic>
        <p:nvPicPr>
          <p:cNvPr id="11" name="Рисунок 9">
            <a:extLst>
              <a:ext uri="{FF2B5EF4-FFF2-40B4-BE49-F238E27FC236}">
                <a16:creationId xmlns:a16="http://schemas.microsoft.com/office/drawing/2014/main" id="{A016F600-99E3-0382-F9A3-79A3915BB4C1}"/>
              </a:ext>
            </a:extLst>
          </p:cNvPr>
          <p:cNvPicPr>
            <a:picLocks noChangeAspect="1"/>
          </p:cNvPicPr>
          <p:nvPr/>
        </p:nvPicPr>
        <p:blipFill>
          <a:blip r:embed="cuRel3"/>
          <a:stretch>
            <a:fillRect/>
          </a:stretch>
        </p:blipFill>
        <p:spPr>
          <a:xfrm>
            <a:off x="5191125" y="5524500"/>
            <a:ext cx="3619500" cy="733425"/>
          </a:xfrm>
          <a:prstGeom prst="rect">
            <a:avLst/>
          </a:prstGeom>
        </p:spPr>
      </p:pic>
      <p:sp>
        <p:nvSpPr>
          <p:cNvPr id="12" name="Readable 12">
            <a:extLst>
              <a:ext uri="{FF2B5EF4-FFF2-40B4-BE49-F238E27FC236}">
                <a16:creationId xmlns:a16="http://schemas.microsoft.com/office/drawing/2014/main" id="{397BDDA2-540D-4128-9E12-FED55231678F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Формула зазора</a:t>
            </a:r>
          </a:p>
        </p:txBody>
      </p:sp>
      <p:sp>
        <p:nvSpPr>
          <p:cNvPr id="13" name="Readable 12">
            <a:extLst>
              <a:ext uri="{FF2B5EF4-FFF2-40B4-BE49-F238E27FC236}">
                <a16:creationId xmlns:a16="http://schemas.microsoft.com/office/drawing/2014/main" id="{2BF42A4F-E1B5-4517-9486-F40C160C80A9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3714750" cy="61912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Цель: максимизируем зазор.</a:t>
            </a:r>
          </a:p>
        </p:txBody>
      </p:sp>
      <p:sp>
        <p:nvSpPr>
          <p:cNvPr id="14" name="Readable 12">
            <a:extLst>
              <a:ext uri="{FF2B5EF4-FFF2-40B4-BE49-F238E27FC236}">
                <a16:creationId xmlns:a16="http://schemas.microsoft.com/office/drawing/2014/main" id="{FB099FE4-4C65-4759-837F-01F1719DA926}"/>
              </a:ext>
            </a:extLst>
          </p:cNvPr>
          <p:cNvSpPr>
            <a:spLocks noGrp="1"/>
          </p:cNvSpPr>
          <p:nvPr/>
        </p:nvSpPr>
        <p:spPr>
          <a:xfrm>
            <a:off x="762000" y="5505450"/>
            <a:ext cx="3714750" cy="8572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условии, что точки классифицированы корректно:</a:t>
            </a:r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292D32E3-1230-4F71-9B6B-5CC32094933B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Задача оптимизации</a:t>
            </a:r>
          </a:p>
        </p:txBody>
      </p:sp>
      <p:sp>
        <p:nvSpPr>
          <p:cNvPr id="6" name="Скругленный прямоугольник 13">
            <a:extLst>
              <a:ext uri="{FF2B5EF4-FFF2-40B4-BE49-F238E27FC236}">
                <a16:creationId xmlns:a16="http://schemas.microsoft.com/office/drawing/2014/main" id="{FFE0B1F5-2E0D-5A60-0059-1AC1CE6832F7}"/>
              </a:ext>
            </a:extLst>
          </p:cNvPr>
          <p:cNvSpPr/>
          <p:nvPr/>
        </p:nvSpPr>
        <p:spPr>
          <a:xfrm>
            <a:off x="6524625" y="5048250"/>
            <a:ext cx="4762500" cy="1143000"/>
          </a:xfrm>
          <a:prstGeom prst="roundRect">
            <a:avLst>
              <a:gd name="adj" fmla="val 8517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865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HSE Sans"/>
                <a:ea typeface="HSE Sans"/>
                <a:cs typeface="HSE Sans"/>
              </a:defRPr>
            </a:pPr>
            <a:endParaRPr kumimoji="0" lang="ru-RU" sz="761" b="0" i="0" u="none" strike="noStrike" kern="507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HSE Sans" panose="020F0502020204030204"/>
              <a:ea typeface="HSE Sans"/>
              <a:cs typeface="HSE Sans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FCC8DB82-7744-A041-DEA7-15ABA25EBDCD}"/>
              </a:ext>
            </a:extLst>
          </p:cNvPr>
          <p:cNvSpPr/>
          <p:nvPr/>
        </p:nvSpPr>
        <p:spPr>
          <a:xfrm>
            <a:off x="762000" y="2857500"/>
            <a:ext cx="5095875" cy="3476625"/>
          </a:xfrm>
          <a:prstGeom prst="roundRect">
            <a:avLst>
              <a:gd name="adj" fmla="val 3353"/>
            </a:avLst>
          </a:prstGeom>
          <a:solidFill>
            <a:srgbClr val="DFF1FF"/>
          </a:solidFill>
          <a:ln w="10737">
            <a:noFill/>
            <a:prstDash val="solid"/>
          </a:ln>
        </p:spPr>
        <p:txBody>
          <a:bodyPr/>
          <a:lstStyle/>
          <a:p>
            <a:endParaRPr lang="ru-RU">
              <a:latin typeface="HSE Sans"/>
              <a:ea typeface="HSE Sans"/>
              <a:cs typeface="HSE Sans"/>
            </a:endParaRPr>
          </a:p>
        </p:txBody>
      </p:sp>
      <p:pic>
        <p:nvPicPr>
          <p:cNvPr id="8" name="Рисунок 5">
            <a:extLst>
              <a:ext uri="{FF2B5EF4-FFF2-40B4-BE49-F238E27FC236}">
                <a16:creationId xmlns:a16="http://schemas.microsoft.com/office/drawing/2014/main" id="{84DE7AB8-3DB7-F538-30E0-6F43D47DBE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cuRel1"/>
              </a:ext>
            </a:extLst>
          </a:blip>
          <a:stretch>
            <a:fillRect/>
          </a:stretch>
        </p:blipFill>
        <p:spPr>
          <a:xfrm>
            <a:off x="1285875" y="4286250"/>
            <a:ext cx="4000500" cy="952500"/>
          </a:xfrm>
          <a:prstGeom prst="rect">
            <a:avLst/>
          </a:prstGeom>
        </p:spPr>
      </p:pic>
      <p:pic>
        <p:nvPicPr>
          <p:cNvPr id="9" name="Рисунок 7">
            <a:extLst>
              <a:ext uri="{FF2B5EF4-FFF2-40B4-BE49-F238E27FC236}">
                <a16:creationId xmlns:a16="http://schemas.microsoft.com/office/drawing/2014/main" id="{D65A03CC-C3B7-F5C0-BAA4-50D80CD7F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cuRel2"/>
              </a:ext>
            </a:extLst>
          </a:blip>
          <a:stretch>
            <a:fillRect/>
          </a:stretch>
        </p:blipFill>
        <p:spPr>
          <a:xfrm>
            <a:off x="6858000" y="5429250"/>
            <a:ext cx="3905250" cy="333375"/>
          </a:xfrm>
          <a:prstGeom prst="rect">
            <a:avLst/>
          </a:prstGeom>
        </p:spPr>
      </p:pic>
      <p:sp>
        <p:nvSpPr>
          <p:cNvPr id="10" name="Readable 13">
            <a:extLst>
              <a:ext uri="{FF2B5EF4-FFF2-40B4-BE49-F238E27FC236}">
                <a16:creationId xmlns:a16="http://schemas.microsoft.com/office/drawing/2014/main" id="{3CBAD17B-4706-425F-8069-0D18E5C627B5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линейно разделимого случая</a:t>
            </a:r>
          </a:p>
        </p:txBody>
      </p:sp>
      <p:sp>
        <p:nvSpPr>
          <p:cNvPr id="11" name="Readable 13">
            <a:extLst>
              <a:ext uri="{FF2B5EF4-FFF2-40B4-BE49-F238E27FC236}">
                <a16:creationId xmlns:a16="http://schemas.microsoft.com/office/drawing/2014/main" id="{5045BC6D-AC86-42A5-9412-12B5DC73F498}"/>
              </a:ext>
            </a:extLst>
          </p:cNvPr>
          <p:cNvSpPr>
            <a:spLocks noGrp="1"/>
          </p:cNvSpPr>
          <p:nvPr/>
        </p:nvSpPr>
        <p:spPr>
          <a:xfrm>
            <a:off x="6524625" y="2857500"/>
            <a:ext cx="4762500" cy="20478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обработке реальных данных классы часто перекрываются, и идеальная гиперплоскость не существует (линейно неразделимый случай), то есть для любых w и b найдутся точки, нарушающие условие разделения: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A08F5E73-9BB0-47B4-9239-75CA623B294A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Промежуточный итог</a:t>
            </a:r>
          </a:p>
        </p:txBody>
      </p:sp>
      <p:sp>
        <p:nvSpPr>
          <p:cNvPr id="6" name="Readable 14">
            <a:extLst>
              <a:ext uri="{FF2B5EF4-FFF2-40B4-BE49-F238E27FC236}">
                <a16:creationId xmlns:a16="http://schemas.microsoft.com/office/drawing/2014/main" id="{849DD961-B459-413E-8AA3-86D486EC68E9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10096500" cy="24765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 нас есть работающая задача оптимизации для идеального случая: классы полностью разделимы, и мы просто минимизируем ‖w‖² при выполнении жёстких условий. 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</a:pPr>
            <a: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2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 что, если классы неразделимы линейно?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66E23952-3E76-4D1F-BEA0-30E8CFBE90E6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Сравнение для линейно разделимых и неразделимых данных</a:t>
            </a:r>
          </a:p>
        </p:txBody>
      </p:sp>
      <p:pic>
        <p:nvPicPr>
          <p:cNvPr id="6" name="Google Shape;8968;g3f54594db56_0_54" title="Рисунок 14. Сравнение Hard и Soft Margin SVM.png"/>
          <p:cNvPicPr preferRelativeResize="0"/>
          <p:nvPr/>
        </p:nvPicPr>
        <p:blipFill>
          <a:blip r:embed="cuRel1">
            <a:alphaModFix/>
          </a:blip>
          <a:stretch>
            <a:fillRect/>
          </a:stretch>
        </p:blipFill>
        <p:spPr>
          <a:xfrm>
            <a:off x="2390853" y="2619375"/>
            <a:ext cx="7410292" cy="40005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8F3887D7-04D2-4FB3-A37B-49F9D093EAE1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SVM для линейно неразделимых данных</a:t>
            </a:r>
          </a:p>
        </p:txBody>
      </p:sp>
      <p:sp>
        <p:nvSpPr>
          <p:cNvPr id="6" name="Скругленный прямоугольник 13">
            <a:extLst>
              <a:ext uri="{FF2B5EF4-FFF2-40B4-BE49-F238E27FC236}">
                <a16:creationId xmlns:a16="http://schemas.microsoft.com/office/drawing/2014/main" id="{426F6673-B869-A543-A3C7-D0071ADF6606}"/>
              </a:ext>
            </a:extLst>
          </p:cNvPr>
          <p:cNvSpPr/>
          <p:nvPr/>
        </p:nvSpPr>
        <p:spPr>
          <a:xfrm>
            <a:off x="5191125" y="3810000"/>
            <a:ext cx="6048375" cy="1285875"/>
          </a:xfrm>
          <a:prstGeom prst="roundRect">
            <a:avLst>
              <a:gd name="adj" fmla="val 11075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9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HSE Sans"/>
                <a:ea typeface="HSE Sans"/>
                <a:cs typeface="HSE Sans"/>
              </a:defRPr>
            </a:pPr>
            <a:endParaRPr kumimoji="0" lang="ru-RU" sz="825" b="0" i="0" u="none" strike="noStrike" kern="55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HSE Sans" panose="020F0502020204030204"/>
              <a:ea typeface="HSE Sans"/>
              <a:cs typeface="HSE Sans"/>
            </a:endParaRPr>
          </a:p>
        </p:txBody>
      </p:sp>
      <p:sp>
        <p:nvSpPr>
          <p:cNvPr id="7" name="Скругленный прямоугольник 13">
            <a:extLst>
              <a:ext uri="{FF2B5EF4-FFF2-40B4-BE49-F238E27FC236}">
                <a16:creationId xmlns:a16="http://schemas.microsoft.com/office/drawing/2014/main" id="{5E70CA18-E2EB-C1F5-3453-CF1EE83CA54D}"/>
              </a:ext>
            </a:extLst>
          </p:cNvPr>
          <p:cNvSpPr/>
          <p:nvPr/>
        </p:nvSpPr>
        <p:spPr>
          <a:xfrm>
            <a:off x="5191125" y="2381250"/>
            <a:ext cx="6048375" cy="1190625"/>
          </a:xfrm>
          <a:prstGeom prst="roundRect">
            <a:avLst>
              <a:gd name="adj" fmla="val 11075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9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HSE Sans"/>
                <a:ea typeface="HSE Sans"/>
                <a:cs typeface="HSE Sans"/>
              </a:defRPr>
            </a:pPr>
            <a:endParaRPr kumimoji="0" lang="ru-RU" sz="825" b="0" i="0" u="none" strike="noStrike" kern="55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HSE Sans" panose="020F0502020204030204"/>
              <a:ea typeface="HSE Sans"/>
              <a:cs typeface="HSE Sans"/>
            </a:endParaRPr>
          </a:p>
        </p:txBody>
      </p:sp>
      <p:sp>
        <p:nvSpPr>
          <p:cNvPr id="8" name="Скругленный прямоугольник 13">
            <a:extLst>
              <a:ext uri="{FF2B5EF4-FFF2-40B4-BE49-F238E27FC236}">
                <a16:creationId xmlns:a16="http://schemas.microsoft.com/office/drawing/2014/main" id="{CE353576-CF09-D92B-87E9-2259F0471EE3}"/>
              </a:ext>
            </a:extLst>
          </p:cNvPr>
          <p:cNvSpPr/>
          <p:nvPr/>
        </p:nvSpPr>
        <p:spPr>
          <a:xfrm>
            <a:off x="5191125" y="5286375"/>
            <a:ext cx="6048375" cy="1190625"/>
          </a:xfrm>
          <a:prstGeom prst="roundRect">
            <a:avLst>
              <a:gd name="adj" fmla="val 11075"/>
            </a:avLst>
          </a:prstGeom>
          <a:solidFill>
            <a:srgbClr val="DF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9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HSE Sans"/>
                <a:ea typeface="HSE Sans"/>
                <a:cs typeface="HSE Sans"/>
              </a:defRPr>
            </a:pPr>
            <a:endParaRPr kumimoji="0" lang="ru-RU" sz="825" b="0" i="0" u="none" strike="noStrike" kern="550" cap="none" spc="0" normalizeH="0" baseline="0" noProof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HSE Sans" panose="020F0502020204030204"/>
              <a:ea typeface="HSE Sans"/>
              <a:cs typeface="HSE Sans"/>
            </a:endParaRPr>
          </a:p>
        </p:txBody>
      </p:sp>
      <p:pic>
        <p:nvPicPr>
          <p:cNvPr id="9" name="Рисунок 5">
            <a:extLst>
              <a:ext uri="{FF2B5EF4-FFF2-40B4-BE49-F238E27FC236}">
                <a16:creationId xmlns:a16="http://schemas.microsoft.com/office/drawing/2014/main" id="{740158A8-E504-927D-1116-5C12A5567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cuRel1"/>
              </a:ext>
            </a:extLst>
          </a:blip>
          <a:stretch>
            <a:fillRect/>
          </a:stretch>
        </p:blipFill>
        <p:spPr>
          <a:xfrm>
            <a:off x="5476875" y="2762250"/>
            <a:ext cx="5191125" cy="285750"/>
          </a:xfrm>
          <a:prstGeom prst="rect">
            <a:avLst/>
          </a:prstGeom>
        </p:spPr>
      </p:pic>
      <p:pic>
        <p:nvPicPr>
          <p:cNvPr id="10" name="Рисунок 7">
            <a:extLst>
              <a:ext uri="{FF2B5EF4-FFF2-40B4-BE49-F238E27FC236}">
                <a16:creationId xmlns:a16="http://schemas.microsoft.com/office/drawing/2014/main" id="{F0CC8DAC-A43D-30A7-F537-B57121FDAD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cuRel2"/>
              </a:ext>
            </a:extLst>
          </a:blip>
          <a:stretch>
            <a:fillRect/>
          </a:stretch>
        </p:blipFill>
        <p:spPr>
          <a:xfrm>
            <a:off x="5572125" y="3905250"/>
            <a:ext cx="2476500" cy="1133475"/>
          </a:xfrm>
          <a:prstGeom prst="rect">
            <a:avLst/>
          </a:prstGeom>
        </p:spPr>
      </p:pic>
      <p:pic>
        <p:nvPicPr>
          <p:cNvPr id="11" name="Рисунок 9">
            <a:extLst>
              <a:ext uri="{FF2B5EF4-FFF2-40B4-BE49-F238E27FC236}">
                <a16:creationId xmlns:a16="http://schemas.microsoft.com/office/drawing/2014/main" id="{1BE1194E-5604-AD06-BCD4-83B866190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cuRel3"/>
              </a:ext>
            </a:extLst>
          </a:blip>
          <a:stretch>
            <a:fillRect/>
          </a:stretch>
        </p:blipFill>
        <p:spPr>
          <a:xfrm>
            <a:off x="5476875" y="5362575"/>
            <a:ext cx="5429250" cy="1114425"/>
          </a:xfrm>
          <a:prstGeom prst="rect">
            <a:avLst/>
          </a:prstGeom>
        </p:spPr>
      </p:pic>
      <p:sp>
        <p:nvSpPr>
          <p:cNvPr id="12" name="Readable 16">
            <a:extLst>
              <a:ext uri="{FF2B5EF4-FFF2-40B4-BE49-F238E27FC236}">
                <a16:creationId xmlns:a16="http://schemas.microsoft.com/office/drawing/2014/main" id="{800AC710-B6FF-4849-9E58-F0CD17F0208D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4000500" cy="762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Введём переменные, ослабляющие условия.</a:t>
            </a:r>
          </a:p>
        </p:txBody>
      </p:sp>
      <p:sp>
        <p:nvSpPr>
          <p:cNvPr id="13" name="Readable 16">
            <a:extLst>
              <a:ext uri="{FF2B5EF4-FFF2-40B4-BE49-F238E27FC236}">
                <a16:creationId xmlns:a16="http://schemas.microsoft.com/office/drawing/2014/main" id="{1D88E620-37BB-4D9F-845B-9650C58BA6E4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4000500" cy="61912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Новая задача оптимизации</a:t>
            </a:r>
          </a:p>
        </p:txBody>
      </p:sp>
      <p:sp>
        <p:nvSpPr>
          <p:cNvPr id="14" name="Readable 16">
            <a:extLst>
              <a:ext uri="{FF2B5EF4-FFF2-40B4-BE49-F238E27FC236}">
                <a16:creationId xmlns:a16="http://schemas.microsoft.com/office/drawing/2014/main" id="{7F652097-168D-4953-81C6-D95930746AE3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4000500" cy="762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Итог: SVM как баланс между зазором и ошибками.</a:t>
            </a:r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BC90827B-9890-45D8-8158-2C82A0967254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Роль гиперпараметра C в SVM</a:t>
            </a:r>
          </a:p>
        </p:txBody>
      </p:sp>
      <p:sp>
        <p:nvSpPr>
          <p:cNvPr id="6" name="Google Shape;8992;g3f54594db56_0_60"/>
          <p:cNvSpPr/>
          <p:nvPr/>
        </p:nvSpPr>
        <p:spPr>
          <a:xfrm>
            <a:off x="5381625" y="2381250"/>
            <a:ext cx="5810250" cy="1143000"/>
          </a:xfrm>
          <a:prstGeom prst="roundRect">
            <a:avLst>
              <a:gd name="adj" fmla="val 11075"/>
            </a:avLst>
          </a:prstGeom>
          <a:solidFill>
            <a:srgbClr val="DFF1FF"/>
          </a:solidFill>
          <a:ln>
            <a:noFill/>
          </a:ln>
        </p:spPr>
        <p:txBody>
          <a:bodyPr spcFirstLastPara="1" wrap="square" lIns="37046" tIns="18518" rIns="37046" bIns="18518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9"/>
              <a:buFont typeface="Calibri"/>
              <a:buNone/>
            </a:pPr>
            <a:endParaRPr sz="729" b="0" i="0" u="none" strike="noStrike" cap="none">
              <a:solidFill>
                <a:srgbClr val="E6E6E6"/>
              </a:solidFill>
              <a:latin typeface="HSE Sans"/>
              <a:ea typeface="HSE Sans"/>
              <a:cs typeface="HSE Sans"/>
              <a:sym typeface="Calibri"/>
            </a:endParaRPr>
          </a:p>
        </p:txBody>
      </p:sp>
      <p:pic>
        <p:nvPicPr>
          <p:cNvPr id="7" name="Google Shape;8996;g3f54594db56_0_60"/>
          <p:cNvPicPr preferRelativeResize="0"/>
          <p:nvPr/>
        </p:nvPicPr>
        <p:blipFill rotWithShape="1">
          <a:blip r:embed="cuRel1">
            <a:alphaModFix/>
          </a:blip>
          <a:srcRect/>
          <a:stretch/>
        </p:blipFill>
        <p:spPr>
          <a:xfrm>
            <a:off x="5715000" y="2486025"/>
            <a:ext cx="51435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997;g3f54594db56_0_60"/>
          <p:cNvPicPr preferRelativeResize="0"/>
          <p:nvPr/>
        </p:nvPicPr>
        <p:blipFill>
          <a:blip r:embed="cuRel2">
            <a:alphaModFix/>
          </a:blip>
          <a:stretch>
            <a:fillRect/>
          </a:stretch>
        </p:blipFill>
        <p:spPr>
          <a:xfrm>
            <a:off x="5619750" y="3714750"/>
            <a:ext cx="256222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998;g3f54594db56_0_60"/>
          <p:cNvPicPr preferRelativeResize="0"/>
          <p:nvPr/>
        </p:nvPicPr>
        <p:blipFill>
          <a:blip r:embed="cuRel3">
            <a:alphaModFix/>
          </a:blip>
          <a:stretch>
            <a:fillRect/>
          </a:stretch>
        </p:blipFill>
        <p:spPr>
          <a:xfrm>
            <a:off x="8334375" y="3714750"/>
            <a:ext cx="248602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adable 17">
            <a:extLst>
              <a:ext uri="{FF2B5EF4-FFF2-40B4-BE49-F238E27FC236}">
                <a16:creationId xmlns:a16="http://schemas.microsoft.com/office/drawing/2014/main" id="{E9B37A6A-7465-41A2-95C3-6612F3D82B78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4191000" cy="762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Итог: SVM как баланс между зазором и ошибками.</a:t>
            </a:r>
          </a:p>
        </p:txBody>
      </p:sp>
      <p:sp>
        <p:nvSpPr>
          <p:cNvPr id="11" name="Readable 17">
            <a:extLst>
              <a:ext uri="{FF2B5EF4-FFF2-40B4-BE49-F238E27FC236}">
                <a16:creationId xmlns:a16="http://schemas.microsoft.com/office/drawing/2014/main" id="{7F5A66E8-D558-47E4-83B2-EA3846C54A56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Малое C – модель прощает больше ошибок, зазор шире, риск недообучения.</a:t>
            </a:r>
          </a:p>
        </p:txBody>
      </p:sp>
      <p:sp>
        <p:nvSpPr>
          <p:cNvPr id="12" name="Readable 17">
            <a:extLst>
              <a:ext uri="{FF2B5EF4-FFF2-40B4-BE49-F238E27FC236}">
                <a16:creationId xmlns:a16="http://schemas.microsoft.com/office/drawing/2014/main" id="{B92B8783-A508-4D26-B963-FF29DFB0F490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9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Большое C – модель минимизирует нарушения, зазор уже, риск переобучения.</a:t>
            </a:r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7C2212AD-D073-4000-BD86-33BB46DEDA57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Вызов в sklearn</a:t>
            </a:r>
          </a:p>
        </p:txBody>
      </p:sp>
      <p:sp>
        <p:nvSpPr>
          <p:cNvPr id="6" name="Readable 18">
            <a:extLst>
              <a:ext uri="{FF2B5EF4-FFF2-40B4-BE49-F238E27FC236}">
                <a16:creationId xmlns:a16="http://schemas.microsoft.com/office/drawing/2014/main" id="{F3DA47CA-E9D9-43B9-91C1-6C6523427A41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10191750" cy="404812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from sklearn.svm import SVC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</a:pPr>
            <a: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# Обучаем модель SVM.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model_svm = SVC(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    kernel='linear',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    probability=True,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    class_weight='balanced',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    max_iter=1000,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    C=1.0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7C2212AD-D073-4000-BD86-33BB46DEDA57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Параметры SVC</a:t>
            </a:r>
          </a:p>
        </p:txBody>
      </p:sp>
      <p:sp>
        <p:nvSpPr>
          <p:cNvPr id="6" name="Readable 18b">
            <a:extLst>
              <a:ext uri="{FF2B5EF4-FFF2-40B4-BE49-F238E27FC236}">
                <a16:creationId xmlns:a16="http://schemas.microsoft.com/office/drawing/2014/main" id="{339F5F8F-E55C-4EE9-A40E-05F2A82B45F9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kernel – тип ядра.</a:t>
            </a:r>
          </a:p>
        </p:txBody>
      </p:sp>
      <p:sp>
        <p:nvSpPr>
          <p:cNvPr id="7" name="Readable 18b">
            <a:extLst>
              <a:ext uri="{FF2B5EF4-FFF2-40B4-BE49-F238E27FC236}">
                <a16:creationId xmlns:a16="http://schemas.microsoft.com/office/drawing/2014/main" id="{4C3AC959-8357-4F69-87D0-9BFC8B9D84DE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probability включает расчёт вероятностей через калибровку по Платту, удобно, если хотим получить predict_proba, но делает обучение медленнее.</a:t>
            </a:r>
          </a:p>
        </p:txBody>
      </p:sp>
      <p:sp>
        <p:nvSpPr>
          <p:cNvPr id="8" name="Readable 18b">
            <a:extLst>
              <a:ext uri="{FF2B5EF4-FFF2-40B4-BE49-F238E27FC236}">
                <a16:creationId xmlns:a16="http://schemas.microsoft.com/office/drawing/2014/main" id="{40F2604C-455A-43B2-B8C8-1F5987933F27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class_weight учитывает дисбаланс классов.</a:t>
            </a:r>
          </a:p>
        </p:txBody>
      </p:sp>
      <p:sp>
        <p:nvSpPr>
          <p:cNvPr id="9" name="Readable 18b">
            <a:extLst>
              <a:ext uri="{FF2B5EF4-FFF2-40B4-BE49-F238E27FC236}">
                <a16:creationId xmlns:a16="http://schemas.microsoft.com/office/drawing/2014/main" id="{924CFF20-D4BA-496D-848B-A31E0AA15BD4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max_iter – число итераций до сходимости, нужно увеличивать при предупреждении ConvergenceWarning.</a:t>
            </a:r>
          </a:p>
        </p:txBody>
      </p:sp>
      <p:sp>
        <p:nvSpPr>
          <p:cNvPr id="10" name="Readable 18b">
            <a:extLst>
              <a:ext uri="{FF2B5EF4-FFF2-40B4-BE49-F238E27FC236}">
                <a16:creationId xmlns:a16="http://schemas.microsoft.com/office/drawing/2014/main" id="{3A9A42E3-F97E-4845-AA4D-420A1C725444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0668000" cy="14287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8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C – коэффициент штрафа за нарушения отступа. Чем больше C, тем сильнее модель штрафуется за нарушения и тем слабее регуляризация. Большое C обычно даёт более узкий зазор и повышает риск переобучения.</a:t>
            </a:r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7C6588E8-39FD-4C3D-A9D9-EF3FAEAF4922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Вызов в sklearn</a:t>
            </a:r>
          </a:p>
        </p:txBody>
      </p:sp>
      <p:sp>
        <p:nvSpPr>
          <p:cNvPr id="6" name="Readable 19">
            <a:extLst>
              <a:ext uri="{FF2B5EF4-FFF2-40B4-BE49-F238E27FC236}">
                <a16:creationId xmlns:a16="http://schemas.microsoft.com/office/drawing/2014/main" id="{AF17FE1A-47A2-42B7-B9A6-3C441687A2D9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572750" cy="4286250"/>
          </a:xfrm>
          <a:prstGeom prst="rect">
            <a:avLst/>
          </a:prstGeom>
          <a:noFill/>
          <a:ln w="0">
            <a:noFill/>
          </a:ln>
        </p:spPr>
        <p:txBody>
          <a:bodyPr anchor="t" lIns="0" tIns="0" rIns="0" bIns="0" wrap="square">
            <a:noAutofit/>
          </a:bodyPr>
          <a:lstStyle>
            <a:def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# Фит на данные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model_svm.fit(X_train, y_train)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</a:pPr>
            <a: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# Предсказания вероятностей принадлежности к положительному классу (1)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y_pred_prob = model_svm.predict_proba(X_test)[:, 1]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</a:pPr>
            <a: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# Предсказания классов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y_pred_classes = model_svm.predict(X_test)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</a:pPr>
            <a: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# Доступ к коэффициентам модели (только для линейного ядра!)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print(model_svm.coef_)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defRPr>
            </a:pPr>
            <a:r>
              <a:rPr sz="1700" b="0">
                <a:solidFill>
                  <a:srgbClr val="102D69"/>
                </a:solidFill>
                <a:latin typeface="Courier New"/>
                <a:ea typeface="Courier New"/>
                <a:cs typeface="Courier New"/>
              </a:rPr>
              <a:t>print(model_svm.intercept_)</a:t>
            </a:r>
          </a:p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</a:pPr>
            <a:r>
              <a:t/>
            </a:r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 и логистическая регрессия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2D258704-11F9-4188-BF30-5DCFF6D49CB8}"/>
              </a:ext>
            </a:extLst>
          </p:cNvPr>
          <p:cNvSpPr>
            <a:spLocks noGrp="1"/>
          </p:cNvSpPr>
          <p:nvPr/>
        </p:nvSpPr>
        <p:spPr>
          <a:xfrm>
            <a:off x="585788" y="2714625"/>
            <a:ext cx="11058525" cy="1524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750" b="1">
                <a:solidFill>
                  <a:srgbClr val="102D69"/>
                </a:solidFill>
                <a:latin typeface="HSE Sans"/>
              </a:defRPr>
            </a:defPPr>
            <a:lvl1pPr>
              <a:defRPr sz="3750" b="1">
                <a:solidFill>
                  <a:srgbClr val="102D69"/>
                </a:solidFill>
                <a:latin typeface="HSE Sans"/>
              </a:defRPr>
            </a:lvl1pPr>
            <a:lvl2pPr>
              <a:defRPr sz="3750" b="1">
                <a:solidFill>
                  <a:srgbClr val="102D69"/>
                </a:solidFill>
                <a:latin typeface="HSE Sans"/>
              </a:defRPr>
            </a:lvl2pPr>
            <a:lvl3pPr>
              <a:defRPr sz="3750" b="1">
                <a:solidFill>
                  <a:srgbClr val="102D69"/>
                </a:solidFill>
                <a:latin typeface="HSE Sans"/>
              </a:defRPr>
            </a:lvl3pPr>
            <a:lvl4pPr>
              <a:defRPr sz="3750" b="1">
                <a:solidFill>
                  <a:srgbClr val="102D69"/>
                </a:solidFill>
                <a:latin typeface="HSE Sans"/>
              </a:defRPr>
            </a:lvl4pPr>
            <a:lvl5pPr>
              <a:defRPr sz="3750" b="1">
                <a:solidFill>
                  <a:srgbClr val="102D69"/>
                </a:solidFill>
                <a:latin typeface="HSE Sans"/>
              </a:defRPr>
            </a:lvl5pPr>
            <a:lvl6pPr>
              <a:defRPr sz="3750" b="1">
                <a:solidFill>
                  <a:srgbClr val="102D69"/>
                </a:solidFill>
                <a:latin typeface="HSE Sans"/>
              </a:defRPr>
            </a:lvl6pPr>
            <a:lvl7pPr>
              <a:defRPr sz="3750" b="1">
                <a:solidFill>
                  <a:srgbClr val="102D69"/>
                </a:solidFill>
                <a:latin typeface="HSE Sans"/>
              </a:defRPr>
            </a:lvl7pPr>
            <a:lvl8pPr>
              <a:defRPr sz="3750" b="1">
                <a:solidFill>
                  <a:srgbClr val="102D69"/>
                </a:solidFill>
                <a:latin typeface="HSE Sans"/>
              </a:defRPr>
            </a:lvl8pPr>
            <a:lvl9pPr>
              <a:defRPr sz="3750" b="1">
                <a:solidFill>
                  <a:srgbClr val="102D69"/>
                </a:solidFill>
                <a:latin typeface="HSE Sans"/>
              </a:defRPr>
            </a:lvl9pPr>
          </a:lstStyle>
          <a:p>
            <a:pPr>
              <a:defRPr sz="3750" b="1">
                <a:solidFill>
                  <a:srgbClr val="102D69"/>
                </a:solidFill>
                <a:latin typeface="HSE Sans"/>
              </a:defRPr>
            </a:pPr>
            <a:r>
              <a:rPr sz="3750" b="1">
                <a:solidFill>
                  <a:srgbClr val="102D69"/>
                </a:solidFill>
                <a:latin typeface="HSE Sans"/>
              </a:rPr>
              <a:t>Отличия SVM и логистической регрессии</a:t>
            </a:r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 и логистическая регрессия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78C01AF9-A345-424B-BE55-042CFABE19A1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Отличия SVM и логистической регрессии</a:t>
            </a:r>
          </a:p>
        </p:txBody>
      </p:sp>
      <p:graphicFrame>
        <p:nvGraphicFramePr>
          <p:cNvPr id="6" name="Google Shape;9184;p34"/>
          <p:cNvGraphicFramePr/>
          <p:nvPr/>
        </p:nvGraphicFramePr>
        <p:xfrm>
          <a:off x="762000" y="2286000"/>
          <a:ext cx="10668000" cy="4095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1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</a:rPr>
                        <a:t>Критерий</a:t>
                      </a:r>
                      <a:endParaRPr sz="1700" b="1" u="none" strike="noStrike" cap="none"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1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</a:rPr>
                        <a:t>SVM</a:t>
                      </a:r>
                      <a:endParaRPr sz="1700" b="1" u="none" strike="noStrike" cap="none"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1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</a:rPr>
                        <a:t>Логистическая регрессия</a:t>
                      </a:r>
                      <a:endParaRPr sz="1700" b="1" u="none" strike="noStrike" cap="none"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Интерпретации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Геометрические: опорные векторы и ширина зазора, веса указывают направление и важность признаков</a:t>
                      </a:r>
                      <a:endParaRPr sz="1700"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Вероятностные: можно оценивать риски, настраивать порог принятия решений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Чувствительность к выбросам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Менее чувствителен к далёким выбросам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Выбросы могут сильно смещать границу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Работа с большими выборками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Вычислительно сложнее (особенно с нелинейными ядрами), плохо масштабируется на миллионы объектов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>
                          <a:latin typeface="HSE Sans"/>
                          <a:ea typeface="HSE Sans"/>
                          <a:cs typeface="HSE Sans"/>
                        </a:rPr>
                        <a:t>Быстрее обучается, хорошо масштабируется, имеет эффективные солверы для больших данных 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0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  <a:sym typeface="Arial"/>
                        </a:rPr>
                        <a:t>Вывод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0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  <a:sym typeface="Arial"/>
                        </a:rPr>
                        <a:t>Решающее правило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0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  <a:sym typeface="Arial"/>
                        </a:rPr>
                        <a:t>Вероятности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0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  <a:sym typeface="Arial"/>
                        </a:rPr>
                        <a:t>Использование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0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  <a:sym typeface="Arial"/>
                        </a:rPr>
                        <a:t>Редко в практике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lIns="0" tIns="0" rIns="0" bIns="0" wrap="square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2000"/>
                        </a:lnSpc>
                        <a:spcAft>
                          <a:spcPts val="0"/>
                        </a:spcAft>
                        <a:spcBef>
                          <a:spcPts val="0"/>
                        </a:spcBef>
                        <a:buClr>
                          <a:srgbClr val="000000"/>
                        </a:buClr>
                        <a:buSzPts val="1027"/>
                        <a:buFont typeface="Arial"/>
                        <a:buNone/>
                      </a:pPr>
                      <a:r>
                        <a:rPr lang="ru-RU" sz="1700" b="0" i="0" u="none" strike="noStrike" cap="none">
                          <a:solidFill>
                            <a:srgbClr val="000000"/>
                          </a:solidFill>
                          <a:latin typeface="HSE Sans"/>
                          <a:ea typeface="HSE Sans"/>
                          <a:cs typeface="HSE Sans"/>
                          <a:sym typeface="Arial"/>
                        </a:rPr>
                        <a:t>Широко</a:t>
                      </a:r>
                      <a:endParaRPr sz="1700" b="0" u="none" strike="noStrike" cap="none">
                        <a:latin typeface="HSE Sans"/>
                        <a:ea typeface="HSE Sans"/>
                        <a:cs typeface="HSE Sans"/>
                        <a:sym typeface="Arial"/>
                      </a:endParaRPr>
                    </a:p>
                  </a:txBody>
                  <a:tcPr marL="114300" marR="114300" marT="76200" marB="76200" anchor="ctr">
                    <a:lnL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154" cap="flat" cmpd="sng">
                      <a:solidFill>
                        <a:srgbClr val="D1D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077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43689" y="540904"/>
            <a:ext cx="2007884" cy="415925"/>
          </a:xfrm>
        </p:spPr>
        <p:txBody>
          <a:bodyPr lIns="0" tIns="0" rIns="0" bIns="0"/>
          <a:lstStyle/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Метод опорных векторов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SVM и логистическая регрессия</a:t>
            </a:r>
          </a:p>
        </p:txBody>
      </p:sp>
      <p:sp>
        <p:nvSpPr>
          <p:cNvPr id="5" name="HSE title">
            <a:extLst>
              <a:ext uri="{FF2B5EF4-FFF2-40B4-BE49-F238E27FC236}">
                <a16:creationId xmlns:a16="http://schemas.microsoft.com/office/drawing/2014/main" id="{78C01AF9-A345-424B-BE55-042CFABE19A1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 anchor="ctr" lIns="0" tIns="0" rIns="0" bIns="0" wrap="square">
            <a:noAutofit/>
          </a:bodyPr>
          <a:lstStyle>
            <a:def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  <a:lvl1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1pPr>
            <a:lvl2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2pPr>
            <a:lvl3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3pPr>
            <a:lvl4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4pPr>
            <a:lvl5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5pPr>
            <a:lvl6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6pPr>
            <a:lvl7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7pPr>
            <a:lvl8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8pPr>
            <a:lvl9pPr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lvl9pPr>
          </a:lstStyle>
          <a:p>
            <a:pPr>
              <a:lnSpc>
                <a:spcPct val="112000"/>
              </a:lnSpc>
              <a:spcAft>
                <a:spcPts val="0"/>
              </a:spcAft>
              <a:spcBef>
                <a:spcPts val="0"/>
              </a:spcBef>
              <a:defRPr sz="30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0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Hinge loss и logistic loss</a:t>
            </a:r>
          </a:p>
        </p:txBody>
      </p:sp>
      <p:pic>
        <p:nvPicPr>
          <p:cNvPr id="6" name="Google Shape;9186;p34"/>
          <p:cNvPicPr preferRelativeResize="0"/>
          <p:nvPr/>
        </p:nvPicPr>
        <p:blipFill rotWithShape="1">
          <a:blip r:embed="readablePlot">
            <a:alphaModFix/>
          </a:blip>
          <a:stretch/>
        </p:blipFill>
        <p:spPr>
          <a:xfrm>
            <a:off x="762000" y="2286000"/>
            <a:ext cx="10668000" cy="4178300"/>
          </a:xfrm>
          <a:prstGeom prst="rect">
            <a:avLst/>
          </a:prstGeom>
          <a:noFill/>
          <a:ln>
            <a:noFill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2026-10-14T13:54:13.6890000Z</dcterms:created>
  <dcterms:modified xsi:type="dcterms:W3CDTF">2026-10-14T13:54:13.6890000Z</dcterms:modified>
</coreProperties>
</file>