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5" r:id="rId40"/>
    <p:sldId id="296" r:id="rId41"/>
    <p:sldId id="299" r:id="rId42"/>
    <p:sldId id="300" r:id="rId43"/>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4"/>
  </p:normalViewPr>
  <p:slideViewPr>
    <p:cSldViewPr snapToGrid="0" snapToObjects="1">
      <p:cViewPr varScale="1">
        <p:scale>
          <a:sx n="112" d="100"/>
          <a:sy n="112" d="100"/>
        </p:scale>
        <p:origin x="6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____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_____Microsoft_Excel1.xlsx"/></Relationships>
</file>

<file path=ppt/charts/_rels/chart3.xml.rels><?xml version="1.0" encoding="UTF-8" standalone="yes"?>
<Relationships xmlns="http://schemas.openxmlformats.org/package/2006/relationships"><Relationship Id="rId1" Type="http://schemas.openxmlformats.org/officeDocument/2006/relationships/package" Target="../embeddings/_____Microsoft_Excel2.xlsx"/></Relationships>
</file>

<file path=ppt/charts/_rels/chart4.xml.rels><?xml version="1.0" encoding="UTF-8" standalone="yes"?>
<Relationships xmlns="http://schemas.openxmlformats.org/package/2006/relationships"><Relationship Id="rId1" Type="http://schemas.openxmlformats.org/officeDocument/2006/relationships/package" Target="../embeddings/_____Microsoft_Excel3.xlsx"/></Relationships>
</file>

<file path=ppt/charts/_rels/chart5.xml.rels><?xml version="1.0" encoding="UTF-8" standalone="yes"?>
<Relationships xmlns="http://schemas.openxmlformats.org/package/2006/relationships"><Relationship Id="rId1" Type="http://schemas.openxmlformats.org/officeDocument/2006/relationships/package" Target="../embeddings/_____Microsoft_Excel4.xlsx"/></Relationships>
</file>

<file path=ppt/charts/_rels/chart6.xml.rels><?xml version="1.0" encoding="UTF-8" standalone="yes"?>
<Relationships xmlns="http://schemas.openxmlformats.org/package/2006/relationships"><Relationship Id="rId1" Type="http://schemas.openxmlformats.org/officeDocument/2006/relationships/package" Target="../embeddings/_____Microsoft_Excel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barChart>
        <c:barDir val="bar"/>
        <c:grouping val="stacked"/>
        <c:varyColors val="0"/>
        <c:ser>
          <c:idx val="0"/>
          <c:order val="0"/>
          <c:tx>
            <c:v>Класс А: 90%</c:v>
          </c:tx>
          <c:spPr>
            <a:solidFill>
              <a:srgbClr val="102D69"/>
            </a:solidFill>
          </c:spPr>
          <c:invertIfNegative val="1"/>
          <c:cat>
            <c:strRef>
              <c:f>'Chart Data'!$A$2:$A$4</c:f>
              <c:strCache>
                <c:ptCount val="3"/>
                <c:pt idx="0">
                  <c:v>Все данные</c:v>
                </c:pt>
                <c:pt idx="1">
                  <c:v>Train</c:v>
                </c:pt>
                <c:pt idx="2">
                  <c:v>Validation</c:v>
                </c:pt>
              </c:strCache>
            </c:strRef>
          </c:cat>
          <c:val>
            <c:numRef>
              <c:f>'Chart Data'!$B$2:$B$4</c:f>
              <c:numCache>
                <c:formatCode>0</c:formatCode>
                <c:ptCount val="3"/>
                <c:pt idx="0">
                  <c:v>90</c:v>
                </c:pt>
                <c:pt idx="1">
                  <c:v>90</c:v>
                </c:pt>
                <c:pt idx="2">
                  <c:v>90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449-FA4E-99C3-46211921A2B8}"/>
            </c:ext>
          </c:extLst>
        </c:ser>
        <c:ser>
          <c:idx val="1"/>
          <c:order val="1"/>
          <c:tx>
            <c:v>Класс Б: 10%</c:v>
          </c:tx>
          <c:spPr>
            <a:solidFill>
              <a:srgbClr val="EB681F"/>
            </a:solidFill>
          </c:spPr>
          <c:invertIfNegative val="1"/>
          <c:cat>
            <c:strRef>
              <c:f>'Chart Data'!$C$2:$C$4</c:f>
              <c:strCache>
                <c:ptCount val="3"/>
                <c:pt idx="0">
                  <c:v>Все данные</c:v>
                </c:pt>
                <c:pt idx="1">
                  <c:v>Train</c:v>
                </c:pt>
                <c:pt idx="2">
                  <c:v>Validation</c:v>
                </c:pt>
              </c:strCache>
            </c:strRef>
          </c:cat>
          <c:val>
            <c:numRef>
              <c:f>'Chart Data'!$D$2:$D$4</c:f>
              <c:numCache>
                <c:formatCode>0</c:formatCode>
                <c:ptCount val="3"/>
                <c:pt idx="0">
                  <c:v>10</c:v>
                </c:pt>
                <c:pt idx="1">
                  <c:v>10</c:v>
                </c:pt>
                <c:pt idx="2">
                  <c:v>10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449-FA4E-99C3-46211921A2B8}"/>
            </c:ext>
          </c:extLst>
        </c:ser>
        <c:dLbls>
          <c:showLegendKey val="0"/>
          <c:showVal val="0"/>
          <c:showCatName val="0"/>
          <c:showSerName val="0"/>
          <c:showPercent val="0"/>
          <c:showBubbleSize val="0"/>
        </c:dLbls>
        <c:gapWidth val="60"/>
        <c:overlap val="10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A6B2C4"/>
            </a:solidFill>
          </a:ln>
        </c:spPr>
        <c:txPr>
          <a:bodyPr anchorCtr="1"/>
          <a:lstStyle/>
          <a:p>
            <a:pPr>
              <a:defRPr sz="1425">
                <a:solidFill>
                  <a:srgbClr val="102D69"/>
                </a:solidFill>
                <a:latin typeface="HSE Sans"/>
                <a:ea typeface="HSE Sans"/>
                <a:cs typeface="HSE Sans"/>
              </a:defRPr>
            </a:pPr>
            <a:endParaRPr lang="ru-RU"/>
          </a:p>
        </c:txPr>
        <c:crossAx val="48672768"/>
        <c:crosses val="autoZero"/>
        <c:auto val="1"/>
        <c:lblAlgn val="ctr"/>
        <c:lblOffset val="100"/>
        <c:noMultiLvlLbl val="1"/>
      </c:catAx>
      <c:valAx>
        <c:axId val="48672768"/>
        <c:scaling>
          <c:orientation val="minMax"/>
          <c:max val="100"/>
          <c:min val="0"/>
        </c:scaling>
        <c:delete val="0"/>
        <c:axPos val="b"/>
        <c:title>
          <c:tx>
            <c:rich>
              <a:bodyPr/>
              <a:lstStyle/>
              <a:p>
                <a:r>
                  <a:rPr lang="ru-RU" sz="1500">
                    <a:solidFill>
                      <a:srgbClr val="102D69"/>
                    </a:solidFill>
                    <a:latin typeface="HSE Sans"/>
                    <a:ea typeface="HSE Sans"/>
                    <a:cs typeface="HSE Sans"/>
                  </a:rPr>
                  <a:t>Доля объектов, %</a:t>
                </a:r>
              </a:p>
            </c:rich>
          </c:tx>
          <c:overlay val="0"/>
        </c:title>
        <c:numFmt formatCode="0" sourceLinked="0"/>
        <c:majorTickMark val="none"/>
        <c:minorTickMark val="none"/>
        <c:tickLblPos val="low"/>
        <c:spPr>
          <a:ln w="9525">
            <a:solidFill>
              <a:srgbClr val="A6B2C4"/>
            </a:solidFill>
          </a:ln>
        </c:spPr>
        <c:txPr>
          <a:bodyPr anchorCtr="1"/>
          <a:lstStyle/>
          <a:p>
            <a:pPr>
              <a:defRPr sz="1425">
                <a:solidFill>
                  <a:srgbClr val="102D69"/>
                </a:solidFill>
                <a:latin typeface="HSE Sans"/>
                <a:ea typeface="HSE Sans"/>
                <a:cs typeface="HSE Sans"/>
              </a:defRPr>
            </a:pPr>
            <a:endParaRPr lang="ru-RU"/>
          </a:p>
        </c:txPr>
        <c:crossAx val="48650112"/>
        <c:crosses val="min"/>
        <c:crossBetween val="between"/>
        <c:majorUnit val="20"/>
      </c:valAx>
      <c:spPr>
        <a:solidFill>
          <a:srgbClr val="FFFFFF"/>
        </a:solidFill>
      </c:spPr>
    </c:plotArea>
    <c:legend>
      <c:legendPos val="b"/>
      <c:overlay val="0"/>
      <c:txPr>
        <a:bodyPr anchorCtr="1"/>
        <a:lstStyle/>
        <a:p>
          <a:pPr>
            <a:defRPr sz="1500">
              <a:solidFill>
                <a:srgbClr val="102D69"/>
              </a:solidFill>
              <a:latin typeface="HSE Sans"/>
              <a:ea typeface="HSE Sans"/>
              <a:cs typeface="HSE Sans"/>
            </a:defRPr>
          </a:pPr>
          <a:endParaRPr lang="ru-RU"/>
        </a:p>
      </c:txPr>
    </c:legend>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scatterChart>
        <c:scatterStyle val="lineMarker"/>
        <c:varyColors val="1"/>
        <c:ser>
          <c:idx val="0"/>
          <c:order val="0"/>
          <c:tx>
            <c:v>Одинаковая ошибка</c:v>
          </c:tx>
          <c:spPr>
            <a:ln w="28575">
              <a:solidFill>
                <a:srgbClr val="BCC8DA"/>
              </a:solidFill>
            </a:ln>
          </c:spPr>
          <c:marker>
            <c:symbol val="none"/>
          </c:marker>
          <c:xVal>
            <c:numRef>
              <c:f>'Chart Data'!$A$2:$A$122</c:f>
              <c:numCache>
                <c:formatCode>0.00</c:formatCode>
                <c:ptCount val="121"/>
                <c:pt idx="0">
                  <c:v>0.35</c:v>
                </c:pt>
                <c:pt idx="1">
                  <c:v>0.34952034</c:v>
                </c:pt>
                <c:pt idx="2">
                  <c:v>0.34808266</c:v>
                </c:pt>
                <c:pt idx="3">
                  <c:v>0.34569092</c:v>
                </c:pt>
                <c:pt idx="4">
                  <c:v>0.34235166</c:v>
                </c:pt>
                <c:pt idx="5">
                  <c:v>0.33807404</c:v>
                </c:pt>
                <c:pt idx="6">
                  <c:v>0.33286978</c:v>
                </c:pt>
                <c:pt idx="7">
                  <c:v>0.32675315</c:v>
                </c:pt>
                <c:pt idx="8">
                  <c:v>0.31974091</c:v>
                </c:pt>
                <c:pt idx="9">
                  <c:v>0.31185228</c:v>
                </c:pt>
                <c:pt idx="10">
                  <c:v>0.30310889</c:v>
                </c:pt>
                <c:pt idx="11">
                  <c:v>0.2935347</c:v>
                </c:pt>
                <c:pt idx="12">
                  <c:v>0.28315595</c:v>
                </c:pt>
                <c:pt idx="13">
                  <c:v>0.27200109</c:v>
                </c:pt>
                <c:pt idx="14">
                  <c:v>0.26010069</c:v>
                </c:pt>
                <c:pt idx="15">
                  <c:v>0.24748737</c:v>
                </c:pt>
                <c:pt idx="16">
                  <c:v>0.23419571</c:v>
                </c:pt>
                <c:pt idx="17">
                  <c:v>0.22026214</c:v>
                </c:pt>
                <c:pt idx="18">
                  <c:v>0.20572484</c:v>
                </c:pt>
                <c:pt idx="19">
                  <c:v>0.19062366</c:v>
                </c:pt>
                <c:pt idx="20">
                  <c:v>0.175</c:v>
                </c:pt>
                <c:pt idx="21">
                  <c:v>0.15889667</c:v>
                </c:pt>
                <c:pt idx="22">
                  <c:v>0.14235783</c:v>
                </c:pt>
                <c:pt idx="23">
                  <c:v>0.12542878</c:v>
                </c:pt>
                <c:pt idx="24">
                  <c:v>0.10815595</c:v>
                </c:pt>
                <c:pt idx="25">
                  <c:v>0.09058667</c:v>
                </c:pt>
                <c:pt idx="26">
                  <c:v>0.07276909</c:v>
                </c:pt>
                <c:pt idx="27">
                  <c:v>0.05475206</c:v>
                </c:pt>
                <c:pt idx="28">
                  <c:v>0.03658496</c:v>
                </c:pt>
                <c:pt idx="29">
                  <c:v>0.01831758</c:v>
                </c:pt>
                <c:pt idx="30">
                  <c:v>0</c:v>
                </c:pt>
                <c:pt idx="31">
                  <c:v>-0.01831758</c:v>
                </c:pt>
                <c:pt idx="32">
                  <c:v>-0.03658496</c:v>
                </c:pt>
                <c:pt idx="33">
                  <c:v>-0.05475206</c:v>
                </c:pt>
                <c:pt idx="34">
                  <c:v>-0.07276909</c:v>
                </c:pt>
                <c:pt idx="35">
                  <c:v>-0.09058667</c:v>
                </c:pt>
                <c:pt idx="36">
                  <c:v>-0.10815595</c:v>
                </c:pt>
                <c:pt idx="37">
                  <c:v>-0.12542878</c:v>
                </c:pt>
                <c:pt idx="38">
                  <c:v>-0.14235783</c:v>
                </c:pt>
                <c:pt idx="39">
                  <c:v>-0.15889667</c:v>
                </c:pt>
                <c:pt idx="40">
                  <c:v>-0.175</c:v>
                </c:pt>
                <c:pt idx="41">
                  <c:v>-0.19062366</c:v>
                </c:pt>
                <c:pt idx="42">
                  <c:v>-0.20572484</c:v>
                </c:pt>
                <c:pt idx="43">
                  <c:v>-0.22026214</c:v>
                </c:pt>
                <c:pt idx="44">
                  <c:v>-0.23419571</c:v>
                </c:pt>
                <c:pt idx="45">
                  <c:v>-0.24748737</c:v>
                </c:pt>
                <c:pt idx="46">
                  <c:v>-0.26010069</c:v>
                </c:pt>
                <c:pt idx="47">
                  <c:v>-0.27200109</c:v>
                </c:pt>
                <c:pt idx="48">
                  <c:v>-0.28315595</c:v>
                </c:pt>
                <c:pt idx="49">
                  <c:v>-0.2935347</c:v>
                </c:pt>
                <c:pt idx="50">
                  <c:v>-0.30310889</c:v>
                </c:pt>
                <c:pt idx="51">
                  <c:v>-0.31185228</c:v>
                </c:pt>
                <c:pt idx="52">
                  <c:v>-0.31974091</c:v>
                </c:pt>
                <c:pt idx="53">
                  <c:v>-0.32675315</c:v>
                </c:pt>
                <c:pt idx="54">
                  <c:v>-0.33286978</c:v>
                </c:pt>
                <c:pt idx="55">
                  <c:v>-0.33807404</c:v>
                </c:pt>
                <c:pt idx="56">
                  <c:v>-0.34235166</c:v>
                </c:pt>
                <c:pt idx="57">
                  <c:v>-0.34569092</c:v>
                </c:pt>
                <c:pt idx="58">
                  <c:v>-0.34808266</c:v>
                </c:pt>
                <c:pt idx="59">
                  <c:v>-0.34952034</c:v>
                </c:pt>
                <c:pt idx="60">
                  <c:v>-0.35</c:v>
                </c:pt>
                <c:pt idx="61">
                  <c:v>-0.34952034</c:v>
                </c:pt>
                <c:pt idx="62">
                  <c:v>-0.34808266</c:v>
                </c:pt>
                <c:pt idx="63">
                  <c:v>-0.34569092</c:v>
                </c:pt>
                <c:pt idx="64">
                  <c:v>-0.34235166</c:v>
                </c:pt>
                <c:pt idx="65">
                  <c:v>-0.33807404</c:v>
                </c:pt>
                <c:pt idx="66">
                  <c:v>-0.33286978</c:v>
                </c:pt>
                <c:pt idx="67">
                  <c:v>-0.32675315</c:v>
                </c:pt>
                <c:pt idx="68">
                  <c:v>-0.31974091</c:v>
                </c:pt>
                <c:pt idx="69">
                  <c:v>-0.31185228</c:v>
                </c:pt>
                <c:pt idx="70">
                  <c:v>-0.30310889</c:v>
                </c:pt>
                <c:pt idx="71">
                  <c:v>-0.2935347</c:v>
                </c:pt>
                <c:pt idx="72">
                  <c:v>-0.28315595</c:v>
                </c:pt>
                <c:pt idx="73">
                  <c:v>-0.27200109</c:v>
                </c:pt>
                <c:pt idx="74">
                  <c:v>-0.26010069</c:v>
                </c:pt>
                <c:pt idx="75">
                  <c:v>-0.24748737</c:v>
                </c:pt>
                <c:pt idx="76">
                  <c:v>-0.23419571</c:v>
                </c:pt>
                <c:pt idx="77">
                  <c:v>-0.22026214</c:v>
                </c:pt>
                <c:pt idx="78">
                  <c:v>-0.20572484</c:v>
                </c:pt>
                <c:pt idx="79">
                  <c:v>-0.19062366</c:v>
                </c:pt>
                <c:pt idx="80">
                  <c:v>-0.175</c:v>
                </c:pt>
                <c:pt idx="81">
                  <c:v>-0.15889667</c:v>
                </c:pt>
                <c:pt idx="82">
                  <c:v>-0.14235783</c:v>
                </c:pt>
                <c:pt idx="83">
                  <c:v>-0.12542878</c:v>
                </c:pt>
                <c:pt idx="84">
                  <c:v>-0.10815595</c:v>
                </c:pt>
                <c:pt idx="85">
                  <c:v>-0.09058667</c:v>
                </c:pt>
                <c:pt idx="86">
                  <c:v>-0.07276909</c:v>
                </c:pt>
                <c:pt idx="87">
                  <c:v>-0.05475206</c:v>
                </c:pt>
                <c:pt idx="88">
                  <c:v>-0.03658496</c:v>
                </c:pt>
                <c:pt idx="89">
                  <c:v>-0.01831758</c:v>
                </c:pt>
                <c:pt idx="90">
                  <c:v>0</c:v>
                </c:pt>
                <c:pt idx="91">
                  <c:v>0.01831758</c:v>
                </c:pt>
                <c:pt idx="92">
                  <c:v>0.03658496</c:v>
                </c:pt>
                <c:pt idx="93">
                  <c:v>0.05475206</c:v>
                </c:pt>
                <c:pt idx="94">
                  <c:v>0.07276909</c:v>
                </c:pt>
                <c:pt idx="95">
                  <c:v>0.09058667</c:v>
                </c:pt>
                <c:pt idx="96">
                  <c:v>0.10815595</c:v>
                </c:pt>
                <c:pt idx="97">
                  <c:v>0.12542878</c:v>
                </c:pt>
                <c:pt idx="98">
                  <c:v>0.14235783</c:v>
                </c:pt>
                <c:pt idx="99">
                  <c:v>0.15889667</c:v>
                </c:pt>
                <c:pt idx="100">
                  <c:v>0.175</c:v>
                </c:pt>
                <c:pt idx="101">
                  <c:v>0.19062366</c:v>
                </c:pt>
                <c:pt idx="102">
                  <c:v>0.20572484</c:v>
                </c:pt>
                <c:pt idx="103">
                  <c:v>0.22026214</c:v>
                </c:pt>
                <c:pt idx="104">
                  <c:v>0.23419571</c:v>
                </c:pt>
                <c:pt idx="105">
                  <c:v>0.24748737</c:v>
                </c:pt>
                <c:pt idx="106">
                  <c:v>0.26010069</c:v>
                </c:pt>
                <c:pt idx="107">
                  <c:v>0.27200109</c:v>
                </c:pt>
                <c:pt idx="108">
                  <c:v>0.28315595</c:v>
                </c:pt>
                <c:pt idx="109">
                  <c:v>0.2935347</c:v>
                </c:pt>
                <c:pt idx="110">
                  <c:v>0.30310889</c:v>
                </c:pt>
                <c:pt idx="111">
                  <c:v>0.31185228</c:v>
                </c:pt>
                <c:pt idx="112">
                  <c:v>0.31974091</c:v>
                </c:pt>
                <c:pt idx="113">
                  <c:v>0.32675315</c:v>
                </c:pt>
                <c:pt idx="114">
                  <c:v>0.33286978</c:v>
                </c:pt>
                <c:pt idx="115">
                  <c:v>0.33807404</c:v>
                </c:pt>
                <c:pt idx="116">
                  <c:v>0.34235166</c:v>
                </c:pt>
                <c:pt idx="117">
                  <c:v>0.34569092</c:v>
                </c:pt>
                <c:pt idx="118">
                  <c:v>0.34808266</c:v>
                </c:pt>
                <c:pt idx="119">
                  <c:v>0.34952034</c:v>
                </c:pt>
                <c:pt idx="120">
                  <c:v>0.35</c:v>
                </c:pt>
              </c:numCache>
            </c:numRef>
          </c:xVal>
          <c:yVal>
            <c:numRef>
              <c:f>'Chart Data'!$B$2:$B$122</c:f>
              <c:numCache>
                <c:formatCode>0.00</c:formatCode>
                <c:ptCount val="121"/>
                <c:pt idx="0">
                  <c:v>0</c:v>
                </c:pt>
                <c:pt idx="1">
                  <c:v>0.00366352</c:v>
                </c:pt>
                <c:pt idx="2">
                  <c:v>0.00731699</c:v>
                </c:pt>
                <c:pt idx="3">
                  <c:v>0.01095041</c:v>
                </c:pt>
                <c:pt idx="4">
                  <c:v>0.01455382</c:v>
                </c:pt>
                <c:pt idx="5">
                  <c:v>0.01811733</c:v>
                </c:pt>
                <c:pt idx="6">
                  <c:v>0.02163119</c:v>
                </c:pt>
                <c:pt idx="7">
                  <c:v>0.02508576</c:v>
                </c:pt>
                <c:pt idx="8">
                  <c:v>0.02847157</c:v>
                </c:pt>
                <c:pt idx="9">
                  <c:v>0.03177933</c:v>
                </c:pt>
                <c:pt idx="10">
                  <c:v>0.035</c:v>
                </c:pt>
                <c:pt idx="11">
                  <c:v>0.03812473</c:v>
                </c:pt>
                <c:pt idx="12">
                  <c:v>0.04114497</c:v>
                </c:pt>
                <c:pt idx="13">
                  <c:v>0.04405243</c:v>
                </c:pt>
                <c:pt idx="14">
                  <c:v>0.04683914</c:v>
                </c:pt>
                <c:pt idx="15">
                  <c:v>0.04949747</c:v>
                </c:pt>
                <c:pt idx="16">
                  <c:v>0.05202014</c:v>
                </c:pt>
                <c:pt idx="17">
                  <c:v>0.05440022</c:v>
                </c:pt>
                <c:pt idx="18">
                  <c:v>0.05663119</c:v>
                </c:pt>
                <c:pt idx="19">
                  <c:v>0.05870694</c:v>
                </c:pt>
                <c:pt idx="20">
                  <c:v>0.06062178</c:v>
                </c:pt>
                <c:pt idx="21">
                  <c:v>0.06237046</c:v>
                </c:pt>
                <c:pt idx="22">
                  <c:v>0.06394818</c:v>
                </c:pt>
                <c:pt idx="23">
                  <c:v>0.06535063</c:v>
                </c:pt>
                <c:pt idx="24">
                  <c:v>0.06657396</c:v>
                </c:pt>
                <c:pt idx="25">
                  <c:v>0.06761481</c:v>
                </c:pt>
                <c:pt idx="26">
                  <c:v>0.06847033</c:v>
                </c:pt>
                <c:pt idx="27">
                  <c:v>0.06913818</c:v>
                </c:pt>
                <c:pt idx="28">
                  <c:v>0.06961653</c:v>
                </c:pt>
                <c:pt idx="29">
                  <c:v>0.06990407</c:v>
                </c:pt>
                <c:pt idx="30">
                  <c:v>0.07</c:v>
                </c:pt>
                <c:pt idx="31">
                  <c:v>0.06990407</c:v>
                </c:pt>
                <c:pt idx="32">
                  <c:v>0.06961653</c:v>
                </c:pt>
                <c:pt idx="33">
                  <c:v>0.06913818</c:v>
                </c:pt>
                <c:pt idx="34">
                  <c:v>0.06847033</c:v>
                </c:pt>
                <c:pt idx="35">
                  <c:v>0.06761481</c:v>
                </c:pt>
                <c:pt idx="36">
                  <c:v>0.06657396</c:v>
                </c:pt>
                <c:pt idx="37">
                  <c:v>0.06535063</c:v>
                </c:pt>
                <c:pt idx="38">
                  <c:v>0.06394818</c:v>
                </c:pt>
                <c:pt idx="39">
                  <c:v>0.06237046</c:v>
                </c:pt>
                <c:pt idx="40">
                  <c:v>0.06062178</c:v>
                </c:pt>
                <c:pt idx="41">
                  <c:v>0.05870694</c:v>
                </c:pt>
                <c:pt idx="42">
                  <c:v>0.05663119</c:v>
                </c:pt>
                <c:pt idx="43">
                  <c:v>0.05440022</c:v>
                </c:pt>
                <c:pt idx="44">
                  <c:v>0.05202014</c:v>
                </c:pt>
                <c:pt idx="45">
                  <c:v>0.04949747</c:v>
                </c:pt>
                <c:pt idx="46">
                  <c:v>0.04683914</c:v>
                </c:pt>
                <c:pt idx="47">
                  <c:v>0.04405243</c:v>
                </c:pt>
                <c:pt idx="48">
                  <c:v>0.04114497</c:v>
                </c:pt>
                <c:pt idx="49">
                  <c:v>0.03812473</c:v>
                </c:pt>
                <c:pt idx="50">
                  <c:v>0.035</c:v>
                </c:pt>
                <c:pt idx="51">
                  <c:v>0.03177933</c:v>
                </c:pt>
                <c:pt idx="52">
                  <c:v>0.02847157</c:v>
                </c:pt>
                <c:pt idx="53">
                  <c:v>0.02508576</c:v>
                </c:pt>
                <c:pt idx="54">
                  <c:v>0.02163119</c:v>
                </c:pt>
                <c:pt idx="55">
                  <c:v>0.01811733</c:v>
                </c:pt>
                <c:pt idx="56">
                  <c:v>0.01455382</c:v>
                </c:pt>
                <c:pt idx="57">
                  <c:v>0.01095041</c:v>
                </c:pt>
                <c:pt idx="58">
                  <c:v>0.00731699</c:v>
                </c:pt>
                <c:pt idx="59">
                  <c:v>0.00366352</c:v>
                </c:pt>
                <c:pt idx="60">
                  <c:v>0</c:v>
                </c:pt>
                <c:pt idx="61">
                  <c:v>-0.00366352</c:v>
                </c:pt>
                <c:pt idx="62">
                  <c:v>-0.00731699</c:v>
                </c:pt>
                <c:pt idx="63">
                  <c:v>-0.01095041</c:v>
                </c:pt>
                <c:pt idx="64">
                  <c:v>-0.01455382</c:v>
                </c:pt>
                <c:pt idx="65">
                  <c:v>-0.01811733</c:v>
                </c:pt>
                <c:pt idx="66">
                  <c:v>-0.02163119</c:v>
                </c:pt>
                <c:pt idx="67">
                  <c:v>-0.02508576</c:v>
                </c:pt>
                <c:pt idx="68">
                  <c:v>-0.02847157</c:v>
                </c:pt>
                <c:pt idx="69">
                  <c:v>-0.03177933</c:v>
                </c:pt>
                <c:pt idx="70">
                  <c:v>-0.035</c:v>
                </c:pt>
                <c:pt idx="71">
                  <c:v>-0.03812473</c:v>
                </c:pt>
                <c:pt idx="72">
                  <c:v>-0.04114497</c:v>
                </c:pt>
                <c:pt idx="73">
                  <c:v>-0.04405243</c:v>
                </c:pt>
                <c:pt idx="74">
                  <c:v>-0.04683914</c:v>
                </c:pt>
                <c:pt idx="75">
                  <c:v>-0.04949747</c:v>
                </c:pt>
                <c:pt idx="76">
                  <c:v>-0.05202014</c:v>
                </c:pt>
                <c:pt idx="77">
                  <c:v>-0.05440022</c:v>
                </c:pt>
                <c:pt idx="78">
                  <c:v>-0.05663119</c:v>
                </c:pt>
                <c:pt idx="79">
                  <c:v>-0.05870694</c:v>
                </c:pt>
                <c:pt idx="80">
                  <c:v>-0.06062178</c:v>
                </c:pt>
                <c:pt idx="81">
                  <c:v>-0.06237046</c:v>
                </c:pt>
                <c:pt idx="82">
                  <c:v>-0.06394818</c:v>
                </c:pt>
                <c:pt idx="83">
                  <c:v>-0.06535063</c:v>
                </c:pt>
                <c:pt idx="84">
                  <c:v>-0.06657396</c:v>
                </c:pt>
                <c:pt idx="85">
                  <c:v>-0.06761481</c:v>
                </c:pt>
                <c:pt idx="86">
                  <c:v>-0.06847033</c:v>
                </c:pt>
                <c:pt idx="87">
                  <c:v>-0.06913818</c:v>
                </c:pt>
                <c:pt idx="88">
                  <c:v>-0.06961653</c:v>
                </c:pt>
                <c:pt idx="89">
                  <c:v>-0.06990407</c:v>
                </c:pt>
                <c:pt idx="90">
                  <c:v>-0.07</c:v>
                </c:pt>
                <c:pt idx="91">
                  <c:v>-0.06990407</c:v>
                </c:pt>
                <c:pt idx="92">
                  <c:v>-0.06961653</c:v>
                </c:pt>
                <c:pt idx="93">
                  <c:v>-0.06913818</c:v>
                </c:pt>
                <c:pt idx="94">
                  <c:v>-0.06847033</c:v>
                </c:pt>
                <c:pt idx="95">
                  <c:v>-0.06761481</c:v>
                </c:pt>
                <c:pt idx="96">
                  <c:v>-0.06657396</c:v>
                </c:pt>
                <c:pt idx="97">
                  <c:v>-0.06535063</c:v>
                </c:pt>
                <c:pt idx="98">
                  <c:v>-0.06394818</c:v>
                </c:pt>
                <c:pt idx="99">
                  <c:v>-0.06237046</c:v>
                </c:pt>
                <c:pt idx="100">
                  <c:v>-0.06062178</c:v>
                </c:pt>
                <c:pt idx="101">
                  <c:v>-0.05870694</c:v>
                </c:pt>
                <c:pt idx="102">
                  <c:v>-0.05663119</c:v>
                </c:pt>
                <c:pt idx="103">
                  <c:v>-0.05440022</c:v>
                </c:pt>
                <c:pt idx="104">
                  <c:v>-0.05202014</c:v>
                </c:pt>
                <c:pt idx="105">
                  <c:v>-0.04949747</c:v>
                </c:pt>
                <c:pt idx="106">
                  <c:v>-0.04683914</c:v>
                </c:pt>
                <c:pt idx="107">
                  <c:v>-0.04405243</c:v>
                </c:pt>
                <c:pt idx="108">
                  <c:v>-0.04114497</c:v>
                </c:pt>
                <c:pt idx="109">
                  <c:v>-0.03812473</c:v>
                </c:pt>
                <c:pt idx="110">
                  <c:v>-0.035</c:v>
                </c:pt>
                <c:pt idx="111">
                  <c:v>-0.03177933</c:v>
                </c:pt>
                <c:pt idx="112">
                  <c:v>-0.02847157</c:v>
                </c:pt>
                <c:pt idx="113">
                  <c:v>-0.02508576</c:v>
                </c:pt>
                <c:pt idx="114">
                  <c:v>-0.02163119</c:v>
                </c:pt>
                <c:pt idx="115">
                  <c:v>-0.01811733</c:v>
                </c:pt>
                <c:pt idx="116">
                  <c:v>-0.01455382</c:v>
                </c:pt>
                <c:pt idx="117">
                  <c:v>-0.01095041</c:v>
                </c:pt>
                <c:pt idx="118">
                  <c:v>-0.00731699</c:v>
                </c:pt>
                <c:pt idx="119">
                  <c:v>-0.00366352</c:v>
                </c:pt>
                <c:pt idx="120">
                  <c:v>0</c:v>
                </c:pt>
              </c:numCache>
            </c:numRef>
          </c:yVal>
          <c:smooth val="0"/>
          <c:extLst>
            <c:ext xmlns:c16="http://schemas.microsoft.com/office/drawing/2014/chart" uri="{C3380CC4-5D6E-409C-BE32-E72D297353CC}">
              <c16:uniqueId val="{00000000-6B5F-214B-B731-993AF570581A}"/>
            </c:ext>
          </c:extLst>
        </c:ser>
        <c:ser>
          <c:idx val="1"/>
          <c:order val="1"/>
          <c:tx>
            <c:v>Одинаковая ошибка</c:v>
          </c:tx>
          <c:spPr>
            <a:ln w="28575">
              <a:solidFill>
                <a:srgbClr val="BCC8DA"/>
              </a:solidFill>
            </a:ln>
          </c:spPr>
          <c:marker>
            <c:symbol val="none"/>
          </c:marker>
          <c:xVal>
            <c:numRef>
              <c:f>'Chart Data'!$C$2:$C$122</c:f>
              <c:numCache>
                <c:formatCode>0.00</c:formatCode>
                <c:ptCount val="121"/>
                <c:pt idx="0">
                  <c:v>0.9</c:v>
                </c:pt>
                <c:pt idx="1">
                  <c:v>0.89876658</c:v>
                </c:pt>
                <c:pt idx="2">
                  <c:v>0.89506971</c:v>
                </c:pt>
                <c:pt idx="3">
                  <c:v>0.88891951</c:v>
                </c:pt>
                <c:pt idx="4">
                  <c:v>0.88033284</c:v>
                </c:pt>
                <c:pt idx="5">
                  <c:v>0.86933324</c:v>
                </c:pt>
                <c:pt idx="6">
                  <c:v>0.85595086</c:v>
                </c:pt>
                <c:pt idx="7">
                  <c:v>0.84022238</c:v>
                </c:pt>
                <c:pt idx="8">
                  <c:v>0.82219091</c:v>
                </c:pt>
                <c:pt idx="9">
                  <c:v>0.80190587</c:v>
                </c:pt>
                <c:pt idx="10">
                  <c:v>0.77942286</c:v>
                </c:pt>
                <c:pt idx="11">
                  <c:v>0.75480351</c:v>
                </c:pt>
                <c:pt idx="12">
                  <c:v>0.72811529</c:v>
                </c:pt>
                <c:pt idx="13">
                  <c:v>0.69943137</c:v>
                </c:pt>
                <c:pt idx="14">
                  <c:v>0.66883034</c:v>
                </c:pt>
                <c:pt idx="15">
                  <c:v>0.6363961</c:v>
                </c:pt>
                <c:pt idx="16">
                  <c:v>0.60221755</c:v>
                </c:pt>
                <c:pt idx="17">
                  <c:v>0.56638835</c:v>
                </c:pt>
                <c:pt idx="18">
                  <c:v>0.52900673</c:v>
                </c:pt>
                <c:pt idx="19">
                  <c:v>0.49017513</c:v>
                </c:pt>
                <c:pt idx="20">
                  <c:v>0.45</c:v>
                </c:pt>
                <c:pt idx="21">
                  <c:v>0.40859145</c:v>
                </c:pt>
                <c:pt idx="22">
                  <c:v>0.36606298</c:v>
                </c:pt>
                <c:pt idx="23">
                  <c:v>0.32253115</c:v>
                </c:pt>
                <c:pt idx="24">
                  <c:v>0.27811529</c:v>
                </c:pt>
                <c:pt idx="25">
                  <c:v>0.23293714</c:v>
                </c:pt>
                <c:pt idx="26">
                  <c:v>0.18712052</c:v>
                </c:pt>
                <c:pt idx="27">
                  <c:v>0.14079102</c:v>
                </c:pt>
                <c:pt idx="28">
                  <c:v>0.09407562</c:v>
                </c:pt>
                <c:pt idx="29">
                  <c:v>0.04710236</c:v>
                </c:pt>
                <c:pt idx="30">
                  <c:v>0</c:v>
                </c:pt>
                <c:pt idx="31">
                  <c:v>-0.04710236</c:v>
                </c:pt>
                <c:pt idx="32">
                  <c:v>-0.09407562</c:v>
                </c:pt>
                <c:pt idx="33">
                  <c:v>-0.14079102</c:v>
                </c:pt>
                <c:pt idx="34">
                  <c:v>-0.18712052</c:v>
                </c:pt>
                <c:pt idx="35">
                  <c:v>-0.23293714</c:v>
                </c:pt>
                <c:pt idx="36">
                  <c:v>-0.27811529</c:v>
                </c:pt>
                <c:pt idx="37">
                  <c:v>-0.32253115</c:v>
                </c:pt>
                <c:pt idx="38">
                  <c:v>-0.36606298</c:v>
                </c:pt>
                <c:pt idx="39">
                  <c:v>-0.40859145</c:v>
                </c:pt>
                <c:pt idx="40">
                  <c:v>-0.45</c:v>
                </c:pt>
                <c:pt idx="41">
                  <c:v>-0.49017513</c:v>
                </c:pt>
                <c:pt idx="42">
                  <c:v>-0.52900673</c:v>
                </c:pt>
                <c:pt idx="43">
                  <c:v>-0.56638835</c:v>
                </c:pt>
                <c:pt idx="44">
                  <c:v>-0.60221755</c:v>
                </c:pt>
                <c:pt idx="45">
                  <c:v>-0.6363961</c:v>
                </c:pt>
                <c:pt idx="46">
                  <c:v>-0.66883034</c:v>
                </c:pt>
                <c:pt idx="47">
                  <c:v>-0.69943137</c:v>
                </c:pt>
                <c:pt idx="48">
                  <c:v>-0.72811529</c:v>
                </c:pt>
                <c:pt idx="49">
                  <c:v>-0.75480351</c:v>
                </c:pt>
                <c:pt idx="50">
                  <c:v>-0.77942286</c:v>
                </c:pt>
                <c:pt idx="51">
                  <c:v>-0.80190587</c:v>
                </c:pt>
                <c:pt idx="52">
                  <c:v>-0.82219091</c:v>
                </c:pt>
                <c:pt idx="53">
                  <c:v>-0.84022238</c:v>
                </c:pt>
                <c:pt idx="54">
                  <c:v>-0.85595086</c:v>
                </c:pt>
                <c:pt idx="55">
                  <c:v>-0.86933324</c:v>
                </c:pt>
                <c:pt idx="56">
                  <c:v>-0.88033284</c:v>
                </c:pt>
                <c:pt idx="57">
                  <c:v>-0.88891951</c:v>
                </c:pt>
                <c:pt idx="58">
                  <c:v>-0.89506971</c:v>
                </c:pt>
                <c:pt idx="59">
                  <c:v>-0.89876658</c:v>
                </c:pt>
                <c:pt idx="60">
                  <c:v>-0.9</c:v>
                </c:pt>
                <c:pt idx="61">
                  <c:v>-0.89876658</c:v>
                </c:pt>
                <c:pt idx="62">
                  <c:v>-0.89506971</c:v>
                </c:pt>
                <c:pt idx="63">
                  <c:v>-0.88891951</c:v>
                </c:pt>
                <c:pt idx="64">
                  <c:v>-0.88033284</c:v>
                </c:pt>
                <c:pt idx="65">
                  <c:v>-0.86933324</c:v>
                </c:pt>
                <c:pt idx="66">
                  <c:v>-0.85595086</c:v>
                </c:pt>
                <c:pt idx="67">
                  <c:v>-0.84022238</c:v>
                </c:pt>
                <c:pt idx="68">
                  <c:v>-0.82219091</c:v>
                </c:pt>
                <c:pt idx="69">
                  <c:v>-0.80190587</c:v>
                </c:pt>
                <c:pt idx="70">
                  <c:v>-0.77942286</c:v>
                </c:pt>
                <c:pt idx="71">
                  <c:v>-0.75480351</c:v>
                </c:pt>
                <c:pt idx="72">
                  <c:v>-0.72811529</c:v>
                </c:pt>
                <c:pt idx="73">
                  <c:v>-0.69943137</c:v>
                </c:pt>
                <c:pt idx="74">
                  <c:v>-0.66883034</c:v>
                </c:pt>
                <c:pt idx="75">
                  <c:v>-0.6363961</c:v>
                </c:pt>
                <c:pt idx="76">
                  <c:v>-0.60221755</c:v>
                </c:pt>
                <c:pt idx="77">
                  <c:v>-0.56638835</c:v>
                </c:pt>
                <c:pt idx="78">
                  <c:v>-0.52900673</c:v>
                </c:pt>
                <c:pt idx="79">
                  <c:v>-0.49017513</c:v>
                </c:pt>
                <c:pt idx="80">
                  <c:v>-0.45</c:v>
                </c:pt>
                <c:pt idx="81">
                  <c:v>-0.40859145</c:v>
                </c:pt>
                <c:pt idx="82">
                  <c:v>-0.36606298</c:v>
                </c:pt>
                <c:pt idx="83">
                  <c:v>-0.32253115</c:v>
                </c:pt>
                <c:pt idx="84">
                  <c:v>-0.27811529</c:v>
                </c:pt>
                <c:pt idx="85">
                  <c:v>-0.23293714</c:v>
                </c:pt>
                <c:pt idx="86">
                  <c:v>-0.18712052</c:v>
                </c:pt>
                <c:pt idx="87">
                  <c:v>-0.14079102</c:v>
                </c:pt>
                <c:pt idx="88">
                  <c:v>-0.09407562</c:v>
                </c:pt>
                <c:pt idx="89">
                  <c:v>-0.04710236</c:v>
                </c:pt>
                <c:pt idx="90">
                  <c:v>0</c:v>
                </c:pt>
                <c:pt idx="91">
                  <c:v>0.04710236</c:v>
                </c:pt>
                <c:pt idx="92">
                  <c:v>0.09407562</c:v>
                </c:pt>
                <c:pt idx="93">
                  <c:v>0.14079102</c:v>
                </c:pt>
                <c:pt idx="94">
                  <c:v>0.18712052</c:v>
                </c:pt>
                <c:pt idx="95">
                  <c:v>0.23293714</c:v>
                </c:pt>
                <c:pt idx="96">
                  <c:v>0.27811529</c:v>
                </c:pt>
                <c:pt idx="97">
                  <c:v>0.32253115</c:v>
                </c:pt>
                <c:pt idx="98">
                  <c:v>0.36606298</c:v>
                </c:pt>
                <c:pt idx="99">
                  <c:v>0.40859145</c:v>
                </c:pt>
                <c:pt idx="100">
                  <c:v>0.45</c:v>
                </c:pt>
                <c:pt idx="101">
                  <c:v>0.49017513</c:v>
                </c:pt>
                <c:pt idx="102">
                  <c:v>0.52900673</c:v>
                </c:pt>
                <c:pt idx="103">
                  <c:v>0.56638835</c:v>
                </c:pt>
                <c:pt idx="104">
                  <c:v>0.60221755</c:v>
                </c:pt>
                <c:pt idx="105">
                  <c:v>0.6363961</c:v>
                </c:pt>
                <c:pt idx="106">
                  <c:v>0.66883034</c:v>
                </c:pt>
                <c:pt idx="107">
                  <c:v>0.69943137</c:v>
                </c:pt>
                <c:pt idx="108">
                  <c:v>0.72811529</c:v>
                </c:pt>
                <c:pt idx="109">
                  <c:v>0.75480351</c:v>
                </c:pt>
                <c:pt idx="110">
                  <c:v>0.77942286</c:v>
                </c:pt>
                <c:pt idx="111">
                  <c:v>0.80190587</c:v>
                </c:pt>
                <c:pt idx="112">
                  <c:v>0.82219091</c:v>
                </c:pt>
                <c:pt idx="113">
                  <c:v>0.84022238</c:v>
                </c:pt>
                <c:pt idx="114">
                  <c:v>0.85595086</c:v>
                </c:pt>
                <c:pt idx="115">
                  <c:v>0.86933324</c:v>
                </c:pt>
                <c:pt idx="116">
                  <c:v>0.88033284</c:v>
                </c:pt>
                <c:pt idx="117">
                  <c:v>0.88891951</c:v>
                </c:pt>
                <c:pt idx="118">
                  <c:v>0.89506971</c:v>
                </c:pt>
                <c:pt idx="119">
                  <c:v>0.89876658</c:v>
                </c:pt>
                <c:pt idx="120">
                  <c:v>0.9</c:v>
                </c:pt>
              </c:numCache>
            </c:numRef>
          </c:xVal>
          <c:yVal>
            <c:numRef>
              <c:f>'Chart Data'!$D$2:$D$122</c:f>
              <c:numCache>
                <c:formatCode>0.00</c:formatCode>
                <c:ptCount val="121"/>
                <c:pt idx="0">
                  <c:v>0</c:v>
                </c:pt>
                <c:pt idx="1">
                  <c:v>0.00942047</c:v>
                </c:pt>
                <c:pt idx="2">
                  <c:v>0.01881512</c:v>
                </c:pt>
                <c:pt idx="3">
                  <c:v>0.0281582</c:v>
                </c:pt>
                <c:pt idx="4">
                  <c:v>0.0374241</c:v>
                </c:pt>
                <c:pt idx="5">
                  <c:v>0.04658743</c:v>
                </c:pt>
                <c:pt idx="6">
                  <c:v>0.05562306</c:v>
                </c:pt>
                <c:pt idx="7">
                  <c:v>0.06450623</c:v>
                </c:pt>
                <c:pt idx="8">
                  <c:v>0.0732126</c:v>
                </c:pt>
                <c:pt idx="9">
                  <c:v>0.08171829</c:v>
                </c:pt>
                <c:pt idx="10">
                  <c:v>0.09</c:v>
                </c:pt>
                <c:pt idx="11">
                  <c:v>0.09803503</c:v>
                </c:pt>
                <c:pt idx="12">
                  <c:v>0.10580135</c:v>
                </c:pt>
                <c:pt idx="13">
                  <c:v>0.11327767</c:v>
                </c:pt>
                <c:pt idx="14">
                  <c:v>0.12044351</c:v>
                </c:pt>
                <c:pt idx="15">
                  <c:v>0.12727922</c:v>
                </c:pt>
                <c:pt idx="16">
                  <c:v>0.13376607</c:v>
                </c:pt>
                <c:pt idx="17">
                  <c:v>0.13988627</c:v>
                </c:pt>
                <c:pt idx="18">
                  <c:v>0.14562306</c:v>
                </c:pt>
                <c:pt idx="19">
                  <c:v>0.1509607</c:v>
                </c:pt>
                <c:pt idx="20">
                  <c:v>0.15588457</c:v>
                </c:pt>
                <c:pt idx="21">
                  <c:v>0.16038117</c:v>
                </c:pt>
                <c:pt idx="22">
                  <c:v>0.16443818</c:v>
                </c:pt>
                <c:pt idx="23">
                  <c:v>0.16804448</c:v>
                </c:pt>
                <c:pt idx="24">
                  <c:v>0.17119017</c:v>
                </c:pt>
                <c:pt idx="25">
                  <c:v>0.17386665</c:v>
                </c:pt>
                <c:pt idx="26">
                  <c:v>0.17606657</c:v>
                </c:pt>
                <c:pt idx="27">
                  <c:v>0.1777839</c:v>
                </c:pt>
                <c:pt idx="28">
                  <c:v>0.17901394</c:v>
                </c:pt>
                <c:pt idx="29">
                  <c:v>0.17975332</c:v>
                </c:pt>
                <c:pt idx="30">
                  <c:v>0.18</c:v>
                </c:pt>
                <c:pt idx="31">
                  <c:v>0.17975332</c:v>
                </c:pt>
                <c:pt idx="32">
                  <c:v>0.17901394</c:v>
                </c:pt>
                <c:pt idx="33">
                  <c:v>0.1777839</c:v>
                </c:pt>
                <c:pt idx="34">
                  <c:v>0.17606657</c:v>
                </c:pt>
                <c:pt idx="35">
                  <c:v>0.17386665</c:v>
                </c:pt>
                <c:pt idx="36">
                  <c:v>0.17119017</c:v>
                </c:pt>
                <c:pt idx="37">
                  <c:v>0.16804448</c:v>
                </c:pt>
                <c:pt idx="38">
                  <c:v>0.16443818</c:v>
                </c:pt>
                <c:pt idx="39">
                  <c:v>0.16038117</c:v>
                </c:pt>
                <c:pt idx="40">
                  <c:v>0.15588457</c:v>
                </c:pt>
                <c:pt idx="41">
                  <c:v>0.1509607</c:v>
                </c:pt>
                <c:pt idx="42">
                  <c:v>0.14562306</c:v>
                </c:pt>
                <c:pt idx="43">
                  <c:v>0.13988627</c:v>
                </c:pt>
                <c:pt idx="44">
                  <c:v>0.13376607</c:v>
                </c:pt>
                <c:pt idx="45">
                  <c:v>0.12727922</c:v>
                </c:pt>
                <c:pt idx="46">
                  <c:v>0.12044351</c:v>
                </c:pt>
                <c:pt idx="47">
                  <c:v>0.11327767</c:v>
                </c:pt>
                <c:pt idx="48">
                  <c:v>0.10580135</c:v>
                </c:pt>
                <c:pt idx="49">
                  <c:v>0.09803503</c:v>
                </c:pt>
                <c:pt idx="50">
                  <c:v>0.09</c:v>
                </c:pt>
                <c:pt idx="51">
                  <c:v>0.08171829</c:v>
                </c:pt>
                <c:pt idx="52">
                  <c:v>0.0732126</c:v>
                </c:pt>
                <c:pt idx="53">
                  <c:v>0.06450623</c:v>
                </c:pt>
                <c:pt idx="54">
                  <c:v>0.05562306</c:v>
                </c:pt>
                <c:pt idx="55">
                  <c:v>0.04658743</c:v>
                </c:pt>
                <c:pt idx="56">
                  <c:v>0.0374241</c:v>
                </c:pt>
                <c:pt idx="57">
                  <c:v>0.0281582</c:v>
                </c:pt>
                <c:pt idx="58">
                  <c:v>0.01881512</c:v>
                </c:pt>
                <c:pt idx="59">
                  <c:v>0.00942047</c:v>
                </c:pt>
                <c:pt idx="60">
                  <c:v>0</c:v>
                </c:pt>
                <c:pt idx="61">
                  <c:v>-0.00942047</c:v>
                </c:pt>
                <c:pt idx="62">
                  <c:v>-0.01881512</c:v>
                </c:pt>
                <c:pt idx="63">
                  <c:v>-0.0281582</c:v>
                </c:pt>
                <c:pt idx="64">
                  <c:v>-0.0374241</c:v>
                </c:pt>
                <c:pt idx="65">
                  <c:v>-0.04658743</c:v>
                </c:pt>
                <c:pt idx="66">
                  <c:v>-0.05562306</c:v>
                </c:pt>
                <c:pt idx="67">
                  <c:v>-0.06450623</c:v>
                </c:pt>
                <c:pt idx="68">
                  <c:v>-0.0732126</c:v>
                </c:pt>
                <c:pt idx="69">
                  <c:v>-0.08171829</c:v>
                </c:pt>
                <c:pt idx="70">
                  <c:v>-0.09</c:v>
                </c:pt>
                <c:pt idx="71">
                  <c:v>-0.09803503</c:v>
                </c:pt>
                <c:pt idx="72">
                  <c:v>-0.10580135</c:v>
                </c:pt>
                <c:pt idx="73">
                  <c:v>-0.11327767</c:v>
                </c:pt>
                <c:pt idx="74">
                  <c:v>-0.12044351</c:v>
                </c:pt>
                <c:pt idx="75">
                  <c:v>-0.12727922</c:v>
                </c:pt>
                <c:pt idx="76">
                  <c:v>-0.13376607</c:v>
                </c:pt>
                <c:pt idx="77">
                  <c:v>-0.13988627</c:v>
                </c:pt>
                <c:pt idx="78">
                  <c:v>-0.14562306</c:v>
                </c:pt>
                <c:pt idx="79">
                  <c:v>-0.1509607</c:v>
                </c:pt>
                <c:pt idx="80">
                  <c:v>-0.15588457</c:v>
                </c:pt>
                <c:pt idx="81">
                  <c:v>-0.16038117</c:v>
                </c:pt>
                <c:pt idx="82">
                  <c:v>-0.16443818</c:v>
                </c:pt>
                <c:pt idx="83">
                  <c:v>-0.16804448</c:v>
                </c:pt>
                <c:pt idx="84">
                  <c:v>-0.17119017</c:v>
                </c:pt>
                <c:pt idx="85">
                  <c:v>-0.17386665</c:v>
                </c:pt>
                <c:pt idx="86">
                  <c:v>-0.17606657</c:v>
                </c:pt>
                <c:pt idx="87">
                  <c:v>-0.1777839</c:v>
                </c:pt>
                <c:pt idx="88">
                  <c:v>-0.17901394</c:v>
                </c:pt>
                <c:pt idx="89">
                  <c:v>-0.17975332</c:v>
                </c:pt>
                <c:pt idx="90">
                  <c:v>-0.18</c:v>
                </c:pt>
                <c:pt idx="91">
                  <c:v>-0.17975332</c:v>
                </c:pt>
                <c:pt idx="92">
                  <c:v>-0.17901394</c:v>
                </c:pt>
                <c:pt idx="93">
                  <c:v>-0.1777839</c:v>
                </c:pt>
                <c:pt idx="94">
                  <c:v>-0.17606657</c:v>
                </c:pt>
                <c:pt idx="95">
                  <c:v>-0.17386665</c:v>
                </c:pt>
                <c:pt idx="96">
                  <c:v>-0.17119017</c:v>
                </c:pt>
                <c:pt idx="97">
                  <c:v>-0.16804448</c:v>
                </c:pt>
                <c:pt idx="98">
                  <c:v>-0.16443818</c:v>
                </c:pt>
                <c:pt idx="99">
                  <c:v>-0.16038117</c:v>
                </c:pt>
                <c:pt idx="100">
                  <c:v>-0.15588457</c:v>
                </c:pt>
                <c:pt idx="101">
                  <c:v>-0.1509607</c:v>
                </c:pt>
                <c:pt idx="102">
                  <c:v>-0.14562306</c:v>
                </c:pt>
                <c:pt idx="103">
                  <c:v>-0.13988627</c:v>
                </c:pt>
                <c:pt idx="104">
                  <c:v>-0.13376607</c:v>
                </c:pt>
                <c:pt idx="105">
                  <c:v>-0.12727922</c:v>
                </c:pt>
                <c:pt idx="106">
                  <c:v>-0.12044351</c:v>
                </c:pt>
                <c:pt idx="107">
                  <c:v>-0.11327767</c:v>
                </c:pt>
                <c:pt idx="108">
                  <c:v>-0.10580135</c:v>
                </c:pt>
                <c:pt idx="109">
                  <c:v>-0.09803503</c:v>
                </c:pt>
                <c:pt idx="110">
                  <c:v>-0.09</c:v>
                </c:pt>
                <c:pt idx="111">
                  <c:v>-0.08171829</c:v>
                </c:pt>
                <c:pt idx="112">
                  <c:v>-0.0732126</c:v>
                </c:pt>
                <c:pt idx="113">
                  <c:v>-0.06450623</c:v>
                </c:pt>
                <c:pt idx="114">
                  <c:v>-0.05562306</c:v>
                </c:pt>
                <c:pt idx="115">
                  <c:v>-0.04658743</c:v>
                </c:pt>
                <c:pt idx="116">
                  <c:v>-0.0374241</c:v>
                </c:pt>
                <c:pt idx="117">
                  <c:v>-0.0281582</c:v>
                </c:pt>
                <c:pt idx="118">
                  <c:v>-0.01881512</c:v>
                </c:pt>
                <c:pt idx="119">
                  <c:v>-0.00942047</c:v>
                </c:pt>
                <c:pt idx="120">
                  <c:v>0</c:v>
                </c:pt>
              </c:numCache>
            </c:numRef>
          </c:yVal>
          <c:smooth val="0"/>
          <c:extLst>
            <c:ext xmlns:c16="http://schemas.microsoft.com/office/drawing/2014/chart" uri="{C3380CC4-5D6E-409C-BE32-E72D297353CC}">
              <c16:uniqueId val="{00000001-6B5F-214B-B731-993AF570581A}"/>
            </c:ext>
          </c:extLst>
        </c:ser>
        <c:ser>
          <c:idx val="2"/>
          <c:order val="2"/>
          <c:tx>
            <c:v>Одинаковая ошибка</c:v>
          </c:tx>
          <c:spPr>
            <a:ln w="28575">
              <a:solidFill>
                <a:srgbClr val="BCC8DA"/>
              </a:solidFill>
            </a:ln>
          </c:spPr>
          <c:marker>
            <c:symbol val="none"/>
          </c:marker>
          <c:xVal>
            <c:numRef>
              <c:f>'Chart Data'!$E$2:$E$122</c:f>
              <c:numCache>
                <c:formatCode>0.00</c:formatCode>
                <c:ptCount val="121"/>
                <c:pt idx="0">
                  <c:v>1.8</c:v>
                </c:pt>
                <c:pt idx="1">
                  <c:v>1.79753316</c:v>
                </c:pt>
                <c:pt idx="2">
                  <c:v>1.79013941</c:v>
                </c:pt>
                <c:pt idx="3">
                  <c:v>1.77783901</c:v>
                </c:pt>
                <c:pt idx="4">
                  <c:v>1.76066568</c:v>
                </c:pt>
                <c:pt idx="5">
                  <c:v>1.73866649</c:v>
                </c:pt>
                <c:pt idx="6">
                  <c:v>1.71190173</c:v>
                </c:pt>
                <c:pt idx="7">
                  <c:v>1.68044477</c:v>
                </c:pt>
                <c:pt idx="8">
                  <c:v>1.64438182</c:v>
                </c:pt>
                <c:pt idx="9">
                  <c:v>1.60381174</c:v>
                </c:pt>
                <c:pt idx="10">
                  <c:v>1.55884573</c:v>
                </c:pt>
                <c:pt idx="11">
                  <c:v>1.50960702</c:v>
                </c:pt>
                <c:pt idx="12">
                  <c:v>1.45623059</c:v>
                </c:pt>
                <c:pt idx="13">
                  <c:v>1.39886273</c:v>
                </c:pt>
                <c:pt idx="14">
                  <c:v>1.33766069</c:v>
                </c:pt>
                <c:pt idx="15">
                  <c:v>1.27279221</c:v>
                </c:pt>
                <c:pt idx="16">
                  <c:v>1.20443509</c:v>
                </c:pt>
                <c:pt idx="17">
                  <c:v>1.1327767</c:v>
                </c:pt>
                <c:pt idx="18">
                  <c:v>1.05801345</c:v>
                </c:pt>
                <c:pt idx="19">
                  <c:v>0.98035026</c:v>
                </c:pt>
                <c:pt idx="20">
                  <c:v>0.9</c:v>
                </c:pt>
                <c:pt idx="21">
                  <c:v>0.8171829</c:v>
                </c:pt>
                <c:pt idx="22">
                  <c:v>0.73212596</c:v>
                </c:pt>
                <c:pt idx="23">
                  <c:v>0.64506231</c:v>
                </c:pt>
                <c:pt idx="24">
                  <c:v>0.55623059</c:v>
                </c:pt>
                <c:pt idx="25">
                  <c:v>0.46587428</c:v>
                </c:pt>
                <c:pt idx="26">
                  <c:v>0.37424104</c:v>
                </c:pt>
                <c:pt idx="27">
                  <c:v>0.28158204</c:v>
                </c:pt>
                <c:pt idx="28">
                  <c:v>0.18815123</c:v>
                </c:pt>
                <c:pt idx="29">
                  <c:v>0.09420472</c:v>
                </c:pt>
                <c:pt idx="30">
                  <c:v>0</c:v>
                </c:pt>
                <c:pt idx="31">
                  <c:v>-0.09420472</c:v>
                </c:pt>
                <c:pt idx="32">
                  <c:v>-0.18815123</c:v>
                </c:pt>
                <c:pt idx="33">
                  <c:v>-0.28158204</c:v>
                </c:pt>
                <c:pt idx="34">
                  <c:v>-0.37424104</c:v>
                </c:pt>
                <c:pt idx="35">
                  <c:v>-0.46587428</c:v>
                </c:pt>
                <c:pt idx="36">
                  <c:v>-0.55623059</c:v>
                </c:pt>
                <c:pt idx="37">
                  <c:v>-0.64506231</c:v>
                </c:pt>
                <c:pt idx="38">
                  <c:v>-0.73212596</c:v>
                </c:pt>
                <c:pt idx="39">
                  <c:v>-0.8171829</c:v>
                </c:pt>
                <c:pt idx="40">
                  <c:v>-0.9</c:v>
                </c:pt>
                <c:pt idx="41">
                  <c:v>-0.98035026</c:v>
                </c:pt>
                <c:pt idx="42">
                  <c:v>-1.05801345</c:v>
                </c:pt>
                <c:pt idx="43">
                  <c:v>-1.1327767</c:v>
                </c:pt>
                <c:pt idx="44">
                  <c:v>-1.20443509</c:v>
                </c:pt>
                <c:pt idx="45">
                  <c:v>-1.27279221</c:v>
                </c:pt>
                <c:pt idx="46">
                  <c:v>-1.33766069</c:v>
                </c:pt>
                <c:pt idx="47">
                  <c:v>-1.39886273</c:v>
                </c:pt>
                <c:pt idx="48">
                  <c:v>-1.45623059</c:v>
                </c:pt>
                <c:pt idx="49">
                  <c:v>-1.50960702</c:v>
                </c:pt>
                <c:pt idx="50">
                  <c:v>-1.55884573</c:v>
                </c:pt>
                <c:pt idx="51">
                  <c:v>-1.60381174</c:v>
                </c:pt>
                <c:pt idx="52">
                  <c:v>-1.64438182</c:v>
                </c:pt>
                <c:pt idx="53">
                  <c:v>-1.68044477</c:v>
                </c:pt>
                <c:pt idx="54">
                  <c:v>-1.71190173</c:v>
                </c:pt>
                <c:pt idx="55">
                  <c:v>-1.73866649</c:v>
                </c:pt>
                <c:pt idx="56">
                  <c:v>-1.76066568</c:v>
                </c:pt>
                <c:pt idx="57">
                  <c:v>-1.77783901</c:v>
                </c:pt>
                <c:pt idx="58">
                  <c:v>-1.79013941</c:v>
                </c:pt>
                <c:pt idx="59">
                  <c:v>-1.79753316</c:v>
                </c:pt>
                <c:pt idx="60">
                  <c:v>-1.8</c:v>
                </c:pt>
                <c:pt idx="61">
                  <c:v>-1.79753316</c:v>
                </c:pt>
                <c:pt idx="62">
                  <c:v>-1.79013941</c:v>
                </c:pt>
                <c:pt idx="63">
                  <c:v>-1.77783901</c:v>
                </c:pt>
                <c:pt idx="64">
                  <c:v>-1.76066568</c:v>
                </c:pt>
                <c:pt idx="65">
                  <c:v>-1.73866649</c:v>
                </c:pt>
                <c:pt idx="66">
                  <c:v>-1.71190173</c:v>
                </c:pt>
                <c:pt idx="67">
                  <c:v>-1.68044477</c:v>
                </c:pt>
                <c:pt idx="68">
                  <c:v>-1.64438182</c:v>
                </c:pt>
                <c:pt idx="69">
                  <c:v>-1.60381174</c:v>
                </c:pt>
                <c:pt idx="70">
                  <c:v>-1.55884573</c:v>
                </c:pt>
                <c:pt idx="71">
                  <c:v>-1.50960702</c:v>
                </c:pt>
                <c:pt idx="72">
                  <c:v>-1.45623059</c:v>
                </c:pt>
                <c:pt idx="73">
                  <c:v>-1.39886273</c:v>
                </c:pt>
                <c:pt idx="74">
                  <c:v>-1.33766069</c:v>
                </c:pt>
                <c:pt idx="75">
                  <c:v>-1.27279221</c:v>
                </c:pt>
                <c:pt idx="76">
                  <c:v>-1.20443509</c:v>
                </c:pt>
                <c:pt idx="77">
                  <c:v>-1.1327767</c:v>
                </c:pt>
                <c:pt idx="78">
                  <c:v>-1.05801345</c:v>
                </c:pt>
                <c:pt idx="79">
                  <c:v>-0.98035026</c:v>
                </c:pt>
                <c:pt idx="80">
                  <c:v>-0.9</c:v>
                </c:pt>
                <c:pt idx="81">
                  <c:v>-0.8171829</c:v>
                </c:pt>
                <c:pt idx="82">
                  <c:v>-0.73212596</c:v>
                </c:pt>
                <c:pt idx="83">
                  <c:v>-0.64506231</c:v>
                </c:pt>
                <c:pt idx="84">
                  <c:v>-0.55623059</c:v>
                </c:pt>
                <c:pt idx="85">
                  <c:v>-0.46587428</c:v>
                </c:pt>
                <c:pt idx="86">
                  <c:v>-0.37424104</c:v>
                </c:pt>
                <c:pt idx="87">
                  <c:v>-0.28158204</c:v>
                </c:pt>
                <c:pt idx="88">
                  <c:v>-0.18815123</c:v>
                </c:pt>
                <c:pt idx="89">
                  <c:v>-0.09420472</c:v>
                </c:pt>
                <c:pt idx="90">
                  <c:v>0</c:v>
                </c:pt>
                <c:pt idx="91">
                  <c:v>0.09420472</c:v>
                </c:pt>
                <c:pt idx="92">
                  <c:v>0.18815123</c:v>
                </c:pt>
                <c:pt idx="93">
                  <c:v>0.28158204</c:v>
                </c:pt>
                <c:pt idx="94">
                  <c:v>0.37424104</c:v>
                </c:pt>
                <c:pt idx="95">
                  <c:v>0.46587428</c:v>
                </c:pt>
                <c:pt idx="96">
                  <c:v>0.55623059</c:v>
                </c:pt>
                <c:pt idx="97">
                  <c:v>0.64506231</c:v>
                </c:pt>
                <c:pt idx="98">
                  <c:v>0.73212596</c:v>
                </c:pt>
                <c:pt idx="99">
                  <c:v>0.8171829</c:v>
                </c:pt>
                <c:pt idx="100">
                  <c:v>0.9</c:v>
                </c:pt>
                <c:pt idx="101">
                  <c:v>0.98035026</c:v>
                </c:pt>
                <c:pt idx="102">
                  <c:v>1.05801345</c:v>
                </c:pt>
                <c:pt idx="103">
                  <c:v>1.1327767</c:v>
                </c:pt>
                <c:pt idx="104">
                  <c:v>1.20443509</c:v>
                </c:pt>
                <c:pt idx="105">
                  <c:v>1.27279221</c:v>
                </c:pt>
                <c:pt idx="106">
                  <c:v>1.33766069</c:v>
                </c:pt>
                <c:pt idx="107">
                  <c:v>1.39886273</c:v>
                </c:pt>
                <c:pt idx="108">
                  <c:v>1.45623059</c:v>
                </c:pt>
                <c:pt idx="109">
                  <c:v>1.50960702</c:v>
                </c:pt>
                <c:pt idx="110">
                  <c:v>1.55884573</c:v>
                </c:pt>
                <c:pt idx="111">
                  <c:v>1.60381174</c:v>
                </c:pt>
                <c:pt idx="112">
                  <c:v>1.64438182</c:v>
                </c:pt>
                <c:pt idx="113">
                  <c:v>1.68044477</c:v>
                </c:pt>
                <c:pt idx="114">
                  <c:v>1.71190173</c:v>
                </c:pt>
                <c:pt idx="115">
                  <c:v>1.73866649</c:v>
                </c:pt>
                <c:pt idx="116">
                  <c:v>1.76066568</c:v>
                </c:pt>
                <c:pt idx="117">
                  <c:v>1.77783901</c:v>
                </c:pt>
                <c:pt idx="118">
                  <c:v>1.79013941</c:v>
                </c:pt>
                <c:pt idx="119">
                  <c:v>1.79753316</c:v>
                </c:pt>
                <c:pt idx="120">
                  <c:v>1.8</c:v>
                </c:pt>
              </c:numCache>
            </c:numRef>
          </c:xVal>
          <c:yVal>
            <c:numRef>
              <c:f>'Chart Data'!$F$2:$F$122</c:f>
              <c:numCache>
                <c:formatCode>0.00</c:formatCode>
                <c:ptCount val="121"/>
                <c:pt idx="0">
                  <c:v>0</c:v>
                </c:pt>
                <c:pt idx="1">
                  <c:v>0.01884094</c:v>
                </c:pt>
                <c:pt idx="2">
                  <c:v>0.03763025</c:v>
                </c:pt>
                <c:pt idx="3">
                  <c:v>0.05631641</c:v>
                </c:pt>
                <c:pt idx="4">
                  <c:v>0.07484821</c:v>
                </c:pt>
                <c:pt idx="5">
                  <c:v>0.09317486</c:v>
                </c:pt>
                <c:pt idx="6">
                  <c:v>0.11124612</c:v>
                </c:pt>
                <c:pt idx="7">
                  <c:v>0.12901246</c:v>
                </c:pt>
                <c:pt idx="8">
                  <c:v>0.14642519</c:v>
                </c:pt>
                <c:pt idx="9">
                  <c:v>0.16343658</c:v>
                </c:pt>
                <c:pt idx="10">
                  <c:v>0.18</c:v>
                </c:pt>
                <c:pt idx="11">
                  <c:v>0.19607005</c:v>
                </c:pt>
                <c:pt idx="12">
                  <c:v>0.21160269</c:v>
                </c:pt>
                <c:pt idx="13">
                  <c:v>0.22655534</c:v>
                </c:pt>
                <c:pt idx="14">
                  <c:v>0.24088702</c:v>
                </c:pt>
                <c:pt idx="15">
                  <c:v>0.25455844</c:v>
                </c:pt>
                <c:pt idx="16">
                  <c:v>0.26753214</c:v>
                </c:pt>
                <c:pt idx="17">
                  <c:v>0.27977255</c:v>
                </c:pt>
                <c:pt idx="18">
                  <c:v>0.29124612</c:v>
                </c:pt>
                <c:pt idx="19">
                  <c:v>0.3019214</c:v>
                </c:pt>
                <c:pt idx="20">
                  <c:v>0.31176915</c:v>
                </c:pt>
                <c:pt idx="21">
                  <c:v>0.32076235</c:v>
                </c:pt>
                <c:pt idx="22">
                  <c:v>0.32887636</c:v>
                </c:pt>
                <c:pt idx="23">
                  <c:v>0.33608895</c:v>
                </c:pt>
                <c:pt idx="24">
                  <c:v>0.34238035</c:v>
                </c:pt>
                <c:pt idx="25">
                  <c:v>0.3477333</c:v>
                </c:pt>
                <c:pt idx="26">
                  <c:v>0.35213314</c:v>
                </c:pt>
                <c:pt idx="27">
                  <c:v>0.3555678</c:v>
                </c:pt>
                <c:pt idx="28">
                  <c:v>0.35802788</c:v>
                </c:pt>
                <c:pt idx="29">
                  <c:v>0.35950663</c:v>
                </c:pt>
                <c:pt idx="30">
                  <c:v>0.36</c:v>
                </c:pt>
                <c:pt idx="31">
                  <c:v>0.35950663</c:v>
                </c:pt>
                <c:pt idx="32">
                  <c:v>0.35802788</c:v>
                </c:pt>
                <c:pt idx="33">
                  <c:v>0.3555678</c:v>
                </c:pt>
                <c:pt idx="34">
                  <c:v>0.35213314</c:v>
                </c:pt>
                <c:pt idx="35">
                  <c:v>0.3477333</c:v>
                </c:pt>
                <c:pt idx="36">
                  <c:v>0.34238035</c:v>
                </c:pt>
                <c:pt idx="37">
                  <c:v>0.33608895</c:v>
                </c:pt>
                <c:pt idx="38">
                  <c:v>0.32887636</c:v>
                </c:pt>
                <c:pt idx="39">
                  <c:v>0.32076235</c:v>
                </c:pt>
                <c:pt idx="40">
                  <c:v>0.31176915</c:v>
                </c:pt>
                <c:pt idx="41">
                  <c:v>0.3019214</c:v>
                </c:pt>
                <c:pt idx="42">
                  <c:v>0.29124612</c:v>
                </c:pt>
                <c:pt idx="43">
                  <c:v>0.27977255</c:v>
                </c:pt>
                <c:pt idx="44">
                  <c:v>0.26753214</c:v>
                </c:pt>
                <c:pt idx="45">
                  <c:v>0.25455844</c:v>
                </c:pt>
                <c:pt idx="46">
                  <c:v>0.24088702</c:v>
                </c:pt>
                <c:pt idx="47">
                  <c:v>0.22655534</c:v>
                </c:pt>
                <c:pt idx="48">
                  <c:v>0.21160269</c:v>
                </c:pt>
                <c:pt idx="49">
                  <c:v>0.19607005</c:v>
                </c:pt>
                <c:pt idx="50">
                  <c:v>0.18</c:v>
                </c:pt>
                <c:pt idx="51">
                  <c:v>0.16343658</c:v>
                </c:pt>
                <c:pt idx="52">
                  <c:v>0.14642519</c:v>
                </c:pt>
                <c:pt idx="53">
                  <c:v>0.12901246</c:v>
                </c:pt>
                <c:pt idx="54">
                  <c:v>0.11124612</c:v>
                </c:pt>
                <c:pt idx="55">
                  <c:v>0.09317486</c:v>
                </c:pt>
                <c:pt idx="56">
                  <c:v>0.07484821</c:v>
                </c:pt>
                <c:pt idx="57">
                  <c:v>0.05631641</c:v>
                </c:pt>
                <c:pt idx="58">
                  <c:v>0.03763025</c:v>
                </c:pt>
                <c:pt idx="59">
                  <c:v>0.01884094</c:v>
                </c:pt>
                <c:pt idx="60">
                  <c:v>0</c:v>
                </c:pt>
                <c:pt idx="61">
                  <c:v>-0.01884094</c:v>
                </c:pt>
                <c:pt idx="62">
                  <c:v>-0.03763025</c:v>
                </c:pt>
                <c:pt idx="63">
                  <c:v>-0.05631641</c:v>
                </c:pt>
                <c:pt idx="64">
                  <c:v>-0.07484821</c:v>
                </c:pt>
                <c:pt idx="65">
                  <c:v>-0.09317486</c:v>
                </c:pt>
                <c:pt idx="66">
                  <c:v>-0.11124612</c:v>
                </c:pt>
                <c:pt idx="67">
                  <c:v>-0.12901246</c:v>
                </c:pt>
                <c:pt idx="68">
                  <c:v>-0.14642519</c:v>
                </c:pt>
                <c:pt idx="69">
                  <c:v>-0.16343658</c:v>
                </c:pt>
                <c:pt idx="70">
                  <c:v>-0.18</c:v>
                </c:pt>
                <c:pt idx="71">
                  <c:v>-0.19607005</c:v>
                </c:pt>
                <c:pt idx="72">
                  <c:v>-0.21160269</c:v>
                </c:pt>
                <c:pt idx="73">
                  <c:v>-0.22655534</c:v>
                </c:pt>
                <c:pt idx="74">
                  <c:v>-0.24088702</c:v>
                </c:pt>
                <c:pt idx="75">
                  <c:v>-0.25455844</c:v>
                </c:pt>
                <c:pt idx="76">
                  <c:v>-0.26753214</c:v>
                </c:pt>
                <c:pt idx="77">
                  <c:v>-0.27977255</c:v>
                </c:pt>
                <c:pt idx="78">
                  <c:v>-0.29124612</c:v>
                </c:pt>
                <c:pt idx="79">
                  <c:v>-0.3019214</c:v>
                </c:pt>
                <c:pt idx="80">
                  <c:v>-0.31176915</c:v>
                </c:pt>
                <c:pt idx="81">
                  <c:v>-0.32076235</c:v>
                </c:pt>
                <c:pt idx="82">
                  <c:v>-0.32887636</c:v>
                </c:pt>
                <c:pt idx="83">
                  <c:v>-0.33608895</c:v>
                </c:pt>
                <c:pt idx="84">
                  <c:v>-0.34238035</c:v>
                </c:pt>
                <c:pt idx="85">
                  <c:v>-0.3477333</c:v>
                </c:pt>
                <c:pt idx="86">
                  <c:v>-0.35213314</c:v>
                </c:pt>
                <c:pt idx="87">
                  <c:v>-0.3555678</c:v>
                </c:pt>
                <c:pt idx="88">
                  <c:v>-0.35802788</c:v>
                </c:pt>
                <c:pt idx="89">
                  <c:v>-0.35950663</c:v>
                </c:pt>
                <c:pt idx="90">
                  <c:v>-0.36</c:v>
                </c:pt>
                <c:pt idx="91">
                  <c:v>-0.35950663</c:v>
                </c:pt>
                <c:pt idx="92">
                  <c:v>-0.35802788</c:v>
                </c:pt>
                <c:pt idx="93">
                  <c:v>-0.3555678</c:v>
                </c:pt>
                <c:pt idx="94">
                  <c:v>-0.35213314</c:v>
                </c:pt>
                <c:pt idx="95">
                  <c:v>-0.3477333</c:v>
                </c:pt>
                <c:pt idx="96">
                  <c:v>-0.34238035</c:v>
                </c:pt>
                <c:pt idx="97">
                  <c:v>-0.33608895</c:v>
                </c:pt>
                <c:pt idx="98">
                  <c:v>-0.32887636</c:v>
                </c:pt>
                <c:pt idx="99">
                  <c:v>-0.32076235</c:v>
                </c:pt>
                <c:pt idx="100">
                  <c:v>-0.31176915</c:v>
                </c:pt>
                <c:pt idx="101">
                  <c:v>-0.3019214</c:v>
                </c:pt>
                <c:pt idx="102">
                  <c:v>-0.29124612</c:v>
                </c:pt>
                <c:pt idx="103">
                  <c:v>-0.27977255</c:v>
                </c:pt>
                <c:pt idx="104">
                  <c:v>-0.26753214</c:v>
                </c:pt>
                <c:pt idx="105">
                  <c:v>-0.25455844</c:v>
                </c:pt>
                <c:pt idx="106">
                  <c:v>-0.24088702</c:v>
                </c:pt>
                <c:pt idx="107">
                  <c:v>-0.22655534</c:v>
                </c:pt>
                <c:pt idx="108">
                  <c:v>-0.21160269</c:v>
                </c:pt>
                <c:pt idx="109">
                  <c:v>-0.19607005</c:v>
                </c:pt>
                <c:pt idx="110">
                  <c:v>-0.18</c:v>
                </c:pt>
                <c:pt idx="111">
                  <c:v>-0.16343658</c:v>
                </c:pt>
                <c:pt idx="112">
                  <c:v>-0.14642519</c:v>
                </c:pt>
                <c:pt idx="113">
                  <c:v>-0.12901246</c:v>
                </c:pt>
                <c:pt idx="114">
                  <c:v>-0.11124612</c:v>
                </c:pt>
                <c:pt idx="115">
                  <c:v>-0.09317486</c:v>
                </c:pt>
                <c:pt idx="116">
                  <c:v>-0.07484821</c:v>
                </c:pt>
                <c:pt idx="117">
                  <c:v>-0.05631641</c:v>
                </c:pt>
                <c:pt idx="118">
                  <c:v>-0.03763025</c:v>
                </c:pt>
                <c:pt idx="119">
                  <c:v>-0.01884094</c:v>
                </c:pt>
                <c:pt idx="120">
                  <c:v>0</c:v>
                </c:pt>
              </c:numCache>
            </c:numRef>
          </c:yVal>
          <c:smooth val="0"/>
          <c:extLst>
            <c:ext xmlns:c16="http://schemas.microsoft.com/office/drawing/2014/chart" uri="{C3380CC4-5D6E-409C-BE32-E72D297353CC}">
              <c16:uniqueId val="{00000002-6B5F-214B-B731-993AF570581A}"/>
            </c:ext>
          </c:extLst>
        </c:ser>
        <c:ser>
          <c:idx val="3"/>
          <c:order val="3"/>
          <c:tx>
            <c:v>Одинаковая ошибка</c:v>
          </c:tx>
          <c:spPr>
            <a:ln w="28575">
              <a:solidFill>
                <a:srgbClr val="BCC8DA"/>
              </a:solidFill>
            </a:ln>
          </c:spPr>
          <c:marker>
            <c:symbol val="none"/>
          </c:marker>
          <c:xVal>
            <c:numRef>
              <c:f>'Chart Data'!$G$2:$G$30</c:f>
              <c:numCache>
                <c:formatCode>0.00</c:formatCode>
                <c:ptCount val="29"/>
                <c:pt idx="0">
                  <c:v>2</c:v>
                </c:pt>
                <c:pt idx="1">
                  <c:v>1.88796117</c:v>
                </c:pt>
                <c:pt idx="2">
                  <c:v>1.76335576</c:v>
                </c:pt>
                <c:pt idx="3">
                  <c:v>1.63391711</c:v>
                </c:pt>
                <c:pt idx="4">
                  <c:v>1.5</c:v>
                </c:pt>
                <c:pt idx="5">
                  <c:v>1.3619715</c:v>
                </c:pt>
                <c:pt idx="6">
                  <c:v>1.22020993</c:v>
                </c:pt>
                <c:pt idx="7">
                  <c:v>1.07510385</c:v>
                </c:pt>
                <c:pt idx="8">
                  <c:v>0.92705098</c:v>
                </c:pt>
                <c:pt idx="9">
                  <c:v>0.77645714</c:v>
                </c:pt>
                <c:pt idx="10">
                  <c:v>0.62373507</c:v>
                </c:pt>
                <c:pt idx="11">
                  <c:v>0.4693034</c:v>
                </c:pt>
                <c:pt idx="12">
                  <c:v>0.31358539</c:v>
                </c:pt>
                <c:pt idx="13">
                  <c:v>0.15700787</c:v>
                </c:pt>
                <c:pt idx="14">
                  <c:v>0</c:v>
                </c:pt>
                <c:pt idx="15">
                  <c:v>-0.15700787</c:v>
                </c:pt>
                <c:pt idx="16">
                  <c:v>-0.31358539</c:v>
                </c:pt>
                <c:pt idx="17">
                  <c:v>-0.4693034</c:v>
                </c:pt>
                <c:pt idx="18">
                  <c:v>-0.62373507</c:v>
                </c:pt>
                <c:pt idx="19">
                  <c:v>-0.77645714</c:v>
                </c:pt>
                <c:pt idx="20">
                  <c:v>-0.92705098</c:v>
                </c:pt>
                <c:pt idx="21">
                  <c:v>-1.07510385</c:v>
                </c:pt>
                <c:pt idx="22">
                  <c:v>-1.22020993</c:v>
                </c:pt>
                <c:pt idx="23">
                  <c:v>-1.3619715</c:v>
                </c:pt>
                <c:pt idx="24">
                  <c:v>-1.5</c:v>
                </c:pt>
                <c:pt idx="25">
                  <c:v>-1.63391711</c:v>
                </c:pt>
                <c:pt idx="26">
                  <c:v>-1.76335576</c:v>
                </c:pt>
                <c:pt idx="27">
                  <c:v>-1.88796117</c:v>
                </c:pt>
                <c:pt idx="28">
                  <c:v>-2</c:v>
                </c:pt>
              </c:numCache>
            </c:numRef>
          </c:xVal>
          <c:yVal>
            <c:numRef>
              <c:f>'Chart Data'!$H$2:$H$30</c:f>
              <c:numCache>
                <c:formatCode>0.00</c:formatCode>
                <c:ptCount val="29"/>
                <c:pt idx="0">
                  <c:v>0.44714954</c:v>
                </c:pt>
                <c:pt idx="1">
                  <c:v>0.46628758</c:v>
                </c:pt>
                <c:pt idx="2">
                  <c:v>0.4854102</c:v>
                </c:pt>
                <c:pt idx="3">
                  <c:v>0.50320234</c:v>
                </c:pt>
                <c:pt idx="4">
                  <c:v>0.51961524</c:v>
                </c:pt>
                <c:pt idx="5">
                  <c:v>0.53460391</c:v>
                </c:pt>
                <c:pt idx="6">
                  <c:v>0.54812727</c:v>
                </c:pt>
                <c:pt idx="7">
                  <c:v>0.56014826</c:v>
                </c:pt>
                <c:pt idx="8">
                  <c:v>0.57063391</c:v>
                </c:pt>
                <c:pt idx="9">
                  <c:v>0.5795555</c:v>
                </c:pt>
                <c:pt idx="10">
                  <c:v>0.58688856</c:v>
                </c:pt>
                <c:pt idx="11">
                  <c:v>0.592613</c:v>
                </c:pt>
                <c:pt idx="12">
                  <c:v>0.59671314</c:v>
                </c:pt>
                <c:pt idx="13">
                  <c:v>0.59917772</c:v>
                </c:pt>
                <c:pt idx="14">
                  <c:v>0.6</c:v>
                </c:pt>
                <c:pt idx="15">
                  <c:v>0.59917772</c:v>
                </c:pt>
                <c:pt idx="16">
                  <c:v>0.59671314</c:v>
                </c:pt>
                <c:pt idx="17">
                  <c:v>0.592613</c:v>
                </c:pt>
                <c:pt idx="18">
                  <c:v>0.58688856</c:v>
                </c:pt>
                <c:pt idx="19">
                  <c:v>0.5795555</c:v>
                </c:pt>
                <c:pt idx="20">
                  <c:v>0.57063391</c:v>
                </c:pt>
                <c:pt idx="21">
                  <c:v>0.56014826</c:v>
                </c:pt>
                <c:pt idx="22">
                  <c:v>0.54812727</c:v>
                </c:pt>
                <c:pt idx="23">
                  <c:v>0.53460391</c:v>
                </c:pt>
                <c:pt idx="24">
                  <c:v>0.51961524</c:v>
                </c:pt>
                <c:pt idx="25">
                  <c:v>0.50320234</c:v>
                </c:pt>
                <c:pt idx="26">
                  <c:v>0.4854102</c:v>
                </c:pt>
                <c:pt idx="27">
                  <c:v>0.46628758</c:v>
                </c:pt>
                <c:pt idx="28">
                  <c:v>0.44714954</c:v>
                </c:pt>
              </c:numCache>
            </c:numRef>
          </c:yVal>
          <c:smooth val="0"/>
          <c:extLst>
            <c:ext xmlns:c16="http://schemas.microsoft.com/office/drawing/2014/chart" uri="{C3380CC4-5D6E-409C-BE32-E72D297353CC}">
              <c16:uniqueId val="{00000003-6B5F-214B-B731-993AF570581A}"/>
            </c:ext>
          </c:extLst>
        </c:ser>
        <c:ser>
          <c:idx val="4"/>
          <c:order val="4"/>
          <c:tx>
            <c:v>Одинаковая ошибка</c:v>
          </c:tx>
          <c:spPr>
            <a:ln w="28575">
              <a:solidFill>
                <a:srgbClr val="BCC8DA"/>
              </a:solidFill>
            </a:ln>
          </c:spPr>
          <c:marker>
            <c:symbol val="none"/>
          </c:marker>
          <c:xVal>
            <c:numRef>
              <c:f>'Chart Data'!$I$2:$I$30</c:f>
              <c:numCache>
                <c:formatCode>0.00</c:formatCode>
                <c:ptCount val="29"/>
                <c:pt idx="0">
                  <c:v>-2</c:v>
                </c:pt>
                <c:pt idx="1">
                  <c:v>-1.88796117</c:v>
                </c:pt>
                <c:pt idx="2">
                  <c:v>-1.76335576</c:v>
                </c:pt>
                <c:pt idx="3">
                  <c:v>-1.63391711</c:v>
                </c:pt>
                <c:pt idx="4">
                  <c:v>-1.5</c:v>
                </c:pt>
                <c:pt idx="5">
                  <c:v>-1.3619715</c:v>
                </c:pt>
                <c:pt idx="6">
                  <c:v>-1.22020993</c:v>
                </c:pt>
                <c:pt idx="7">
                  <c:v>-1.07510385</c:v>
                </c:pt>
                <c:pt idx="8">
                  <c:v>-0.92705098</c:v>
                </c:pt>
                <c:pt idx="9">
                  <c:v>-0.77645714</c:v>
                </c:pt>
                <c:pt idx="10">
                  <c:v>-0.62373507</c:v>
                </c:pt>
                <c:pt idx="11">
                  <c:v>-0.4693034</c:v>
                </c:pt>
                <c:pt idx="12">
                  <c:v>-0.31358539</c:v>
                </c:pt>
                <c:pt idx="13">
                  <c:v>-0.15700787</c:v>
                </c:pt>
                <c:pt idx="14">
                  <c:v>0</c:v>
                </c:pt>
                <c:pt idx="15">
                  <c:v>0.15700787</c:v>
                </c:pt>
                <c:pt idx="16">
                  <c:v>0.31358539</c:v>
                </c:pt>
                <c:pt idx="17">
                  <c:v>0.4693034</c:v>
                </c:pt>
                <c:pt idx="18">
                  <c:v>0.62373507</c:v>
                </c:pt>
                <c:pt idx="19">
                  <c:v>0.77645714</c:v>
                </c:pt>
                <c:pt idx="20">
                  <c:v>0.92705098</c:v>
                </c:pt>
                <c:pt idx="21">
                  <c:v>1.07510385</c:v>
                </c:pt>
                <c:pt idx="22">
                  <c:v>1.22020993</c:v>
                </c:pt>
                <c:pt idx="23">
                  <c:v>1.3619715</c:v>
                </c:pt>
                <c:pt idx="24">
                  <c:v>1.5</c:v>
                </c:pt>
                <c:pt idx="25">
                  <c:v>1.63391711</c:v>
                </c:pt>
                <c:pt idx="26">
                  <c:v>1.76335576</c:v>
                </c:pt>
                <c:pt idx="27">
                  <c:v>1.88796117</c:v>
                </c:pt>
                <c:pt idx="28">
                  <c:v>2</c:v>
                </c:pt>
              </c:numCache>
            </c:numRef>
          </c:xVal>
          <c:yVal>
            <c:numRef>
              <c:f>'Chart Data'!$J$2:$J$30</c:f>
              <c:numCache>
                <c:formatCode>0.00</c:formatCode>
                <c:ptCount val="29"/>
                <c:pt idx="0">
                  <c:v>-0.44714954</c:v>
                </c:pt>
                <c:pt idx="1">
                  <c:v>-0.46628758</c:v>
                </c:pt>
                <c:pt idx="2">
                  <c:v>-0.4854102</c:v>
                </c:pt>
                <c:pt idx="3">
                  <c:v>-0.50320234</c:v>
                </c:pt>
                <c:pt idx="4">
                  <c:v>-0.51961524</c:v>
                </c:pt>
                <c:pt idx="5">
                  <c:v>-0.53460391</c:v>
                </c:pt>
                <c:pt idx="6">
                  <c:v>-0.54812727</c:v>
                </c:pt>
                <c:pt idx="7">
                  <c:v>-0.56014826</c:v>
                </c:pt>
                <c:pt idx="8">
                  <c:v>-0.57063391</c:v>
                </c:pt>
                <c:pt idx="9">
                  <c:v>-0.5795555</c:v>
                </c:pt>
                <c:pt idx="10">
                  <c:v>-0.58688856</c:v>
                </c:pt>
                <c:pt idx="11">
                  <c:v>-0.592613</c:v>
                </c:pt>
                <c:pt idx="12">
                  <c:v>-0.59671314</c:v>
                </c:pt>
                <c:pt idx="13">
                  <c:v>-0.59917772</c:v>
                </c:pt>
                <c:pt idx="14">
                  <c:v>-0.6</c:v>
                </c:pt>
                <c:pt idx="15">
                  <c:v>-0.59917772</c:v>
                </c:pt>
                <c:pt idx="16">
                  <c:v>-0.59671314</c:v>
                </c:pt>
                <c:pt idx="17">
                  <c:v>-0.592613</c:v>
                </c:pt>
                <c:pt idx="18">
                  <c:v>-0.58688856</c:v>
                </c:pt>
                <c:pt idx="19">
                  <c:v>-0.5795555</c:v>
                </c:pt>
                <c:pt idx="20">
                  <c:v>-0.57063391</c:v>
                </c:pt>
                <c:pt idx="21">
                  <c:v>-0.56014826</c:v>
                </c:pt>
                <c:pt idx="22">
                  <c:v>-0.54812727</c:v>
                </c:pt>
                <c:pt idx="23">
                  <c:v>-0.53460391</c:v>
                </c:pt>
                <c:pt idx="24">
                  <c:v>-0.51961524</c:v>
                </c:pt>
                <c:pt idx="25">
                  <c:v>-0.50320234</c:v>
                </c:pt>
                <c:pt idx="26">
                  <c:v>-0.4854102</c:v>
                </c:pt>
                <c:pt idx="27">
                  <c:v>-0.46628758</c:v>
                </c:pt>
                <c:pt idx="28">
                  <c:v>-0.44714954</c:v>
                </c:pt>
              </c:numCache>
            </c:numRef>
          </c:yVal>
          <c:smooth val="0"/>
          <c:extLst>
            <c:ext xmlns:c16="http://schemas.microsoft.com/office/drawing/2014/chart" uri="{C3380CC4-5D6E-409C-BE32-E72D297353CC}">
              <c16:uniqueId val="{00000004-6B5F-214B-B731-993AF570581A}"/>
            </c:ext>
          </c:extLst>
        </c:ser>
        <c:ser>
          <c:idx val="5"/>
          <c:order val="5"/>
          <c:tx>
            <c:v>Шаги</c:v>
          </c:tx>
          <c:spPr>
            <a:ln w="28575">
              <a:solidFill>
                <a:srgbClr val="EB681F"/>
              </a:solidFill>
            </a:ln>
          </c:spPr>
          <c:marker>
            <c:symbol val="circle"/>
            <c:size val="5"/>
            <c:spPr>
              <a:solidFill>
                <a:srgbClr val="EB681F"/>
              </a:solidFill>
              <a:ln>
                <a:solidFill>
                  <a:srgbClr val="EB681F"/>
                </a:solidFill>
              </a:ln>
            </c:spPr>
          </c:marker>
          <c:xVal>
            <c:numRef>
              <c:f>'Chart Data'!$K$2:$K$22</c:f>
              <c:numCache>
                <c:formatCode>0.00</c:formatCode>
                <c:ptCount val="21"/>
                <c:pt idx="0">
                  <c:v>1.7</c:v>
                </c:pt>
                <c:pt idx="1">
                  <c:v>1.581</c:v>
                </c:pt>
                <c:pt idx="2">
                  <c:v>1.47033</c:v>
                </c:pt>
                <c:pt idx="3">
                  <c:v>1.3674069</c:v>
                </c:pt>
                <c:pt idx="4">
                  <c:v>1.27168842</c:v>
                </c:pt>
                <c:pt idx="5">
                  <c:v>1.18267023</c:v>
                </c:pt>
                <c:pt idx="6">
                  <c:v>1.09988331</c:v>
                </c:pt>
                <c:pt idx="7">
                  <c:v>1.02289148</c:v>
                </c:pt>
                <c:pt idx="8">
                  <c:v>0.95128908</c:v>
                </c:pt>
                <c:pt idx="9">
                  <c:v>0.88469884</c:v>
                </c:pt>
                <c:pt idx="10">
                  <c:v>0.82276992</c:v>
                </c:pt>
                <c:pt idx="11">
                  <c:v>0.76517603</c:v>
                </c:pt>
                <c:pt idx="12">
                  <c:v>0.71161371</c:v>
                </c:pt>
                <c:pt idx="13">
                  <c:v>0.66180075</c:v>
                </c:pt>
                <c:pt idx="14">
                  <c:v>0.61547469</c:v>
                </c:pt>
                <c:pt idx="15">
                  <c:v>0.57239147</c:v>
                </c:pt>
                <c:pt idx="16">
                  <c:v>0.53232406</c:v>
                </c:pt>
                <c:pt idx="17">
                  <c:v>0.49506138</c:v>
                </c:pt>
                <c:pt idx="18">
                  <c:v>0.46040708</c:v>
                </c:pt>
                <c:pt idx="19">
                  <c:v>0.42817859</c:v>
                </c:pt>
                <c:pt idx="20">
                  <c:v>0.39820609</c:v>
                </c:pt>
              </c:numCache>
            </c:numRef>
          </c:xVal>
          <c:yVal>
            <c:numRef>
              <c:f>'Chart Data'!$L$2:$L$22</c:f>
              <c:numCache>
                <c:formatCode>0.00</c:formatCode>
                <c:ptCount val="21"/>
                <c:pt idx="0">
                  <c:v>1.7</c:v>
                </c:pt>
                <c:pt idx="1">
                  <c:v>-1.275</c:v>
                </c:pt>
                <c:pt idx="2">
                  <c:v>0.95625</c:v>
                </c:pt>
                <c:pt idx="3">
                  <c:v>-0.7171875</c:v>
                </c:pt>
                <c:pt idx="4">
                  <c:v>0.53789062</c:v>
                </c:pt>
                <c:pt idx="5">
                  <c:v>-0.40341797</c:v>
                </c:pt>
                <c:pt idx="6">
                  <c:v>0.30256348</c:v>
                </c:pt>
                <c:pt idx="7">
                  <c:v>-0.22692261</c:v>
                </c:pt>
                <c:pt idx="8">
                  <c:v>0.17019196</c:v>
                </c:pt>
                <c:pt idx="9">
                  <c:v>-0.12764397</c:v>
                </c:pt>
                <c:pt idx="10">
                  <c:v>0.09573297</c:v>
                </c:pt>
                <c:pt idx="11">
                  <c:v>-0.07179973</c:v>
                </c:pt>
                <c:pt idx="12">
                  <c:v>0.0538498</c:v>
                </c:pt>
                <c:pt idx="13">
                  <c:v>-0.04038735</c:v>
                </c:pt>
                <c:pt idx="14">
                  <c:v>0.03029051</c:v>
                </c:pt>
                <c:pt idx="15">
                  <c:v>-0.02271788</c:v>
                </c:pt>
                <c:pt idx="16">
                  <c:v>0.01703841</c:v>
                </c:pt>
                <c:pt idx="17">
                  <c:v>-0.01277881</c:v>
                </c:pt>
                <c:pt idx="18">
                  <c:v>0.00958411</c:v>
                </c:pt>
                <c:pt idx="19">
                  <c:v>-0.00718808</c:v>
                </c:pt>
                <c:pt idx="20">
                  <c:v>0.00539106</c:v>
                </c:pt>
              </c:numCache>
            </c:numRef>
          </c:yVal>
          <c:smooth val="0"/>
          <c:extLst>
            <c:ext xmlns:c16="http://schemas.microsoft.com/office/drawing/2014/chart" uri="{C3380CC4-5D6E-409C-BE32-E72D297353CC}">
              <c16:uniqueId val="{00000005-6B5F-214B-B731-993AF570581A}"/>
            </c:ext>
          </c:extLst>
        </c:ser>
        <c:dLbls>
          <c:showLegendKey val="0"/>
          <c:showVal val="0"/>
          <c:showCatName val="0"/>
          <c:showSerName val="0"/>
          <c:showPercent val="0"/>
          <c:showBubbleSize val="0"/>
        </c:dLbls>
        <c:axId val="48650112"/>
        <c:axId val="48672768"/>
      </c:scatterChart>
      <c:valAx>
        <c:axId val="48672768"/>
        <c:scaling>
          <c:orientation val="minMax"/>
          <c:max val="2"/>
          <c:min val="-2"/>
        </c:scaling>
        <c:delete val="0"/>
        <c:axPos val="l"/>
        <c:majorGridlines>
          <c:spPr>
            <a:ln w="9525">
              <a:solidFill>
                <a:srgbClr val="DFE6F0"/>
              </a:solidFill>
            </a:ln>
          </c:spPr>
        </c:majorGridlines>
        <c:title>
          <c:tx>
            <c:rich>
              <a:bodyPr/>
              <a:lstStyle/>
              <a:p>
                <a:r>
                  <a:rPr lang="ru-RU" sz="1500">
                    <a:solidFill>
                      <a:srgbClr val="102D69"/>
                    </a:solidFill>
                    <a:latin typeface="HSE Sans"/>
                    <a:ea typeface="HSE Sans"/>
                    <a:cs typeface="HSE Sans"/>
                  </a:rPr>
                  <a:t>Вес </a:t>
                </a:r>
                <a:r>
                  <a:rPr lang="en" sz="1500">
                    <a:solidFill>
                      <a:srgbClr val="102D69"/>
                    </a:solidFill>
                    <a:latin typeface="HSE Sans"/>
                    <a:ea typeface="HSE Sans"/>
                    <a:cs typeface="HSE Sans"/>
                  </a:rPr>
                  <a:t>w₂</a:t>
                </a:r>
              </a:p>
            </c:rich>
          </c:tx>
          <c:overlay val="0"/>
        </c:title>
        <c:numFmt formatCode="0" sourceLinked="0"/>
        <c:majorTickMark val="none"/>
        <c:minorTickMark val="none"/>
        <c:tickLblPos val="low"/>
        <c:spPr>
          <a:ln w="9525">
            <a:solidFill>
              <a:srgbClr val="A6B2C4"/>
            </a:solidFill>
          </a:ln>
        </c:spPr>
        <c:txPr>
          <a:bodyPr anchorCtr="1"/>
          <a:lstStyle/>
          <a:p>
            <a:pPr>
              <a:defRPr sz="1425">
                <a:solidFill>
                  <a:srgbClr val="102D69"/>
                </a:solidFill>
                <a:latin typeface="HSE Sans"/>
                <a:ea typeface="HSE Sans"/>
                <a:cs typeface="HSE Sans"/>
              </a:defRPr>
            </a:pPr>
            <a:endParaRPr lang="ru-RU"/>
          </a:p>
        </c:txPr>
        <c:crossAx val="48650112"/>
        <c:crosses val="min"/>
        <c:crossBetween val="midCat"/>
        <c:majorUnit val="1"/>
      </c:valAx>
      <c:valAx>
        <c:axId val="48650112"/>
        <c:scaling>
          <c:orientation val="minMax"/>
          <c:max val="2"/>
          <c:min val="-2"/>
        </c:scaling>
        <c:delete val="0"/>
        <c:axPos val="b"/>
        <c:title>
          <c:tx>
            <c:rich>
              <a:bodyPr/>
              <a:lstStyle/>
              <a:p>
                <a:r>
                  <a:rPr lang="ru-RU" sz="1500">
                    <a:solidFill>
                      <a:srgbClr val="102D69"/>
                    </a:solidFill>
                    <a:latin typeface="HSE Sans"/>
                    <a:ea typeface="HSE Sans"/>
                    <a:cs typeface="HSE Sans"/>
                  </a:rPr>
                  <a:t>Вес </a:t>
                </a:r>
                <a:r>
                  <a:rPr lang="en" sz="1500">
                    <a:solidFill>
                      <a:srgbClr val="102D69"/>
                    </a:solidFill>
                    <a:latin typeface="HSE Sans"/>
                    <a:ea typeface="HSE Sans"/>
                    <a:cs typeface="HSE Sans"/>
                  </a:rPr>
                  <a:t>w₁</a:t>
                </a:r>
              </a:p>
            </c:rich>
          </c:tx>
          <c:overlay val="0"/>
        </c:title>
        <c:numFmt formatCode="0" sourceLinked="0"/>
        <c:majorTickMark val="none"/>
        <c:minorTickMark val="none"/>
        <c:tickLblPos val="low"/>
        <c:spPr>
          <a:ln w="9525">
            <a:solidFill>
              <a:srgbClr val="A6B2C4"/>
            </a:solidFill>
          </a:ln>
        </c:spPr>
        <c:txPr>
          <a:bodyPr anchorCtr="1"/>
          <a:lstStyle/>
          <a:p>
            <a:pPr>
              <a:defRPr sz="1425">
                <a:solidFill>
                  <a:srgbClr val="102D69"/>
                </a:solidFill>
                <a:latin typeface="HSE Sans"/>
                <a:ea typeface="HSE Sans"/>
                <a:cs typeface="HSE Sans"/>
              </a:defRPr>
            </a:pPr>
            <a:endParaRPr lang="ru-RU"/>
          </a:p>
        </c:txPr>
        <c:crossAx val="48672768"/>
        <c:crosses val="min"/>
        <c:crossBetween val="midCat"/>
        <c:majorUnit val="1"/>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scatterChart>
        <c:scatterStyle val="lineMarker"/>
        <c:varyColors val="1"/>
        <c:ser>
          <c:idx val="0"/>
          <c:order val="0"/>
          <c:tx>
            <c:v>Одинаковая ошибка</c:v>
          </c:tx>
          <c:spPr>
            <a:ln w="28575">
              <a:solidFill>
                <a:srgbClr val="BCC8DA"/>
              </a:solidFill>
            </a:ln>
          </c:spPr>
          <c:marker>
            <c:symbol val="none"/>
          </c:marker>
          <c:xVal>
            <c:numRef>
              <c:f>'Chart Data'!$A$2:$A$122</c:f>
              <c:numCache>
                <c:formatCode>0.00</c:formatCode>
                <c:ptCount val="121"/>
                <c:pt idx="0">
                  <c:v>0.35</c:v>
                </c:pt>
                <c:pt idx="1">
                  <c:v>0.34952034</c:v>
                </c:pt>
                <c:pt idx="2">
                  <c:v>0.34808266</c:v>
                </c:pt>
                <c:pt idx="3">
                  <c:v>0.34569092</c:v>
                </c:pt>
                <c:pt idx="4">
                  <c:v>0.34235166</c:v>
                </c:pt>
                <c:pt idx="5">
                  <c:v>0.33807404</c:v>
                </c:pt>
                <c:pt idx="6">
                  <c:v>0.33286978</c:v>
                </c:pt>
                <c:pt idx="7">
                  <c:v>0.32675315</c:v>
                </c:pt>
                <c:pt idx="8">
                  <c:v>0.31974091</c:v>
                </c:pt>
                <c:pt idx="9">
                  <c:v>0.31185228</c:v>
                </c:pt>
                <c:pt idx="10">
                  <c:v>0.30310889</c:v>
                </c:pt>
                <c:pt idx="11">
                  <c:v>0.2935347</c:v>
                </c:pt>
                <c:pt idx="12">
                  <c:v>0.28315595</c:v>
                </c:pt>
                <c:pt idx="13">
                  <c:v>0.27200109</c:v>
                </c:pt>
                <c:pt idx="14">
                  <c:v>0.26010069</c:v>
                </c:pt>
                <c:pt idx="15">
                  <c:v>0.24748737</c:v>
                </c:pt>
                <c:pt idx="16">
                  <c:v>0.23419571</c:v>
                </c:pt>
                <c:pt idx="17">
                  <c:v>0.22026214</c:v>
                </c:pt>
                <c:pt idx="18">
                  <c:v>0.20572484</c:v>
                </c:pt>
                <c:pt idx="19">
                  <c:v>0.19062366</c:v>
                </c:pt>
                <c:pt idx="20">
                  <c:v>0.175</c:v>
                </c:pt>
                <c:pt idx="21">
                  <c:v>0.15889667</c:v>
                </c:pt>
                <c:pt idx="22">
                  <c:v>0.14235783</c:v>
                </c:pt>
                <c:pt idx="23">
                  <c:v>0.12542878</c:v>
                </c:pt>
                <c:pt idx="24">
                  <c:v>0.10815595</c:v>
                </c:pt>
                <c:pt idx="25">
                  <c:v>0.09058667</c:v>
                </c:pt>
                <c:pt idx="26">
                  <c:v>0.07276909</c:v>
                </c:pt>
                <c:pt idx="27">
                  <c:v>0.05475206</c:v>
                </c:pt>
                <c:pt idx="28">
                  <c:v>0.03658496</c:v>
                </c:pt>
                <c:pt idx="29">
                  <c:v>0.01831758</c:v>
                </c:pt>
                <c:pt idx="30">
                  <c:v>0</c:v>
                </c:pt>
                <c:pt idx="31">
                  <c:v>-0.01831758</c:v>
                </c:pt>
                <c:pt idx="32">
                  <c:v>-0.03658496</c:v>
                </c:pt>
                <c:pt idx="33">
                  <c:v>-0.05475206</c:v>
                </c:pt>
                <c:pt idx="34">
                  <c:v>-0.07276909</c:v>
                </c:pt>
                <c:pt idx="35">
                  <c:v>-0.09058667</c:v>
                </c:pt>
                <c:pt idx="36">
                  <c:v>-0.10815595</c:v>
                </c:pt>
                <c:pt idx="37">
                  <c:v>-0.12542878</c:v>
                </c:pt>
                <c:pt idx="38">
                  <c:v>-0.14235783</c:v>
                </c:pt>
                <c:pt idx="39">
                  <c:v>-0.15889667</c:v>
                </c:pt>
                <c:pt idx="40">
                  <c:v>-0.175</c:v>
                </c:pt>
                <c:pt idx="41">
                  <c:v>-0.19062366</c:v>
                </c:pt>
                <c:pt idx="42">
                  <c:v>-0.20572484</c:v>
                </c:pt>
                <c:pt idx="43">
                  <c:v>-0.22026214</c:v>
                </c:pt>
                <c:pt idx="44">
                  <c:v>-0.23419571</c:v>
                </c:pt>
                <c:pt idx="45">
                  <c:v>-0.24748737</c:v>
                </c:pt>
                <c:pt idx="46">
                  <c:v>-0.26010069</c:v>
                </c:pt>
                <c:pt idx="47">
                  <c:v>-0.27200109</c:v>
                </c:pt>
                <c:pt idx="48">
                  <c:v>-0.28315595</c:v>
                </c:pt>
                <c:pt idx="49">
                  <c:v>-0.2935347</c:v>
                </c:pt>
                <c:pt idx="50">
                  <c:v>-0.30310889</c:v>
                </c:pt>
                <c:pt idx="51">
                  <c:v>-0.31185228</c:v>
                </c:pt>
                <c:pt idx="52">
                  <c:v>-0.31974091</c:v>
                </c:pt>
                <c:pt idx="53">
                  <c:v>-0.32675315</c:v>
                </c:pt>
                <c:pt idx="54">
                  <c:v>-0.33286978</c:v>
                </c:pt>
                <c:pt idx="55">
                  <c:v>-0.33807404</c:v>
                </c:pt>
                <c:pt idx="56">
                  <c:v>-0.34235166</c:v>
                </c:pt>
                <c:pt idx="57">
                  <c:v>-0.34569092</c:v>
                </c:pt>
                <c:pt idx="58">
                  <c:v>-0.34808266</c:v>
                </c:pt>
                <c:pt idx="59">
                  <c:v>-0.34952034</c:v>
                </c:pt>
                <c:pt idx="60">
                  <c:v>-0.35</c:v>
                </c:pt>
                <c:pt idx="61">
                  <c:v>-0.34952034</c:v>
                </c:pt>
                <c:pt idx="62">
                  <c:v>-0.34808266</c:v>
                </c:pt>
                <c:pt idx="63">
                  <c:v>-0.34569092</c:v>
                </c:pt>
                <c:pt idx="64">
                  <c:v>-0.34235166</c:v>
                </c:pt>
                <c:pt idx="65">
                  <c:v>-0.33807404</c:v>
                </c:pt>
                <c:pt idx="66">
                  <c:v>-0.33286978</c:v>
                </c:pt>
                <c:pt idx="67">
                  <c:v>-0.32675315</c:v>
                </c:pt>
                <c:pt idx="68">
                  <c:v>-0.31974091</c:v>
                </c:pt>
                <c:pt idx="69">
                  <c:v>-0.31185228</c:v>
                </c:pt>
                <c:pt idx="70">
                  <c:v>-0.30310889</c:v>
                </c:pt>
                <c:pt idx="71">
                  <c:v>-0.2935347</c:v>
                </c:pt>
                <c:pt idx="72">
                  <c:v>-0.28315595</c:v>
                </c:pt>
                <c:pt idx="73">
                  <c:v>-0.27200109</c:v>
                </c:pt>
                <c:pt idx="74">
                  <c:v>-0.26010069</c:v>
                </c:pt>
                <c:pt idx="75">
                  <c:v>-0.24748737</c:v>
                </c:pt>
                <c:pt idx="76">
                  <c:v>-0.23419571</c:v>
                </c:pt>
                <c:pt idx="77">
                  <c:v>-0.22026214</c:v>
                </c:pt>
                <c:pt idx="78">
                  <c:v>-0.20572484</c:v>
                </c:pt>
                <c:pt idx="79">
                  <c:v>-0.19062366</c:v>
                </c:pt>
                <c:pt idx="80">
                  <c:v>-0.175</c:v>
                </c:pt>
                <c:pt idx="81">
                  <c:v>-0.15889667</c:v>
                </c:pt>
                <c:pt idx="82">
                  <c:v>-0.14235783</c:v>
                </c:pt>
                <c:pt idx="83">
                  <c:v>-0.12542878</c:v>
                </c:pt>
                <c:pt idx="84">
                  <c:v>-0.10815595</c:v>
                </c:pt>
                <c:pt idx="85">
                  <c:v>-0.09058667</c:v>
                </c:pt>
                <c:pt idx="86">
                  <c:v>-0.07276909</c:v>
                </c:pt>
                <c:pt idx="87">
                  <c:v>-0.05475206</c:v>
                </c:pt>
                <c:pt idx="88">
                  <c:v>-0.03658496</c:v>
                </c:pt>
                <c:pt idx="89">
                  <c:v>-0.01831758</c:v>
                </c:pt>
                <c:pt idx="90">
                  <c:v>0</c:v>
                </c:pt>
                <c:pt idx="91">
                  <c:v>0.01831758</c:v>
                </c:pt>
                <c:pt idx="92">
                  <c:v>0.03658496</c:v>
                </c:pt>
                <c:pt idx="93">
                  <c:v>0.05475206</c:v>
                </c:pt>
                <c:pt idx="94">
                  <c:v>0.07276909</c:v>
                </c:pt>
                <c:pt idx="95">
                  <c:v>0.09058667</c:v>
                </c:pt>
                <c:pt idx="96">
                  <c:v>0.10815595</c:v>
                </c:pt>
                <c:pt idx="97">
                  <c:v>0.12542878</c:v>
                </c:pt>
                <c:pt idx="98">
                  <c:v>0.14235783</c:v>
                </c:pt>
                <c:pt idx="99">
                  <c:v>0.15889667</c:v>
                </c:pt>
                <c:pt idx="100">
                  <c:v>0.175</c:v>
                </c:pt>
                <c:pt idx="101">
                  <c:v>0.19062366</c:v>
                </c:pt>
                <c:pt idx="102">
                  <c:v>0.20572484</c:v>
                </c:pt>
                <c:pt idx="103">
                  <c:v>0.22026214</c:v>
                </c:pt>
                <c:pt idx="104">
                  <c:v>0.23419571</c:v>
                </c:pt>
                <c:pt idx="105">
                  <c:v>0.24748737</c:v>
                </c:pt>
                <c:pt idx="106">
                  <c:v>0.26010069</c:v>
                </c:pt>
                <c:pt idx="107">
                  <c:v>0.27200109</c:v>
                </c:pt>
                <c:pt idx="108">
                  <c:v>0.28315595</c:v>
                </c:pt>
                <c:pt idx="109">
                  <c:v>0.2935347</c:v>
                </c:pt>
                <c:pt idx="110">
                  <c:v>0.30310889</c:v>
                </c:pt>
                <c:pt idx="111">
                  <c:v>0.31185228</c:v>
                </c:pt>
                <c:pt idx="112">
                  <c:v>0.31974091</c:v>
                </c:pt>
                <c:pt idx="113">
                  <c:v>0.32675315</c:v>
                </c:pt>
                <c:pt idx="114">
                  <c:v>0.33286978</c:v>
                </c:pt>
                <c:pt idx="115">
                  <c:v>0.33807404</c:v>
                </c:pt>
                <c:pt idx="116">
                  <c:v>0.34235166</c:v>
                </c:pt>
                <c:pt idx="117">
                  <c:v>0.34569092</c:v>
                </c:pt>
                <c:pt idx="118">
                  <c:v>0.34808266</c:v>
                </c:pt>
                <c:pt idx="119">
                  <c:v>0.34952034</c:v>
                </c:pt>
                <c:pt idx="120">
                  <c:v>0.35</c:v>
                </c:pt>
              </c:numCache>
            </c:numRef>
          </c:xVal>
          <c:yVal>
            <c:numRef>
              <c:f>'Chart Data'!$B$2:$B$122</c:f>
              <c:numCache>
                <c:formatCode>0.00</c:formatCode>
                <c:ptCount val="121"/>
                <c:pt idx="0">
                  <c:v>0</c:v>
                </c:pt>
                <c:pt idx="1">
                  <c:v>0.01831758</c:v>
                </c:pt>
                <c:pt idx="2">
                  <c:v>0.03658496</c:v>
                </c:pt>
                <c:pt idx="3">
                  <c:v>0.05475206</c:v>
                </c:pt>
                <c:pt idx="4">
                  <c:v>0.07276909</c:v>
                </c:pt>
                <c:pt idx="5">
                  <c:v>0.09058667</c:v>
                </c:pt>
                <c:pt idx="6">
                  <c:v>0.10815595</c:v>
                </c:pt>
                <c:pt idx="7">
                  <c:v>0.12542878</c:v>
                </c:pt>
                <c:pt idx="8">
                  <c:v>0.14235783</c:v>
                </c:pt>
                <c:pt idx="9">
                  <c:v>0.15889667</c:v>
                </c:pt>
                <c:pt idx="10">
                  <c:v>0.175</c:v>
                </c:pt>
                <c:pt idx="11">
                  <c:v>0.19062366</c:v>
                </c:pt>
                <c:pt idx="12">
                  <c:v>0.20572484</c:v>
                </c:pt>
                <c:pt idx="13">
                  <c:v>0.22026214</c:v>
                </c:pt>
                <c:pt idx="14">
                  <c:v>0.23419571</c:v>
                </c:pt>
                <c:pt idx="15">
                  <c:v>0.24748737</c:v>
                </c:pt>
                <c:pt idx="16">
                  <c:v>0.26010069</c:v>
                </c:pt>
                <c:pt idx="17">
                  <c:v>0.27200109</c:v>
                </c:pt>
                <c:pt idx="18">
                  <c:v>0.28315595</c:v>
                </c:pt>
                <c:pt idx="19">
                  <c:v>0.2935347</c:v>
                </c:pt>
                <c:pt idx="20">
                  <c:v>0.30310889</c:v>
                </c:pt>
                <c:pt idx="21">
                  <c:v>0.31185228</c:v>
                </c:pt>
                <c:pt idx="22">
                  <c:v>0.31974091</c:v>
                </c:pt>
                <c:pt idx="23">
                  <c:v>0.32675315</c:v>
                </c:pt>
                <c:pt idx="24">
                  <c:v>0.33286978</c:v>
                </c:pt>
                <c:pt idx="25">
                  <c:v>0.33807404</c:v>
                </c:pt>
                <c:pt idx="26">
                  <c:v>0.34235166</c:v>
                </c:pt>
                <c:pt idx="27">
                  <c:v>0.34569092</c:v>
                </c:pt>
                <c:pt idx="28">
                  <c:v>0.34808266</c:v>
                </c:pt>
                <c:pt idx="29">
                  <c:v>0.34952034</c:v>
                </c:pt>
                <c:pt idx="30">
                  <c:v>0.35</c:v>
                </c:pt>
                <c:pt idx="31">
                  <c:v>0.34952034</c:v>
                </c:pt>
                <c:pt idx="32">
                  <c:v>0.34808266</c:v>
                </c:pt>
                <c:pt idx="33">
                  <c:v>0.34569092</c:v>
                </c:pt>
                <c:pt idx="34">
                  <c:v>0.34235166</c:v>
                </c:pt>
                <c:pt idx="35">
                  <c:v>0.33807404</c:v>
                </c:pt>
                <c:pt idx="36">
                  <c:v>0.33286978</c:v>
                </c:pt>
                <c:pt idx="37">
                  <c:v>0.32675315</c:v>
                </c:pt>
                <c:pt idx="38">
                  <c:v>0.31974091</c:v>
                </c:pt>
                <c:pt idx="39">
                  <c:v>0.31185228</c:v>
                </c:pt>
                <c:pt idx="40">
                  <c:v>0.30310889</c:v>
                </c:pt>
                <c:pt idx="41">
                  <c:v>0.2935347</c:v>
                </c:pt>
                <c:pt idx="42">
                  <c:v>0.28315595</c:v>
                </c:pt>
                <c:pt idx="43">
                  <c:v>0.27200109</c:v>
                </c:pt>
                <c:pt idx="44">
                  <c:v>0.26010069</c:v>
                </c:pt>
                <c:pt idx="45">
                  <c:v>0.24748737</c:v>
                </c:pt>
                <c:pt idx="46">
                  <c:v>0.23419571</c:v>
                </c:pt>
                <c:pt idx="47">
                  <c:v>0.22026214</c:v>
                </c:pt>
                <c:pt idx="48">
                  <c:v>0.20572484</c:v>
                </c:pt>
                <c:pt idx="49">
                  <c:v>0.19062366</c:v>
                </c:pt>
                <c:pt idx="50">
                  <c:v>0.175</c:v>
                </c:pt>
                <c:pt idx="51">
                  <c:v>0.15889667</c:v>
                </c:pt>
                <c:pt idx="52">
                  <c:v>0.14235783</c:v>
                </c:pt>
                <c:pt idx="53">
                  <c:v>0.12542878</c:v>
                </c:pt>
                <c:pt idx="54">
                  <c:v>0.10815595</c:v>
                </c:pt>
                <c:pt idx="55">
                  <c:v>0.09058667</c:v>
                </c:pt>
                <c:pt idx="56">
                  <c:v>0.07276909</c:v>
                </c:pt>
                <c:pt idx="57">
                  <c:v>0.05475206</c:v>
                </c:pt>
                <c:pt idx="58">
                  <c:v>0.03658496</c:v>
                </c:pt>
                <c:pt idx="59">
                  <c:v>0.01831758</c:v>
                </c:pt>
                <c:pt idx="60">
                  <c:v>0</c:v>
                </c:pt>
                <c:pt idx="61">
                  <c:v>-0.01831758</c:v>
                </c:pt>
                <c:pt idx="62">
                  <c:v>-0.03658496</c:v>
                </c:pt>
                <c:pt idx="63">
                  <c:v>-0.05475206</c:v>
                </c:pt>
                <c:pt idx="64">
                  <c:v>-0.07276909</c:v>
                </c:pt>
                <c:pt idx="65">
                  <c:v>-0.09058667</c:v>
                </c:pt>
                <c:pt idx="66">
                  <c:v>-0.10815595</c:v>
                </c:pt>
                <c:pt idx="67">
                  <c:v>-0.12542878</c:v>
                </c:pt>
                <c:pt idx="68">
                  <c:v>-0.14235783</c:v>
                </c:pt>
                <c:pt idx="69">
                  <c:v>-0.15889667</c:v>
                </c:pt>
                <c:pt idx="70">
                  <c:v>-0.175</c:v>
                </c:pt>
                <c:pt idx="71">
                  <c:v>-0.19062366</c:v>
                </c:pt>
                <c:pt idx="72">
                  <c:v>-0.20572484</c:v>
                </c:pt>
                <c:pt idx="73">
                  <c:v>-0.22026214</c:v>
                </c:pt>
                <c:pt idx="74">
                  <c:v>-0.23419571</c:v>
                </c:pt>
                <c:pt idx="75">
                  <c:v>-0.24748737</c:v>
                </c:pt>
                <c:pt idx="76">
                  <c:v>-0.26010069</c:v>
                </c:pt>
                <c:pt idx="77">
                  <c:v>-0.27200109</c:v>
                </c:pt>
                <c:pt idx="78">
                  <c:v>-0.28315595</c:v>
                </c:pt>
                <c:pt idx="79">
                  <c:v>-0.2935347</c:v>
                </c:pt>
                <c:pt idx="80">
                  <c:v>-0.30310889</c:v>
                </c:pt>
                <c:pt idx="81">
                  <c:v>-0.31185228</c:v>
                </c:pt>
                <c:pt idx="82">
                  <c:v>-0.31974091</c:v>
                </c:pt>
                <c:pt idx="83">
                  <c:v>-0.32675315</c:v>
                </c:pt>
                <c:pt idx="84">
                  <c:v>-0.33286978</c:v>
                </c:pt>
                <c:pt idx="85">
                  <c:v>-0.33807404</c:v>
                </c:pt>
                <c:pt idx="86">
                  <c:v>-0.34235166</c:v>
                </c:pt>
                <c:pt idx="87">
                  <c:v>-0.34569092</c:v>
                </c:pt>
                <c:pt idx="88">
                  <c:v>-0.34808266</c:v>
                </c:pt>
                <c:pt idx="89">
                  <c:v>-0.34952034</c:v>
                </c:pt>
                <c:pt idx="90">
                  <c:v>-0.35</c:v>
                </c:pt>
                <c:pt idx="91">
                  <c:v>-0.34952034</c:v>
                </c:pt>
                <c:pt idx="92">
                  <c:v>-0.34808266</c:v>
                </c:pt>
                <c:pt idx="93">
                  <c:v>-0.34569092</c:v>
                </c:pt>
                <c:pt idx="94">
                  <c:v>-0.34235166</c:v>
                </c:pt>
                <c:pt idx="95">
                  <c:v>-0.33807404</c:v>
                </c:pt>
                <c:pt idx="96">
                  <c:v>-0.33286978</c:v>
                </c:pt>
                <c:pt idx="97">
                  <c:v>-0.32675315</c:v>
                </c:pt>
                <c:pt idx="98">
                  <c:v>-0.31974091</c:v>
                </c:pt>
                <c:pt idx="99">
                  <c:v>-0.31185228</c:v>
                </c:pt>
                <c:pt idx="100">
                  <c:v>-0.30310889</c:v>
                </c:pt>
                <c:pt idx="101">
                  <c:v>-0.2935347</c:v>
                </c:pt>
                <c:pt idx="102">
                  <c:v>-0.28315595</c:v>
                </c:pt>
                <c:pt idx="103">
                  <c:v>-0.27200109</c:v>
                </c:pt>
                <c:pt idx="104">
                  <c:v>-0.26010069</c:v>
                </c:pt>
                <c:pt idx="105">
                  <c:v>-0.24748737</c:v>
                </c:pt>
                <c:pt idx="106">
                  <c:v>-0.23419571</c:v>
                </c:pt>
                <c:pt idx="107">
                  <c:v>-0.22026214</c:v>
                </c:pt>
                <c:pt idx="108">
                  <c:v>-0.20572484</c:v>
                </c:pt>
                <c:pt idx="109">
                  <c:v>-0.19062366</c:v>
                </c:pt>
                <c:pt idx="110">
                  <c:v>-0.175</c:v>
                </c:pt>
                <c:pt idx="111">
                  <c:v>-0.15889667</c:v>
                </c:pt>
                <c:pt idx="112">
                  <c:v>-0.14235783</c:v>
                </c:pt>
                <c:pt idx="113">
                  <c:v>-0.12542878</c:v>
                </c:pt>
                <c:pt idx="114">
                  <c:v>-0.10815595</c:v>
                </c:pt>
                <c:pt idx="115">
                  <c:v>-0.09058667</c:v>
                </c:pt>
                <c:pt idx="116">
                  <c:v>-0.07276909</c:v>
                </c:pt>
                <c:pt idx="117">
                  <c:v>-0.05475206</c:v>
                </c:pt>
                <c:pt idx="118">
                  <c:v>-0.03658496</c:v>
                </c:pt>
                <c:pt idx="119">
                  <c:v>-0.01831758</c:v>
                </c:pt>
                <c:pt idx="120">
                  <c:v>0</c:v>
                </c:pt>
              </c:numCache>
            </c:numRef>
          </c:yVal>
          <c:smooth val="0"/>
          <c:extLst>
            <c:ext xmlns:c16="http://schemas.microsoft.com/office/drawing/2014/chart" uri="{C3380CC4-5D6E-409C-BE32-E72D297353CC}">
              <c16:uniqueId val="{00000000-32CF-5847-A85C-F871AE47EDB3}"/>
            </c:ext>
          </c:extLst>
        </c:ser>
        <c:ser>
          <c:idx val="1"/>
          <c:order val="1"/>
          <c:tx>
            <c:v>Одинаковая ошибка</c:v>
          </c:tx>
          <c:spPr>
            <a:ln w="28575">
              <a:solidFill>
                <a:srgbClr val="BCC8DA"/>
              </a:solidFill>
            </a:ln>
          </c:spPr>
          <c:marker>
            <c:symbol val="none"/>
          </c:marker>
          <c:xVal>
            <c:numRef>
              <c:f>'Chart Data'!$C$2:$C$122</c:f>
              <c:numCache>
                <c:formatCode>0.00</c:formatCode>
                <c:ptCount val="121"/>
                <c:pt idx="0">
                  <c:v>0.9</c:v>
                </c:pt>
                <c:pt idx="1">
                  <c:v>0.89876658</c:v>
                </c:pt>
                <c:pt idx="2">
                  <c:v>0.89506971</c:v>
                </c:pt>
                <c:pt idx="3">
                  <c:v>0.88891951</c:v>
                </c:pt>
                <c:pt idx="4">
                  <c:v>0.88033284</c:v>
                </c:pt>
                <c:pt idx="5">
                  <c:v>0.86933324</c:v>
                </c:pt>
                <c:pt idx="6">
                  <c:v>0.85595086</c:v>
                </c:pt>
                <c:pt idx="7">
                  <c:v>0.84022238</c:v>
                </c:pt>
                <c:pt idx="8">
                  <c:v>0.82219091</c:v>
                </c:pt>
                <c:pt idx="9">
                  <c:v>0.80190587</c:v>
                </c:pt>
                <c:pt idx="10">
                  <c:v>0.77942286</c:v>
                </c:pt>
                <c:pt idx="11">
                  <c:v>0.75480351</c:v>
                </c:pt>
                <c:pt idx="12">
                  <c:v>0.72811529</c:v>
                </c:pt>
                <c:pt idx="13">
                  <c:v>0.69943137</c:v>
                </c:pt>
                <c:pt idx="14">
                  <c:v>0.66883034</c:v>
                </c:pt>
                <c:pt idx="15">
                  <c:v>0.6363961</c:v>
                </c:pt>
                <c:pt idx="16">
                  <c:v>0.60221755</c:v>
                </c:pt>
                <c:pt idx="17">
                  <c:v>0.56638835</c:v>
                </c:pt>
                <c:pt idx="18">
                  <c:v>0.52900673</c:v>
                </c:pt>
                <c:pt idx="19">
                  <c:v>0.49017513</c:v>
                </c:pt>
                <c:pt idx="20">
                  <c:v>0.45</c:v>
                </c:pt>
                <c:pt idx="21">
                  <c:v>0.40859145</c:v>
                </c:pt>
                <c:pt idx="22">
                  <c:v>0.36606298</c:v>
                </c:pt>
                <c:pt idx="23">
                  <c:v>0.32253115</c:v>
                </c:pt>
                <c:pt idx="24">
                  <c:v>0.27811529</c:v>
                </c:pt>
                <c:pt idx="25">
                  <c:v>0.23293714</c:v>
                </c:pt>
                <c:pt idx="26">
                  <c:v>0.18712052</c:v>
                </c:pt>
                <c:pt idx="27">
                  <c:v>0.14079102</c:v>
                </c:pt>
                <c:pt idx="28">
                  <c:v>0.09407562</c:v>
                </c:pt>
                <c:pt idx="29">
                  <c:v>0.04710236</c:v>
                </c:pt>
                <c:pt idx="30">
                  <c:v>0</c:v>
                </c:pt>
                <c:pt idx="31">
                  <c:v>-0.04710236</c:v>
                </c:pt>
                <c:pt idx="32">
                  <c:v>-0.09407562</c:v>
                </c:pt>
                <c:pt idx="33">
                  <c:v>-0.14079102</c:v>
                </c:pt>
                <c:pt idx="34">
                  <c:v>-0.18712052</c:v>
                </c:pt>
                <c:pt idx="35">
                  <c:v>-0.23293714</c:v>
                </c:pt>
                <c:pt idx="36">
                  <c:v>-0.27811529</c:v>
                </c:pt>
                <c:pt idx="37">
                  <c:v>-0.32253115</c:v>
                </c:pt>
                <c:pt idx="38">
                  <c:v>-0.36606298</c:v>
                </c:pt>
                <c:pt idx="39">
                  <c:v>-0.40859145</c:v>
                </c:pt>
                <c:pt idx="40">
                  <c:v>-0.45</c:v>
                </c:pt>
                <c:pt idx="41">
                  <c:v>-0.49017513</c:v>
                </c:pt>
                <c:pt idx="42">
                  <c:v>-0.52900673</c:v>
                </c:pt>
                <c:pt idx="43">
                  <c:v>-0.56638835</c:v>
                </c:pt>
                <c:pt idx="44">
                  <c:v>-0.60221755</c:v>
                </c:pt>
                <c:pt idx="45">
                  <c:v>-0.6363961</c:v>
                </c:pt>
                <c:pt idx="46">
                  <c:v>-0.66883034</c:v>
                </c:pt>
                <c:pt idx="47">
                  <c:v>-0.69943137</c:v>
                </c:pt>
                <c:pt idx="48">
                  <c:v>-0.72811529</c:v>
                </c:pt>
                <c:pt idx="49">
                  <c:v>-0.75480351</c:v>
                </c:pt>
                <c:pt idx="50">
                  <c:v>-0.77942286</c:v>
                </c:pt>
                <c:pt idx="51">
                  <c:v>-0.80190587</c:v>
                </c:pt>
                <c:pt idx="52">
                  <c:v>-0.82219091</c:v>
                </c:pt>
                <c:pt idx="53">
                  <c:v>-0.84022238</c:v>
                </c:pt>
                <c:pt idx="54">
                  <c:v>-0.85595086</c:v>
                </c:pt>
                <c:pt idx="55">
                  <c:v>-0.86933324</c:v>
                </c:pt>
                <c:pt idx="56">
                  <c:v>-0.88033284</c:v>
                </c:pt>
                <c:pt idx="57">
                  <c:v>-0.88891951</c:v>
                </c:pt>
                <c:pt idx="58">
                  <c:v>-0.89506971</c:v>
                </c:pt>
                <c:pt idx="59">
                  <c:v>-0.89876658</c:v>
                </c:pt>
                <c:pt idx="60">
                  <c:v>-0.9</c:v>
                </c:pt>
                <c:pt idx="61">
                  <c:v>-0.89876658</c:v>
                </c:pt>
                <c:pt idx="62">
                  <c:v>-0.89506971</c:v>
                </c:pt>
                <c:pt idx="63">
                  <c:v>-0.88891951</c:v>
                </c:pt>
                <c:pt idx="64">
                  <c:v>-0.88033284</c:v>
                </c:pt>
                <c:pt idx="65">
                  <c:v>-0.86933324</c:v>
                </c:pt>
                <c:pt idx="66">
                  <c:v>-0.85595086</c:v>
                </c:pt>
                <c:pt idx="67">
                  <c:v>-0.84022238</c:v>
                </c:pt>
                <c:pt idx="68">
                  <c:v>-0.82219091</c:v>
                </c:pt>
                <c:pt idx="69">
                  <c:v>-0.80190587</c:v>
                </c:pt>
                <c:pt idx="70">
                  <c:v>-0.77942286</c:v>
                </c:pt>
                <c:pt idx="71">
                  <c:v>-0.75480351</c:v>
                </c:pt>
                <c:pt idx="72">
                  <c:v>-0.72811529</c:v>
                </c:pt>
                <c:pt idx="73">
                  <c:v>-0.69943137</c:v>
                </c:pt>
                <c:pt idx="74">
                  <c:v>-0.66883034</c:v>
                </c:pt>
                <c:pt idx="75">
                  <c:v>-0.6363961</c:v>
                </c:pt>
                <c:pt idx="76">
                  <c:v>-0.60221755</c:v>
                </c:pt>
                <c:pt idx="77">
                  <c:v>-0.56638835</c:v>
                </c:pt>
                <c:pt idx="78">
                  <c:v>-0.52900673</c:v>
                </c:pt>
                <c:pt idx="79">
                  <c:v>-0.49017513</c:v>
                </c:pt>
                <c:pt idx="80">
                  <c:v>-0.45</c:v>
                </c:pt>
                <c:pt idx="81">
                  <c:v>-0.40859145</c:v>
                </c:pt>
                <c:pt idx="82">
                  <c:v>-0.36606298</c:v>
                </c:pt>
                <c:pt idx="83">
                  <c:v>-0.32253115</c:v>
                </c:pt>
                <c:pt idx="84">
                  <c:v>-0.27811529</c:v>
                </c:pt>
                <c:pt idx="85">
                  <c:v>-0.23293714</c:v>
                </c:pt>
                <c:pt idx="86">
                  <c:v>-0.18712052</c:v>
                </c:pt>
                <c:pt idx="87">
                  <c:v>-0.14079102</c:v>
                </c:pt>
                <c:pt idx="88">
                  <c:v>-0.09407562</c:v>
                </c:pt>
                <c:pt idx="89">
                  <c:v>-0.04710236</c:v>
                </c:pt>
                <c:pt idx="90">
                  <c:v>0</c:v>
                </c:pt>
                <c:pt idx="91">
                  <c:v>0.04710236</c:v>
                </c:pt>
                <c:pt idx="92">
                  <c:v>0.09407562</c:v>
                </c:pt>
                <c:pt idx="93">
                  <c:v>0.14079102</c:v>
                </c:pt>
                <c:pt idx="94">
                  <c:v>0.18712052</c:v>
                </c:pt>
                <c:pt idx="95">
                  <c:v>0.23293714</c:v>
                </c:pt>
                <c:pt idx="96">
                  <c:v>0.27811529</c:v>
                </c:pt>
                <c:pt idx="97">
                  <c:v>0.32253115</c:v>
                </c:pt>
                <c:pt idx="98">
                  <c:v>0.36606298</c:v>
                </c:pt>
                <c:pt idx="99">
                  <c:v>0.40859145</c:v>
                </c:pt>
                <c:pt idx="100">
                  <c:v>0.45</c:v>
                </c:pt>
                <c:pt idx="101">
                  <c:v>0.49017513</c:v>
                </c:pt>
                <c:pt idx="102">
                  <c:v>0.52900673</c:v>
                </c:pt>
                <c:pt idx="103">
                  <c:v>0.56638835</c:v>
                </c:pt>
                <c:pt idx="104">
                  <c:v>0.60221755</c:v>
                </c:pt>
                <c:pt idx="105">
                  <c:v>0.6363961</c:v>
                </c:pt>
                <c:pt idx="106">
                  <c:v>0.66883034</c:v>
                </c:pt>
                <c:pt idx="107">
                  <c:v>0.69943137</c:v>
                </c:pt>
                <c:pt idx="108">
                  <c:v>0.72811529</c:v>
                </c:pt>
                <c:pt idx="109">
                  <c:v>0.75480351</c:v>
                </c:pt>
                <c:pt idx="110">
                  <c:v>0.77942286</c:v>
                </c:pt>
                <c:pt idx="111">
                  <c:v>0.80190587</c:v>
                </c:pt>
                <c:pt idx="112">
                  <c:v>0.82219091</c:v>
                </c:pt>
                <c:pt idx="113">
                  <c:v>0.84022238</c:v>
                </c:pt>
                <c:pt idx="114">
                  <c:v>0.85595086</c:v>
                </c:pt>
                <c:pt idx="115">
                  <c:v>0.86933324</c:v>
                </c:pt>
                <c:pt idx="116">
                  <c:v>0.88033284</c:v>
                </c:pt>
                <c:pt idx="117">
                  <c:v>0.88891951</c:v>
                </c:pt>
                <c:pt idx="118">
                  <c:v>0.89506971</c:v>
                </c:pt>
                <c:pt idx="119">
                  <c:v>0.89876658</c:v>
                </c:pt>
                <c:pt idx="120">
                  <c:v>0.9</c:v>
                </c:pt>
              </c:numCache>
            </c:numRef>
          </c:xVal>
          <c:yVal>
            <c:numRef>
              <c:f>'Chart Data'!$D$2:$D$122</c:f>
              <c:numCache>
                <c:formatCode>0.00</c:formatCode>
                <c:ptCount val="121"/>
                <c:pt idx="0">
                  <c:v>0</c:v>
                </c:pt>
                <c:pt idx="1">
                  <c:v>0.04710236</c:v>
                </c:pt>
                <c:pt idx="2">
                  <c:v>0.09407562</c:v>
                </c:pt>
                <c:pt idx="3">
                  <c:v>0.14079102</c:v>
                </c:pt>
                <c:pt idx="4">
                  <c:v>0.18712052</c:v>
                </c:pt>
                <c:pt idx="5">
                  <c:v>0.23293714</c:v>
                </c:pt>
                <c:pt idx="6">
                  <c:v>0.27811529</c:v>
                </c:pt>
                <c:pt idx="7">
                  <c:v>0.32253115</c:v>
                </c:pt>
                <c:pt idx="8">
                  <c:v>0.36606298</c:v>
                </c:pt>
                <c:pt idx="9">
                  <c:v>0.40859145</c:v>
                </c:pt>
                <c:pt idx="10">
                  <c:v>0.45</c:v>
                </c:pt>
                <c:pt idx="11">
                  <c:v>0.49017513</c:v>
                </c:pt>
                <c:pt idx="12">
                  <c:v>0.52900673</c:v>
                </c:pt>
                <c:pt idx="13">
                  <c:v>0.56638835</c:v>
                </c:pt>
                <c:pt idx="14">
                  <c:v>0.60221755</c:v>
                </c:pt>
                <c:pt idx="15">
                  <c:v>0.6363961</c:v>
                </c:pt>
                <c:pt idx="16">
                  <c:v>0.66883034</c:v>
                </c:pt>
                <c:pt idx="17">
                  <c:v>0.69943137</c:v>
                </c:pt>
                <c:pt idx="18">
                  <c:v>0.72811529</c:v>
                </c:pt>
                <c:pt idx="19">
                  <c:v>0.75480351</c:v>
                </c:pt>
                <c:pt idx="20">
                  <c:v>0.77942286</c:v>
                </c:pt>
                <c:pt idx="21">
                  <c:v>0.80190587</c:v>
                </c:pt>
                <c:pt idx="22">
                  <c:v>0.82219091</c:v>
                </c:pt>
                <c:pt idx="23">
                  <c:v>0.84022238</c:v>
                </c:pt>
                <c:pt idx="24">
                  <c:v>0.85595086</c:v>
                </c:pt>
                <c:pt idx="25">
                  <c:v>0.86933324</c:v>
                </c:pt>
                <c:pt idx="26">
                  <c:v>0.88033284</c:v>
                </c:pt>
                <c:pt idx="27">
                  <c:v>0.88891951</c:v>
                </c:pt>
                <c:pt idx="28">
                  <c:v>0.89506971</c:v>
                </c:pt>
                <c:pt idx="29">
                  <c:v>0.89876658</c:v>
                </c:pt>
                <c:pt idx="30">
                  <c:v>0.9</c:v>
                </c:pt>
                <c:pt idx="31">
                  <c:v>0.89876658</c:v>
                </c:pt>
                <c:pt idx="32">
                  <c:v>0.89506971</c:v>
                </c:pt>
                <c:pt idx="33">
                  <c:v>0.88891951</c:v>
                </c:pt>
                <c:pt idx="34">
                  <c:v>0.88033284</c:v>
                </c:pt>
                <c:pt idx="35">
                  <c:v>0.86933324</c:v>
                </c:pt>
                <c:pt idx="36">
                  <c:v>0.85595086</c:v>
                </c:pt>
                <c:pt idx="37">
                  <c:v>0.84022238</c:v>
                </c:pt>
                <c:pt idx="38">
                  <c:v>0.82219091</c:v>
                </c:pt>
                <c:pt idx="39">
                  <c:v>0.80190587</c:v>
                </c:pt>
                <c:pt idx="40">
                  <c:v>0.77942286</c:v>
                </c:pt>
                <c:pt idx="41">
                  <c:v>0.75480351</c:v>
                </c:pt>
                <c:pt idx="42">
                  <c:v>0.72811529</c:v>
                </c:pt>
                <c:pt idx="43">
                  <c:v>0.69943137</c:v>
                </c:pt>
                <c:pt idx="44">
                  <c:v>0.66883034</c:v>
                </c:pt>
                <c:pt idx="45">
                  <c:v>0.6363961</c:v>
                </c:pt>
                <c:pt idx="46">
                  <c:v>0.60221755</c:v>
                </c:pt>
                <c:pt idx="47">
                  <c:v>0.56638835</c:v>
                </c:pt>
                <c:pt idx="48">
                  <c:v>0.52900673</c:v>
                </c:pt>
                <c:pt idx="49">
                  <c:v>0.49017513</c:v>
                </c:pt>
                <c:pt idx="50">
                  <c:v>0.45</c:v>
                </c:pt>
                <c:pt idx="51">
                  <c:v>0.40859145</c:v>
                </c:pt>
                <c:pt idx="52">
                  <c:v>0.36606298</c:v>
                </c:pt>
                <c:pt idx="53">
                  <c:v>0.32253115</c:v>
                </c:pt>
                <c:pt idx="54">
                  <c:v>0.27811529</c:v>
                </c:pt>
                <c:pt idx="55">
                  <c:v>0.23293714</c:v>
                </c:pt>
                <c:pt idx="56">
                  <c:v>0.18712052</c:v>
                </c:pt>
                <c:pt idx="57">
                  <c:v>0.14079102</c:v>
                </c:pt>
                <c:pt idx="58">
                  <c:v>0.09407562</c:v>
                </c:pt>
                <c:pt idx="59">
                  <c:v>0.04710236</c:v>
                </c:pt>
                <c:pt idx="60">
                  <c:v>0</c:v>
                </c:pt>
                <c:pt idx="61">
                  <c:v>-0.04710236</c:v>
                </c:pt>
                <c:pt idx="62">
                  <c:v>-0.09407562</c:v>
                </c:pt>
                <c:pt idx="63">
                  <c:v>-0.14079102</c:v>
                </c:pt>
                <c:pt idx="64">
                  <c:v>-0.18712052</c:v>
                </c:pt>
                <c:pt idx="65">
                  <c:v>-0.23293714</c:v>
                </c:pt>
                <c:pt idx="66">
                  <c:v>-0.27811529</c:v>
                </c:pt>
                <c:pt idx="67">
                  <c:v>-0.32253115</c:v>
                </c:pt>
                <c:pt idx="68">
                  <c:v>-0.36606298</c:v>
                </c:pt>
                <c:pt idx="69">
                  <c:v>-0.40859145</c:v>
                </c:pt>
                <c:pt idx="70">
                  <c:v>-0.45</c:v>
                </c:pt>
                <c:pt idx="71">
                  <c:v>-0.49017513</c:v>
                </c:pt>
                <c:pt idx="72">
                  <c:v>-0.52900673</c:v>
                </c:pt>
                <c:pt idx="73">
                  <c:v>-0.56638835</c:v>
                </c:pt>
                <c:pt idx="74">
                  <c:v>-0.60221755</c:v>
                </c:pt>
                <c:pt idx="75">
                  <c:v>-0.6363961</c:v>
                </c:pt>
                <c:pt idx="76">
                  <c:v>-0.66883034</c:v>
                </c:pt>
                <c:pt idx="77">
                  <c:v>-0.69943137</c:v>
                </c:pt>
                <c:pt idx="78">
                  <c:v>-0.72811529</c:v>
                </c:pt>
                <c:pt idx="79">
                  <c:v>-0.75480351</c:v>
                </c:pt>
                <c:pt idx="80">
                  <c:v>-0.77942286</c:v>
                </c:pt>
                <c:pt idx="81">
                  <c:v>-0.80190587</c:v>
                </c:pt>
                <c:pt idx="82">
                  <c:v>-0.82219091</c:v>
                </c:pt>
                <c:pt idx="83">
                  <c:v>-0.84022238</c:v>
                </c:pt>
                <c:pt idx="84">
                  <c:v>-0.85595086</c:v>
                </c:pt>
                <c:pt idx="85">
                  <c:v>-0.86933324</c:v>
                </c:pt>
                <c:pt idx="86">
                  <c:v>-0.88033284</c:v>
                </c:pt>
                <c:pt idx="87">
                  <c:v>-0.88891951</c:v>
                </c:pt>
                <c:pt idx="88">
                  <c:v>-0.89506971</c:v>
                </c:pt>
                <c:pt idx="89">
                  <c:v>-0.89876658</c:v>
                </c:pt>
                <c:pt idx="90">
                  <c:v>-0.9</c:v>
                </c:pt>
                <c:pt idx="91">
                  <c:v>-0.89876658</c:v>
                </c:pt>
                <c:pt idx="92">
                  <c:v>-0.89506971</c:v>
                </c:pt>
                <c:pt idx="93">
                  <c:v>-0.88891951</c:v>
                </c:pt>
                <c:pt idx="94">
                  <c:v>-0.88033284</c:v>
                </c:pt>
                <c:pt idx="95">
                  <c:v>-0.86933324</c:v>
                </c:pt>
                <c:pt idx="96">
                  <c:v>-0.85595086</c:v>
                </c:pt>
                <c:pt idx="97">
                  <c:v>-0.84022238</c:v>
                </c:pt>
                <c:pt idx="98">
                  <c:v>-0.82219091</c:v>
                </c:pt>
                <c:pt idx="99">
                  <c:v>-0.80190587</c:v>
                </c:pt>
                <c:pt idx="100">
                  <c:v>-0.77942286</c:v>
                </c:pt>
                <c:pt idx="101">
                  <c:v>-0.75480351</c:v>
                </c:pt>
                <c:pt idx="102">
                  <c:v>-0.72811529</c:v>
                </c:pt>
                <c:pt idx="103">
                  <c:v>-0.69943137</c:v>
                </c:pt>
                <c:pt idx="104">
                  <c:v>-0.66883034</c:v>
                </c:pt>
                <c:pt idx="105">
                  <c:v>-0.6363961</c:v>
                </c:pt>
                <c:pt idx="106">
                  <c:v>-0.60221755</c:v>
                </c:pt>
                <c:pt idx="107">
                  <c:v>-0.56638835</c:v>
                </c:pt>
                <c:pt idx="108">
                  <c:v>-0.52900673</c:v>
                </c:pt>
                <c:pt idx="109">
                  <c:v>-0.49017513</c:v>
                </c:pt>
                <c:pt idx="110">
                  <c:v>-0.45</c:v>
                </c:pt>
                <c:pt idx="111">
                  <c:v>-0.40859145</c:v>
                </c:pt>
                <c:pt idx="112">
                  <c:v>-0.36606298</c:v>
                </c:pt>
                <c:pt idx="113">
                  <c:v>-0.32253115</c:v>
                </c:pt>
                <c:pt idx="114">
                  <c:v>-0.27811529</c:v>
                </c:pt>
                <c:pt idx="115">
                  <c:v>-0.23293714</c:v>
                </c:pt>
                <c:pt idx="116">
                  <c:v>-0.18712052</c:v>
                </c:pt>
                <c:pt idx="117">
                  <c:v>-0.14079102</c:v>
                </c:pt>
                <c:pt idx="118">
                  <c:v>-0.09407562</c:v>
                </c:pt>
                <c:pt idx="119">
                  <c:v>-0.04710236</c:v>
                </c:pt>
                <c:pt idx="120">
                  <c:v>0</c:v>
                </c:pt>
              </c:numCache>
            </c:numRef>
          </c:yVal>
          <c:smooth val="0"/>
          <c:extLst>
            <c:ext xmlns:c16="http://schemas.microsoft.com/office/drawing/2014/chart" uri="{C3380CC4-5D6E-409C-BE32-E72D297353CC}">
              <c16:uniqueId val="{00000001-32CF-5847-A85C-F871AE47EDB3}"/>
            </c:ext>
          </c:extLst>
        </c:ser>
        <c:ser>
          <c:idx val="2"/>
          <c:order val="2"/>
          <c:tx>
            <c:v>Одинаковая ошибка</c:v>
          </c:tx>
          <c:spPr>
            <a:ln w="28575">
              <a:solidFill>
                <a:srgbClr val="BCC8DA"/>
              </a:solidFill>
            </a:ln>
          </c:spPr>
          <c:marker>
            <c:symbol val="none"/>
          </c:marker>
          <c:xVal>
            <c:numRef>
              <c:f>'Chart Data'!$E$2:$E$122</c:f>
              <c:numCache>
                <c:formatCode>0.00</c:formatCode>
                <c:ptCount val="121"/>
                <c:pt idx="0">
                  <c:v>1.8</c:v>
                </c:pt>
                <c:pt idx="1">
                  <c:v>1.79753316</c:v>
                </c:pt>
                <c:pt idx="2">
                  <c:v>1.79013941</c:v>
                </c:pt>
                <c:pt idx="3">
                  <c:v>1.77783901</c:v>
                </c:pt>
                <c:pt idx="4">
                  <c:v>1.76066568</c:v>
                </c:pt>
                <c:pt idx="5">
                  <c:v>1.73866649</c:v>
                </c:pt>
                <c:pt idx="6">
                  <c:v>1.71190173</c:v>
                </c:pt>
                <c:pt idx="7">
                  <c:v>1.68044477</c:v>
                </c:pt>
                <c:pt idx="8">
                  <c:v>1.64438182</c:v>
                </c:pt>
                <c:pt idx="9">
                  <c:v>1.60381174</c:v>
                </c:pt>
                <c:pt idx="10">
                  <c:v>1.55884573</c:v>
                </c:pt>
                <c:pt idx="11">
                  <c:v>1.50960702</c:v>
                </c:pt>
                <c:pt idx="12">
                  <c:v>1.45623059</c:v>
                </c:pt>
                <c:pt idx="13">
                  <c:v>1.39886273</c:v>
                </c:pt>
                <c:pt idx="14">
                  <c:v>1.33766069</c:v>
                </c:pt>
                <c:pt idx="15">
                  <c:v>1.27279221</c:v>
                </c:pt>
                <c:pt idx="16">
                  <c:v>1.20443509</c:v>
                </c:pt>
                <c:pt idx="17">
                  <c:v>1.1327767</c:v>
                </c:pt>
                <c:pt idx="18">
                  <c:v>1.05801345</c:v>
                </c:pt>
                <c:pt idx="19">
                  <c:v>0.98035026</c:v>
                </c:pt>
                <c:pt idx="20">
                  <c:v>0.9</c:v>
                </c:pt>
                <c:pt idx="21">
                  <c:v>0.8171829</c:v>
                </c:pt>
                <c:pt idx="22">
                  <c:v>0.73212596</c:v>
                </c:pt>
                <c:pt idx="23">
                  <c:v>0.64506231</c:v>
                </c:pt>
                <c:pt idx="24">
                  <c:v>0.55623059</c:v>
                </c:pt>
                <c:pt idx="25">
                  <c:v>0.46587428</c:v>
                </c:pt>
                <c:pt idx="26">
                  <c:v>0.37424104</c:v>
                </c:pt>
                <c:pt idx="27">
                  <c:v>0.28158204</c:v>
                </c:pt>
                <c:pt idx="28">
                  <c:v>0.18815123</c:v>
                </c:pt>
                <c:pt idx="29">
                  <c:v>0.09420472</c:v>
                </c:pt>
                <c:pt idx="30">
                  <c:v>0</c:v>
                </c:pt>
                <c:pt idx="31">
                  <c:v>-0.09420472</c:v>
                </c:pt>
                <c:pt idx="32">
                  <c:v>-0.18815123</c:v>
                </c:pt>
                <c:pt idx="33">
                  <c:v>-0.28158204</c:v>
                </c:pt>
                <c:pt idx="34">
                  <c:v>-0.37424104</c:v>
                </c:pt>
                <c:pt idx="35">
                  <c:v>-0.46587428</c:v>
                </c:pt>
                <c:pt idx="36">
                  <c:v>-0.55623059</c:v>
                </c:pt>
                <c:pt idx="37">
                  <c:v>-0.64506231</c:v>
                </c:pt>
                <c:pt idx="38">
                  <c:v>-0.73212596</c:v>
                </c:pt>
                <c:pt idx="39">
                  <c:v>-0.8171829</c:v>
                </c:pt>
                <c:pt idx="40">
                  <c:v>-0.9</c:v>
                </c:pt>
                <c:pt idx="41">
                  <c:v>-0.98035026</c:v>
                </c:pt>
                <c:pt idx="42">
                  <c:v>-1.05801345</c:v>
                </c:pt>
                <c:pt idx="43">
                  <c:v>-1.1327767</c:v>
                </c:pt>
                <c:pt idx="44">
                  <c:v>-1.20443509</c:v>
                </c:pt>
                <c:pt idx="45">
                  <c:v>-1.27279221</c:v>
                </c:pt>
                <c:pt idx="46">
                  <c:v>-1.33766069</c:v>
                </c:pt>
                <c:pt idx="47">
                  <c:v>-1.39886273</c:v>
                </c:pt>
                <c:pt idx="48">
                  <c:v>-1.45623059</c:v>
                </c:pt>
                <c:pt idx="49">
                  <c:v>-1.50960702</c:v>
                </c:pt>
                <c:pt idx="50">
                  <c:v>-1.55884573</c:v>
                </c:pt>
                <c:pt idx="51">
                  <c:v>-1.60381174</c:v>
                </c:pt>
                <c:pt idx="52">
                  <c:v>-1.64438182</c:v>
                </c:pt>
                <c:pt idx="53">
                  <c:v>-1.68044477</c:v>
                </c:pt>
                <c:pt idx="54">
                  <c:v>-1.71190173</c:v>
                </c:pt>
                <c:pt idx="55">
                  <c:v>-1.73866649</c:v>
                </c:pt>
                <c:pt idx="56">
                  <c:v>-1.76066568</c:v>
                </c:pt>
                <c:pt idx="57">
                  <c:v>-1.77783901</c:v>
                </c:pt>
                <c:pt idx="58">
                  <c:v>-1.79013941</c:v>
                </c:pt>
                <c:pt idx="59">
                  <c:v>-1.79753316</c:v>
                </c:pt>
                <c:pt idx="60">
                  <c:v>-1.8</c:v>
                </c:pt>
                <c:pt idx="61">
                  <c:v>-1.79753316</c:v>
                </c:pt>
                <c:pt idx="62">
                  <c:v>-1.79013941</c:v>
                </c:pt>
                <c:pt idx="63">
                  <c:v>-1.77783901</c:v>
                </c:pt>
                <c:pt idx="64">
                  <c:v>-1.76066568</c:v>
                </c:pt>
                <c:pt idx="65">
                  <c:v>-1.73866649</c:v>
                </c:pt>
                <c:pt idx="66">
                  <c:v>-1.71190173</c:v>
                </c:pt>
                <c:pt idx="67">
                  <c:v>-1.68044477</c:v>
                </c:pt>
                <c:pt idx="68">
                  <c:v>-1.64438182</c:v>
                </c:pt>
                <c:pt idx="69">
                  <c:v>-1.60381174</c:v>
                </c:pt>
                <c:pt idx="70">
                  <c:v>-1.55884573</c:v>
                </c:pt>
                <c:pt idx="71">
                  <c:v>-1.50960702</c:v>
                </c:pt>
                <c:pt idx="72">
                  <c:v>-1.45623059</c:v>
                </c:pt>
                <c:pt idx="73">
                  <c:v>-1.39886273</c:v>
                </c:pt>
                <c:pt idx="74">
                  <c:v>-1.33766069</c:v>
                </c:pt>
                <c:pt idx="75">
                  <c:v>-1.27279221</c:v>
                </c:pt>
                <c:pt idx="76">
                  <c:v>-1.20443509</c:v>
                </c:pt>
                <c:pt idx="77">
                  <c:v>-1.1327767</c:v>
                </c:pt>
                <c:pt idx="78">
                  <c:v>-1.05801345</c:v>
                </c:pt>
                <c:pt idx="79">
                  <c:v>-0.98035026</c:v>
                </c:pt>
                <c:pt idx="80">
                  <c:v>-0.9</c:v>
                </c:pt>
                <c:pt idx="81">
                  <c:v>-0.8171829</c:v>
                </c:pt>
                <c:pt idx="82">
                  <c:v>-0.73212596</c:v>
                </c:pt>
                <c:pt idx="83">
                  <c:v>-0.64506231</c:v>
                </c:pt>
                <c:pt idx="84">
                  <c:v>-0.55623059</c:v>
                </c:pt>
                <c:pt idx="85">
                  <c:v>-0.46587428</c:v>
                </c:pt>
                <c:pt idx="86">
                  <c:v>-0.37424104</c:v>
                </c:pt>
                <c:pt idx="87">
                  <c:v>-0.28158204</c:v>
                </c:pt>
                <c:pt idx="88">
                  <c:v>-0.18815123</c:v>
                </c:pt>
                <c:pt idx="89">
                  <c:v>-0.09420472</c:v>
                </c:pt>
                <c:pt idx="90">
                  <c:v>0</c:v>
                </c:pt>
                <c:pt idx="91">
                  <c:v>0.09420472</c:v>
                </c:pt>
                <c:pt idx="92">
                  <c:v>0.18815123</c:v>
                </c:pt>
                <c:pt idx="93">
                  <c:v>0.28158204</c:v>
                </c:pt>
                <c:pt idx="94">
                  <c:v>0.37424104</c:v>
                </c:pt>
                <c:pt idx="95">
                  <c:v>0.46587428</c:v>
                </c:pt>
                <c:pt idx="96">
                  <c:v>0.55623059</c:v>
                </c:pt>
                <c:pt idx="97">
                  <c:v>0.64506231</c:v>
                </c:pt>
                <c:pt idx="98">
                  <c:v>0.73212596</c:v>
                </c:pt>
                <c:pt idx="99">
                  <c:v>0.8171829</c:v>
                </c:pt>
                <c:pt idx="100">
                  <c:v>0.9</c:v>
                </c:pt>
                <c:pt idx="101">
                  <c:v>0.98035026</c:v>
                </c:pt>
                <c:pt idx="102">
                  <c:v>1.05801345</c:v>
                </c:pt>
                <c:pt idx="103">
                  <c:v>1.1327767</c:v>
                </c:pt>
                <c:pt idx="104">
                  <c:v>1.20443509</c:v>
                </c:pt>
                <c:pt idx="105">
                  <c:v>1.27279221</c:v>
                </c:pt>
                <c:pt idx="106">
                  <c:v>1.33766069</c:v>
                </c:pt>
                <c:pt idx="107">
                  <c:v>1.39886273</c:v>
                </c:pt>
                <c:pt idx="108">
                  <c:v>1.45623059</c:v>
                </c:pt>
                <c:pt idx="109">
                  <c:v>1.50960702</c:v>
                </c:pt>
                <c:pt idx="110">
                  <c:v>1.55884573</c:v>
                </c:pt>
                <c:pt idx="111">
                  <c:v>1.60381174</c:v>
                </c:pt>
                <c:pt idx="112">
                  <c:v>1.64438182</c:v>
                </c:pt>
                <c:pt idx="113">
                  <c:v>1.68044477</c:v>
                </c:pt>
                <c:pt idx="114">
                  <c:v>1.71190173</c:v>
                </c:pt>
                <c:pt idx="115">
                  <c:v>1.73866649</c:v>
                </c:pt>
                <c:pt idx="116">
                  <c:v>1.76066568</c:v>
                </c:pt>
                <c:pt idx="117">
                  <c:v>1.77783901</c:v>
                </c:pt>
                <c:pt idx="118">
                  <c:v>1.79013941</c:v>
                </c:pt>
                <c:pt idx="119">
                  <c:v>1.79753316</c:v>
                </c:pt>
                <c:pt idx="120">
                  <c:v>1.8</c:v>
                </c:pt>
              </c:numCache>
            </c:numRef>
          </c:xVal>
          <c:yVal>
            <c:numRef>
              <c:f>'Chart Data'!$F$2:$F$122</c:f>
              <c:numCache>
                <c:formatCode>0.00</c:formatCode>
                <c:ptCount val="121"/>
                <c:pt idx="0">
                  <c:v>0</c:v>
                </c:pt>
                <c:pt idx="1">
                  <c:v>0.09420472</c:v>
                </c:pt>
                <c:pt idx="2">
                  <c:v>0.18815123</c:v>
                </c:pt>
                <c:pt idx="3">
                  <c:v>0.28158204</c:v>
                </c:pt>
                <c:pt idx="4">
                  <c:v>0.37424104</c:v>
                </c:pt>
                <c:pt idx="5">
                  <c:v>0.46587428</c:v>
                </c:pt>
                <c:pt idx="6">
                  <c:v>0.55623059</c:v>
                </c:pt>
                <c:pt idx="7">
                  <c:v>0.64506231</c:v>
                </c:pt>
                <c:pt idx="8">
                  <c:v>0.73212596</c:v>
                </c:pt>
                <c:pt idx="9">
                  <c:v>0.8171829</c:v>
                </c:pt>
                <c:pt idx="10">
                  <c:v>0.9</c:v>
                </c:pt>
                <c:pt idx="11">
                  <c:v>0.98035026</c:v>
                </c:pt>
                <c:pt idx="12">
                  <c:v>1.05801345</c:v>
                </c:pt>
                <c:pt idx="13">
                  <c:v>1.1327767</c:v>
                </c:pt>
                <c:pt idx="14">
                  <c:v>1.20443509</c:v>
                </c:pt>
                <c:pt idx="15">
                  <c:v>1.27279221</c:v>
                </c:pt>
                <c:pt idx="16">
                  <c:v>1.33766069</c:v>
                </c:pt>
                <c:pt idx="17">
                  <c:v>1.39886273</c:v>
                </c:pt>
                <c:pt idx="18">
                  <c:v>1.45623059</c:v>
                </c:pt>
                <c:pt idx="19">
                  <c:v>1.50960702</c:v>
                </c:pt>
                <c:pt idx="20">
                  <c:v>1.55884573</c:v>
                </c:pt>
                <c:pt idx="21">
                  <c:v>1.60381174</c:v>
                </c:pt>
                <c:pt idx="22">
                  <c:v>1.64438182</c:v>
                </c:pt>
                <c:pt idx="23">
                  <c:v>1.68044477</c:v>
                </c:pt>
                <c:pt idx="24">
                  <c:v>1.71190173</c:v>
                </c:pt>
                <c:pt idx="25">
                  <c:v>1.73866649</c:v>
                </c:pt>
                <c:pt idx="26">
                  <c:v>1.76066568</c:v>
                </c:pt>
                <c:pt idx="27">
                  <c:v>1.77783901</c:v>
                </c:pt>
                <c:pt idx="28">
                  <c:v>1.79013941</c:v>
                </c:pt>
                <c:pt idx="29">
                  <c:v>1.79753316</c:v>
                </c:pt>
                <c:pt idx="30">
                  <c:v>1.8</c:v>
                </c:pt>
                <c:pt idx="31">
                  <c:v>1.79753316</c:v>
                </c:pt>
                <c:pt idx="32">
                  <c:v>1.79013941</c:v>
                </c:pt>
                <c:pt idx="33">
                  <c:v>1.77783901</c:v>
                </c:pt>
                <c:pt idx="34">
                  <c:v>1.76066568</c:v>
                </c:pt>
                <c:pt idx="35">
                  <c:v>1.73866649</c:v>
                </c:pt>
                <c:pt idx="36">
                  <c:v>1.71190173</c:v>
                </c:pt>
                <c:pt idx="37">
                  <c:v>1.68044477</c:v>
                </c:pt>
                <c:pt idx="38">
                  <c:v>1.64438182</c:v>
                </c:pt>
                <c:pt idx="39">
                  <c:v>1.60381174</c:v>
                </c:pt>
                <c:pt idx="40">
                  <c:v>1.55884573</c:v>
                </c:pt>
                <c:pt idx="41">
                  <c:v>1.50960702</c:v>
                </c:pt>
                <c:pt idx="42">
                  <c:v>1.45623059</c:v>
                </c:pt>
                <c:pt idx="43">
                  <c:v>1.39886273</c:v>
                </c:pt>
                <c:pt idx="44">
                  <c:v>1.33766069</c:v>
                </c:pt>
                <c:pt idx="45">
                  <c:v>1.27279221</c:v>
                </c:pt>
                <c:pt idx="46">
                  <c:v>1.20443509</c:v>
                </c:pt>
                <c:pt idx="47">
                  <c:v>1.1327767</c:v>
                </c:pt>
                <c:pt idx="48">
                  <c:v>1.05801345</c:v>
                </c:pt>
                <c:pt idx="49">
                  <c:v>0.98035026</c:v>
                </c:pt>
                <c:pt idx="50">
                  <c:v>0.9</c:v>
                </c:pt>
                <c:pt idx="51">
                  <c:v>0.8171829</c:v>
                </c:pt>
                <c:pt idx="52">
                  <c:v>0.73212596</c:v>
                </c:pt>
                <c:pt idx="53">
                  <c:v>0.64506231</c:v>
                </c:pt>
                <c:pt idx="54">
                  <c:v>0.55623059</c:v>
                </c:pt>
                <c:pt idx="55">
                  <c:v>0.46587428</c:v>
                </c:pt>
                <c:pt idx="56">
                  <c:v>0.37424104</c:v>
                </c:pt>
                <c:pt idx="57">
                  <c:v>0.28158204</c:v>
                </c:pt>
                <c:pt idx="58">
                  <c:v>0.18815123</c:v>
                </c:pt>
                <c:pt idx="59">
                  <c:v>0.09420472</c:v>
                </c:pt>
                <c:pt idx="60">
                  <c:v>0</c:v>
                </c:pt>
                <c:pt idx="61">
                  <c:v>-0.09420472</c:v>
                </c:pt>
                <c:pt idx="62">
                  <c:v>-0.18815123</c:v>
                </c:pt>
                <c:pt idx="63">
                  <c:v>-0.28158204</c:v>
                </c:pt>
                <c:pt idx="64">
                  <c:v>-0.37424104</c:v>
                </c:pt>
                <c:pt idx="65">
                  <c:v>-0.46587428</c:v>
                </c:pt>
                <c:pt idx="66">
                  <c:v>-0.55623059</c:v>
                </c:pt>
                <c:pt idx="67">
                  <c:v>-0.64506231</c:v>
                </c:pt>
                <c:pt idx="68">
                  <c:v>-0.73212596</c:v>
                </c:pt>
                <c:pt idx="69">
                  <c:v>-0.8171829</c:v>
                </c:pt>
                <c:pt idx="70">
                  <c:v>-0.9</c:v>
                </c:pt>
                <c:pt idx="71">
                  <c:v>-0.98035026</c:v>
                </c:pt>
                <c:pt idx="72">
                  <c:v>-1.05801345</c:v>
                </c:pt>
                <c:pt idx="73">
                  <c:v>-1.1327767</c:v>
                </c:pt>
                <c:pt idx="74">
                  <c:v>-1.20443509</c:v>
                </c:pt>
                <c:pt idx="75">
                  <c:v>-1.27279221</c:v>
                </c:pt>
                <c:pt idx="76">
                  <c:v>-1.33766069</c:v>
                </c:pt>
                <c:pt idx="77">
                  <c:v>-1.39886273</c:v>
                </c:pt>
                <c:pt idx="78">
                  <c:v>-1.45623059</c:v>
                </c:pt>
                <c:pt idx="79">
                  <c:v>-1.50960702</c:v>
                </c:pt>
                <c:pt idx="80">
                  <c:v>-1.55884573</c:v>
                </c:pt>
                <c:pt idx="81">
                  <c:v>-1.60381174</c:v>
                </c:pt>
                <c:pt idx="82">
                  <c:v>-1.64438182</c:v>
                </c:pt>
                <c:pt idx="83">
                  <c:v>-1.68044477</c:v>
                </c:pt>
                <c:pt idx="84">
                  <c:v>-1.71190173</c:v>
                </c:pt>
                <c:pt idx="85">
                  <c:v>-1.73866649</c:v>
                </c:pt>
                <c:pt idx="86">
                  <c:v>-1.76066568</c:v>
                </c:pt>
                <c:pt idx="87">
                  <c:v>-1.77783901</c:v>
                </c:pt>
                <c:pt idx="88">
                  <c:v>-1.79013941</c:v>
                </c:pt>
                <c:pt idx="89">
                  <c:v>-1.79753316</c:v>
                </c:pt>
                <c:pt idx="90">
                  <c:v>-1.8</c:v>
                </c:pt>
                <c:pt idx="91">
                  <c:v>-1.79753316</c:v>
                </c:pt>
                <c:pt idx="92">
                  <c:v>-1.79013941</c:v>
                </c:pt>
                <c:pt idx="93">
                  <c:v>-1.77783901</c:v>
                </c:pt>
                <c:pt idx="94">
                  <c:v>-1.76066568</c:v>
                </c:pt>
                <c:pt idx="95">
                  <c:v>-1.73866649</c:v>
                </c:pt>
                <c:pt idx="96">
                  <c:v>-1.71190173</c:v>
                </c:pt>
                <c:pt idx="97">
                  <c:v>-1.68044477</c:v>
                </c:pt>
                <c:pt idx="98">
                  <c:v>-1.64438182</c:v>
                </c:pt>
                <c:pt idx="99">
                  <c:v>-1.60381174</c:v>
                </c:pt>
                <c:pt idx="100">
                  <c:v>-1.55884573</c:v>
                </c:pt>
                <c:pt idx="101">
                  <c:v>-1.50960702</c:v>
                </c:pt>
                <c:pt idx="102">
                  <c:v>-1.45623059</c:v>
                </c:pt>
                <c:pt idx="103">
                  <c:v>-1.39886273</c:v>
                </c:pt>
                <c:pt idx="104">
                  <c:v>-1.33766069</c:v>
                </c:pt>
                <c:pt idx="105">
                  <c:v>-1.27279221</c:v>
                </c:pt>
                <c:pt idx="106">
                  <c:v>-1.20443509</c:v>
                </c:pt>
                <c:pt idx="107">
                  <c:v>-1.1327767</c:v>
                </c:pt>
                <c:pt idx="108">
                  <c:v>-1.05801345</c:v>
                </c:pt>
                <c:pt idx="109">
                  <c:v>-0.98035026</c:v>
                </c:pt>
                <c:pt idx="110">
                  <c:v>-0.9</c:v>
                </c:pt>
                <c:pt idx="111">
                  <c:v>-0.8171829</c:v>
                </c:pt>
                <c:pt idx="112">
                  <c:v>-0.73212596</c:v>
                </c:pt>
                <c:pt idx="113">
                  <c:v>-0.64506231</c:v>
                </c:pt>
                <c:pt idx="114">
                  <c:v>-0.55623059</c:v>
                </c:pt>
                <c:pt idx="115">
                  <c:v>-0.46587428</c:v>
                </c:pt>
                <c:pt idx="116">
                  <c:v>-0.37424104</c:v>
                </c:pt>
                <c:pt idx="117">
                  <c:v>-0.28158204</c:v>
                </c:pt>
                <c:pt idx="118">
                  <c:v>-0.18815123</c:v>
                </c:pt>
                <c:pt idx="119">
                  <c:v>-0.09420472</c:v>
                </c:pt>
                <c:pt idx="120">
                  <c:v>0</c:v>
                </c:pt>
              </c:numCache>
            </c:numRef>
          </c:yVal>
          <c:smooth val="0"/>
          <c:extLst>
            <c:ext xmlns:c16="http://schemas.microsoft.com/office/drawing/2014/chart" uri="{C3380CC4-5D6E-409C-BE32-E72D297353CC}">
              <c16:uniqueId val="{00000002-32CF-5847-A85C-F871AE47EDB3}"/>
            </c:ext>
          </c:extLst>
        </c:ser>
        <c:ser>
          <c:idx val="3"/>
          <c:order val="3"/>
          <c:tx>
            <c:v>Шаги</c:v>
          </c:tx>
          <c:spPr>
            <a:ln w="28575">
              <a:solidFill>
                <a:srgbClr val="EB681F"/>
              </a:solidFill>
            </a:ln>
          </c:spPr>
          <c:marker>
            <c:symbol val="circle"/>
            <c:size val="5"/>
            <c:spPr>
              <a:solidFill>
                <a:srgbClr val="EB681F"/>
              </a:solidFill>
              <a:ln>
                <a:solidFill>
                  <a:srgbClr val="EB681F"/>
                </a:solidFill>
              </a:ln>
            </c:spPr>
          </c:marker>
          <c:xVal>
            <c:numRef>
              <c:f>'Chart Data'!$G$2:$G$22</c:f>
              <c:numCache>
                <c:formatCode>0.00</c:formatCode>
                <c:ptCount val="21"/>
                <c:pt idx="0">
                  <c:v>1.7</c:v>
                </c:pt>
                <c:pt idx="1">
                  <c:v>1.19</c:v>
                </c:pt>
                <c:pt idx="2">
                  <c:v>0.833</c:v>
                </c:pt>
                <c:pt idx="3">
                  <c:v>0.5831</c:v>
                </c:pt>
                <c:pt idx="4">
                  <c:v>0.40817</c:v>
                </c:pt>
                <c:pt idx="5">
                  <c:v>0.285719</c:v>
                </c:pt>
                <c:pt idx="6">
                  <c:v>0.2000033</c:v>
                </c:pt>
                <c:pt idx="7">
                  <c:v>0.14000231</c:v>
                </c:pt>
                <c:pt idx="8">
                  <c:v>0.09800162</c:v>
                </c:pt>
                <c:pt idx="9">
                  <c:v>0.06860113</c:v>
                </c:pt>
                <c:pt idx="10">
                  <c:v>0.04802079</c:v>
                </c:pt>
                <c:pt idx="11">
                  <c:v>0.03361455</c:v>
                </c:pt>
                <c:pt idx="12">
                  <c:v>0.02353019</c:v>
                </c:pt>
                <c:pt idx="13">
                  <c:v>0.01647113</c:v>
                </c:pt>
                <c:pt idx="14">
                  <c:v>0.01152979</c:v>
                </c:pt>
                <c:pt idx="15">
                  <c:v>0.00807085</c:v>
                </c:pt>
                <c:pt idx="16">
                  <c:v>0.0056496</c:v>
                </c:pt>
                <c:pt idx="17">
                  <c:v>0.00395472</c:v>
                </c:pt>
                <c:pt idx="18">
                  <c:v>0.0027683</c:v>
                </c:pt>
                <c:pt idx="19">
                  <c:v>0.00193781</c:v>
                </c:pt>
                <c:pt idx="20">
                  <c:v>0.00135647</c:v>
                </c:pt>
              </c:numCache>
            </c:numRef>
          </c:xVal>
          <c:yVal>
            <c:numRef>
              <c:f>'Chart Data'!$H$2:$H$22</c:f>
              <c:numCache>
                <c:formatCode>0.00</c:formatCode>
                <c:ptCount val="21"/>
                <c:pt idx="0">
                  <c:v>1.7</c:v>
                </c:pt>
                <c:pt idx="1">
                  <c:v>1.19</c:v>
                </c:pt>
                <c:pt idx="2">
                  <c:v>0.833</c:v>
                </c:pt>
                <c:pt idx="3">
                  <c:v>0.5831</c:v>
                </c:pt>
                <c:pt idx="4">
                  <c:v>0.40817</c:v>
                </c:pt>
                <c:pt idx="5">
                  <c:v>0.285719</c:v>
                </c:pt>
                <c:pt idx="6">
                  <c:v>0.2000033</c:v>
                </c:pt>
                <c:pt idx="7">
                  <c:v>0.14000231</c:v>
                </c:pt>
                <c:pt idx="8">
                  <c:v>0.09800162</c:v>
                </c:pt>
                <c:pt idx="9">
                  <c:v>0.06860113</c:v>
                </c:pt>
                <c:pt idx="10">
                  <c:v>0.04802079</c:v>
                </c:pt>
                <c:pt idx="11">
                  <c:v>0.03361455</c:v>
                </c:pt>
                <c:pt idx="12">
                  <c:v>0.02353019</c:v>
                </c:pt>
                <c:pt idx="13">
                  <c:v>0.01647113</c:v>
                </c:pt>
                <c:pt idx="14">
                  <c:v>0.01152979</c:v>
                </c:pt>
                <c:pt idx="15">
                  <c:v>0.00807085</c:v>
                </c:pt>
                <c:pt idx="16">
                  <c:v>0.0056496</c:v>
                </c:pt>
                <c:pt idx="17">
                  <c:v>0.00395472</c:v>
                </c:pt>
                <c:pt idx="18">
                  <c:v>0.0027683</c:v>
                </c:pt>
                <c:pt idx="19">
                  <c:v>0.00193781</c:v>
                </c:pt>
                <c:pt idx="20">
                  <c:v>0.00135647</c:v>
                </c:pt>
              </c:numCache>
            </c:numRef>
          </c:yVal>
          <c:smooth val="0"/>
          <c:extLst>
            <c:ext xmlns:c16="http://schemas.microsoft.com/office/drawing/2014/chart" uri="{C3380CC4-5D6E-409C-BE32-E72D297353CC}">
              <c16:uniqueId val="{00000003-32CF-5847-A85C-F871AE47EDB3}"/>
            </c:ext>
          </c:extLst>
        </c:ser>
        <c:dLbls>
          <c:showLegendKey val="0"/>
          <c:showVal val="0"/>
          <c:showCatName val="0"/>
          <c:showSerName val="0"/>
          <c:showPercent val="0"/>
          <c:showBubbleSize val="0"/>
        </c:dLbls>
        <c:axId val="48650112"/>
        <c:axId val="48672768"/>
      </c:scatterChart>
      <c:valAx>
        <c:axId val="48672768"/>
        <c:scaling>
          <c:orientation val="minMax"/>
          <c:max val="2"/>
          <c:min val="-2"/>
        </c:scaling>
        <c:delete val="0"/>
        <c:axPos val="l"/>
        <c:majorGridlines>
          <c:spPr>
            <a:ln w="9525">
              <a:solidFill>
                <a:srgbClr val="DFE6F0"/>
              </a:solidFill>
            </a:ln>
          </c:spPr>
        </c:majorGridlines>
        <c:title>
          <c:tx>
            <c:rich>
              <a:bodyPr/>
              <a:lstStyle/>
              <a:p>
                <a:r>
                  <a:rPr lang="ru-RU" sz="1500">
                    <a:solidFill>
                      <a:srgbClr val="102D69"/>
                    </a:solidFill>
                    <a:latin typeface="HSE Sans"/>
                    <a:ea typeface="HSE Sans"/>
                    <a:cs typeface="HSE Sans"/>
                  </a:rPr>
                  <a:t>Вес </a:t>
                </a:r>
                <a:r>
                  <a:rPr lang="en" sz="1500">
                    <a:solidFill>
                      <a:srgbClr val="102D69"/>
                    </a:solidFill>
                    <a:latin typeface="HSE Sans"/>
                    <a:ea typeface="HSE Sans"/>
                    <a:cs typeface="HSE Sans"/>
                  </a:rPr>
                  <a:t>v₂</a:t>
                </a:r>
              </a:p>
            </c:rich>
          </c:tx>
          <c:overlay val="0"/>
        </c:title>
        <c:numFmt formatCode="0" sourceLinked="0"/>
        <c:majorTickMark val="none"/>
        <c:minorTickMark val="none"/>
        <c:tickLblPos val="low"/>
        <c:spPr>
          <a:ln w="9525">
            <a:solidFill>
              <a:srgbClr val="A6B2C4"/>
            </a:solidFill>
          </a:ln>
        </c:spPr>
        <c:txPr>
          <a:bodyPr anchorCtr="1"/>
          <a:lstStyle/>
          <a:p>
            <a:pPr>
              <a:defRPr sz="1425">
                <a:solidFill>
                  <a:srgbClr val="102D69"/>
                </a:solidFill>
                <a:latin typeface="HSE Sans"/>
                <a:ea typeface="HSE Sans"/>
                <a:cs typeface="HSE Sans"/>
              </a:defRPr>
            </a:pPr>
            <a:endParaRPr lang="ru-RU"/>
          </a:p>
        </c:txPr>
        <c:crossAx val="48650112"/>
        <c:crosses val="min"/>
        <c:crossBetween val="midCat"/>
        <c:majorUnit val="1"/>
      </c:valAx>
      <c:valAx>
        <c:axId val="48650112"/>
        <c:scaling>
          <c:orientation val="minMax"/>
          <c:max val="2"/>
          <c:min val="-2"/>
        </c:scaling>
        <c:delete val="0"/>
        <c:axPos val="b"/>
        <c:title>
          <c:tx>
            <c:rich>
              <a:bodyPr/>
              <a:lstStyle/>
              <a:p>
                <a:r>
                  <a:rPr lang="ru-RU" sz="1500">
                    <a:solidFill>
                      <a:srgbClr val="102D69"/>
                    </a:solidFill>
                    <a:latin typeface="HSE Sans"/>
                    <a:ea typeface="HSE Sans"/>
                    <a:cs typeface="HSE Sans"/>
                  </a:rPr>
                  <a:t>Вес </a:t>
                </a:r>
                <a:r>
                  <a:rPr lang="en" sz="1500">
                    <a:solidFill>
                      <a:srgbClr val="102D69"/>
                    </a:solidFill>
                    <a:latin typeface="HSE Sans"/>
                    <a:ea typeface="HSE Sans"/>
                    <a:cs typeface="HSE Sans"/>
                  </a:rPr>
                  <a:t>v₁</a:t>
                </a:r>
              </a:p>
            </c:rich>
          </c:tx>
          <c:overlay val="0"/>
        </c:title>
        <c:numFmt formatCode="0" sourceLinked="0"/>
        <c:majorTickMark val="none"/>
        <c:minorTickMark val="none"/>
        <c:tickLblPos val="low"/>
        <c:spPr>
          <a:ln w="9525">
            <a:solidFill>
              <a:srgbClr val="A6B2C4"/>
            </a:solidFill>
          </a:ln>
        </c:spPr>
        <c:txPr>
          <a:bodyPr anchorCtr="1"/>
          <a:lstStyle/>
          <a:p>
            <a:pPr>
              <a:defRPr sz="1425">
                <a:solidFill>
                  <a:srgbClr val="102D69"/>
                </a:solidFill>
                <a:latin typeface="HSE Sans"/>
                <a:ea typeface="HSE Sans"/>
                <a:cs typeface="HSE Sans"/>
              </a:defRPr>
            </a:pPr>
            <a:endParaRPr lang="ru-RU"/>
          </a:p>
        </c:txPr>
        <c:crossAx val="48672768"/>
        <c:crosses val="min"/>
        <c:crossBetween val="midCat"/>
        <c:majorUnit val="1"/>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scatterChart>
        <c:scatterStyle val="lineMarker"/>
        <c:varyColors val="1"/>
        <c:ser>
          <c:idx val="0"/>
          <c:order val="0"/>
          <c:tx>
            <c:v>Одинаковая ошибка</c:v>
          </c:tx>
          <c:spPr>
            <a:ln w="28575">
              <a:solidFill>
                <a:srgbClr val="C5CDDA"/>
              </a:solidFill>
            </a:ln>
          </c:spPr>
          <c:marker>
            <c:symbol val="none"/>
          </c:marker>
          <c:xVal>
            <c:numRef>
              <c:f>'Chart Data'!$A$2:$A$102</c:f>
              <c:numCache>
                <c:formatCode>0.00</c:formatCode>
                <c:ptCount val="101"/>
                <c:pt idx="0">
                  <c:v>0.6</c:v>
                </c:pt>
                <c:pt idx="1">
                  <c:v>0.59881604</c:v>
                </c:pt>
                <c:pt idx="2">
                  <c:v>0.59526882</c:v>
                </c:pt>
                <c:pt idx="3">
                  <c:v>0.58937235</c:v>
                </c:pt>
                <c:pt idx="4">
                  <c:v>0.5811499</c:v>
                </c:pt>
                <c:pt idx="5">
                  <c:v>0.57063391</c:v>
                </c:pt>
                <c:pt idx="6">
                  <c:v>0.55786589</c:v>
                </c:pt>
                <c:pt idx="7">
                  <c:v>0.54289623</c:v>
                </c:pt>
                <c:pt idx="8">
                  <c:v>0.52578401</c:v>
                </c:pt>
                <c:pt idx="9">
                  <c:v>0.50659676</c:v>
                </c:pt>
                <c:pt idx="10">
                  <c:v>0.4854102</c:v>
                </c:pt>
                <c:pt idx="11">
                  <c:v>0.46230795</c:v>
                </c:pt>
                <c:pt idx="12">
                  <c:v>0.43738118</c:v>
                </c:pt>
                <c:pt idx="13">
                  <c:v>0.41072826</c:v>
                </c:pt>
                <c:pt idx="14">
                  <c:v>0.38245439</c:v>
                </c:pt>
                <c:pt idx="15">
                  <c:v>0.35267115</c:v>
                </c:pt>
                <c:pt idx="16">
                  <c:v>0.32149608</c:v>
                </c:pt>
                <c:pt idx="17">
                  <c:v>0.2890522</c:v>
                </c:pt>
                <c:pt idx="18">
                  <c:v>0.25546757</c:v>
                </c:pt>
                <c:pt idx="19">
                  <c:v>0.22087473</c:v>
                </c:pt>
                <c:pt idx="20">
                  <c:v>0.1854102</c:v>
                </c:pt>
                <c:pt idx="21">
                  <c:v>0.14921393</c:v>
                </c:pt>
                <c:pt idx="22">
                  <c:v>0.11242879</c:v>
                </c:pt>
                <c:pt idx="23">
                  <c:v>0.07519994</c:v>
                </c:pt>
                <c:pt idx="24">
                  <c:v>0.03767431</c:v>
                </c:pt>
                <c:pt idx="25">
                  <c:v>0</c:v>
                </c:pt>
                <c:pt idx="26">
                  <c:v>-0.03767431</c:v>
                </c:pt>
                <c:pt idx="27">
                  <c:v>-0.07519994</c:v>
                </c:pt>
                <c:pt idx="28">
                  <c:v>-0.11242879</c:v>
                </c:pt>
                <c:pt idx="29">
                  <c:v>-0.14921393</c:v>
                </c:pt>
                <c:pt idx="30">
                  <c:v>-0.1854102</c:v>
                </c:pt>
                <c:pt idx="31">
                  <c:v>-0.22087473</c:v>
                </c:pt>
                <c:pt idx="32">
                  <c:v>-0.25546757</c:v>
                </c:pt>
                <c:pt idx="33">
                  <c:v>-0.2890522</c:v>
                </c:pt>
                <c:pt idx="34">
                  <c:v>-0.32149608</c:v>
                </c:pt>
                <c:pt idx="35">
                  <c:v>-0.35267115</c:v>
                </c:pt>
                <c:pt idx="36">
                  <c:v>-0.38245439</c:v>
                </c:pt>
                <c:pt idx="37">
                  <c:v>-0.41072826</c:v>
                </c:pt>
                <c:pt idx="38">
                  <c:v>-0.43738118</c:v>
                </c:pt>
                <c:pt idx="39">
                  <c:v>-0.46230795</c:v>
                </c:pt>
                <c:pt idx="40">
                  <c:v>-0.4854102</c:v>
                </c:pt>
                <c:pt idx="41">
                  <c:v>-0.50659676</c:v>
                </c:pt>
                <c:pt idx="42">
                  <c:v>-0.52578401</c:v>
                </c:pt>
                <c:pt idx="43">
                  <c:v>-0.54289623</c:v>
                </c:pt>
                <c:pt idx="44">
                  <c:v>-0.55786589</c:v>
                </c:pt>
                <c:pt idx="45">
                  <c:v>-0.57063391</c:v>
                </c:pt>
                <c:pt idx="46">
                  <c:v>-0.5811499</c:v>
                </c:pt>
                <c:pt idx="47">
                  <c:v>-0.58937235</c:v>
                </c:pt>
                <c:pt idx="48">
                  <c:v>-0.59526882</c:v>
                </c:pt>
                <c:pt idx="49">
                  <c:v>-0.59881604</c:v>
                </c:pt>
                <c:pt idx="50">
                  <c:v>-0.6</c:v>
                </c:pt>
                <c:pt idx="51">
                  <c:v>-0.59881604</c:v>
                </c:pt>
                <c:pt idx="52">
                  <c:v>-0.59526882</c:v>
                </c:pt>
                <c:pt idx="53">
                  <c:v>-0.58937235</c:v>
                </c:pt>
                <c:pt idx="54">
                  <c:v>-0.5811499</c:v>
                </c:pt>
                <c:pt idx="55">
                  <c:v>-0.57063391</c:v>
                </c:pt>
                <c:pt idx="56">
                  <c:v>-0.55786589</c:v>
                </c:pt>
                <c:pt idx="57">
                  <c:v>-0.54289623</c:v>
                </c:pt>
                <c:pt idx="58">
                  <c:v>-0.52578401</c:v>
                </c:pt>
                <c:pt idx="59">
                  <c:v>-0.50659676</c:v>
                </c:pt>
                <c:pt idx="60">
                  <c:v>-0.4854102</c:v>
                </c:pt>
                <c:pt idx="61">
                  <c:v>-0.46230795</c:v>
                </c:pt>
                <c:pt idx="62">
                  <c:v>-0.43738118</c:v>
                </c:pt>
                <c:pt idx="63">
                  <c:v>-0.41072826</c:v>
                </c:pt>
                <c:pt idx="64">
                  <c:v>-0.38245439</c:v>
                </c:pt>
                <c:pt idx="65">
                  <c:v>-0.35267115</c:v>
                </c:pt>
                <c:pt idx="66">
                  <c:v>-0.32149608</c:v>
                </c:pt>
                <c:pt idx="67">
                  <c:v>-0.2890522</c:v>
                </c:pt>
                <c:pt idx="68">
                  <c:v>-0.25546757</c:v>
                </c:pt>
                <c:pt idx="69">
                  <c:v>-0.22087473</c:v>
                </c:pt>
                <c:pt idx="70">
                  <c:v>-0.1854102</c:v>
                </c:pt>
                <c:pt idx="71">
                  <c:v>-0.14921393</c:v>
                </c:pt>
                <c:pt idx="72">
                  <c:v>-0.11242879</c:v>
                </c:pt>
                <c:pt idx="73">
                  <c:v>-0.07519994</c:v>
                </c:pt>
                <c:pt idx="74">
                  <c:v>-0.03767431</c:v>
                </c:pt>
                <c:pt idx="75">
                  <c:v>0</c:v>
                </c:pt>
                <c:pt idx="76">
                  <c:v>0.03767431</c:v>
                </c:pt>
                <c:pt idx="77">
                  <c:v>0.07519994</c:v>
                </c:pt>
                <c:pt idx="78">
                  <c:v>0.11242879</c:v>
                </c:pt>
                <c:pt idx="79">
                  <c:v>0.14921393</c:v>
                </c:pt>
                <c:pt idx="80">
                  <c:v>0.1854102</c:v>
                </c:pt>
                <c:pt idx="81">
                  <c:v>0.22087473</c:v>
                </c:pt>
                <c:pt idx="82">
                  <c:v>0.25546757</c:v>
                </c:pt>
                <c:pt idx="83">
                  <c:v>0.2890522</c:v>
                </c:pt>
                <c:pt idx="84">
                  <c:v>0.32149608</c:v>
                </c:pt>
                <c:pt idx="85">
                  <c:v>0.35267115</c:v>
                </c:pt>
                <c:pt idx="86">
                  <c:v>0.38245439</c:v>
                </c:pt>
                <c:pt idx="87">
                  <c:v>0.41072826</c:v>
                </c:pt>
                <c:pt idx="88">
                  <c:v>0.43738118</c:v>
                </c:pt>
                <c:pt idx="89">
                  <c:v>0.46230795</c:v>
                </c:pt>
                <c:pt idx="90">
                  <c:v>0.4854102</c:v>
                </c:pt>
                <c:pt idx="91">
                  <c:v>0.50659676</c:v>
                </c:pt>
                <c:pt idx="92">
                  <c:v>0.52578401</c:v>
                </c:pt>
                <c:pt idx="93">
                  <c:v>0.54289623</c:v>
                </c:pt>
                <c:pt idx="94">
                  <c:v>0.55786589</c:v>
                </c:pt>
                <c:pt idx="95">
                  <c:v>0.57063391</c:v>
                </c:pt>
                <c:pt idx="96">
                  <c:v>0.5811499</c:v>
                </c:pt>
                <c:pt idx="97">
                  <c:v>0.58937235</c:v>
                </c:pt>
                <c:pt idx="98">
                  <c:v>0.59526882</c:v>
                </c:pt>
                <c:pt idx="99">
                  <c:v>0.59881604</c:v>
                </c:pt>
                <c:pt idx="100">
                  <c:v>0.6</c:v>
                </c:pt>
              </c:numCache>
            </c:numRef>
          </c:xVal>
          <c:yVal>
            <c:numRef>
              <c:f>'Chart Data'!$B$2:$B$102</c:f>
              <c:numCache>
                <c:formatCode>0.00</c:formatCode>
                <c:ptCount val="101"/>
                <c:pt idx="0">
                  <c:v>0</c:v>
                </c:pt>
                <c:pt idx="1">
                  <c:v>0.01883716</c:v>
                </c:pt>
                <c:pt idx="2">
                  <c:v>0.03759997</c:v>
                </c:pt>
                <c:pt idx="3">
                  <c:v>0.05621439</c:v>
                </c:pt>
                <c:pt idx="4">
                  <c:v>0.07460697</c:v>
                </c:pt>
                <c:pt idx="5">
                  <c:v>0.0927051</c:v>
                </c:pt>
                <c:pt idx="6">
                  <c:v>0.11043737</c:v>
                </c:pt>
                <c:pt idx="7">
                  <c:v>0.12773379</c:v>
                </c:pt>
                <c:pt idx="8">
                  <c:v>0.1445261</c:v>
                </c:pt>
                <c:pt idx="9">
                  <c:v>0.16074804</c:v>
                </c:pt>
                <c:pt idx="10">
                  <c:v>0.17633558</c:v>
                </c:pt>
                <c:pt idx="11">
                  <c:v>0.1912272</c:v>
                </c:pt>
                <c:pt idx="12">
                  <c:v>0.20536413</c:v>
                </c:pt>
                <c:pt idx="13">
                  <c:v>0.21869059</c:v>
                </c:pt>
                <c:pt idx="14">
                  <c:v>0.23115397</c:v>
                </c:pt>
                <c:pt idx="15">
                  <c:v>0.2427051</c:v>
                </c:pt>
                <c:pt idx="16">
                  <c:v>0.25329838</c:v>
                </c:pt>
                <c:pt idx="17">
                  <c:v>0.262892</c:v>
                </c:pt>
                <c:pt idx="18">
                  <c:v>0.27144812</c:v>
                </c:pt>
                <c:pt idx="19">
                  <c:v>0.27893295</c:v>
                </c:pt>
                <c:pt idx="20">
                  <c:v>0.28531695</c:v>
                </c:pt>
                <c:pt idx="21">
                  <c:v>0.29057495</c:v>
                </c:pt>
                <c:pt idx="22">
                  <c:v>0.29468618</c:v>
                </c:pt>
                <c:pt idx="23">
                  <c:v>0.29763441</c:v>
                </c:pt>
                <c:pt idx="24">
                  <c:v>0.29940802</c:v>
                </c:pt>
                <c:pt idx="25">
                  <c:v>0.3</c:v>
                </c:pt>
                <c:pt idx="26">
                  <c:v>0.29940802</c:v>
                </c:pt>
                <c:pt idx="27">
                  <c:v>0.29763441</c:v>
                </c:pt>
                <c:pt idx="28">
                  <c:v>0.29468618</c:v>
                </c:pt>
                <c:pt idx="29">
                  <c:v>0.29057495</c:v>
                </c:pt>
                <c:pt idx="30">
                  <c:v>0.28531695</c:v>
                </c:pt>
                <c:pt idx="31">
                  <c:v>0.27893295</c:v>
                </c:pt>
                <c:pt idx="32">
                  <c:v>0.27144812</c:v>
                </c:pt>
                <c:pt idx="33">
                  <c:v>0.262892</c:v>
                </c:pt>
                <c:pt idx="34">
                  <c:v>0.25329838</c:v>
                </c:pt>
                <c:pt idx="35">
                  <c:v>0.2427051</c:v>
                </c:pt>
                <c:pt idx="36">
                  <c:v>0.23115397</c:v>
                </c:pt>
                <c:pt idx="37">
                  <c:v>0.21869059</c:v>
                </c:pt>
                <c:pt idx="38">
                  <c:v>0.20536413</c:v>
                </c:pt>
                <c:pt idx="39">
                  <c:v>0.1912272</c:v>
                </c:pt>
                <c:pt idx="40">
                  <c:v>0.17633558</c:v>
                </c:pt>
                <c:pt idx="41">
                  <c:v>0.16074804</c:v>
                </c:pt>
                <c:pt idx="42">
                  <c:v>0.1445261</c:v>
                </c:pt>
                <c:pt idx="43">
                  <c:v>0.12773379</c:v>
                </c:pt>
                <c:pt idx="44">
                  <c:v>0.11043737</c:v>
                </c:pt>
                <c:pt idx="45">
                  <c:v>0.0927051</c:v>
                </c:pt>
                <c:pt idx="46">
                  <c:v>0.07460697</c:v>
                </c:pt>
                <c:pt idx="47">
                  <c:v>0.05621439</c:v>
                </c:pt>
                <c:pt idx="48">
                  <c:v>0.03759997</c:v>
                </c:pt>
                <c:pt idx="49">
                  <c:v>0.01883716</c:v>
                </c:pt>
                <c:pt idx="50">
                  <c:v>0</c:v>
                </c:pt>
                <c:pt idx="51">
                  <c:v>-0.01883716</c:v>
                </c:pt>
                <c:pt idx="52">
                  <c:v>-0.03759997</c:v>
                </c:pt>
                <c:pt idx="53">
                  <c:v>-0.05621439</c:v>
                </c:pt>
                <c:pt idx="54">
                  <c:v>-0.07460697</c:v>
                </c:pt>
                <c:pt idx="55">
                  <c:v>-0.0927051</c:v>
                </c:pt>
                <c:pt idx="56">
                  <c:v>-0.11043737</c:v>
                </c:pt>
                <c:pt idx="57">
                  <c:v>-0.12773379</c:v>
                </c:pt>
                <c:pt idx="58">
                  <c:v>-0.1445261</c:v>
                </c:pt>
                <c:pt idx="59">
                  <c:v>-0.16074804</c:v>
                </c:pt>
                <c:pt idx="60">
                  <c:v>-0.17633558</c:v>
                </c:pt>
                <c:pt idx="61">
                  <c:v>-0.1912272</c:v>
                </c:pt>
                <c:pt idx="62">
                  <c:v>-0.20536413</c:v>
                </c:pt>
                <c:pt idx="63">
                  <c:v>-0.21869059</c:v>
                </c:pt>
                <c:pt idx="64">
                  <c:v>-0.23115397</c:v>
                </c:pt>
                <c:pt idx="65">
                  <c:v>-0.2427051</c:v>
                </c:pt>
                <c:pt idx="66">
                  <c:v>-0.25329838</c:v>
                </c:pt>
                <c:pt idx="67">
                  <c:v>-0.262892</c:v>
                </c:pt>
                <c:pt idx="68">
                  <c:v>-0.27144812</c:v>
                </c:pt>
                <c:pt idx="69">
                  <c:v>-0.27893295</c:v>
                </c:pt>
                <c:pt idx="70">
                  <c:v>-0.28531695</c:v>
                </c:pt>
                <c:pt idx="71">
                  <c:v>-0.29057495</c:v>
                </c:pt>
                <c:pt idx="72">
                  <c:v>-0.29468618</c:v>
                </c:pt>
                <c:pt idx="73">
                  <c:v>-0.29763441</c:v>
                </c:pt>
                <c:pt idx="74">
                  <c:v>-0.29940802</c:v>
                </c:pt>
                <c:pt idx="75">
                  <c:v>-0.3</c:v>
                </c:pt>
                <c:pt idx="76">
                  <c:v>-0.29940802</c:v>
                </c:pt>
                <c:pt idx="77">
                  <c:v>-0.29763441</c:v>
                </c:pt>
                <c:pt idx="78">
                  <c:v>-0.29468618</c:v>
                </c:pt>
                <c:pt idx="79">
                  <c:v>-0.29057495</c:v>
                </c:pt>
                <c:pt idx="80">
                  <c:v>-0.28531695</c:v>
                </c:pt>
                <c:pt idx="81">
                  <c:v>-0.27893295</c:v>
                </c:pt>
                <c:pt idx="82">
                  <c:v>-0.27144812</c:v>
                </c:pt>
                <c:pt idx="83">
                  <c:v>-0.262892</c:v>
                </c:pt>
                <c:pt idx="84">
                  <c:v>-0.25329838</c:v>
                </c:pt>
                <c:pt idx="85">
                  <c:v>-0.2427051</c:v>
                </c:pt>
                <c:pt idx="86">
                  <c:v>-0.23115397</c:v>
                </c:pt>
                <c:pt idx="87">
                  <c:v>-0.21869059</c:v>
                </c:pt>
                <c:pt idx="88">
                  <c:v>-0.20536413</c:v>
                </c:pt>
                <c:pt idx="89">
                  <c:v>-0.1912272</c:v>
                </c:pt>
                <c:pt idx="90">
                  <c:v>-0.17633558</c:v>
                </c:pt>
                <c:pt idx="91">
                  <c:v>-0.16074804</c:v>
                </c:pt>
                <c:pt idx="92">
                  <c:v>-0.1445261</c:v>
                </c:pt>
                <c:pt idx="93">
                  <c:v>-0.12773379</c:v>
                </c:pt>
                <c:pt idx="94">
                  <c:v>-0.11043737</c:v>
                </c:pt>
                <c:pt idx="95">
                  <c:v>-0.0927051</c:v>
                </c:pt>
                <c:pt idx="96">
                  <c:v>-0.07460697</c:v>
                </c:pt>
                <c:pt idx="97">
                  <c:v>-0.05621439</c:v>
                </c:pt>
                <c:pt idx="98">
                  <c:v>-0.03759997</c:v>
                </c:pt>
                <c:pt idx="99">
                  <c:v>-0.01883716</c:v>
                </c:pt>
                <c:pt idx="100">
                  <c:v>0</c:v>
                </c:pt>
              </c:numCache>
            </c:numRef>
          </c:yVal>
          <c:smooth val="0"/>
          <c:extLst>
            <c:ext xmlns:c16="http://schemas.microsoft.com/office/drawing/2014/chart" uri="{C3380CC4-5D6E-409C-BE32-E72D297353CC}">
              <c16:uniqueId val="{00000000-17B9-EC46-A44D-AEDE3ACACF55}"/>
            </c:ext>
          </c:extLst>
        </c:ser>
        <c:ser>
          <c:idx val="1"/>
          <c:order val="1"/>
          <c:tx>
            <c:v>Одинаковая ошибка</c:v>
          </c:tx>
          <c:spPr>
            <a:ln w="28575">
              <a:solidFill>
                <a:srgbClr val="C5CDDA"/>
              </a:solidFill>
            </a:ln>
          </c:spPr>
          <c:marker>
            <c:symbol val="none"/>
          </c:marker>
          <c:xVal>
            <c:numRef>
              <c:f>'Chart Data'!$C$2:$C$102</c:f>
              <c:numCache>
                <c:formatCode>0.00</c:formatCode>
                <c:ptCount val="101"/>
                <c:pt idx="0">
                  <c:v>1.2</c:v>
                </c:pt>
                <c:pt idx="1">
                  <c:v>1.19763207</c:v>
                </c:pt>
                <c:pt idx="2">
                  <c:v>1.19053764</c:v>
                </c:pt>
                <c:pt idx="3">
                  <c:v>1.1787447</c:v>
                </c:pt>
                <c:pt idx="4">
                  <c:v>1.16229979</c:v>
                </c:pt>
                <c:pt idx="5">
                  <c:v>1.14126782</c:v>
                </c:pt>
                <c:pt idx="6">
                  <c:v>1.11573178</c:v>
                </c:pt>
                <c:pt idx="7">
                  <c:v>1.08579246</c:v>
                </c:pt>
                <c:pt idx="8">
                  <c:v>1.05156802</c:v>
                </c:pt>
                <c:pt idx="9">
                  <c:v>1.01319351</c:v>
                </c:pt>
                <c:pt idx="10">
                  <c:v>0.97082039</c:v>
                </c:pt>
                <c:pt idx="11">
                  <c:v>0.92461589</c:v>
                </c:pt>
                <c:pt idx="12">
                  <c:v>0.87476235</c:v>
                </c:pt>
                <c:pt idx="13">
                  <c:v>0.82145653</c:v>
                </c:pt>
                <c:pt idx="14">
                  <c:v>0.76490879</c:v>
                </c:pt>
                <c:pt idx="15">
                  <c:v>0.7053423</c:v>
                </c:pt>
                <c:pt idx="16">
                  <c:v>0.64299215</c:v>
                </c:pt>
                <c:pt idx="17">
                  <c:v>0.57810441</c:v>
                </c:pt>
                <c:pt idx="18">
                  <c:v>0.51093515</c:v>
                </c:pt>
                <c:pt idx="19">
                  <c:v>0.44174946</c:v>
                </c:pt>
                <c:pt idx="20">
                  <c:v>0.37082039</c:v>
                </c:pt>
                <c:pt idx="21">
                  <c:v>0.29842786</c:v>
                </c:pt>
                <c:pt idx="22">
                  <c:v>0.22485758</c:v>
                </c:pt>
                <c:pt idx="23">
                  <c:v>0.15039988</c:v>
                </c:pt>
                <c:pt idx="24">
                  <c:v>0.07534862</c:v>
                </c:pt>
                <c:pt idx="25">
                  <c:v>0</c:v>
                </c:pt>
                <c:pt idx="26">
                  <c:v>-0.07534862</c:v>
                </c:pt>
                <c:pt idx="27">
                  <c:v>-0.15039988</c:v>
                </c:pt>
                <c:pt idx="28">
                  <c:v>-0.22485758</c:v>
                </c:pt>
                <c:pt idx="29">
                  <c:v>-0.29842786</c:v>
                </c:pt>
                <c:pt idx="30">
                  <c:v>-0.37082039</c:v>
                </c:pt>
                <c:pt idx="31">
                  <c:v>-0.44174946</c:v>
                </c:pt>
                <c:pt idx="32">
                  <c:v>-0.51093515</c:v>
                </c:pt>
                <c:pt idx="33">
                  <c:v>-0.57810441</c:v>
                </c:pt>
                <c:pt idx="34">
                  <c:v>-0.64299215</c:v>
                </c:pt>
                <c:pt idx="35">
                  <c:v>-0.7053423</c:v>
                </c:pt>
                <c:pt idx="36">
                  <c:v>-0.76490879</c:v>
                </c:pt>
                <c:pt idx="37">
                  <c:v>-0.82145653</c:v>
                </c:pt>
                <c:pt idx="38">
                  <c:v>-0.87476235</c:v>
                </c:pt>
                <c:pt idx="39">
                  <c:v>-0.92461589</c:v>
                </c:pt>
                <c:pt idx="40">
                  <c:v>-0.97082039</c:v>
                </c:pt>
                <c:pt idx="41">
                  <c:v>-1.01319351</c:v>
                </c:pt>
                <c:pt idx="42">
                  <c:v>-1.05156802</c:v>
                </c:pt>
                <c:pt idx="43">
                  <c:v>-1.08579246</c:v>
                </c:pt>
                <c:pt idx="44">
                  <c:v>-1.11573178</c:v>
                </c:pt>
                <c:pt idx="45">
                  <c:v>-1.14126782</c:v>
                </c:pt>
                <c:pt idx="46">
                  <c:v>-1.16229979</c:v>
                </c:pt>
                <c:pt idx="47">
                  <c:v>-1.1787447</c:v>
                </c:pt>
                <c:pt idx="48">
                  <c:v>-1.19053764</c:v>
                </c:pt>
                <c:pt idx="49">
                  <c:v>-1.19763207</c:v>
                </c:pt>
                <c:pt idx="50">
                  <c:v>-1.2</c:v>
                </c:pt>
                <c:pt idx="51">
                  <c:v>-1.19763207</c:v>
                </c:pt>
                <c:pt idx="52">
                  <c:v>-1.19053764</c:v>
                </c:pt>
                <c:pt idx="53">
                  <c:v>-1.1787447</c:v>
                </c:pt>
                <c:pt idx="54">
                  <c:v>-1.16229979</c:v>
                </c:pt>
                <c:pt idx="55">
                  <c:v>-1.14126782</c:v>
                </c:pt>
                <c:pt idx="56">
                  <c:v>-1.11573178</c:v>
                </c:pt>
                <c:pt idx="57">
                  <c:v>-1.08579246</c:v>
                </c:pt>
                <c:pt idx="58">
                  <c:v>-1.05156802</c:v>
                </c:pt>
                <c:pt idx="59">
                  <c:v>-1.01319351</c:v>
                </c:pt>
                <c:pt idx="60">
                  <c:v>-0.97082039</c:v>
                </c:pt>
                <c:pt idx="61">
                  <c:v>-0.92461589</c:v>
                </c:pt>
                <c:pt idx="62">
                  <c:v>-0.87476235</c:v>
                </c:pt>
                <c:pt idx="63">
                  <c:v>-0.82145653</c:v>
                </c:pt>
                <c:pt idx="64">
                  <c:v>-0.76490879</c:v>
                </c:pt>
                <c:pt idx="65">
                  <c:v>-0.7053423</c:v>
                </c:pt>
                <c:pt idx="66">
                  <c:v>-0.64299215</c:v>
                </c:pt>
                <c:pt idx="67">
                  <c:v>-0.57810441</c:v>
                </c:pt>
                <c:pt idx="68">
                  <c:v>-0.51093515</c:v>
                </c:pt>
                <c:pt idx="69">
                  <c:v>-0.44174946</c:v>
                </c:pt>
                <c:pt idx="70">
                  <c:v>-0.37082039</c:v>
                </c:pt>
                <c:pt idx="71">
                  <c:v>-0.29842786</c:v>
                </c:pt>
                <c:pt idx="72">
                  <c:v>-0.22485758</c:v>
                </c:pt>
                <c:pt idx="73">
                  <c:v>-0.15039988</c:v>
                </c:pt>
                <c:pt idx="74">
                  <c:v>-0.07534862</c:v>
                </c:pt>
                <c:pt idx="75">
                  <c:v>0</c:v>
                </c:pt>
                <c:pt idx="76">
                  <c:v>0.07534862</c:v>
                </c:pt>
                <c:pt idx="77">
                  <c:v>0.15039988</c:v>
                </c:pt>
                <c:pt idx="78">
                  <c:v>0.22485758</c:v>
                </c:pt>
                <c:pt idx="79">
                  <c:v>0.29842786</c:v>
                </c:pt>
                <c:pt idx="80">
                  <c:v>0.37082039</c:v>
                </c:pt>
                <c:pt idx="81">
                  <c:v>0.44174946</c:v>
                </c:pt>
                <c:pt idx="82">
                  <c:v>0.51093515</c:v>
                </c:pt>
                <c:pt idx="83">
                  <c:v>0.57810441</c:v>
                </c:pt>
                <c:pt idx="84">
                  <c:v>0.64299215</c:v>
                </c:pt>
                <c:pt idx="85">
                  <c:v>0.7053423</c:v>
                </c:pt>
                <c:pt idx="86">
                  <c:v>0.76490879</c:v>
                </c:pt>
                <c:pt idx="87">
                  <c:v>0.82145653</c:v>
                </c:pt>
                <c:pt idx="88">
                  <c:v>0.87476235</c:v>
                </c:pt>
                <c:pt idx="89">
                  <c:v>0.92461589</c:v>
                </c:pt>
                <c:pt idx="90">
                  <c:v>0.97082039</c:v>
                </c:pt>
                <c:pt idx="91">
                  <c:v>1.01319351</c:v>
                </c:pt>
                <c:pt idx="92">
                  <c:v>1.05156802</c:v>
                </c:pt>
                <c:pt idx="93">
                  <c:v>1.08579246</c:v>
                </c:pt>
                <c:pt idx="94">
                  <c:v>1.11573178</c:v>
                </c:pt>
                <c:pt idx="95">
                  <c:v>1.14126782</c:v>
                </c:pt>
                <c:pt idx="96">
                  <c:v>1.16229979</c:v>
                </c:pt>
                <c:pt idx="97">
                  <c:v>1.1787447</c:v>
                </c:pt>
                <c:pt idx="98">
                  <c:v>1.19053764</c:v>
                </c:pt>
                <c:pt idx="99">
                  <c:v>1.19763207</c:v>
                </c:pt>
                <c:pt idx="100">
                  <c:v>1.2</c:v>
                </c:pt>
              </c:numCache>
            </c:numRef>
          </c:xVal>
          <c:yVal>
            <c:numRef>
              <c:f>'Chart Data'!$D$2:$D$102</c:f>
              <c:numCache>
                <c:formatCode>0.00</c:formatCode>
                <c:ptCount val="101"/>
                <c:pt idx="0">
                  <c:v>0</c:v>
                </c:pt>
                <c:pt idx="1">
                  <c:v>0.03767431</c:v>
                </c:pt>
                <c:pt idx="2">
                  <c:v>0.07519994</c:v>
                </c:pt>
                <c:pt idx="3">
                  <c:v>0.11242879</c:v>
                </c:pt>
                <c:pt idx="4">
                  <c:v>0.14921393</c:v>
                </c:pt>
                <c:pt idx="5">
                  <c:v>0.1854102</c:v>
                </c:pt>
                <c:pt idx="6">
                  <c:v>0.22087473</c:v>
                </c:pt>
                <c:pt idx="7">
                  <c:v>0.25546757</c:v>
                </c:pt>
                <c:pt idx="8">
                  <c:v>0.2890522</c:v>
                </c:pt>
                <c:pt idx="9">
                  <c:v>0.32149608</c:v>
                </c:pt>
                <c:pt idx="10">
                  <c:v>0.35267115</c:v>
                </c:pt>
                <c:pt idx="11">
                  <c:v>0.38245439</c:v>
                </c:pt>
                <c:pt idx="12">
                  <c:v>0.41072826</c:v>
                </c:pt>
                <c:pt idx="13">
                  <c:v>0.43738118</c:v>
                </c:pt>
                <c:pt idx="14">
                  <c:v>0.46230795</c:v>
                </c:pt>
                <c:pt idx="15">
                  <c:v>0.4854102</c:v>
                </c:pt>
                <c:pt idx="16">
                  <c:v>0.50659676</c:v>
                </c:pt>
                <c:pt idx="17">
                  <c:v>0.52578401</c:v>
                </c:pt>
                <c:pt idx="18">
                  <c:v>0.54289623</c:v>
                </c:pt>
                <c:pt idx="19">
                  <c:v>0.55786589</c:v>
                </c:pt>
                <c:pt idx="20">
                  <c:v>0.57063391</c:v>
                </c:pt>
                <c:pt idx="21">
                  <c:v>0.5811499</c:v>
                </c:pt>
                <c:pt idx="22">
                  <c:v>0.58937235</c:v>
                </c:pt>
                <c:pt idx="23">
                  <c:v>0.59526882</c:v>
                </c:pt>
                <c:pt idx="24">
                  <c:v>0.59881604</c:v>
                </c:pt>
                <c:pt idx="25">
                  <c:v>0.6</c:v>
                </c:pt>
                <c:pt idx="26">
                  <c:v>0.59881604</c:v>
                </c:pt>
                <c:pt idx="27">
                  <c:v>0.59526882</c:v>
                </c:pt>
                <c:pt idx="28">
                  <c:v>0.58937235</c:v>
                </c:pt>
                <c:pt idx="29">
                  <c:v>0.5811499</c:v>
                </c:pt>
                <c:pt idx="30">
                  <c:v>0.57063391</c:v>
                </c:pt>
                <c:pt idx="31">
                  <c:v>0.55786589</c:v>
                </c:pt>
                <c:pt idx="32">
                  <c:v>0.54289623</c:v>
                </c:pt>
                <c:pt idx="33">
                  <c:v>0.52578401</c:v>
                </c:pt>
                <c:pt idx="34">
                  <c:v>0.50659676</c:v>
                </c:pt>
                <c:pt idx="35">
                  <c:v>0.4854102</c:v>
                </c:pt>
                <c:pt idx="36">
                  <c:v>0.46230795</c:v>
                </c:pt>
                <c:pt idx="37">
                  <c:v>0.43738118</c:v>
                </c:pt>
                <c:pt idx="38">
                  <c:v>0.41072826</c:v>
                </c:pt>
                <c:pt idx="39">
                  <c:v>0.38245439</c:v>
                </c:pt>
                <c:pt idx="40">
                  <c:v>0.35267115</c:v>
                </c:pt>
                <c:pt idx="41">
                  <c:v>0.32149608</c:v>
                </c:pt>
                <c:pt idx="42">
                  <c:v>0.2890522</c:v>
                </c:pt>
                <c:pt idx="43">
                  <c:v>0.25546757</c:v>
                </c:pt>
                <c:pt idx="44">
                  <c:v>0.22087473</c:v>
                </c:pt>
                <c:pt idx="45">
                  <c:v>0.1854102</c:v>
                </c:pt>
                <c:pt idx="46">
                  <c:v>0.14921393</c:v>
                </c:pt>
                <c:pt idx="47">
                  <c:v>0.11242879</c:v>
                </c:pt>
                <c:pt idx="48">
                  <c:v>0.07519994</c:v>
                </c:pt>
                <c:pt idx="49">
                  <c:v>0.03767431</c:v>
                </c:pt>
                <c:pt idx="50">
                  <c:v>0</c:v>
                </c:pt>
                <c:pt idx="51">
                  <c:v>-0.03767431</c:v>
                </c:pt>
                <c:pt idx="52">
                  <c:v>-0.07519994</c:v>
                </c:pt>
                <c:pt idx="53">
                  <c:v>-0.11242879</c:v>
                </c:pt>
                <c:pt idx="54">
                  <c:v>-0.14921393</c:v>
                </c:pt>
                <c:pt idx="55">
                  <c:v>-0.1854102</c:v>
                </c:pt>
                <c:pt idx="56">
                  <c:v>-0.22087473</c:v>
                </c:pt>
                <c:pt idx="57">
                  <c:v>-0.25546757</c:v>
                </c:pt>
                <c:pt idx="58">
                  <c:v>-0.2890522</c:v>
                </c:pt>
                <c:pt idx="59">
                  <c:v>-0.32149608</c:v>
                </c:pt>
                <c:pt idx="60">
                  <c:v>-0.35267115</c:v>
                </c:pt>
                <c:pt idx="61">
                  <c:v>-0.38245439</c:v>
                </c:pt>
                <c:pt idx="62">
                  <c:v>-0.41072826</c:v>
                </c:pt>
                <c:pt idx="63">
                  <c:v>-0.43738118</c:v>
                </c:pt>
                <c:pt idx="64">
                  <c:v>-0.46230795</c:v>
                </c:pt>
                <c:pt idx="65">
                  <c:v>-0.4854102</c:v>
                </c:pt>
                <c:pt idx="66">
                  <c:v>-0.50659676</c:v>
                </c:pt>
                <c:pt idx="67">
                  <c:v>-0.52578401</c:v>
                </c:pt>
                <c:pt idx="68">
                  <c:v>-0.54289623</c:v>
                </c:pt>
                <c:pt idx="69">
                  <c:v>-0.55786589</c:v>
                </c:pt>
                <c:pt idx="70">
                  <c:v>-0.57063391</c:v>
                </c:pt>
                <c:pt idx="71">
                  <c:v>-0.5811499</c:v>
                </c:pt>
                <c:pt idx="72">
                  <c:v>-0.58937235</c:v>
                </c:pt>
                <c:pt idx="73">
                  <c:v>-0.59526882</c:v>
                </c:pt>
                <c:pt idx="74">
                  <c:v>-0.59881604</c:v>
                </c:pt>
                <c:pt idx="75">
                  <c:v>-0.6</c:v>
                </c:pt>
                <c:pt idx="76">
                  <c:v>-0.59881604</c:v>
                </c:pt>
                <c:pt idx="77">
                  <c:v>-0.59526882</c:v>
                </c:pt>
                <c:pt idx="78">
                  <c:v>-0.58937235</c:v>
                </c:pt>
                <c:pt idx="79">
                  <c:v>-0.5811499</c:v>
                </c:pt>
                <c:pt idx="80">
                  <c:v>-0.57063391</c:v>
                </c:pt>
                <c:pt idx="81">
                  <c:v>-0.55786589</c:v>
                </c:pt>
                <c:pt idx="82">
                  <c:v>-0.54289623</c:v>
                </c:pt>
                <c:pt idx="83">
                  <c:v>-0.52578401</c:v>
                </c:pt>
                <c:pt idx="84">
                  <c:v>-0.50659676</c:v>
                </c:pt>
                <c:pt idx="85">
                  <c:v>-0.4854102</c:v>
                </c:pt>
                <c:pt idx="86">
                  <c:v>-0.46230795</c:v>
                </c:pt>
                <c:pt idx="87">
                  <c:v>-0.43738118</c:v>
                </c:pt>
                <c:pt idx="88">
                  <c:v>-0.41072826</c:v>
                </c:pt>
                <c:pt idx="89">
                  <c:v>-0.38245439</c:v>
                </c:pt>
                <c:pt idx="90">
                  <c:v>-0.35267115</c:v>
                </c:pt>
                <c:pt idx="91">
                  <c:v>-0.32149608</c:v>
                </c:pt>
                <c:pt idx="92">
                  <c:v>-0.2890522</c:v>
                </c:pt>
                <c:pt idx="93">
                  <c:v>-0.25546757</c:v>
                </c:pt>
                <c:pt idx="94">
                  <c:v>-0.22087473</c:v>
                </c:pt>
                <c:pt idx="95">
                  <c:v>-0.1854102</c:v>
                </c:pt>
                <c:pt idx="96">
                  <c:v>-0.14921393</c:v>
                </c:pt>
                <c:pt idx="97">
                  <c:v>-0.11242879</c:v>
                </c:pt>
                <c:pt idx="98">
                  <c:v>-0.07519994</c:v>
                </c:pt>
                <c:pt idx="99">
                  <c:v>-0.03767431</c:v>
                </c:pt>
                <c:pt idx="100">
                  <c:v>0</c:v>
                </c:pt>
              </c:numCache>
            </c:numRef>
          </c:yVal>
          <c:smooth val="0"/>
          <c:extLst>
            <c:ext xmlns:c16="http://schemas.microsoft.com/office/drawing/2014/chart" uri="{C3380CC4-5D6E-409C-BE32-E72D297353CC}">
              <c16:uniqueId val="{00000001-17B9-EC46-A44D-AEDE3ACACF55}"/>
            </c:ext>
          </c:extLst>
        </c:ser>
        <c:ser>
          <c:idx val="2"/>
          <c:order val="2"/>
          <c:tx>
            <c:v>Одинаковая ошибка</c:v>
          </c:tx>
          <c:spPr>
            <a:ln w="28575">
              <a:solidFill>
                <a:srgbClr val="C5CDDA"/>
              </a:solidFill>
            </a:ln>
          </c:spPr>
          <c:marker>
            <c:symbol val="none"/>
          </c:marker>
          <c:xVal>
            <c:numRef>
              <c:f>'Chart Data'!$E$2:$E$102</c:f>
              <c:numCache>
                <c:formatCode>0.00</c:formatCode>
                <c:ptCount val="101"/>
                <c:pt idx="0">
                  <c:v>1.8</c:v>
                </c:pt>
                <c:pt idx="1">
                  <c:v>1.79644811</c:v>
                </c:pt>
                <c:pt idx="2">
                  <c:v>1.78580646</c:v>
                </c:pt>
                <c:pt idx="3">
                  <c:v>1.76811705</c:v>
                </c:pt>
                <c:pt idx="4">
                  <c:v>1.74344969</c:v>
                </c:pt>
                <c:pt idx="5">
                  <c:v>1.71190173</c:v>
                </c:pt>
                <c:pt idx="6">
                  <c:v>1.67359767</c:v>
                </c:pt>
                <c:pt idx="7">
                  <c:v>1.62868869</c:v>
                </c:pt>
                <c:pt idx="8">
                  <c:v>1.57735202</c:v>
                </c:pt>
                <c:pt idx="9">
                  <c:v>1.51979027</c:v>
                </c:pt>
                <c:pt idx="10">
                  <c:v>1.45623059</c:v>
                </c:pt>
                <c:pt idx="11">
                  <c:v>1.38692384</c:v>
                </c:pt>
                <c:pt idx="12">
                  <c:v>1.31214353</c:v>
                </c:pt>
                <c:pt idx="13">
                  <c:v>1.23218479</c:v>
                </c:pt>
                <c:pt idx="14">
                  <c:v>1.14736318</c:v>
                </c:pt>
                <c:pt idx="15">
                  <c:v>1.05801345</c:v>
                </c:pt>
                <c:pt idx="16">
                  <c:v>0.96448823</c:v>
                </c:pt>
                <c:pt idx="17">
                  <c:v>0.86715661</c:v>
                </c:pt>
                <c:pt idx="18">
                  <c:v>0.76640272</c:v>
                </c:pt>
                <c:pt idx="19">
                  <c:v>0.66262419</c:v>
                </c:pt>
                <c:pt idx="20">
                  <c:v>0.55623059</c:v>
                </c:pt>
                <c:pt idx="21">
                  <c:v>0.4476418</c:v>
                </c:pt>
                <c:pt idx="22">
                  <c:v>0.33728637</c:v>
                </c:pt>
                <c:pt idx="23">
                  <c:v>0.22559982</c:v>
                </c:pt>
                <c:pt idx="24">
                  <c:v>0.11302294</c:v>
                </c:pt>
                <c:pt idx="25">
                  <c:v>0</c:v>
                </c:pt>
                <c:pt idx="26">
                  <c:v>-0.11302294</c:v>
                </c:pt>
                <c:pt idx="27">
                  <c:v>-0.22559982</c:v>
                </c:pt>
                <c:pt idx="28">
                  <c:v>-0.33728637</c:v>
                </c:pt>
                <c:pt idx="29">
                  <c:v>-0.4476418</c:v>
                </c:pt>
                <c:pt idx="30">
                  <c:v>-0.55623059</c:v>
                </c:pt>
                <c:pt idx="31">
                  <c:v>-0.66262419</c:v>
                </c:pt>
                <c:pt idx="32">
                  <c:v>-0.76640272</c:v>
                </c:pt>
                <c:pt idx="33">
                  <c:v>-0.86715661</c:v>
                </c:pt>
                <c:pt idx="34">
                  <c:v>-0.96448823</c:v>
                </c:pt>
                <c:pt idx="35">
                  <c:v>-1.05801345</c:v>
                </c:pt>
                <c:pt idx="36">
                  <c:v>-1.14736318</c:v>
                </c:pt>
                <c:pt idx="37">
                  <c:v>-1.23218479</c:v>
                </c:pt>
                <c:pt idx="38">
                  <c:v>-1.31214353</c:v>
                </c:pt>
                <c:pt idx="39">
                  <c:v>-1.38692384</c:v>
                </c:pt>
                <c:pt idx="40">
                  <c:v>-1.45623059</c:v>
                </c:pt>
                <c:pt idx="41">
                  <c:v>-1.51979027</c:v>
                </c:pt>
                <c:pt idx="42">
                  <c:v>-1.57735202</c:v>
                </c:pt>
                <c:pt idx="43">
                  <c:v>-1.62868869</c:v>
                </c:pt>
                <c:pt idx="44">
                  <c:v>-1.67359767</c:v>
                </c:pt>
                <c:pt idx="45">
                  <c:v>-1.71190173</c:v>
                </c:pt>
                <c:pt idx="46">
                  <c:v>-1.74344969</c:v>
                </c:pt>
                <c:pt idx="47">
                  <c:v>-1.76811705</c:v>
                </c:pt>
                <c:pt idx="48">
                  <c:v>-1.78580646</c:v>
                </c:pt>
                <c:pt idx="49">
                  <c:v>-1.79644811</c:v>
                </c:pt>
                <c:pt idx="50">
                  <c:v>-1.8</c:v>
                </c:pt>
                <c:pt idx="51">
                  <c:v>-1.79644811</c:v>
                </c:pt>
                <c:pt idx="52">
                  <c:v>-1.78580646</c:v>
                </c:pt>
                <c:pt idx="53">
                  <c:v>-1.76811705</c:v>
                </c:pt>
                <c:pt idx="54">
                  <c:v>-1.74344969</c:v>
                </c:pt>
                <c:pt idx="55">
                  <c:v>-1.71190173</c:v>
                </c:pt>
                <c:pt idx="56">
                  <c:v>-1.67359767</c:v>
                </c:pt>
                <c:pt idx="57">
                  <c:v>-1.62868869</c:v>
                </c:pt>
                <c:pt idx="58">
                  <c:v>-1.57735202</c:v>
                </c:pt>
                <c:pt idx="59">
                  <c:v>-1.51979027</c:v>
                </c:pt>
                <c:pt idx="60">
                  <c:v>-1.45623059</c:v>
                </c:pt>
                <c:pt idx="61">
                  <c:v>-1.38692384</c:v>
                </c:pt>
                <c:pt idx="62">
                  <c:v>-1.31214353</c:v>
                </c:pt>
                <c:pt idx="63">
                  <c:v>-1.23218479</c:v>
                </c:pt>
                <c:pt idx="64">
                  <c:v>-1.14736318</c:v>
                </c:pt>
                <c:pt idx="65">
                  <c:v>-1.05801345</c:v>
                </c:pt>
                <c:pt idx="66">
                  <c:v>-0.96448823</c:v>
                </c:pt>
                <c:pt idx="67">
                  <c:v>-0.86715661</c:v>
                </c:pt>
                <c:pt idx="68">
                  <c:v>-0.76640272</c:v>
                </c:pt>
                <c:pt idx="69">
                  <c:v>-0.66262419</c:v>
                </c:pt>
                <c:pt idx="70">
                  <c:v>-0.55623059</c:v>
                </c:pt>
                <c:pt idx="71">
                  <c:v>-0.4476418</c:v>
                </c:pt>
                <c:pt idx="72">
                  <c:v>-0.33728637</c:v>
                </c:pt>
                <c:pt idx="73">
                  <c:v>-0.22559982</c:v>
                </c:pt>
                <c:pt idx="74">
                  <c:v>-0.11302294</c:v>
                </c:pt>
                <c:pt idx="75">
                  <c:v>0</c:v>
                </c:pt>
                <c:pt idx="76">
                  <c:v>0.11302294</c:v>
                </c:pt>
                <c:pt idx="77">
                  <c:v>0.22559982</c:v>
                </c:pt>
                <c:pt idx="78">
                  <c:v>0.33728637</c:v>
                </c:pt>
                <c:pt idx="79">
                  <c:v>0.4476418</c:v>
                </c:pt>
                <c:pt idx="80">
                  <c:v>0.55623059</c:v>
                </c:pt>
                <c:pt idx="81">
                  <c:v>0.66262419</c:v>
                </c:pt>
                <c:pt idx="82">
                  <c:v>0.76640272</c:v>
                </c:pt>
                <c:pt idx="83">
                  <c:v>0.86715661</c:v>
                </c:pt>
                <c:pt idx="84">
                  <c:v>0.96448823</c:v>
                </c:pt>
                <c:pt idx="85">
                  <c:v>1.05801345</c:v>
                </c:pt>
                <c:pt idx="86">
                  <c:v>1.14736318</c:v>
                </c:pt>
                <c:pt idx="87">
                  <c:v>1.23218479</c:v>
                </c:pt>
                <c:pt idx="88">
                  <c:v>1.31214353</c:v>
                </c:pt>
                <c:pt idx="89">
                  <c:v>1.38692384</c:v>
                </c:pt>
                <c:pt idx="90">
                  <c:v>1.45623059</c:v>
                </c:pt>
                <c:pt idx="91">
                  <c:v>1.51979027</c:v>
                </c:pt>
                <c:pt idx="92">
                  <c:v>1.57735202</c:v>
                </c:pt>
                <c:pt idx="93">
                  <c:v>1.62868869</c:v>
                </c:pt>
                <c:pt idx="94">
                  <c:v>1.67359767</c:v>
                </c:pt>
                <c:pt idx="95">
                  <c:v>1.71190173</c:v>
                </c:pt>
                <c:pt idx="96">
                  <c:v>1.74344969</c:v>
                </c:pt>
                <c:pt idx="97">
                  <c:v>1.76811705</c:v>
                </c:pt>
                <c:pt idx="98">
                  <c:v>1.78580646</c:v>
                </c:pt>
                <c:pt idx="99">
                  <c:v>1.79644811</c:v>
                </c:pt>
                <c:pt idx="100">
                  <c:v>1.8</c:v>
                </c:pt>
              </c:numCache>
            </c:numRef>
          </c:xVal>
          <c:yVal>
            <c:numRef>
              <c:f>'Chart Data'!$F$2:$F$102</c:f>
              <c:numCache>
                <c:formatCode>0.00</c:formatCode>
                <c:ptCount val="101"/>
                <c:pt idx="0">
                  <c:v>0</c:v>
                </c:pt>
                <c:pt idx="1">
                  <c:v>0.05651147</c:v>
                </c:pt>
                <c:pt idx="2">
                  <c:v>0.11279991</c:v>
                </c:pt>
                <c:pt idx="3">
                  <c:v>0.16864318</c:v>
                </c:pt>
                <c:pt idx="4">
                  <c:v>0.2238209</c:v>
                </c:pt>
                <c:pt idx="5">
                  <c:v>0.27811529</c:v>
                </c:pt>
                <c:pt idx="6">
                  <c:v>0.3313121</c:v>
                </c:pt>
                <c:pt idx="7">
                  <c:v>0.38320136</c:v>
                </c:pt>
                <c:pt idx="8">
                  <c:v>0.43357831</c:v>
                </c:pt>
                <c:pt idx="9">
                  <c:v>0.48224412</c:v>
                </c:pt>
                <c:pt idx="10">
                  <c:v>0.52900673</c:v>
                </c:pt>
                <c:pt idx="11">
                  <c:v>0.57368159</c:v>
                </c:pt>
                <c:pt idx="12">
                  <c:v>0.6160924</c:v>
                </c:pt>
                <c:pt idx="13">
                  <c:v>0.65607176</c:v>
                </c:pt>
                <c:pt idx="14">
                  <c:v>0.69346192</c:v>
                </c:pt>
                <c:pt idx="15">
                  <c:v>0.72811529</c:v>
                </c:pt>
                <c:pt idx="16">
                  <c:v>0.75989513</c:v>
                </c:pt>
                <c:pt idx="17">
                  <c:v>0.78867601</c:v>
                </c:pt>
                <c:pt idx="18">
                  <c:v>0.81434435</c:v>
                </c:pt>
                <c:pt idx="19">
                  <c:v>0.83679884</c:v>
                </c:pt>
                <c:pt idx="20">
                  <c:v>0.85595086</c:v>
                </c:pt>
                <c:pt idx="21">
                  <c:v>0.87172485</c:v>
                </c:pt>
                <c:pt idx="22">
                  <c:v>0.88405853</c:v>
                </c:pt>
                <c:pt idx="23">
                  <c:v>0.89290323</c:v>
                </c:pt>
                <c:pt idx="24">
                  <c:v>0.89822406</c:v>
                </c:pt>
                <c:pt idx="25">
                  <c:v>0.9</c:v>
                </c:pt>
                <c:pt idx="26">
                  <c:v>0.89822406</c:v>
                </c:pt>
                <c:pt idx="27">
                  <c:v>0.89290323</c:v>
                </c:pt>
                <c:pt idx="28">
                  <c:v>0.88405853</c:v>
                </c:pt>
                <c:pt idx="29">
                  <c:v>0.87172485</c:v>
                </c:pt>
                <c:pt idx="30">
                  <c:v>0.85595086</c:v>
                </c:pt>
                <c:pt idx="31">
                  <c:v>0.83679884</c:v>
                </c:pt>
                <c:pt idx="32">
                  <c:v>0.81434435</c:v>
                </c:pt>
                <c:pt idx="33">
                  <c:v>0.78867601</c:v>
                </c:pt>
                <c:pt idx="34">
                  <c:v>0.75989513</c:v>
                </c:pt>
                <c:pt idx="35">
                  <c:v>0.72811529</c:v>
                </c:pt>
                <c:pt idx="36">
                  <c:v>0.69346192</c:v>
                </c:pt>
                <c:pt idx="37">
                  <c:v>0.65607176</c:v>
                </c:pt>
                <c:pt idx="38">
                  <c:v>0.6160924</c:v>
                </c:pt>
                <c:pt idx="39">
                  <c:v>0.57368159</c:v>
                </c:pt>
                <c:pt idx="40">
                  <c:v>0.52900673</c:v>
                </c:pt>
                <c:pt idx="41">
                  <c:v>0.48224412</c:v>
                </c:pt>
                <c:pt idx="42">
                  <c:v>0.43357831</c:v>
                </c:pt>
                <c:pt idx="43">
                  <c:v>0.38320136</c:v>
                </c:pt>
                <c:pt idx="44">
                  <c:v>0.3313121</c:v>
                </c:pt>
                <c:pt idx="45">
                  <c:v>0.27811529</c:v>
                </c:pt>
                <c:pt idx="46">
                  <c:v>0.2238209</c:v>
                </c:pt>
                <c:pt idx="47">
                  <c:v>0.16864318</c:v>
                </c:pt>
                <c:pt idx="48">
                  <c:v>0.11279991</c:v>
                </c:pt>
                <c:pt idx="49">
                  <c:v>0.05651147</c:v>
                </c:pt>
                <c:pt idx="50">
                  <c:v>0</c:v>
                </c:pt>
                <c:pt idx="51">
                  <c:v>-0.05651147</c:v>
                </c:pt>
                <c:pt idx="52">
                  <c:v>-0.11279991</c:v>
                </c:pt>
                <c:pt idx="53">
                  <c:v>-0.16864318</c:v>
                </c:pt>
                <c:pt idx="54">
                  <c:v>-0.2238209</c:v>
                </c:pt>
                <c:pt idx="55">
                  <c:v>-0.27811529</c:v>
                </c:pt>
                <c:pt idx="56">
                  <c:v>-0.3313121</c:v>
                </c:pt>
                <c:pt idx="57">
                  <c:v>-0.38320136</c:v>
                </c:pt>
                <c:pt idx="58">
                  <c:v>-0.43357831</c:v>
                </c:pt>
                <c:pt idx="59">
                  <c:v>-0.48224412</c:v>
                </c:pt>
                <c:pt idx="60">
                  <c:v>-0.52900673</c:v>
                </c:pt>
                <c:pt idx="61">
                  <c:v>-0.57368159</c:v>
                </c:pt>
                <c:pt idx="62">
                  <c:v>-0.6160924</c:v>
                </c:pt>
                <c:pt idx="63">
                  <c:v>-0.65607176</c:v>
                </c:pt>
                <c:pt idx="64">
                  <c:v>-0.69346192</c:v>
                </c:pt>
                <c:pt idx="65">
                  <c:v>-0.72811529</c:v>
                </c:pt>
                <c:pt idx="66">
                  <c:v>-0.75989513</c:v>
                </c:pt>
                <c:pt idx="67">
                  <c:v>-0.78867601</c:v>
                </c:pt>
                <c:pt idx="68">
                  <c:v>-0.81434435</c:v>
                </c:pt>
                <c:pt idx="69">
                  <c:v>-0.83679884</c:v>
                </c:pt>
                <c:pt idx="70">
                  <c:v>-0.85595086</c:v>
                </c:pt>
                <c:pt idx="71">
                  <c:v>-0.87172485</c:v>
                </c:pt>
                <c:pt idx="72">
                  <c:v>-0.88405853</c:v>
                </c:pt>
                <c:pt idx="73">
                  <c:v>-0.89290323</c:v>
                </c:pt>
                <c:pt idx="74">
                  <c:v>-0.89822406</c:v>
                </c:pt>
                <c:pt idx="75">
                  <c:v>-0.9</c:v>
                </c:pt>
                <c:pt idx="76">
                  <c:v>-0.89822406</c:v>
                </c:pt>
                <c:pt idx="77">
                  <c:v>-0.89290323</c:v>
                </c:pt>
                <c:pt idx="78">
                  <c:v>-0.88405853</c:v>
                </c:pt>
                <c:pt idx="79">
                  <c:v>-0.87172485</c:v>
                </c:pt>
                <c:pt idx="80">
                  <c:v>-0.85595086</c:v>
                </c:pt>
                <c:pt idx="81">
                  <c:v>-0.83679884</c:v>
                </c:pt>
                <c:pt idx="82">
                  <c:v>-0.81434435</c:v>
                </c:pt>
                <c:pt idx="83">
                  <c:v>-0.78867601</c:v>
                </c:pt>
                <c:pt idx="84">
                  <c:v>-0.75989513</c:v>
                </c:pt>
                <c:pt idx="85">
                  <c:v>-0.72811529</c:v>
                </c:pt>
                <c:pt idx="86">
                  <c:v>-0.69346192</c:v>
                </c:pt>
                <c:pt idx="87">
                  <c:v>-0.65607176</c:v>
                </c:pt>
                <c:pt idx="88">
                  <c:v>-0.6160924</c:v>
                </c:pt>
                <c:pt idx="89">
                  <c:v>-0.57368159</c:v>
                </c:pt>
                <c:pt idx="90">
                  <c:v>-0.52900673</c:v>
                </c:pt>
                <c:pt idx="91">
                  <c:v>-0.48224412</c:v>
                </c:pt>
                <c:pt idx="92">
                  <c:v>-0.43357831</c:v>
                </c:pt>
                <c:pt idx="93">
                  <c:v>-0.38320136</c:v>
                </c:pt>
                <c:pt idx="94">
                  <c:v>-0.3313121</c:v>
                </c:pt>
                <c:pt idx="95">
                  <c:v>-0.27811529</c:v>
                </c:pt>
                <c:pt idx="96">
                  <c:v>-0.2238209</c:v>
                </c:pt>
                <c:pt idx="97">
                  <c:v>-0.16864318</c:v>
                </c:pt>
                <c:pt idx="98">
                  <c:v>-0.11279991</c:v>
                </c:pt>
                <c:pt idx="99">
                  <c:v>-0.05651147</c:v>
                </c:pt>
                <c:pt idx="100">
                  <c:v>0</c:v>
                </c:pt>
              </c:numCache>
            </c:numRef>
          </c:yVal>
          <c:smooth val="0"/>
          <c:extLst>
            <c:ext xmlns:c16="http://schemas.microsoft.com/office/drawing/2014/chart" uri="{C3380CC4-5D6E-409C-BE32-E72D297353CC}">
              <c16:uniqueId val="{00000002-17B9-EC46-A44D-AEDE3ACACF55}"/>
            </c:ext>
          </c:extLst>
        </c:ser>
        <c:ser>
          <c:idx val="3"/>
          <c:order val="3"/>
          <c:tx>
            <c:v>Одинаковая ошибка</c:v>
          </c:tx>
          <c:spPr>
            <a:ln w="28575">
              <a:solidFill>
                <a:srgbClr val="C5CDDA"/>
              </a:solidFill>
            </a:ln>
          </c:spPr>
          <c:marker>
            <c:symbol val="none"/>
          </c:marker>
          <c:xVal>
            <c:numRef>
              <c:f>'Chart Data'!$G$2:$G$32</c:f>
              <c:numCache>
                <c:formatCode>0.00</c:formatCode>
                <c:ptCount val="31"/>
                <c:pt idx="0">
                  <c:v>2</c:v>
                </c:pt>
                <c:pt idx="1">
                  <c:v>1.92628311</c:v>
                </c:pt>
                <c:pt idx="2">
                  <c:v>1.82242157</c:v>
                </c:pt>
                <c:pt idx="3">
                  <c:v>1.71136776</c:v>
                </c:pt>
                <c:pt idx="4">
                  <c:v>1.59355997</c:v>
                </c:pt>
                <c:pt idx="5">
                  <c:v>1.46946313</c:v>
                </c:pt>
                <c:pt idx="6">
                  <c:v>1.33956699</c:v>
                </c:pt>
                <c:pt idx="7">
                  <c:v>1.20438419</c:v>
                </c:pt>
                <c:pt idx="8">
                  <c:v>1.06444823</c:v>
                </c:pt>
                <c:pt idx="9">
                  <c:v>0.92031138</c:v>
                </c:pt>
                <c:pt idx="10">
                  <c:v>0.77254249</c:v>
                </c:pt>
                <c:pt idx="11">
                  <c:v>0.62172472</c:v>
                </c:pt>
                <c:pt idx="12">
                  <c:v>0.46845329</c:v>
                </c:pt>
                <c:pt idx="13">
                  <c:v>0.31333308</c:v>
                </c:pt>
                <c:pt idx="14">
                  <c:v>0.1569763</c:v>
                </c:pt>
                <c:pt idx="15">
                  <c:v>0</c:v>
                </c:pt>
                <c:pt idx="16">
                  <c:v>-0.1569763</c:v>
                </c:pt>
                <c:pt idx="17">
                  <c:v>-0.31333308</c:v>
                </c:pt>
                <c:pt idx="18">
                  <c:v>-0.46845329</c:v>
                </c:pt>
                <c:pt idx="19">
                  <c:v>-0.62172472</c:v>
                </c:pt>
                <c:pt idx="20">
                  <c:v>-0.77254249</c:v>
                </c:pt>
                <c:pt idx="21">
                  <c:v>-0.92031138</c:v>
                </c:pt>
                <c:pt idx="22">
                  <c:v>-1.06444823</c:v>
                </c:pt>
                <c:pt idx="23">
                  <c:v>-1.20438419</c:v>
                </c:pt>
                <c:pt idx="24">
                  <c:v>-1.33956699</c:v>
                </c:pt>
                <c:pt idx="25">
                  <c:v>-1.46946313</c:v>
                </c:pt>
                <c:pt idx="26">
                  <c:v>-1.59355997</c:v>
                </c:pt>
                <c:pt idx="27">
                  <c:v>-1.71136776</c:v>
                </c:pt>
                <c:pt idx="28">
                  <c:v>-1.82242157</c:v>
                </c:pt>
                <c:pt idx="29">
                  <c:v>-1.92628311</c:v>
                </c:pt>
                <c:pt idx="30">
                  <c:v>-2</c:v>
                </c:pt>
              </c:numCache>
            </c:numRef>
          </c:xVal>
          <c:yVal>
            <c:numRef>
              <c:f>'Chart Data'!$H$2:$H$32</c:f>
              <c:numCache>
                <c:formatCode>0.00</c:formatCode>
                <c:ptCount val="31"/>
                <c:pt idx="0">
                  <c:v>0.74926236</c:v>
                </c:pt>
                <c:pt idx="1">
                  <c:v>0.79677999</c:v>
                </c:pt>
                <c:pt idx="2">
                  <c:v>0.85568388</c:v>
                </c:pt>
                <c:pt idx="3">
                  <c:v>0.91121078</c:v>
                </c:pt>
                <c:pt idx="4">
                  <c:v>0.96314155</c:v>
                </c:pt>
                <c:pt idx="5">
                  <c:v>1.01127124</c:v>
                </c:pt>
                <c:pt idx="6">
                  <c:v>1.05540991</c:v>
                </c:pt>
                <c:pt idx="7">
                  <c:v>1.09538335</c:v>
                </c:pt>
                <c:pt idx="8">
                  <c:v>1.13103382</c:v>
                </c:pt>
                <c:pt idx="9">
                  <c:v>1.16222061</c:v>
                </c:pt>
                <c:pt idx="10">
                  <c:v>1.18882065</c:v>
                </c:pt>
                <c:pt idx="11">
                  <c:v>1.21072895</c:v>
                </c:pt>
                <c:pt idx="12">
                  <c:v>1.22785906</c:v>
                </c:pt>
                <c:pt idx="13">
                  <c:v>1.24014338</c:v>
                </c:pt>
                <c:pt idx="14">
                  <c:v>1.24753341</c:v>
                </c:pt>
                <c:pt idx="15">
                  <c:v>1.25</c:v>
                </c:pt>
                <c:pt idx="16">
                  <c:v>1.24753341</c:v>
                </c:pt>
                <c:pt idx="17">
                  <c:v>1.24014338</c:v>
                </c:pt>
                <c:pt idx="18">
                  <c:v>1.22785906</c:v>
                </c:pt>
                <c:pt idx="19">
                  <c:v>1.21072895</c:v>
                </c:pt>
                <c:pt idx="20">
                  <c:v>1.18882065</c:v>
                </c:pt>
                <c:pt idx="21">
                  <c:v>1.16222061</c:v>
                </c:pt>
                <c:pt idx="22">
                  <c:v>1.13103382</c:v>
                </c:pt>
                <c:pt idx="23">
                  <c:v>1.09538335</c:v>
                </c:pt>
                <c:pt idx="24">
                  <c:v>1.05540991</c:v>
                </c:pt>
                <c:pt idx="25">
                  <c:v>1.01127124</c:v>
                </c:pt>
                <c:pt idx="26">
                  <c:v>0.96314155</c:v>
                </c:pt>
                <c:pt idx="27">
                  <c:v>0.91121078</c:v>
                </c:pt>
                <c:pt idx="28">
                  <c:v>0.85568388</c:v>
                </c:pt>
                <c:pt idx="29">
                  <c:v>0.79677999</c:v>
                </c:pt>
                <c:pt idx="30">
                  <c:v>0.74926236</c:v>
                </c:pt>
              </c:numCache>
            </c:numRef>
          </c:yVal>
          <c:smooth val="0"/>
          <c:extLst>
            <c:ext xmlns:c16="http://schemas.microsoft.com/office/drawing/2014/chart" uri="{C3380CC4-5D6E-409C-BE32-E72D297353CC}">
              <c16:uniqueId val="{00000003-17B9-EC46-A44D-AEDE3ACACF55}"/>
            </c:ext>
          </c:extLst>
        </c:ser>
        <c:ser>
          <c:idx val="4"/>
          <c:order val="4"/>
          <c:tx>
            <c:v>Одинаковая ошибка</c:v>
          </c:tx>
          <c:spPr>
            <a:ln w="28575">
              <a:solidFill>
                <a:srgbClr val="C5CDDA"/>
              </a:solidFill>
            </a:ln>
          </c:spPr>
          <c:marker>
            <c:symbol val="none"/>
          </c:marker>
          <c:xVal>
            <c:numRef>
              <c:f>'Chart Data'!$I$2:$I$32</c:f>
              <c:numCache>
                <c:formatCode>0.00</c:formatCode>
                <c:ptCount val="31"/>
                <c:pt idx="0">
                  <c:v>-2</c:v>
                </c:pt>
                <c:pt idx="1">
                  <c:v>-1.92628311</c:v>
                </c:pt>
                <c:pt idx="2">
                  <c:v>-1.82242157</c:v>
                </c:pt>
                <c:pt idx="3">
                  <c:v>-1.71136776</c:v>
                </c:pt>
                <c:pt idx="4">
                  <c:v>-1.59355997</c:v>
                </c:pt>
                <c:pt idx="5">
                  <c:v>-1.46946313</c:v>
                </c:pt>
                <c:pt idx="6">
                  <c:v>-1.33956699</c:v>
                </c:pt>
                <c:pt idx="7">
                  <c:v>-1.20438419</c:v>
                </c:pt>
                <c:pt idx="8">
                  <c:v>-1.06444823</c:v>
                </c:pt>
                <c:pt idx="9">
                  <c:v>-0.92031138</c:v>
                </c:pt>
                <c:pt idx="10">
                  <c:v>-0.77254249</c:v>
                </c:pt>
                <c:pt idx="11">
                  <c:v>-0.62172472</c:v>
                </c:pt>
                <c:pt idx="12">
                  <c:v>-0.46845329</c:v>
                </c:pt>
                <c:pt idx="13">
                  <c:v>-0.31333308</c:v>
                </c:pt>
                <c:pt idx="14">
                  <c:v>-0.1569763</c:v>
                </c:pt>
                <c:pt idx="15">
                  <c:v>0</c:v>
                </c:pt>
                <c:pt idx="16">
                  <c:v>0.1569763</c:v>
                </c:pt>
                <c:pt idx="17">
                  <c:v>0.31333308</c:v>
                </c:pt>
                <c:pt idx="18">
                  <c:v>0.46845329</c:v>
                </c:pt>
                <c:pt idx="19">
                  <c:v>0.62172472</c:v>
                </c:pt>
                <c:pt idx="20">
                  <c:v>0.77254249</c:v>
                </c:pt>
                <c:pt idx="21">
                  <c:v>0.92031138</c:v>
                </c:pt>
                <c:pt idx="22">
                  <c:v>1.06444823</c:v>
                </c:pt>
                <c:pt idx="23">
                  <c:v>1.20438419</c:v>
                </c:pt>
                <c:pt idx="24">
                  <c:v>1.33956699</c:v>
                </c:pt>
                <c:pt idx="25">
                  <c:v>1.46946313</c:v>
                </c:pt>
                <c:pt idx="26">
                  <c:v>1.59355997</c:v>
                </c:pt>
                <c:pt idx="27">
                  <c:v>1.71136776</c:v>
                </c:pt>
                <c:pt idx="28">
                  <c:v>1.82242157</c:v>
                </c:pt>
                <c:pt idx="29">
                  <c:v>1.92628311</c:v>
                </c:pt>
                <c:pt idx="30">
                  <c:v>2</c:v>
                </c:pt>
              </c:numCache>
            </c:numRef>
          </c:xVal>
          <c:yVal>
            <c:numRef>
              <c:f>'Chart Data'!$J$2:$J$32</c:f>
              <c:numCache>
                <c:formatCode>0.00</c:formatCode>
                <c:ptCount val="31"/>
                <c:pt idx="0">
                  <c:v>-0.74926236</c:v>
                </c:pt>
                <c:pt idx="1">
                  <c:v>-0.79677999</c:v>
                </c:pt>
                <c:pt idx="2">
                  <c:v>-0.85568388</c:v>
                </c:pt>
                <c:pt idx="3">
                  <c:v>-0.91121078</c:v>
                </c:pt>
                <c:pt idx="4">
                  <c:v>-0.96314155</c:v>
                </c:pt>
                <c:pt idx="5">
                  <c:v>-1.01127124</c:v>
                </c:pt>
                <c:pt idx="6">
                  <c:v>-1.05540991</c:v>
                </c:pt>
                <c:pt idx="7">
                  <c:v>-1.09538335</c:v>
                </c:pt>
                <c:pt idx="8">
                  <c:v>-1.13103382</c:v>
                </c:pt>
                <c:pt idx="9">
                  <c:v>-1.16222061</c:v>
                </c:pt>
                <c:pt idx="10">
                  <c:v>-1.18882065</c:v>
                </c:pt>
                <c:pt idx="11">
                  <c:v>-1.21072895</c:v>
                </c:pt>
                <c:pt idx="12">
                  <c:v>-1.22785906</c:v>
                </c:pt>
                <c:pt idx="13">
                  <c:v>-1.24014338</c:v>
                </c:pt>
                <c:pt idx="14">
                  <c:v>-1.24753341</c:v>
                </c:pt>
                <c:pt idx="15">
                  <c:v>-1.25</c:v>
                </c:pt>
                <c:pt idx="16">
                  <c:v>-1.24753341</c:v>
                </c:pt>
                <c:pt idx="17">
                  <c:v>-1.24014338</c:v>
                </c:pt>
                <c:pt idx="18">
                  <c:v>-1.22785906</c:v>
                </c:pt>
                <c:pt idx="19">
                  <c:v>-1.21072895</c:v>
                </c:pt>
                <c:pt idx="20">
                  <c:v>-1.18882065</c:v>
                </c:pt>
                <c:pt idx="21">
                  <c:v>-1.16222061</c:v>
                </c:pt>
                <c:pt idx="22">
                  <c:v>-1.13103382</c:v>
                </c:pt>
                <c:pt idx="23">
                  <c:v>-1.09538335</c:v>
                </c:pt>
                <c:pt idx="24">
                  <c:v>-1.05540991</c:v>
                </c:pt>
                <c:pt idx="25">
                  <c:v>-1.01127124</c:v>
                </c:pt>
                <c:pt idx="26">
                  <c:v>-0.96314155</c:v>
                </c:pt>
                <c:pt idx="27">
                  <c:v>-0.91121078</c:v>
                </c:pt>
                <c:pt idx="28">
                  <c:v>-0.85568388</c:v>
                </c:pt>
                <c:pt idx="29">
                  <c:v>-0.79677999</c:v>
                </c:pt>
                <c:pt idx="30">
                  <c:v>-0.74926236</c:v>
                </c:pt>
              </c:numCache>
            </c:numRef>
          </c:yVal>
          <c:smooth val="0"/>
          <c:extLst>
            <c:ext xmlns:c16="http://schemas.microsoft.com/office/drawing/2014/chart" uri="{C3380CC4-5D6E-409C-BE32-E72D297353CC}">
              <c16:uniqueId val="{00000004-17B9-EC46-A44D-AEDE3ACACF55}"/>
            </c:ext>
          </c:extLst>
        </c:ser>
        <c:ser>
          <c:idx val="5"/>
          <c:order val="5"/>
          <c:tx>
            <c:v>Траектория</c:v>
          </c:tx>
          <c:spPr>
            <a:ln w="28575">
              <a:solidFill>
                <a:srgbClr val="EB681F"/>
              </a:solidFill>
            </a:ln>
          </c:spPr>
          <c:marker>
            <c:symbol val="circle"/>
            <c:size val="4"/>
            <c:spPr>
              <a:solidFill>
                <a:srgbClr val="EB681F"/>
              </a:solidFill>
              <a:ln>
                <a:solidFill>
                  <a:srgbClr val="EB681F"/>
                </a:solidFill>
              </a:ln>
            </c:spPr>
          </c:marker>
          <c:xVal>
            <c:numRef>
              <c:f>'Chart Data'!$K$2:$K$37</c:f>
              <c:numCache>
                <c:formatCode>0.00</c:formatCode>
                <c:ptCount val="36"/>
                <c:pt idx="0">
                  <c:v>1.7</c:v>
                </c:pt>
                <c:pt idx="1">
                  <c:v>1.445</c:v>
                </c:pt>
                <c:pt idx="2">
                  <c:v>1.22825</c:v>
                </c:pt>
                <c:pt idx="3">
                  <c:v>1.0440125</c:v>
                </c:pt>
                <c:pt idx="4">
                  <c:v>0.88741063</c:v>
                </c:pt>
                <c:pt idx="5">
                  <c:v>0.75429903</c:v>
                </c:pt>
                <c:pt idx="6">
                  <c:v>0.64115418</c:v>
                </c:pt>
                <c:pt idx="7">
                  <c:v>0.54498105</c:v>
                </c:pt>
                <c:pt idx="8">
                  <c:v>0.46323389</c:v>
                </c:pt>
                <c:pt idx="9">
                  <c:v>0.39374881</c:v>
                </c:pt>
                <c:pt idx="10">
                  <c:v>0.33468649</c:v>
                </c:pt>
                <c:pt idx="11">
                  <c:v>0.28448351</c:v>
                </c:pt>
                <c:pt idx="12">
                  <c:v>0.24181099</c:v>
                </c:pt>
                <c:pt idx="13">
                  <c:v>0.20553934</c:v>
                </c:pt>
                <c:pt idx="14">
                  <c:v>0.17470844</c:v>
                </c:pt>
                <c:pt idx="15">
                  <c:v>0.14850217</c:v>
                </c:pt>
                <c:pt idx="16">
                  <c:v>0.12622685</c:v>
                </c:pt>
                <c:pt idx="17">
                  <c:v>0.10729282</c:v>
                </c:pt>
                <c:pt idx="18">
                  <c:v>0.0911989</c:v>
                </c:pt>
                <c:pt idx="19">
                  <c:v>0.07751906</c:v>
                </c:pt>
                <c:pt idx="20">
                  <c:v>0.0658912</c:v>
                </c:pt>
                <c:pt idx="21">
                  <c:v>0.05600752</c:v>
                </c:pt>
                <c:pt idx="22">
                  <c:v>0.04760639</c:v>
                </c:pt>
                <c:pt idx="23">
                  <c:v>0.04046543</c:v>
                </c:pt>
                <c:pt idx="24">
                  <c:v>0.03439562</c:v>
                </c:pt>
                <c:pt idx="25">
                  <c:v>0.02923628</c:v>
                </c:pt>
                <c:pt idx="26">
                  <c:v>0.02485084</c:v>
                </c:pt>
                <c:pt idx="27">
                  <c:v>0.02112321</c:v>
                </c:pt>
                <c:pt idx="28">
                  <c:v>0.01795473</c:v>
                </c:pt>
                <c:pt idx="29">
                  <c:v>0.01526152</c:v>
                </c:pt>
                <c:pt idx="30">
                  <c:v>0.01297229</c:v>
                </c:pt>
                <c:pt idx="31">
                  <c:v>0.01102645</c:v>
                </c:pt>
                <c:pt idx="32">
                  <c:v>0.00937248</c:v>
                </c:pt>
                <c:pt idx="33">
                  <c:v>0.00796661</c:v>
                </c:pt>
                <c:pt idx="34">
                  <c:v>0.00677162</c:v>
                </c:pt>
                <c:pt idx="35">
                  <c:v>0.00575587</c:v>
                </c:pt>
              </c:numCache>
            </c:numRef>
          </c:xVal>
          <c:yVal>
            <c:numRef>
              <c:f>'Chart Data'!$L$2:$L$37</c:f>
              <c:numCache>
                <c:formatCode>0.00</c:formatCode>
                <c:ptCount val="36"/>
                <c:pt idx="0">
                  <c:v>1.7</c:v>
                </c:pt>
                <c:pt idx="1">
                  <c:v>0.68</c:v>
                </c:pt>
                <c:pt idx="2">
                  <c:v>0.272</c:v>
                </c:pt>
                <c:pt idx="3">
                  <c:v>0.1088</c:v>
                </c:pt>
                <c:pt idx="4">
                  <c:v>0.04352</c:v>
                </c:pt>
                <c:pt idx="5">
                  <c:v>0.017408</c:v>
                </c:pt>
                <c:pt idx="6">
                  <c:v>0.0069632</c:v>
                </c:pt>
                <c:pt idx="7">
                  <c:v>0.00278528</c:v>
                </c:pt>
                <c:pt idx="8">
                  <c:v>0.00111411</c:v>
                </c:pt>
                <c:pt idx="9">
                  <c:v>0.00044564</c:v>
                </c:pt>
                <c:pt idx="10">
                  <c:v>0.00017826</c:v>
                </c:pt>
                <c:pt idx="11">
                  <c:v>7.13E-05</c:v>
                </c:pt>
                <c:pt idx="12">
                  <c:v>2.852E-05</c:v>
                </c:pt>
                <c:pt idx="13">
                  <c:v>1.141E-05</c:v>
                </c:pt>
                <c:pt idx="14">
                  <c:v>4.56E-06</c:v>
                </c:pt>
                <c:pt idx="15">
                  <c:v>1.83E-06</c:v>
                </c:pt>
                <c:pt idx="16">
                  <c:v>7.3E-07</c:v>
                </c:pt>
                <c:pt idx="17">
                  <c:v>2.9E-07</c:v>
                </c:pt>
                <c:pt idx="18">
                  <c:v>1.2E-07</c:v>
                </c:pt>
                <c:pt idx="19">
                  <c:v>5E-08</c:v>
                </c:pt>
                <c:pt idx="20">
                  <c:v>2E-08</c:v>
                </c:pt>
                <c:pt idx="21">
                  <c:v>1E-08</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numCache>
            </c:numRef>
          </c:yVal>
          <c:smooth val="0"/>
          <c:extLst>
            <c:ext xmlns:c16="http://schemas.microsoft.com/office/drawing/2014/chart" uri="{C3380CC4-5D6E-409C-BE32-E72D297353CC}">
              <c16:uniqueId val="{00000005-17B9-EC46-A44D-AEDE3ACACF55}"/>
            </c:ext>
          </c:extLst>
        </c:ser>
        <c:dLbls>
          <c:showLegendKey val="0"/>
          <c:showVal val="0"/>
          <c:showCatName val="0"/>
          <c:showSerName val="0"/>
          <c:showPercent val="0"/>
          <c:showBubbleSize val="0"/>
        </c:dLbls>
        <c:axId val="48650112"/>
        <c:axId val="48672768"/>
      </c:scatterChart>
      <c:valAx>
        <c:axId val="48672768"/>
        <c:scaling>
          <c:orientation val="minMax"/>
          <c:max val="2"/>
          <c:min val="-2"/>
        </c:scaling>
        <c:delete val="0"/>
        <c:axPos val="l"/>
        <c:majorGridlines>
          <c:spPr>
            <a:ln w="9525">
              <a:solidFill>
                <a:srgbClr val="DFE6F0"/>
              </a:solidFill>
            </a:ln>
          </c:spPr>
        </c:majorGridlines>
        <c:title>
          <c:tx>
            <c:rich>
              <a:bodyPr/>
              <a:lstStyle/>
              <a:p>
                <a:r>
                  <a:rPr lang="ru-RU" sz="1500">
                    <a:solidFill>
                      <a:srgbClr val="102D69"/>
                    </a:solidFill>
                    <a:latin typeface="HSE Sans"/>
                    <a:ea typeface="HSE Sans"/>
                    <a:cs typeface="HSE Sans"/>
                  </a:rPr>
                  <a:t>Вес </a:t>
                </a:r>
                <a:r>
                  <a:rPr lang="en" sz="1500">
                    <a:solidFill>
                      <a:srgbClr val="102D69"/>
                    </a:solidFill>
                    <a:latin typeface="HSE Sans"/>
                    <a:ea typeface="HSE Sans"/>
                    <a:cs typeface="HSE Sans"/>
                  </a:rPr>
                  <a:t>w₂</a:t>
                </a:r>
              </a:p>
            </c:rich>
          </c:tx>
          <c:overlay val="0"/>
        </c:title>
        <c:numFmt formatCode="0" sourceLinked="0"/>
        <c:majorTickMark val="none"/>
        <c:minorTickMark val="none"/>
        <c:tickLblPos val="low"/>
        <c:spPr>
          <a:ln w="9525">
            <a:solidFill>
              <a:srgbClr val="A6B2C4"/>
            </a:solidFill>
          </a:ln>
        </c:spPr>
        <c:txPr>
          <a:bodyPr anchorCtr="1"/>
          <a:lstStyle/>
          <a:p>
            <a:pPr>
              <a:defRPr sz="1425">
                <a:solidFill>
                  <a:srgbClr val="102D69"/>
                </a:solidFill>
                <a:latin typeface="HSE Sans"/>
                <a:ea typeface="HSE Sans"/>
                <a:cs typeface="HSE Sans"/>
              </a:defRPr>
            </a:pPr>
            <a:endParaRPr lang="ru-RU"/>
          </a:p>
        </c:txPr>
        <c:crossAx val="48650112"/>
        <c:crosses val="min"/>
        <c:crossBetween val="midCat"/>
        <c:majorUnit val="1"/>
      </c:valAx>
      <c:valAx>
        <c:axId val="48650112"/>
        <c:scaling>
          <c:orientation val="minMax"/>
          <c:max val="2"/>
          <c:min val="-2"/>
        </c:scaling>
        <c:delete val="0"/>
        <c:axPos val="b"/>
        <c:title>
          <c:tx>
            <c:rich>
              <a:bodyPr/>
              <a:lstStyle/>
              <a:p>
                <a:r>
                  <a:rPr lang="ru-RU" sz="1500">
                    <a:solidFill>
                      <a:srgbClr val="102D69"/>
                    </a:solidFill>
                    <a:latin typeface="HSE Sans"/>
                    <a:ea typeface="HSE Sans"/>
                    <a:cs typeface="HSE Sans"/>
                  </a:rPr>
                  <a:t>Вес </a:t>
                </a:r>
                <a:r>
                  <a:rPr lang="en" sz="1500">
                    <a:solidFill>
                      <a:srgbClr val="102D69"/>
                    </a:solidFill>
                    <a:latin typeface="HSE Sans"/>
                    <a:ea typeface="HSE Sans"/>
                    <a:cs typeface="HSE Sans"/>
                  </a:rPr>
                  <a:t>w₁</a:t>
                </a:r>
              </a:p>
            </c:rich>
          </c:tx>
          <c:overlay val="0"/>
        </c:title>
        <c:numFmt formatCode="0" sourceLinked="0"/>
        <c:majorTickMark val="none"/>
        <c:minorTickMark val="none"/>
        <c:tickLblPos val="low"/>
        <c:spPr>
          <a:ln w="9525">
            <a:solidFill>
              <a:srgbClr val="A6B2C4"/>
            </a:solidFill>
          </a:ln>
        </c:spPr>
        <c:txPr>
          <a:bodyPr anchorCtr="1"/>
          <a:lstStyle/>
          <a:p>
            <a:pPr>
              <a:defRPr sz="1425">
                <a:solidFill>
                  <a:srgbClr val="102D69"/>
                </a:solidFill>
                <a:latin typeface="HSE Sans"/>
                <a:ea typeface="HSE Sans"/>
                <a:cs typeface="HSE Sans"/>
              </a:defRPr>
            </a:pPr>
            <a:endParaRPr lang="ru-RU"/>
          </a:p>
        </c:txPr>
        <c:crossAx val="48672768"/>
        <c:crosses val="min"/>
        <c:crossBetween val="midCat"/>
        <c:majorUnit val="1"/>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scatterChart>
        <c:scatterStyle val="lineMarker"/>
        <c:varyColors val="1"/>
        <c:ser>
          <c:idx val="0"/>
          <c:order val="0"/>
          <c:tx>
            <c:v>Одинаковая ошибка</c:v>
          </c:tx>
          <c:spPr>
            <a:ln w="28575">
              <a:solidFill>
                <a:srgbClr val="C5CDDA"/>
              </a:solidFill>
            </a:ln>
          </c:spPr>
          <c:marker>
            <c:symbol val="none"/>
          </c:marker>
          <c:xVal>
            <c:numRef>
              <c:f>'Chart Data'!$A$2:$A$102</c:f>
              <c:numCache>
                <c:formatCode>0.00</c:formatCode>
                <c:ptCount val="101"/>
                <c:pt idx="0">
                  <c:v>0.6</c:v>
                </c:pt>
                <c:pt idx="1">
                  <c:v>0.59881604</c:v>
                </c:pt>
                <c:pt idx="2">
                  <c:v>0.59526882</c:v>
                </c:pt>
                <c:pt idx="3">
                  <c:v>0.58937235</c:v>
                </c:pt>
                <c:pt idx="4">
                  <c:v>0.5811499</c:v>
                </c:pt>
                <c:pt idx="5">
                  <c:v>0.57063391</c:v>
                </c:pt>
                <c:pt idx="6">
                  <c:v>0.55786589</c:v>
                </c:pt>
                <c:pt idx="7">
                  <c:v>0.54289623</c:v>
                </c:pt>
                <c:pt idx="8">
                  <c:v>0.52578401</c:v>
                </c:pt>
                <c:pt idx="9">
                  <c:v>0.50659676</c:v>
                </c:pt>
                <c:pt idx="10">
                  <c:v>0.4854102</c:v>
                </c:pt>
                <c:pt idx="11">
                  <c:v>0.46230795</c:v>
                </c:pt>
                <c:pt idx="12">
                  <c:v>0.43738118</c:v>
                </c:pt>
                <c:pt idx="13">
                  <c:v>0.41072826</c:v>
                </c:pt>
                <c:pt idx="14">
                  <c:v>0.38245439</c:v>
                </c:pt>
                <c:pt idx="15">
                  <c:v>0.35267115</c:v>
                </c:pt>
                <c:pt idx="16">
                  <c:v>0.32149608</c:v>
                </c:pt>
                <c:pt idx="17">
                  <c:v>0.2890522</c:v>
                </c:pt>
                <c:pt idx="18">
                  <c:v>0.25546757</c:v>
                </c:pt>
                <c:pt idx="19">
                  <c:v>0.22087473</c:v>
                </c:pt>
                <c:pt idx="20">
                  <c:v>0.1854102</c:v>
                </c:pt>
                <c:pt idx="21">
                  <c:v>0.14921393</c:v>
                </c:pt>
                <c:pt idx="22">
                  <c:v>0.11242879</c:v>
                </c:pt>
                <c:pt idx="23">
                  <c:v>0.07519994</c:v>
                </c:pt>
                <c:pt idx="24">
                  <c:v>0.03767431</c:v>
                </c:pt>
                <c:pt idx="25">
                  <c:v>0</c:v>
                </c:pt>
                <c:pt idx="26">
                  <c:v>-0.03767431</c:v>
                </c:pt>
                <c:pt idx="27">
                  <c:v>-0.07519994</c:v>
                </c:pt>
                <c:pt idx="28">
                  <c:v>-0.11242879</c:v>
                </c:pt>
                <c:pt idx="29">
                  <c:v>-0.14921393</c:v>
                </c:pt>
                <c:pt idx="30">
                  <c:v>-0.1854102</c:v>
                </c:pt>
                <c:pt idx="31">
                  <c:v>-0.22087473</c:v>
                </c:pt>
                <c:pt idx="32">
                  <c:v>-0.25546757</c:v>
                </c:pt>
                <c:pt idx="33">
                  <c:v>-0.2890522</c:v>
                </c:pt>
                <c:pt idx="34">
                  <c:v>-0.32149608</c:v>
                </c:pt>
                <c:pt idx="35">
                  <c:v>-0.35267115</c:v>
                </c:pt>
                <c:pt idx="36">
                  <c:v>-0.38245439</c:v>
                </c:pt>
                <c:pt idx="37">
                  <c:v>-0.41072826</c:v>
                </c:pt>
                <c:pt idx="38">
                  <c:v>-0.43738118</c:v>
                </c:pt>
                <c:pt idx="39">
                  <c:v>-0.46230795</c:v>
                </c:pt>
                <c:pt idx="40">
                  <c:v>-0.4854102</c:v>
                </c:pt>
                <c:pt idx="41">
                  <c:v>-0.50659676</c:v>
                </c:pt>
                <c:pt idx="42">
                  <c:v>-0.52578401</c:v>
                </c:pt>
                <c:pt idx="43">
                  <c:v>-0.54289623</c:v>
                </c:pt>
                <c:pt idx="44">
                  <c:v>-0.55786589</c:v>
                </c:pt>
                <c:pt idx="45">
                  <c:v>-0.57063391</c:v>
                </c:pt>
                <c:pt idx="46">
                  <c:v>-0.5811499</c:v>
                </c:pt>
                <c:pt idx="47">
                  <c:v>-0.58937235</c:v>
                </c:pt>
                <c:pt idx="48">
                  <c:v>-0.59526882</c:v>
                </c:pt>
                <c:pt idx="49">
                  <c:v>-0.59881604</c:v>
                </c:pt>
                <c:pt idx="50">
                  <c:v>-0.6</c:v>
                </c:pt>
                <c:pt idx="51">
                  <c:v>-0.59881604</c:v>
                </c:pt>
                <c:pt idx="52">
                  <c:v>-0.59526882</c:v>
                </c:pt>
                <c:pt idx="53">
                  <c:v>-0.58937235</c:v>
                </c:pt>
                <c:pt idx="54">
                  <c:v>-0.5811499</c:v>
                </c:pt>
                <c:pt idx="55">
                  <c:v>-0.57063391</c:v>
                </c:pt>
                <c:pt idx="56">
                  <c:v>-0.55786589</c:v>
                </c:pt>
                <c:pt idx="57">
                  <c:v>-0.54289623</c:v>
                </c:pt>
                <c:pt idx="58">
                  <c:v>-0.52578401</c:v>
                </c:pt>
                <c:pt idx="59">
                  <c:v>-0.50659676</c:v>
                </c:pt>
                <c:pt idx="60">
                  <c:v>-0.4854102</c:v>
                </c:pt>
                <c:pt idx="61">
                  <c:v>-0.46230795</c:v>
                </c:pt>
                <c:pt idx="62">
                  <c:v>-0.43738118</c:v>
                </c:pt>
                <c:pt idx="63">
                  <c:v>-0.41072826</c:v>
                </c:pt>
                <c:pt idx="64">
                  <c:v>-0.38245439</c:v>
                </c:pt>
                <c:pt idx="65">
                  <c:v>-0.35267115</c:v>
                </c:pt>
                <c:pt idx="66">
                  <c:v>-0.32149608</c:v>
                </c:pt>
                <c:pt idx="67">
                  <c:v>-0.2890522</c:v>
                </c:pt>
                <c:pt idx="68">
                  <c:v>-0.25546757</c:v>
                </c:pt>
                <c:pt idx="69">
                  <c:v>-0.22087473</c:v>
                </c:pt>
                <c:pt idx="70">
                  <c:v>-0.1854102</c:v>
                </c:pt>
                <c:pt idx="71">
                  <c:v>-0.14921393</c:v>
                </c:pt>
                <c:pt idx="72">
                  <c:v>-0.11242879</c:v>
                </c:pt>
                <c:pt idx="73">
                  <c:v>-0.07519994</c:v>
                </c:pt>
                <c:pt idx="74">
                  <c:v>-0.03767431</c:v>
                </c:pt>
                <c:pt idx="75">
                  <c:v>0</c:v>
                </c:pt>
                <c:pt idx="76">
                  <c:v>0.03767431</c:v>
                </c:pt>
                <c:pt idx="77">
                  <c:v>0.07519994</c:v>
                </c:pt>
                <c:pt idx="78">
                  <c:v>0.11242879</c:v>
                </c:pt>
                <c:pt idx="79">
                  <c:v>0.14921393</c:v>
                </c:pt>
                <c:pt idx="80">
                  <c:v>0.1854102</c:v>
                </c:pt>
                <c:pt idx="81">
                  <c:v>0.22087473</c:v>
                </c:pt>
                <c:pt idx="82">
                  <c:v>0.25546757</c:v>
                </c:pt>
                <c:pt idx="83">
                  <c:v>0.2890522</c:v>
                </c:pt>
                <c:pt idx="84">
                  <c:v>0.32149608</c:v>
                </c:pt>
                <c:pt idx="85">
                  <c:v>0.35267115</c:v>
                </c:pt>
                <c:pt idx="86">
                  <c:v>0.38245439</c:v>
                </c:pt>
                <c:pt idx="87">
                  <c:v>0.41072826</c:v>
                </c:pt>
                <c:pt idx="88">
                  <c:v>0.43738118</c:v>
                </c:pt>
                <c:pt idx="89">
                  <c:v>0.46230795</c:v>
                </c:pt>
                <c:pt idx="90">
                  <c:v>0.4854102</c:v>
                </c:pt>
                <c:pt idx="91">
                  <c:v>0.50659676</c:v>
                </c:pt>
                <c:pt idx="92">
                  <c:v>0.52578401</c:v>
                </c:pt>
                <c:pt idx="93">
                  <c:v>0.54289623</c:v>
                </c:pt>
                <c:pt idx="94">
                  <c:v>0.55786589</c:v>
                </c:pt>
                <c:pt idx="95">
                  <c:v>0.57063391</c:v>
                </c:pt>
                <c:pt idx="96">
                  <c:v>0.5811499</c:v>
                </c:pt>
                <c:pt idx="97">
                  <c:v>0.58937235</c:v>
                </c:pt>
                <c:pt idx="98">
                  <c:v>0.59526882</c:v>
                </c:pt>
                <c:pt idx="99">
                  <c:v>0.59881604</c:v>
                </c:pt>
                <c:pt idx="100">
                  <c:v>0.6</c:v>
                </c:pt>
              </c:numCache>
            </c:numRef>
          </c:xVal>
          <c:yVal>
            <c:numRef>
              <c:f>'Chart Data'!$B$2:$B$102</c:f>
              <c:numCache>
                <c:formatCode>0.00</c:formatCode>
                <c:ptCount val="101"/>
                <c:pt idx="0">
                  <c:v>0</c:v>
                </c:pt>
                <c:pt idx="1">
                  <c:v>0.01883716</c:v>
                </c:pt>
                <c:pt idx="2">
                  <c:v>0.03759997</c:v>
                </c:pt>
                <c:pt idx="3">
                  <c:v>0.05621439</c:v>
                </c:pt>
                <c:pt idx="4">
                  <c:v>0.07460697</c:v>
                </c:pt>
                <c:pt idx="5">
                  <c:v>0.0927051</c:v>
                </c:pt>
                <c:pt idx="6">
                  <c:v>0.11043737</c:v>
                </c:pt>
                <c:pt idx="7">
                  <c:v>0.12773379</c:v>
                </c:pt>
                <c:pt idx="8">
                  <c:v>0.1445261</c:v>
                </c:pt>
                <c:pt idx="9">
                  <c:v>0.16074804</c:v>
                </c:pt>
                <c:pt idx="10">
                  <c:v>0.17633558</c:v>
                </c:pt>
                <c:pt idx="11">
                  <c:v>0.1912272</c:v>
                </c:pt>
                <c:pt idx="12">
                  <c:v>0.20536413</c:v>
                </c:pt>
                <c:pt idx="13">
                  <c:v>0.21869059</c:v>
                </c:pt>
                <c:pt idx="14">
                  <c:v>0.23115397</c:v>
                </c:pt>
                <c:pt idx="15">
                  <c:v>0.2427051</c:v>
                </c:pt>
                <c:pt idx="16">
                  <c:v>0.25329838</c:v>
                </c:pt>
                <c:pt idx="17">
                  <c:v>0.262892</c:v>
                </c:pt>
                <c:pt idx="18">
                  <c:v>0.27144812</c:v>
                </c:pt>
                <c:pt idx="19">
                  <c:v>0.27893295</c:v>
                </c:pt>
                <c:pt idx="20">
                  <c:v>0.28531695</c:v>
                </c:pt>
                <c:pt idx="21">
                  <c:v>0.29057495</c:v>
                </c:pt>
                <c:pt idx="22">
                  <c:v>0.29468618</c:v>
                </c:pt>
                <c:pt idx="23">
                  <c:v>0.29763441</c:v>
                </c:pt>
                <c:pt idx="24">
                  <c:v>0.29940802</c:v>
                </c:pt>
                <c:pt idx="25">
                  <c:v>0.3</c:v>
                </c:pt>
                <c:pt idx="26">
                  <c:v>0.29940802</c:v>
                </c:pt>
                <c:pt idx="27">
                  <c:v>0.29763441</c:v>
                </c:pt>
                <c:pt idx="28">
                  <c:v>0.29468618</c:v>
                </c:pt>
                <c:pt idx="29">
                  <c:v>0.29057495</c:v>
                </c:pt>
                <c:pt idx="30">
                  <c:v>0.28531695</c:v>
                </c:pt>
                <c:pt idx="31">
                  <c:v>0.27893295</c:v>
                </c:pt>
                <c:pt idx="32">
                  <c:v>0.27144812</c:v>
                </c:pt>
                <c:pt idx="33">
                  <c:v>0.262892</c:v>
                </c:pt>
                <c:pt idx="34">
                  <c:v>0.25329838</c:v>
                </c:pt>
                <c:pt idx="35">
                  <c:v>0.2427051</c:v>
                </c:pt>
                <c:pt idx="36">
                  <c:v>0.23115397</c:v>
                </c:pt>
                <c:pt idx="37">
                  <c:v>0.21869059</c:v>
                </c:pt>
                <c:pt idx="38">
                  <c:v>0.20536413</c:v>
                </c:pt>
                <c:pt idx="39">
                  <c:v>0.1912272</c:v>
                </c:pt>
                <c:pt idx="40">
                  <c:v>0.17633558</c:v>
                </c:pt>
                <c:pt idx="41">
                  <c:v>0.16074804</c:v>
                </c:pt>
                <c:pt idx="42">
                  <c:v>0.1445261</c:v>
                </c:pt>
                <c:pt idx="43">
                  <c:v>0.12773379</c:v>
                </c:pt>
                <c:pt idx="44">
                  <c:v>0.11043737</c:v>
                </c:pt>
                <c:pt idx="45">
                  <c:v>0.0927051</c:v>
                </c:pt>
                <c:pt idx="46">
                  <c:v>0.07460697</c:v>
                </c:pt>
                <c:pt idx="47">
                  <c:v>0.05621439</c:v>
                </c:pt>
                <c:pt idx="48">
                  <c:v>0.03759997</c:v>
                </c:pt>
                <c:pt idx="49">
                  <c:v>0.01883716</c:v>
                </c:pt>
                <c:pt idx="50">
                  <c:v>0</c:v>
                </c:pt>
                <c:pt idx="51">
                  <c:v>-0.01883716</c:v>
                </c:pt>
                <c:pt idx="52">
                  <c:v>-0.03759997</c:v>
                </c:pt>
                <c:pt idx="53">
                  <c:v>-0.05621439</c:v>
                </c:pt>
                <c:pt idx="54">
                  <c:v>-0.07460697</c:v>
                </c:pt>
                <c:pt idx="55">
                  <c:v>-0.0927051</c:v>
                </c:pt>
                <c:pt idx="56">
                  <c:v>-0.11043737</c:v>
                </c:pt>
                <c:pt idx="57">
                  <c:v>-0.12773379</c:v>
                </c:pt>
                <c:pt idx="58">
                  <c:v>-0.1445261</c:v>
                </c:pt>
                <c:pt idx="59">
                  <c:v>-0.16074804</c:v>
                </c:pt>
                <c:pt idx="60">
                  <c:v>-0.17633558</c:v>
                </c:pt>
                <c:pt idx="61">
                  <c:v>-0.1912272</c:v>
                </c:pt>
                <c:pt idx="62">
                  <c:v>-0.20536413</c:v>
                </c:pt>
                <c:pt idx="63">
                  <c:v>-0.21869059</c:v>
                </c:pt>
                <c:pt idx="64">
                  <c:v>-0.23115397</c:v>
                </c:pt>
                <c:pt idx="65">
                  <c:v>-0.2427051</c:v>
                </c:pt>
                <c:pt idx="66">
                  <c:v>-0.25329838</c:v>
                </c:pt>
                <c:pt idx="67">
                  <c:v>-0.262892</c:v>
                </c:pt>
                <c:pt idx="68">
                  <c:v>-0.27144812</c:v>
                </c:pt>
                <c:pt idx="69">
                  <c:v>-0.27893295</c:v>
                </c:pt>
                <c:pt idx="70">
                  <c:v>-0.28531695</c:v>
                </c:pt>
                <c:pt idx="71">
                  <c:v>-0.29057495</c:v>
                </c:pt>
                <c:pt idx="72">
                  <c:v>-0.29468618</c:v>
                </c:pt>
                <c:pt idx="73">
                  <c:v>-0.29763441</c:v>
                </c:pt>
                <c:pt idx="74">
                  <c:v>-0.29940802</c:v>
                </c:pt>
                <c:pt idx="75">
                  <c:v>-0.3</c:v>
                </c:pt>
                <c:pt idx="76">
                  <c:v>-0.29940802</c:v>
                </c:pt>
                <c:pt idx="77">
                  <c:v>-0.29763441</c:v>
                </c:pt>
                <c:pt idx="78">
                  <c:v>-0.29468618</c:v>
                </c:pt>
                <c:pt idx="79">
                  <c:v>-0.29057495</c:v>
                </c:pt>
                <c:pt idx="80">
                  <c:v>-0.28531695</c:v>
                </c:pt>
                <c:pt idx="81">
                  <c:v>-0.27893295</c:v>
                </c:pt>
                <c:pt idx="82">
                  <c:v>-0.27144812</c:v>
                </c:pt>
                <c:pt idx="83">
                  <c:v>-0.262892</c:v>
                </c:pt>
                <c:pt idx="84">
                  <c:v>-0.25329838</c:v>
                </c:pt>
                <c:pt idx="85">
                  <c:v>-0.2427051</c:v>
                </c:pt>
                <c:pt idx="86">
                  <c:v>-0.23115397</c:v>
                </c:pt>
                <c:pt idx="87">
                  <c:v>-0.21869059</c:v>
                </c:pt>
                <c:pt idx="88">
                  <c:v>-0.20536413</c:v>
                </c:pt>
                <c:pt idx="89">
                  <c:v>-0.1912272</c:v>
                </c:pt>
                <c:pt idx="90">
                  <c:v>-0.17633558</c:v>
                </c:pt>
                <c:pt idx="91">
                  <c:v>-0.16074804</c:v>
                </c:pt>
                <c:pt idx="92">
                  <c:v>-0.1445261</c:v>
                </c:pt>
                <c:pt idx="93">
                  <c:v>-0.12773379</c:v>
                </c:pt>
                <c:pt idx="94">
                  <c:v>-0.11043737</c:v>
                </c:pt>
                <c:pt idx="95">
                  <c:v>-0.0927051</c:v>
                </c:pt>
                <c:pt idx="96">
                  <c:v>-0.07460697</c:v>
                </c:pt>
                <c:pt idx="97">
                  <c:v>-0.05621439</c:v>
                </c:pt>
                <c:pt idx="98">
                  <c:v>-0.03759997</c:v>
                </c:pt>
                <c:pt idx="99">
                  <c:v>-0.01883716</c:v>
                </c:pt>
                <c:pt idx="100">
                  <c:v>0</c:v>
                </c:pt>
              </c:numCache>
            </c:numRef>
          </c:yVal>
          <c:smooth val="0"/>
          <c:extLst>
            <c:ext xmlns:c16="http://schemas.microsoft.com/office/drawing/2014/chart" uri="{C3380CC4-5D6E-409C-BE32-E72D297353CC}">
              <c16:uniqueId val="{00000000-20D7-2545-92A3-8E9A24C8FB91}"/>
            </c:ext>
          </c:extLst>
        </c:ser>
        <c:ser>
          <c:idx val="1"/>
          <c:order val="1"/>
          <c:tx>
            <c:v>Одинаковая ошибка</c:v>
          </c:tx>
          <c:spPr>
            <a:ln w="28575">
              <a:solidFill>
                <a:srgbClr val="C5CDDA"/>
              </a:solidFill>
            </a:ln>
          </c:spPr>
          <c:marker>
            <c:symbol val="none"/>
          </c:marker>
          <c:xVal>
            <c:numRef>
              <c:f>'Chart Data'!$C$2:$C$102</c:f>
              <c:numCache>
                <c:formatCode>0.00</c:formatCode>
                <c:ptCount val="101"/>
                <c:pt idx="0">
                  <c:v>1.2</c:v>
                </c:pt>
                <c:pt idx="1">
                  <c:v>1.19763207</c:v>
                </c:pt>
                <c:pt idx="2">
                  <c:v>1.19053764</c:v>
                </c:pt>
                <c:pt idx="3">
                  <c:v>1.1787447</c:v>
                </c:pt>
                <c:pt idx="4">
                  <c:v>1.16229979</c:v>
                </c:pt>
                <c:pt idx="5">
                  <c:v>1.14126782</c:v>
                </c:pt>
                <c:pt idx="6">
                  <c:v>1.11573178</c:v>
                </c:pt>
                <c:pt idx="7">
                  <c:v>1.08579246</c:v>
                </c:pt>
                <c:pt idx="8">
                  <c:v>1.05156802</c:v>
                </c:pt>
                <c:pt idx="9">
                  <c:v>1.01319351</c:v>
                </c:pt>
                <c:pt idx="10">
                  <c:v>0.97082039</c:v>
                </c:pt>
                <c:pt idx="11">
                  <c:v>0.92461589</c:v>
                </c:pt>
                <c:pt idx="12">
                  <c:v>0.87476235</c:v>
                </c:pt>
                <c:pt idx="13">
                  <c:v>0.82145653</c:v>
                </c:pt>
                <c:pt idx="14">
                  <c:v>0.76490879</c:v>
                </c:pt>
                <c:pt idx="15">
                  <c:v>0.7053423</c:v>
                </c:pt>
                <c:pt idx="16">
                  <c:v>0.64299215</c:v>
                </c:pt>
                <c:pt idx="17">
                  <c:v>0.57810441</c:v>
                </c:pt>
                <c:pt idx="18">
                  <c:v>0.51093515</c:v>
                </c:pt>
                <c:pt idx="19">
                  <c:v>0.44174946</c:v>
                </c:pt>
                <c:pt idx="20">
                  <c:v>0.37082039</c:v>
                </c:pt>
                <c:pt idx="21">
                  <c:v>0.29842786</c:v>
                </c:pt>
                <c:pt idx="22">
                  <c:v>0.22485758</c:v>
                </c:pt>
                <c:pt idx="23">
                  <c:v>0.15039988</c:v>
                </c:pt>
                <c:pt idx="24">
                  <c:v>0.07534862</c:v>
                </c:pt>
                <c:pt idx="25">
                  <c:v>0</c:v>
                </c:pt>
                <c:pt idx="26">
                  <c:v>-0.07534862</c:v>
                </c:pt>
                <c:pt idx="27">
                  <c:v>-0.15039988</c:v>
                </c:pt>
                <c:pt idx="28">
                  <c:v>-0.22485758</c:v>
                </c:pt>
                <c:pt idx="29">
                  <c:v>-0.29842786</c:v>
                </c:pt>
                <c:pt idx="30">
                  <c:v>-0.37082039</c:v>
                </c:pt>
                <c:pt idx="31">
                  <c:v>-0.44174946</c:v>
                </c:pt>
                <c:pt idx="32">
                  <c:v>-0.51093515</c:v>
                </c:pt>
                <c:pt idx="33">
                  <c:v>-0.57810441</c:v>
                </c:pt>
                <c:pt idx="34">
                  <c:v>-0.64299215</c:v>
                </c:pt>
                <c:pt idx="35">
                  <c:v>-0.7053423</c:v>
                </c:pt>
                <c:pt idx="36">
                  <c:v>-0.76490879</c:v>
                </c:pt>
                <c:pt idx="37">
                  <c:v>-0.82145653</c:v>
                </c:pt>
                <c:pt idx="38">
                  <c:v>-0.87476235</c:v>
                </c:pt>
                <c:pt idx="39">
                  <c:v>-0.92461589</c:v>
                </c:pt>
                <c:pt idx="40">
                  <c:v>-0.97082039</c:v>
                </c:pt>
                <c:pt idx="41">
                  <c:v>-1.01319351</c:v>
                </c:pt>
                <c:pt idx="42">
                  <c:v>-1.05156802</c:v>
                </c:pt>
                <c:pt idx="43">
                  <c:v>-1.08579246</c:v>
                </c:pt>
                <c:pt idx="44">
                  <c:v>-1.11573178</c:v>
                </c:pt>
                <c:pt idx="45">
                  <c:v>-1.14126782</c:v>
                </c:pt>
                <c:pt idx="46">
                  <c:v>-1.16229979</c:v>
                </c:pt>
                <c:pt idx="47">
                  <c:v>-1.1787447</c:v>
                </c:pt>
                <c:pt idx="48">
                  <c:v>-1.19053764</c:v>
                </c:pt>
                <c:pt idx="49">
                  <c:v>-1.19763207</c:v>
                </c:pt>
                <c:pt idx="50">
                  <c:v>-1.2</c:v>
                </c:pt>
                <c:pt idx="51">
                  <c:v>-1.19763207</c:v>
                </c:pt>
                <c:pt idx="52">
                  <c:v>-1.19053764</c:v>
                </c:pt>
                <c:pt idx="53">
                  <c:v>-1.1787447</c:v>
                </c:pt>
                <c:pt idx="54">
                  <c:v>-1.16229979</c:v>
                </c:pt>
                <c:pt idx="55">
                  <c:v>-1.14126782</c:v>
                </c:pt>
                <c:pt idx="56">
                  <c:v>-1.11573178</c:v>
                </c:pt>
                <c:pt idx="57">
                  <c:v>-1.08579246</c:v>
                </c:pt>
                <c:pt idx="58">
                  <c:v>-1.05156802</c:v>
                </c:pt>
                <c:pt idx="59">
                  <c:v>-1.01319351</c:v>
                </c:pt>
                <c:pt idx="60">
                  <c:v>-0.97082039</c:v>
                </c:pt>
                <c:pt idx="61">
                  <c:v>-0.92461589</c:v>
                </c:pt>
                <c:pt idx="62">
                  <c:v>-0.87476235</c:v>
                </c:pt>
                <c:pt idx="63">
                  <c:v>-0.82145653</c:v>
                </c:pt>
                <c:pt idx="64">
                  <c:v>-0.76490879</c:v>
                </c:pt>
                <c:pt idx="65">
                  <c:v>-0.7053423</c:v>
                </c:pt>
                <c:pt idx="66">
                  <c:v>-0.64299215</c:v>
                </c:pt>
                <c:pt idx="67">
                  <c:v>-0.57810441</c:v>
                </c:pt>
                <c:pt idx="68">
                  <c:v>-0.51093515</c:v>
                </c:pt>
                <c:pt idx="69">
                  <c:v>-0.44174946</c:v>
                </c:pt>
                <c:pt idx="70">
                  <c:v>-0.37082039</c:v>
                </c:pt>
                <c:pt idx="71">
                  <c:v>-0.29842786</c:v>
                </c:pt>
                <c:pt idx="72">
                  <c:v>-0.22485758</c:v>
                </c:pt>
                <c:pt idx="73">
                  <c:v>-0.15039988</c:v>
                </c:pt>
                <c:pt idx="74">
                  <c:v>-0.07534862</c:v>
                </c:pt>
                <c:pt idx="75">
                  <c:v>0</c:v>
                </c:pt>
                <c:pt idx="76">
                  <c:v>0.07534862</c:v>
                </c:pt>
                <c:pt idx="77">
                  <c:v>0.15039988</c:v>
                </c:pt>
                <c:pt idx="78">
                  <c:v>0.22485758</c:v>
                </c:pt>
                <c:pt idx="79">
                  <c:v>0.29842786</c:v>
                </c:pt>
                <c:pt idx="80">
                  <c:v>0.37082039</c:v>
                </c:pt>
                <c:pt idx="81">
                  <c:v>0.44174946</c:v>
                </c:pt>
                <c:pt idx="82">
                  <c:v>0.51093515</c:v>
                </c:pt>
                <c:pt idx="83">
                  <c:v>0.57810441</c:v>
                </c:pt>
                <c:pt idx="84">
                  <c:v>0.64299215</c:v>
                </c:pt>
                <c:pt idx="85">
                  <c:v>0.7053423</c:v>
                </c:pt>
                <c:pt idx="86">
                  <c:v>0.76490879</c:v>
                </c:pt>
                <c:pt idx="87">
                  <c:v>0.82145653</c:v>
                </c:pt>
                <c:pt idx="88">
                  <c:v>0.87476235</c:v>
                </c:pt>
                <c:pt idx="89">
                  <c:v>0.92461589</c:v>
                </c:pt>
                <c:pt idx="90">
                  <c:v>0.97082039</c:v>
                </c:pt>
                <c:pt idx="91">
                  <c:v>1.01319351</c:v>
                </c:pt>
                <c:pt idx="92">
                  <c:v>1.05156802</c:v>
                </c:pt>
                <c:pt idx="93">
                  <c:v>1.08579246</c:v>
                </c:pt>
                <c:pt idx="94">
                  <c:v>1.11573178</c:v>
                </c:pt>
                <c:pt idx="95">
                  <c:v>1.14126782</c:v>
                </c:pt>
                <c:pt idx="96">
                  <c:v>1.16229979</c:v>
                </c:pt>
                <c:pt idx="97">
                  <c:v>1.1787447</c:v>
                </c:pt>
                <c:pt idx="98">
                  <c:v>1.19053764</c:v>
                </c:pt>
                <c:pt idx="99">
                  <c:v>1.19763207</c:v>
                </c:pt>
                <c:pt idx="100">
                  <c:v>1.2</c:v>
                </c:pt>
              </c:numCache>
            </c:numRef>
          </c:xVal>
          <c:yVal>
            <c:numRef>
              <c:f>'Chart Data'!$D$2:$D$102</c:f>
              <c:numCache>
                <c:formatCode>0.00</c:formatCode>
                <c:ptCount val="101"/>
                <c:pt idx="0">
                  <c:v>0</c:v>
                </c:pt>
                <c:pt idx="1">
                  <c:v>0.03767431</c:v>
                </c:pt>
                <c:pt idx="2">
                  <c:v>0.07519994</c:v>
                </c:pt>
                <c:pt idx="3">
                  <c:v>0.11242879</c:v>
                </c:pt>
                <c:pt idx="4">
                  <c:v>0.14921393</c:v>
                </c:pt>
                <c:pt idx="5">
                  <c:v>0.1854102</c:v>
                </c:pt>
                <c:pt idx="6">
                  <c:v>0.22087473</c:v>
                </c:pt>
                <c:pt idx="7">
                  <c:v>0.25546757</c:v>
                </c:pt>
                <c:pt idx="8">
                  <c:v>0.2890522</c:v>
                </c:pt>
                <c:pt idx="9">
                  <c:v>0.32149608</c:v>
                </c:pt>
                <c:pt idx="10">
                  <c:v>0.35267115</c:v>
                </c:pt>
                <c:pt idx="11">
                  <c:v>0.38245439</c:v>
                </c:pt>
                <c:pt idx="12">
                  <c:v>0.41072826</c:v>
                </c:pt>
                <c:pt idx="13">
                  <c:v>0.43738118</c:v>
                </c:pt>
                <c:pt idx="14">
                  <c:v>0.46230795</c:v>
                </c:pt>
                <c:pt idx="15">
                  <c:v>0.4854102</c:v>
                </c:pt>
                <c:pt idx="16">
                  <c:v>0.50659676</c:v>
                </c:pt>
                <c:pt idx="17">
                  <c:v>0.52578401</c:v>
                </c:pt>
                <c:pt idx="18">
                  <c:v>0.54289623</c:v>
                </c:pt>
                <c:pt idx="19">
                  <c:v>0.55786589</c:v>
                </c:pt>
                <c:pt idx="20">
                  <c:v>0.57063391</c:v>
                </c:pt>
                <c:pt idx="21">
                  <c:v>0.5811499</c:v>
                </c:pt>
                <c:pt idx="22">
                  <c:v>0.58937235</c:v>
                </c:pt>
                <c:pt idx="23">
                  <c:v>0.59526882</c:v>
                </c:pt>
                <c:pt idx="24">
                  <c:v>0.59881604</c:v>
                </c:pt>
                <c:pt idx="25">
                  <c:v>0.6</c:v>
                </c:pt>
                <c:pt idx="26">
                  <c:v>0.59881604</c:v>
                </c:pt>
                <c:pt idx="27">
                  <c:v>0.59526882</c:v>
                </c:pt>
                <c:pt idx="28">
                  <c:v>0.58937235</c:v>
                </c:pt>
                <c:pt idx="29">
                  <c:v>0.5811499</c:v>
                </c:pt>
                <c:pt idx="30">
                  <c:v>0.57063391</c:v>
                </c:pt>
                <c:pt idx="31">
                  <c:v>0.55786589</c:v>
                </c:pt>
                <c:pt idx="32">
                  <c:v>0.54289623</c:v>
                </c:pt>
                <c:pt idx="33">
                  <c:v>0.52578401</c:v>
                </c:pt>
                <c:pt idx="34">
                  <c:v>0.50659676</c:v>
                </c:pt>
                <c:pt idx="35">
                  <c:v>0.4854102</c:v>
                </c:pt>
                <c:pt idx="36">
                  <c:v>0.46230795</c:v>
                </c:pt>
                <c:pt idx="37">
                  <c:v>0.43738118</c:v>
                </c:pt>
                <c:pt idx="38">
                  <c:v>0.41072826</c:v>
                </c:pt>
                <c:pt idx="39">
                  <c:v>0.38245439</c:v>
                </c:pt>
                <c:pt idx="40">
                  <c:v>0.35267115</c:v>
                </c:pt>
                <c:pt idx="41">
                  <c:v>0.32149608</c:v>
                </c:pt>
                <c:pt idx="42">
                  <c:v>0.2890522</c:v>
                </c:pt>
                <c:pt idx="43">
                  <c:v>0.25546757</c:v>
                </c:pt>
                <c:pt idx="44">
                  <c:v>0.22087473</c:v>
                </c:pt>
                <c:pt idx="45">
                  <c:v>0.1854102</c:v>
                </c:pt>
                <c:pt idx="46">
                  <c:v>0.14921393</c:v>
                </c:pt>
                <c:pt idx="47">
                  <c:v>0.11242879</c:v>
                </c:pt>
                <c:pt idx="48">
                  <c:v>0.07519994</c:v>
                </c:pt>
                <c:pt idx="49">
                  <c:v>0.03767431</c:v>
                </c:pt>
                <c:pt idx="50">
                  <c:v>0</c:v>
                </c:pt>
                <c:pt idx="51">
                  <c:v>-0.03767431</c:v>
                </c:pt>
                <c:pt idx="52">
                  <c:v>-0.07519994</c:v>
                </c:pt>
                <c:pt idx="53">
                  <c:v>-0.11242879</c:v>
                </c:pt>
                <c:pt idx="54">
                  <c:v>-0.14921393</c:v>
                </c:pt>
                <c:pt idx="55">
                  <c:v>-0.1854102</c:v>
                </c:pt>
                <c:pt idx="56">
                  <c:v>-0.22087473</c:v>
                </c:pt>
                <c:pt idx="57">
                  <c:v>-0.25546757</c:v>
                </c:pt>
                <c:pt idx="58">
                  <c:v>-0.2890522</c:v>
                </c:pt>
                <c:pt idx="59">
                  <c:v>-0.32149608</c:v>
                </c:pt>
                <c:pt idx="60">
                  <c:v>-0.35267115</c:v>
                </c:pt>
                <c:pt idx="61">
                  <c:v>-0.38245439</c:v>
                </c:pt>
                <c:pt idx="62">
                  <c:v>-0.41072826</c:v>
                </c:pt>
                <c:pt idx="63">
                  <c:v>-0.43738118</c:v>
                </c:pt>
                <c:pt idx="64">
                  <c:v>-0.46230795</c:v>
                </c:pt>
                <c:pt idx="65">
                  <c:v>-0.4854102</c:v>
                </c:pt>
                <c:pt idx="66">
                  <c:v>-0.50659676</c:v>
                </c:pt>
                <c:pt idx="67">
                  <c:v>-0.52578401</c:v>
                </c:pt>
                <c:pt idx="68">
                  <c:v>-0.54289623</c:v>
                </c:pt>
                <c:pt idx="69">
                  <c:v>-0.55786589</c:v>
                </c:pt>
                <c:pt idx="70">
                  <c:v>-0.57063391</c:v>
                </c:pt>
                <c:pt idx="71">
                  <c:v>-0.5811499</c:v>
                </c:pt>
                <c:pt idx="72">
                  <c:v>-0.58937235</c:v>
                </c:pt>
                <c:pt idx="73">
                  <c:v>-0.59526882</c:v>
                </c:pt>
                <c:pt idx="74">
                  <c:v>-0.59881604</c:v>
                </c:pt>
                <c:pt idx="75">
                  <c:v>-0.6</c:v>
                </c:pt>
                <c:pt idx="76">
                  <c:v>-0.59881604</c:v>
                </c:pt>
                <c:pt idx="77">
                  <c:v>-0.59526882</c:v>
                </c:pt>
                <c:pt idx="78">
                  <c:v>-0.58937235</c:v>
                </c:pt>
                <c:pt idx="79">
                  <c:v>-0.5811499</c:v>
                </c:pt>
                <c:pt idx="80">
                  <c:v>-0.57063391</c:v>
                </c:pt>
                <c:pt idx="81">
                  <c:v>-0.55786589</c:v>
                </c:pt>
                <c:pt idx="82">
                  <c:v>-0.54289623</c:v>
                </c:pt>
                <c:pt idx="83">
                  <c:v>-0.52578401</c:v>
                </c:pt>
                <c:pt idx="84">
                  <c:v>-0.50659676</c:v>
                </c:pt>
                <c:pt idx="85">
                  <c:v>-0.4854102</c:v>
                </c:pt>
                <c:pt idx="86">
                  <c:v>-0.46230795</c:v>
                </c:pt>
                <c:pt idx="87">
                  <c:v>-0.43738118</c:v>
                </c:pt>
                <c:pt idx="88">
                  <c:v>-0.41072826</c:v>
                </c:pt>
                <c:pt idx="89">
                  <c:v>-0.38245439</c:v>
                </c:pt>
                <c:pt idx="90">
                  <c:v>-0.35267115</c:v>
                </c:pt>
                <c:pt idx="91">
                  <c:v>-0.32149608</c:v>
                </c:pt>
                <c:pt idx="92">
                  <c:v>-0.2890522</c:v>
                </c:pt>
                <c:pt idx="93">
                  <c:v>-0.25546757</c:v>
                </c:pt>
                <c:pt idx="94">
                  <c:v>-0.22087473</c:v>
                </c:pt>
                <c:pt idx="95">
                  <c:v>-0.1854102</c:v>
                </c:pt>
                <c:pt idx="96">
                  <c:v>-0.14921393</c:v>
                </c:pt>
                <c:pt idx="97">
                  <c:v>-0.11242879</c:v>
                </c:pt>
                <c:pt idx="98">
                  <c:v>-0.07519994</c:v>
                </c:pt>
                <c:pt idx="99">
                  <c:v>-0.03767431</c:v>
                </c:pt>
                <c:pt idx="100">
                  <c:v>0</c:v>
                </c:pt>
              </c:numCache>
            </c:numRef>
          </c:yVal>
          <c:smooth val="0"/>
          <c:extLst>
            <c:ext xmlns:c16="http://schemas.microsoft.com/office/drawing/2014/chart" uri="{C3380CC4-5D6E-409C-BE32-E72D297353CC}">
              <c16:uniqueId val="{00000001-20D7-2545-92A3-8E9A24C8FB91}"/>
            </c:ext>
          </c:extLst>
        </c:ser>
        <c:ser>
          <c:idx val="2"/>
          <c:order val="2"/>
          <c:tx>
            <c:v>Одинаковая ошибка</c:v>
          </c:tx>
          <c:spPr>
            <a:ln w="28575">
              <a:solidFill>
                <a:srgbClr val="C5CDDA"/>
              </a:solidFill>
            </a:ln>
          </c:spPr>
          <c:marker>
            <c:symbol val="none"/>
          </c:marker>
          <c:xVal>
            <c:numRef>
              <c:f>'Chart Data'!$E$2:$E$102</c:f>
              <c:numCache>
                <c:formatCode>0.00</c:formatCode>
                <c:ptCount val="101"/>
                <c:pt idx="0">
                  <c:v>1.8</c:v>
                </c:pt>
                <c:pt idx="1">
                  <c:v>1.79644811</c:v>
                </c:pt>
                <c:pt idx="2">
                  <c:v>1.78580646</c:v>
                </c:pt>
                <c:pt idx="3">
                  <c:v>1.76811705</c:v>
                </c:pt>
                <c:pt idx="4">
                  <c:v>1.74344969</c:v>
                </c:pt>
                <c:pt idx="5">
                  <c:v>1.71190173</c:v>
                </c:pt>
                <c:pt idx="6">
                  <c:v>1.67359767</c:v>
                </c:pt>
                <c:pt idx="7">
                  <c:v>1.62868869</c:v>
                </c:pt>
                <c:pt idx="8">
                  <c:v>1.57735202</c:v>
                </c:pt>
                <c:pt idx="9">
                  <c:v>1.51979027</c:v>
                </c:pt>
                <c:pt idx="10">
                  <c:v>1.45623059</c:v>
                </c:pt>
                <c:pt idx="11">
                  <c:v>1.38692384</c:v>
                </c:pt>
                <c:pt idx="12">
                  <c:v>1.31214353</c:v>
                </c:pt>
                <c:pt idx="13">
                  <c:v>1.23218479</c:v>
                </c:pt>
                <c:pt idx="14">
                  <c:v>1.14736318</c:v>
                </c:pt>
                <c:pt idx="15">
                  <c:v>1.05801345</c:v>
                </c:pt>
                <c:pt idx="16">
                  <c:v>0.96448823</c:v>
                </c:pt>
                <c:pt idx="17">
                  <c:v>0.86715661</c:v>
                </c:pt>
                <c:pt idx="18">
                  <c:v>0.76640272</c:v>
                </c:pt>
                <c:pt idx="19">
                  <c:v>0.66262419</c:v>
                </c:pt>
                <c:pt idx="20">
                  <c:v>0.55623059</c:v>
                </c:pt>
                <c:pt idx="21">
                  <c:v>0.4476418</c:v>
                </c:pt>
                <c:pt idx="22">
                  <c:v>0.33728637</c:v>
                </c:pt>
                <c:pt idx="23">
                  <c:v>0.22559982</c:v>
                </c:pt>
                <c:pt idx="24">
                  <c:v>0.11302294</c:v>
                </c:pt>
                <c:pt idx="25">
                  <c:v>0</c:v>
                </c:pt>
                <c:pt idx="26">
                  <c:v>-0.11302294</c:v>
                </c:pt>
                <c:pt idx="27">
                  <c:v>-0.22559982</c:v>
                </c:pt>
                <c:pt idx="28">
                  <c:v>-0.33728637</c:v>
                </c:pt>
                <c:pt idx="29">
                  <c:v>-0.4476418</c:v>
                </c:pt>
                <c:pt idx="30">
                  <c:v>-0.55623059</c:v>
                </c:pt>
                <c:pt idx="31">
                  <c:v>-0.66262419</c:v>
                </c:pt>
                <c:pt idx="32">
                  <c:v>-0.76640272</c:v>
                </c:pt>
                <c:pt idx="33">
                  <c:v>-0.86715661</c:v>
                </c:pt>
                <c:pt idx="34">
                  <c:v>-0.96448823</c:v>
                </c:pt>
                <c:pt idx="35">
                  <c:v>-1.05801345</c:v>
                </c:pt>
                <c:pt idx="36">
                  <c:v>-1.14736318</c:v>
                </c:pt>
                <c:pt idx="37">
                  <c:v>-1.23218479</c:v>
                </c:pt>
                <c:pt idx="38">
                  <c:v>-1.31214353</c:v>
                </c:pt>
                <c:pt idx="39">
                  <c:v>-1.38692384</c:v>
                </c:pt>
                <c:pt idx="40">
                  <c:v>-1.45623059</c:v>
                </c:pt>
                <c:pt idx="41">
                  <c:v>-1.51979027</c:v>
                </c:pt>
                <c:pt idx="42">
                  <c:v>-1.57735202</c:v>
                </c:pt>
                <c:pt idx="43">
                  <c:v>-1.62868869</c:v>
                </c:pt>
                <c:pt idx="44">
                  <c:v>-1.67359767</c:v>
                </c:pt>
                <c:pt idx="45">
                  <c:v>-1.71190173</c:v>
                </c:pt>
                <c:pt idx="46">
                  <c:v>-1.74344969</c:v>
                </c:pt>
                <c:pt idx="47">
                  <c:v>-1.76811705</c:v>
                </c:pt>
                <c:pt idx="48">
                  <c:v>-1.78580646</c:v>
                </c:pt>
                <c:pt idx="49">
                  <c:v>-1.79644811</c:v>
                </c:pt>
                <c:pt idx="50">
                  <c:v>-1.8</c:v>
                </c:pt>
                <c:pt idx="51">
                  <c:v>-1.79644811</c:v>
                </c:pt>
                <c:pt idx="52">
                  <c:v>-1.78580646</c:v>
                </c:pt>
                <c:pt idx="53">
                  <c:v>-1.76811705</c:v>
                </c:pt>
                <c:pt idx="54">
                  <c:v>-1.74344969</c:v>
                </c:pt>
                <c:pt idx="55">
                  <c:v>-1.71190173</c:v>
                </c:pt>
                <c:pt idx="56">
                  <c:v>-1.67359767</c:v>
                </c:pt>
                <c:pt idx="57">
                  <c:v>-1.62868869</c:v>
                </c:pt>
                <c:pt idx="58">
                  <c:v>-1.57735202</c:v>
                </c:pt>
                <c:pt idx="59">
                  <c:v>-1.51979027</c:v>
                </c:pt>
                <c:pt idx="60">
                  <c:v>-1.45623059</c:v>
                </c:pt>
                <c:pt idx="61">
                  <c:v>-1.38692384</c:v>
                </c:pt>
                <c:pt idx="62">
                  <c:v>-1.31214353</c:v>
                </c:pt>
                <c:pt idx="63">
                  <c:v>-1.23218479</c:v>
                </c:pt>
                <c:pt idx="64">
                  <c:v>-1.14736318</c:v>
                </c:pt>
                <c:pt idx="65">
                  <c:v>-1.05801345</c:v>
                </c:pt>
                <c:pt idx="66">
                  <c:v>-0.96448823</c:v>
                </c:pt>
                <c:pt idx="67">
                  <c:v>-0.86715661</c:v>
                </c:pt>
                <c:pt idx="68">
                  <c:v>-0.76640272</c:v>
                </c:pt>
                <c:pt idx="69">
                  <c:v>-0.66262419</c:v>
                </c:pt>
                <c:pt idx="70">
                  <c:v>-0.55623059</c:v>
                </c:pt>
                <c:pt idx="71">
                  <c:v>-0.4476418</c:v>
                </c:pt>
                <c:pt idx="72">
                  <c:v>-0.33728637</c:v>
                </c:pt>
                <c:pt idx="73">
                  <c:v>-0.22559982</c:v>
                </c:pt>
                <c:pt idx="74">
                  <c:v>-0.11302294</c:v>
                </c:pt>
                <c:pt idx="75">
                  <c:v>0</c:v>
                </c:pt>
                <c:pt idx="76">
                  <c:v>0.11302294</c:v>
                </c:pt>
                <c:pt idx="77">
                  <c:v>0.22559982</c:v>
                </c:pt>
                <c:pt idx="78">
                  <c:v>0.33728637</c:v>
                </c:pt>
                <c:pt idx="79">
                  <c:v>0.4476418</c:v>
                </c:pt>
                <c:pt idx="80">
                  <c:v>0.55623059</c:v>
                </c:pt>
                <c:pt idx="81">
                  <c:v>0.66262419</c:v>
                </c:pt>
                <c:pt idx="82">
                  <c:v>0.76640272</c:v>
                </c:pt>
                <c:pt idx="83">
                  <c:v>0.86715661</c:v>
                </c:pt>
                <c:pt idx="84">
                  <c:v>0.96448823</c:v>
                </c:pt>
                <c:pt idx="85">
                  <c:v>1.05801345</c:v>
                </c:pt>
                <c:pt idx="86">
                  <c:v>1.14736318</c:v>
                </c:pt>
                <c:pt idx="87">
                  <c:v>1.23218479</c:v>
                </c:pt>
                <c:pt idx="88">
                  <c:v>1.31214353</c:v>
                </c:pt>
                <c:pt idx="89">
                  <c:v>1.38692384</c:v>
                </c:pt>
                <c:pt idx="90">
                  <c:v>1.45623059</c:v>
                </c:pt>
                <c:pt idx="91">
                  <c:v>1.51979027</c:v>
                </c:pt>
                <c:pt idx="92">
                  <c:v>1.57735202</c:v>
                </c:pt>
                <c:pt idx="93">
                  <c:v>1.62868869</c:v>
                </c:pt>
                <c:pt idx="94">
                  <c:v>1.67359767</c:v>
                </c:pt>
                <c:pt idx="95">
                  <c:v>1.71190173</c:v>
                </c:pt>
                <c:pt idx="96">
                  <c:v>1.74344969</c:v>
                </c:pt>
                <c:pt idx="97">
                  <c:v>1.76811705</c:v>
                </c:pt>
                <c:pt idx="98">
                  <c:v>1.78580646</c:v>
                </c:pt>
                <c:pt idx="99">
                  <c:v>1.79644811</c:v>
                </c:pt>
                <c:pt idx="100">
                  <c:v>1.8</c:v>
                </c:pt>
              </c:numCache>
            </c:numRef>
          </c:xVal>
          <c:yVal>
            <c:numRef>
              <c:f>'Chart Data'!$F$2:$F$102</c:f>
              <c:numCache>
                <c:formatCode>0.00</c:formatCode>
                <c:ptCount val="101"/>
                <c:pt idx="0">
                  <c:v>0</c:v>
                </c:pt>
                <c:pt idx="1">
                  <c:v>0.05651147</c:v>
                </c:pt>
                <c:pt idx="2">
                  <c:v>0.11279991</c:v>
                </c:pt>
                <c:pt idx="3">
                  <c:v>0.16864318</c:v>
                </c:pt>
                <c:pt idx="4">
                  <c:v>0.2238209</c:v>
                </c:pt>
                <c:pt idx="5">
                  <c:v>0.27811529</c:v>
                </c:pt>
                <c:pt idx="6">
                  <c:v>0.3313121</c:v>
                </c:pt>
                <c:pt idx="7">
                  <c:v>0.38320136</c:v>
                </c:pt>
                <c:pt idx="8">
                  <c:v>0.43357831</c:v>
                </c:pt>
                <c:pt idx="9">
                  <c:v>0.48224412</c:v>
                </c:pt>
                <c:pt idx="10">
                  <c:v>0.52900673</c:v>
                </c:pt>
                <c:pt idx="11">
                  <c:v>0.57368159</c:v>
                </c:pt>
                <c:pt idx="12">
                  <c:v>0.6160924</c:v>
                </c:pt>
                <c:pt idx="13">
                  <c:v>0.65607176</c:v>
                </c:pt>
                <c:pt idx="14">
                  <c:v>0.69346192</c:v>
                </c:pt>
                <c:pt idx="15">
                  <c:v>0.72811529</c:v>
                </c:pt>
                <c:pt idx="16">
                  <c:v>0.75989513</c:v>
                </c:pt>
                <c:pt idx="17">
                  <c:v>0.78867601</c:v>
                </c:pt>
                <c:pt idx="18">
                  <c:v>0.81434435</c:v>
                </c:pt>
                <c:pt idx="19">
                  <c:v>0.83679884</c:v>
                </c:pt>
                <c:pt idx="20">
                  <c:v>0.85595086</c:v>
                </c:pt>
                <c:pt idx="21">
                  <c:v>0.87172485</c:v>
                </c:pt>
                <c:pt idx="22">
                  <c:v>0.88405853</c:v>
                </c:pt>
                <c:pt idx="23">
                  <c:v>0.89290323</c:v>
                </c:pt>
                <c:pt idx="24">
                  <c:v>0.89822406</c:v>
                </c:pt>
                <c:pt idx="25">
                  <c:v>0.9</c:v>
                </c:pt>
                <c:pt idx="26">
                  <c:v>0.89822406</c:v>
                </c:pt>
                <c:pt idx="27">
                  <c:v>0.89290323</c:v>
                </c:pt>
                <c:pt idx="28">
                  <c:v>0.88405853</c:v>
                </c:pt>
                <c:pt idx="29">
                  <c:v>0.87172485</c:v>
                </c:pt>
                <c:pt idx="30">
                  <c:v>0.85595086</c:v>
                </c:pt>
                <c:pt idx="31">
                  <c:v>0.83679884</c:v>
                </c:pt>
                <c:pt idx="32">
                  <c:v>0.81434435</c:v>
                </c:pt>
                <c:pt idx="33">
                  <c:v>0.78867601</c:v>
                </c:pt>
                <c:pt idx="34">
                  <c:v>0.75989513</c:v>
                </c:pt>
                <c:pt idx="35">
                  <c:v>0.72811529</c:v>
                </c:pt>
                <c:pt idx="36">
                  <c:v>0.69346192</c:v>
                </c:pt>
                <c:pt idx="37">
                  <c:v>0.65607176</c:v>
                </c:pt>
                <c:pt idx="38">
                  <c:v>0.6160924</c:v>
                </c:pt>
                <c:pt idx="39">
                  <c:v>0.57368159</c:v>
                </c:pt>
                <c:pt idx="40">
                  <c:v>0.52900673</c:v>
                </c:pt>
                <c:pt idx="41">
                  <c:v>0.48224412</c:v>
                </c:pt>
                <c:pt idx="42">
                  <c:v>0.43357831</c:v>
                </c:pt>
                <c:pt idx="43">
                  <c:v>0.38320136</c:v>
                </c:pt>
                <c:pt idx="44">
                  <c:v>0.3313121</c:v>
                </c:pt>
                <c:pt idx="45">
                  <c:v>0.27811529</c:v>
                </c:pt>
                <c:pt idx="46">
                  <c:v>0.2238209</c:v>
                </c:pt>
                <c:pt idx="47">
                  <c:v>0.16864318</c:v>
                </c:pt>
                <c:pt idx="48">
                  <c:v>0.11279991</c:v>
                </c:pt>
                <c:pt idx="49">
                  <c:v>0.05651147</c:v>
                </c:pt>
                <c:pt idx="50">
                  <c:v>0</c:v>
                </c:pt>
                <c:pt idx="51">
                  <c:v>-0.05651147</c:v>
                </c:pt>
                <c:pt idx="52">
                  <c:v>-0.11279991</c:v>
                </c:pt>
                <c:pt idx="53">
                  <c:v>-0.16864318</c:v>
                </c:pt>
                <c:pt idx="54">
                  <c:v>-0.2238209</c:v>
                </c:pt>
                <c:pt idx="55">
                  <c:v>-0.27811529</c:v>
                </c:pt>
                <c:pt idx="56">
                  <c:v>-0.3313121</c:v>
                </c:pt>
                <c:pt idx="57">
                  <c:v>-0.38320136</c:v>
                </c:pt>
                <c:pt idx="58">
                  <c:v>-0.43357831</c:v>
                </c:pt>
                <c:pt idx="59">
                  <c:v>-0.48224412</c:v>
                </c:pt>
                <c:pt idx="60">
                  <c:v>-0.52900673</c:v>
                </c:pt>
                <c:pt idx="61">
                  <c:v>-0.57368159</c:v>
                </c:pt>
                <c:pt idx="62">
                  <c:v>-0.6160924</c:v>
                </c:pt>
                <c:pt idx="63">
                  <c:v>-0.65607176</c:v>
                </c:pt>
                <c:pt idx="64">
                  <c:v>-0.69346192</c:v>
                </c:pt>
                <c:pt idx="65">
                  <c:v>-0.72811529</c:v>
                </c:pt>
                <c:pt idx="66">
                  <c:v>-0.75989513</c:v>
                </c:pt>
                <c:pt idx="67">
                  <c:v>-0.78867601</c:v>
                </c:pt>
                <c:pt idx="68">
                  <c:v>-0.81434435</c:v>
                </c:pt>
                <c:pt idx="69">
                  <c:v>-0.83679884</c:v>
                </c:pt>
                <c:pt idx="70">
                  <c:v>-0.85595086</c:v>
                </c:pt>
                <c:pt idx="71">
                  <c:v>-0.87172485</c:v>
                </c:pt>
                <c:pt idx="72">
                  <c:v>-0.88405853</c:v>
                </c:pt>
                <c:pt idx="73">
                  <c:v>-0.89290323</c:v>
                </c:pt>
                <c:pt idx="74">
                  <c:v>-0.89822406</c:v>
                </c:pt>
                <c:pt idx="75">
                  <c:v>-0.9</c:v>
                </c:pt>
                <c:pt idx="76">
                  <c:v>-0.89822406</c:v>
                </c:pt>
                <c:pt idx="77">
                  <c:v>-0.89290323</c:v>
                </c:pt>
                <c:pt idx="78">
                  <c:v>-0.88405853</c:v>
                </c:pt>
                <c:pt idx="79">
                  <c:v>-0.87172485</c:v>
                </c:pt>
                <c:pt idx="80">
                  <c:v>-0.85595086</c:v>
                </c:pt>
                <c:pt idx="81">
                  <c:v>-0.83679884</c:v>
                </c:pt>
                <c:pt idx="82">
                  <c:v>-0.81434435</c:v>
                </c:pt>
                <c:pt idx="83">
                  <c:v>-0.78867601</c:v>
                </c:pt>
                <c:pt idx="84">
                  <c:v>-0.75989513</c:v>
                </c:pt>
                <c:pt idx="85">
                  <c:v>-0.72811529</c:v>
                </c:pt>
                <c:pt idx="86">
                  <c:v>-0.69346192</c:v>
                </c:pt>
                <c:pt idx="87">
                  <c:v>-0.65607176</c:v>
                </c:pt>
                <c:pt idx="88">
                  <c:v>-0.6160924</c:v>
                </c:pt>
                <c:pt idx="89">
                  <c:v>-0.57368159</c:v>
                </c:pt>
                <c:pt idx="90">
                  <c:v>-0.52900673</c:v>
                </c:pt>
                <c:pt idx="91">
                  <c:v>-0.48224412</c:v>
                </c:pt>
                <c:pt idx="92">
                  <c:v>-0.43357831</c:v>
                </c:pt>
                <c:pt idx="93">
                  <c:v>-0.38320136</c:v>
                </c:pt>
                <c:pt idx="94">
                  <c:v>-0.3313121</c:v>
                </c:pt>
                <c:pt idx="95">
                  <c:v>-0.27811529</c:v>
                </c:pt>
                <c:pt idx="96">
                  <c:v>-0.2238209</c:v>
                </c:pt>
                <c:pt idx="97">
                  <c:v>-0.16864318</c:v>
                </c:pt>
                <c:pt idx="98">
                  <c:v>-0.11279991</c:v>
                </c:pt>
                <c:pt idx="99">
                  <c:v>-0.05651147</c:v>
                </c:pt>
                <c:pt idx="100">
                  <c:v>0</c:v>
                </c:pt>
              </c:numCache>
            </c:numRef>
          </c:yVal>
          <c:smooth val="0"/>
          <c:extLst>
            <c:ext xmlns:c16="http://schemas.microsoft.com/office/drawing/2014/chart" uri="{C3380CC4-5D6E-409C-BE32-E72D297353CC}">
              <c16:uniqueId val="{00000002-20D7-2545-92A3-8E9A24C8FB91}"/>
            </c:ext>
          </c:extLst>
        </c:ser>
        <c:ser>
          <c:idx val="3"/>
          <c:order val="3"/>
          <c:tx>
            <c:v>Одинаковая ошибка</c:v>
          </c:tx>
          <c:spPr>
            <a:ln w="28575">
              <a:solidFill>
                <a:srgbClr val="C5CDDA"/>
              </a:solidFill>
            </a:ln>
          </c:spPr>
          <c:marker>
            <c:symbol val="none"/>
          </c:marker>
          <c:xVal>
            <c:numRef>
              <c:f>'Chart Data'!$G$2:$G$32</c:f>
              <c:numCache>
                <c:formatCode>0.00</c:formatCode>
                <c:ptCount val="31"/>
                <c:pt idx="0">
                  <c:v>2</c:v>
                </c:pt>
                <c:pt idx="1">
                  <c:v>1.92628311</c:v>
                </c:pt>
                <c:pt idx="2">
                  <c:v>1.82242157</c:v>
                </c:pt>
                <c:pt idx="3">
                  <c:v>1.71136776</c:v>
                </c:pt>
                <c:pt idx="4">
                  <c:v>1.59355997</c:v>
                </c:pt>
                <c:pt idx="5">
                  <c:v>1.46946313</c:v>
                </c:pt>
                <c:pt idx="6">
                  <c:v>1.33956699</c:v>
                </c:pt>
                <c:pt idx="7">
                  <c:v>1.20438419</c:v>
                </c:pt>
                <c:pt idx="8">
                  <c:v>1.06444823</c:v>
                </c:pt>
                <c:pt idx="9">
                  <c:v>0.92031138</c:v>
                </c:pt>
                <c:pt idx="10">
                  <c:v>0.77254249</c:v>
                </c:pt>
                <c:pt idx="11">
                  <c:v>0.62172472</c:v>
                </c:pt>
                <c:pt idx="12">
                  <c:v>0.46845329</c:v>
                </c:pt>
                <c:pt idx="13">
                  <c:v>0.31333308</c:v>
                </c:pt>
                <c:pt idx="14">
                  <c:v>0.1569763</c:v>
                </c:pt>
                <c:pt idx="15">
                  <c:v>0</c:v>
                </c:pt>
                <c:pt idx="16">
                  <c:v>-0.1569763</c:v>
                </c:pt>
                <c:pt idx="17">
                  <c:v>-0.31333308</c:v>
                </c:pt>
                <c:pt idx="18">
                  <c:v>-0.46845329</c:v>
                </c:pt>
                <c:pt idx="19">
                  <c:v>-0.62172472</c:v>
                </c:pt>
                <c:pt idx="20">
                  <c:v>-0.77254249</c:v>
                </c:pt>
                <c:pt idx="21">
                  <c:v>-0.92031138</c:v>
                </c:pt>
                <c:pt idx="22">
                  <c:v>-1.06444823</c:v>
                </c:pt>
                <c:pt idx="23">
                  <c:v>-1.20438419</c:v>
                </c:pt>
                <c:pt idx="24">
                  <c:v>-1.33956699</c:v>
                </c:pt>
                <c:pt idx="25">
                  <c:v>-1.46946313</c:v>
                </c:pt>
                <c:pt idx="26">
                  <c:v>-1.59355997</c:v>
                </c:pt>
                <c:pt idx="27">
                  <c:v>-1.71136776</c:v>
                </c:pt>
                <c:pt idx="28">
                  <c:v>-1.82242157</c:v>
                </c:pt>
                <c:pt idx="29">
                  <c:v>-1.92628311</c:v>
                </c:pt>
                <c:pt idx="30">
                  <c:v>-2</c:v>
                </c:pt>
              </c:numCache>
            </c:numRef>
          </c:xVal>
          <c:yVal>
            <c:numRef>
              <c:f>'Chart Data'!$H$2:$H$32</c:f>
              <c:numCache>
                <c:formatCode>0.00</c:formatCode>
                <c:ptCount val="31"/>
                <c:pt idx="0">
                  <c:v>0.74926236</c:v>
                </c:pt>
                <c:pt idx="1">
                  <c:v>0.79677999</c:v>
                </c:pt>
                <c:pt idx="2">
                  <c:v>0.85568388</c:v>
                </c:pt>
                <c:pt idx="3">
                  <c:v>0.91121078</c:v>
                </c:pt>
                <c:pt idx="4">
                  <c:v>0.96314155</c:v>
                </c:pt>
                <c:pt idx="5">
                  <c:v>1.01127124</c:v>
                </c:pt>
                <c:pt idx="6">
                  <c:v>1.05540991</c:v>
                </c:pt>
                <c:pt idx="7">
                  <c:v>1.09538335</c:v>
                </c:pt>
                <c:pt idx="8">
                  <c:v>1.13103382</c:v>
                </c:pt>
                <c:pt idx="9">
                  <c:v>1.16222061</c:v>
                </c:pt>
                <c:pt idx="10">
                  <c:v>1.18882065</c:v>
                </c:pt>
                <c:pt idx="11">
                  <c:v>1.21072895</c:v>
                </c:pt>
                <c:pt idx="12">
                  <c:v>1.22785906</c:v>
                </c:pt>
                <c:pt idx="13">
                  <c:v>1.24014338</c:v>
                </c:pt>
                <c:pt idx="14">
                  <c:v>1.24753341</c:v>
                </c:pt>
                <c:pt idx="15">
                  <c:v>1.25</c:v>
                </c:pt>
                <c:pt idx="16">
                  <c:v>1.24753341</c:v>
                </c:pt>
                <c:pt idx="17">
                  <c:v>1.24014338</c:v>
                </c:pt>
                <c:pt idx="18">
                  <c:v>1.22785906</c:v>
                </c:pt>
                <c:pt idx="19">
                  <c:v>1.21072895</c:v>
                </c:pt>
                <c:pt idx="20">
                  <c:v>1.18882065</c:v>
                </c:pt>
                <c:pt idx="21">
                  <c:v>1.16222061</c:v>
                </c:pt>
                <c:pt idx="22">
                  <c:v>1.13103382</c:v>
                </c:pt>
                <c:pt idx="23">
                  <c:v>1.09538335</c:v>
                </c:pt>
                <c:pt idx="24">
                  <c:v>1.05540991</c:v>
                </c:pt>
                <c:pt idx="25">
                  <c:v>1.01127124</c:v>
                </c:pt>
                <c:pt idx="26">
                  <c:v>0.96314155</c:v>
                </c:pt>
                <c:pt idx="27">
                  <c:v>0.91121078</c:v>
                </c:pt>
                <c:pt idx="28">
                  <c:v>0.85568388</c:v>
                </c:pt>
                <c:pt idx="29">
                  <c:v>0.79677999</c:v>
                </c:pt>
                <c:pt idx="30">
                  <c:v>0.74926236</c:v>
                </c:pt>
              </c:numCache>
            </c:numRef>
          </c:yVal>
          <c:smooth val="0"/>
          <c:extLst>
            <c:ext xmlns:c16="http://schemas.microsoft.com/office/drawing/2014/chart" uri="{C3380CC4-5D6E-409C-BE32-E72D297353CC}">
              <c16:uniqueId val="{00000003-20D7-2545-92A3-8E9A24C8FB91}"/>
            </c:ext>
          </c:extLst>
        </c:ser>
        <c:ser>
          <c:idx val="4"/>
          <c:order val="4"/>
          <c:tx>
            <c:v>Одинаковая ошибка</c:v>
          </c:tx>
          <c:spPr>
            <a:ln w="28575">
              <a:solidFill>
                <a:srgbClr val="C5CDDA"/>
              </a:solidFill>
            </a:ln>
          </c:spPr>
          <c:marker>
            <c:symbol val="none"/>
          </c:marker>
          <c:xVal>
            <c:numRef>
              <c:f>'Chart Data'!$I$2:$I$32</c:f>
              <c:numCache>
                <c:formatCode>0.00</c:formatCode>
                <c:ptCount val="31"/>
                <c:pt idx="0">
                  <c:v>-2</c:v>
                </c:pt>
                <c:pt idx="1">
                  <c:v>-1.92628311</c:v>
                </c:pt>
                <c:pt idx="2">
                  <c:v>-1.82242157</c:v>
                </c:pt>
                <c:pt idx="3">
                  <c:v>-1.71136776</c:v>
                </c:pt>
                <c:pt idx="4">
                  <c:v>-1.59355997</c:v>
                </c:pt>
                <c:pt idx="5">
                  <c:v>-1.46946313</c:v>
                </c:pt>
                <c:pt idx="6">
                  <c:v>-1.33956699</c:v>
                </c:pt>
                <c:pt idx="7">
                  <c:v>-1.20438419</c:v>
                </c:pt>
                <c:pt idx="8">
                  <c:v>-1.06444823</c:v>
                </c:pt>
                <c:pt idx="9">
                  <c:v>-0.92031138</c:v>
                </c:pt>
                <c:pt idx="10">
                  <c:v>-0.77254249</c:v>
                </c:pt>
                <c:pt idx="11">
                  <c:v>-0.62172472</c:v>
                </c:pt>
                <c:pt idx="12">
                  <c:v>-0.46845329</c:v>
                </c:pt>
                <c:pt idx="13">
                  <c:v>-0.31333308</c:v>
                </c:pt>
                <c:pt idx="14">
                  <c:v>-0.1569763</c:v>
                </c:pt>
                <c:pt idx="15">
                  <c:v>0</c:v>
                </c:pt>
                <c:pt idx="16">
                  <c:v>0.1569763</c:v>
                </c:pt>
                <c:pt idx="17">
                  <c:v>0.31333308</c:v>
                </c:pt>
                <c:pt idx="18">
                  <c:v>0.46845329</c:v>
                </c:pt>
                <c:pt idx="19">
                  <c:v>0.62172472</c:v>
                </c:pt>
                <c:pt idx="20">
                  <c:v>0.77254249</c:v>
                </c:pt>
                <c:pt idx="21">
                  <c:v>0.92031138</c:v>
                </c:pt>
                <c:pt idx="22">
                  <c:v>1.06444823</c:v>
                </c:pt>
                <c:pt idx="23">
                  <c:v>1.20438419</c:v>
                </c:pt>
                <c:pt idx="24">
                  <c:v>1.33956699</c:v>
                </c:pt>
                <c:pt idx="25">
                  <c:v>1.46946313</c:v>
                </c:pt>
                <c:pt idx="26">
                  <c:v>1.59355997</c:v>
                </c:pt>
                <c:pt idx="27">
                  <c:v>1.71136776</c:v>
                </c:pt>
                <c:pt idx="28">
                  <c:v>1.82242157</c:v>
                </c:pt>
                <c:pt idx="29">
                  <c:v>1.92628311</c:v>
                </c:pt>
                <c:pt idx="30">
                  <c:v>2</c:v>
                </c:pt>
              </c:numCache>
            </c:numRef>
          </c:xVal>
          <c:yVal>
            <c:numRef>
              <c:f>'Chart Data'!$J$2:$J$32</c:f>
              <c:numCache>
                <c:formatCode>0.00</c:formatCode>
                <c:ptCount val="31"/>
                <c:pt idx="0">
                  <c:v>-0.74926236</c:v>
                </c:pt>
                <c:pt idx="1">
                  <c:v>-0.79677999</c:v>
                </c:pt>
                <c:pt idx="2">
                  <c:v>-0.85568388</c:v>
                </c:pt>
                <c:pt idx="3">
                  <c:v>-0.91121078</c:v>
                </c:pt>
                <c:pt idx="4">
                  <c:v>-0.96314155</c:v>
                </c:pt>
                <c:pt idx="5">
                  <c:v>-1.01127124</c:v>
                </c:pt>
                <c:pt idx="6">
                  <c:v>-1.05540991</c:v>
                </c:pt>
                <c:pt idx="7">
                  <c:v>-1.09538335</c:v>
                </c:pt>
                <c:pt idx="8">
                  <c:v>-1.13103382</c:v>
                </c:pt>
                <c:pt idx="9">
                  <c:v>-1.16222061</c:v>
                </c:pt>
                <c:pt idx="10">
                  <c:v>-1.18882065</c:v>
                </c:pt>
                <c:pt idx="11">
                  <c:v>-1.21072895</c:v>
                </c:pt>
                <c:pt idx="12">
                  <c:v>-1.22785906</c:v>
                </c:pt>
                <c:pt idx="13">
                  <c:v>-1.24014338</c:v>
                </c:pt>
                <c:pt idx="14">
                  <c:v>-1.24753341</c:v>
                </c:pt>
                <c:pt idx="15">
                  <c:v>-1.25</c:v>
                </c:pt>
                <c:pt idx="16">
                  <c:v>-1.24753341</c:v>
                </c:pt>
                <c:pt idx="17">
                  <c:v>-1.24014338</c:v>
                </c:pt>
                <c:pt idx="18">
                  <c:v>-1.22785906</c:v>
                </c:pt>
                <c:pt idx="19">
                  <c:v>-1.21072895</c:v>
                </c:pt>
                <c:pt idx="20">
                  <c:v>-1.18882065</c:v>
                </c:pt>
                <c:pt idx="21">
                  <c:v>-1.16222061</c:v>
                </c:pt>
                <c:pt idx="22">
                  <c:v>-1.13103382</c:v>
                </c:pt>
                <c:pt idx="23">
                  <c:v>-1.09538335</c:v>
                </c:pt>
                <c:pt idx="24">
                  <c:v>-1.05540991</c:v>
                </c:pt>
                <c:pt idx="25">
                  <c:v>-1.01127124</c:v>
                </c:pt>
                <c:pt idx="26">
                  <c:v>-0.96314155</c:v>
                </c:pt>
                <c:pt idx="27">
                  <c:v>-0.91121078</c:v>
                </c:pt>
                <c:pt idx="28">
                  <c:v>-0.85568388</c:v>
                </c:pt>
                <c:pt idx="29">
                  <c:v>-0.79677999</c:v>
                </c:pt>
                <c:pt idx="30">
                  <c:v>-0.74926236</c:v>
                </c:pt>
              </c:numCache>
            </c:numRef>
          </c:yVal>
          <c:smooth val="0"/>
          <c:extLst>
            <c:ext xmlns:c16="http://schemas.microsoft.com/office/drawing/2014/chart" uri="{C3380CC4-5D6E-409C-BE32-E72D297353CC}">
              <c16:uniqueId val="{00000004-20D7-2545-92A3-8E9A24C8FB91}"/>
            </c:ext>
          </c:extLst>
        </c:ser>
        <c:ser>
          <c:idx val="5"/>
          <c:order val="5"/>
          <c:tx>
            <c:v>Траектория</c:v>
          </c:tx>
          <c:spPr>
            <a:ln w="28575">
              <a:solidFill>
                <a:srgbClr val="EB681F"/>
              </a:solidFill>
            </a:ln>
          </c:spPr>
          <c:marker>
            <c:symbol val="circle"/>
            <c:size val="4"/>
            <c:spPr>
              <a:solidFill>
                <a:srgbClr val="EB681F"/>
              </a:solidFill>
              <a:ln>
                <a:solidFill>
                  <a:srgbClr val="EB681F"/>
                </a:solidFill>
              </a:ln>
            </c:spPr>
          </c:marker>
          <c:xVal>
            <c:numRef>
              <c:f>'Chart Data'!$K$2:$K$37</c:f>
              <c:numCache>
                <c:formatCode>0.00</c:formatCode>
                <c:ptCount val="36"/>
                <c:pt idx="0">
                  <c:v>1.7</c:v>
                </c:pt>
                <c:pt idx="1">
                  <c:v>1.295</c:v>
                </c:pt>
                <c:pt idx="2">
                  <c:v>1.10075</c:v>
                </c:pt>
                <c:pt idx="3">
                  <c:v>1.0856375</c:v>
                </c:pt>
                <c:pt idx="4">
                  <c:v>0.77279188</c:v>
                </c:pt>
                <c:pt idx="5">
                  <c:v>0.65687309</c:v>
                </c:pt>
                <c:pt idx="6">
                  <c:v>0.55834213</c:v>
                </c:pt>
                <c:pt idx="7">
                  <c:v>0.47459081</c:v>
                </c:pt>
                <c:pt idx="8">
                  <c:v>0.40340219</c:v>
                </c:pt>
                <c:pt idx="9">
                  <c:v>0.34289186</c:v>
                </c:pt>
                <c:pt idx="10">
                  <c:v>0.29145808</c:v>
                </c:pt>
                <c:pt idx="11">
                  <c:v>0.24773937</c:v>
                </c:pt>
                <c:pt idx="12">
                  <c:v>0.06057846</c:v>
                </c:pt>
                <c:pt idx="13">
                  <c:v>0.05149169</c:v>
                </c:pt>
                <c:pt idx="14">
                  <c:v>0.04376794</c:v>
                </c:pt>
                <c:pt idx="15">
                  <c:v>-0.11279725</c:v>
                </c:pt>
                <c:pt idx="16">
                  <c:v>-0.09587766</c:v>
                </c:pt>
                <c:pt idx="17">
                  <c:v>-0.23149601</c:v>
                </c:pt>
                <c:pt idx="18">
                  <c:v>-0.19677161</c:v>
                </c:pt>
                <c:pt idx="19">
                  <c:v>-0.16725587</c:v>
                </c:pt>
                <c:pt idx="20">
                  <c:v>-0.14216749</c:v>
                </c:pt>
                <c:pt idx="21">
                  <c:v>0.02915763</c:v>
                </c:pt>
                <c:pt idx="22">
                  <c:v>0.02478399</c:v>
                </c:pt>
                <c:pt idx="23">
                  <c:v>0.02106639</c:v>
                </c:pt>
                <c:pt idx="24">
                  <c:v>-0.13209357</c:v>
                </c:pt>
                <c:pt idx="25">
                  <c:v>-0.11227953</c:v>
                </c:pt>
                <c:pt idx="26">
                  <c:v>0.0545624</c:v>
                </c:pt>
                <c:pt idx="27">
                  <c:v>-0.10362196</c:v>
                </c:pt>
                <c:pt idx="28">
                  <c:v>-0.08807867</c:v>
                </c:pt>
                <c:pt idx="29">
                  <c:v>-0.07486687</c:v>
                </c:pt>
                <c:pt idx="30">
                  <c:v>-0.21363684</c:v>
                </c:pt>
                <c:pt idx="31">
                  <c:v>-0.18159131</c:v>
                </c:pt>
                <c:pt idx="32">
                  <c:v>-0.00435262</c:v>
                </c:pt>
                <c:pt idx="33">
                  <c:v>-0.00369972</c:v>
                </c:pt>
                <c:pt idx="34">
                  <c:v>-0.15314476</c:v>
                </c:pt>
                <c:pt idx="35">
                  <c:v>-0.13017305</c:v>
                </c:pt>
              </c:numCache>
            </c:numRef>
          </c:xVal>
          <c:yVal>
            <c:numRef>
              <c:f>'Chart Data'!$L$2:$L$37</c:f>
              <c:numCache>
                <c:formatCode>0.00</c:formatCode>
                <c:ptCount val="36"/>
                <c:pt idx="0">
                  <c:v>1.7</c:v>
                </c:pt>
                <c:pt idx="1">
                  <c:v>0.68</c:v>
                </c:pt>
                <c:pt idx="2">
                  <c:v>0.272</c:v>
                </c:pt>
                <c:pt idx="3">
                  <c:v>0.1088</c:v>
                </c:pt>
                <c:pt idx="4">
                  <c:v>0.04352</c:v>
                </c:pt>
                <c:pt idx="5">
                  <c:v>-0.582592</c:v>
                </c:pt>
                <c:pt idx="6">
                  <c:v>-0.8330368</c:v>
                </c:pt>
                <c:pt idx="7">
                  <c:v>0.26678528</c:v>
                </c:pt>
                <c:pt idx="8">
                  <c:v>0.70671411</c:v>
                </c:pt>
                <c:pt idx="9">
                  <c:v>0.28268564</c:v>
                </c:pt>
                <c:pt idx="10">
                  <c:v>0.11307426</c:v>
                </c:pt>
                <c:pt idx="11">
                  <c:v>-0.5547703</c:v>
                </c:pt>
                <c:pt idx="12">
                  <c:v>-0.22190812</c:v>
                </c:pt>
                <c:pt idx="13">
                  <c:v>-0.08876325</c:v>
                </c:pt>
                <c:pt idx="14">
                  <c:v>-0.0355053</c:v>
                </c:pt>
                <c:pt idx="15">
                  <c:v>-0.01420212</c:v>
                </c:pt>
                <c:pt idx="16">
                  <c:v>-0.00568085</c:v>
                </c:pt>
                <c:pt idx="17">
                  <c:v>-0.00227234</c:v>
                </c:pt>
                <c:pt idx="18">
                  <c:v>-0.60090894</c:v>
                </c:pt>
                <c:pt idx="19">
                  <c:v>-0.24036357</c:v>
                </c:pt>
                <c:pt idx="20">
                  <c:v>-0.69614543</c:v>
                </c:pt>
                <c:pt idx="21">
                  <c:v>-0.27845817</c:v>
                </c:pt>
                <c:pt idx="22">
                  <c:v>-0.71138327</c:v>
                </c:pt>
                <c:pt idx="23">
                  <c:v>0.31544669</c:v>
                </c:pt>
                <c:pt idx="24">
                  <c:v>0.12617868</c:v>
                </c:pt>
                <c:pt idx="25">
                  <c:v>0.65047147</c:v>
                </c:pt>
                <c:pt idx="26">
                  <c:v>0.26018859</c:v>
                </c:pt>
                <c:pt idx="27">
                  <c:v>0.10407544</c:v>
                </c:pt>
                <c:pt idx="28">
                  <c:v>0.04163017</c:v>
                </c:pt>
                <c:pt idx="29">
                  <c:v>0.61665207</c:v>
                </c:pt>
                <c:pt idx="30">
                  <c:v>0.24666083</c:v>
                </c:pt>
                <c:pt idx="31">
                  <c:v>0.09866433</c:v>
                </c:pt>
                <c:pt idx="32">
                  <c:v>0.03946573</c:v>
                </c:pt>
                <c:pt idx="33">
                  <c:v>0.01578629</c:v>
                </c:pt>
                <c:pt idx="34">
                  <c:v>0.00631452</c:v>
                </c:pt>
                <c:pt idx="35">
                  <c:v>0.00252581</c:v>
                </c:pt>
              </c:numCache>
            </c:numRef>
          </c:yVal>
          <c:smooth val="0"/>
          <c:extLst>
            <c:ext xmlns:c16="http://schemas.microsoft.com/office/drawing/2014/chart" uri="{C3380CC4-5D6E-409C-BE32-E72D297353CC}">
              <c16:uniqueId val="{00000005-20D7-2545-92A3-8E9A24C8FB91}"/>
            </c:ext>
          </c:extLst>
        </c:ser>
        <c:dLbls>
          <c:showLegendKey val="0"/>
          <c:showVal val="0"/>
          <c:showCatName val="0"/>
          <c:showSerName val="0"/>
          <c:showPercent val="0"/>
          <c:showBubbleSize val="0"/>
        </c:dLbls>
        <c:axId val="48650112"/>
        <c:axId val="48672768"/>
      </c:scatterChart>
      <c:valAx>
        <c:axId val="48672768"/>
        <c:scaling>
          <c:orientation val="minMax"/>
          <c:max val="2"/>
          <c:min val="-2"/>
        </c:scaling>
        <c:delete val="0"/>
        <c:axPos val="l"/>
        <c:majorGridlines>
          <c:spPr>
            <a:ln w="9525">
              <a:solidFill>
                <a:srgbClr val="DFE6F0"/>
              </a:solidFill>
            </a:ln>
          </c:spPr>
        </c:majorGridlines>
        <c:title>
          <c:tx>
            <c:rich>
              <a:bodyPr/>
              <a:lstStyle/>
              <a:p>
                <a:r>
                  <a:rPr lang="ru-RU" sz="1500">
                    <a:solidFill>
                      <a:srgbClr val="102D69"/>
                    </a:solidFill>
                    <a:latin typeface="HSE Sans"/>
                    <a:ea typeface="HSE Sans"/>
                    <a:cs typeface="HSE Sans"/>
                  </a:rPr>
                  <a:t>Вес </a:t>
                </a:r>
                <a:r>
                  <a:rPr lang="en" sz="1500">
                    <a:solidFill>
                      <a:srgbClr val="102D69"/>
                    </a:solidFill>
                    <a:latin typeface="HSE Sans"/>
                    <a:ea typeface="HSE Sans"/>
                    <a:cs typeface="HSE Sans"/>
                  </a:rPr>
                  <a:t>w₂</a:t>
                </a:r>
              </a:p>
            </c:rich>
          </c:tx>
          <c:overlay val="0"/>
        </c:title>
        <c:numFmt formatCode="0" sourceLinked="0"/>
        <c:majorTickMark val="none"/>
        <c:minorTickMark val="none"/>
        <c:tickLblPos val="low"/>
        <c:spPr>
          <a:ln w="9525">
            <a:solidFill>
              <a:srgbClr val="A6B2C4"/>
            </a:solidFill>
          </a:ln>
        </c:spPr>
        <c:txPr>
          <a:bodyPr anchorCtr="1"/>
          <a:lstStyle/>
          <a:p>
            <a:pPr>
              <a:defRPr sz="1425">
                <a:solidFill>
                  <a:srgbClr val="102D69"/>
                </a:solidFill>
                <a:latin typeface="HSE Sans"/>
                <a:ea typeface="HSE Sans"/>
                <a:cs typeface="HSE Sans"/>
              </a:defRPr>
            </a:pPr>
            <a:endParaRPr lang="ru-RU"/>
          </a:p>
        </c:txPr>
        <c:crossAx val="48650112"/>
        <c:crosses val="min"/>
        <c:crossBetween val="midCat"/>
        <c:majorUnit val="1"/>
      </c:valAx>
      <c:valAx>
        <c:axId val="48650112"/>
        <c:scaling>
          <c:orientation val="minMax"/>
          <c:max val="2"/>
          <c:min val="-2"/>
        </c:scaling>
        <c:delete val="0"/>
        <c:axPos val="b"/>
        <c:title>
          <c:tx>
            <c:rich>
              <a:bodyPr/>
              <a:lstStyle/>
              <a:p>
                <a:r>
                  <a:rPr lang="ru-RU" sz="1500">
                    <a:solidFill>
                      <a:srgbClr val="102D69"/>
                    </a:solidFill>
                    <a:latin typeface="HSE Sans"/>
                    <a:ea typeface="HSE Sans"/>
                    <a:cs typeface="HSE Sans"/>
                  </a:rPr>
                  <a:t>Вес </a:t>
                </a:r>
                <a:r>
                  <a:rPr lang="en" sz="1500">
                    <a:solidFill>
                      <a:srgbClr val="102D69"/>
                    </a:solidFill>
                    <a:latin typeface="HSE Sans"/>
                    <a:ea typeface="HSE Sans"/>
                    <a:cs typeface="HSE Sans"/>
                  </a:rPr>
                  <a:t>w₁</a:t>
                </a:r>
              </a:p>
            </c:rich>
          </c:tx>
          <c:overlay val="0"/>
        </c:title>
        <c:numFmt formatCode="0" sourceLinked="0"/>
        <c:majorTickMark val="none"/>
        <c:minorTickMark val="none"/>
        <c:tickLblPos val="low"/>
        <c:spPr>
          <a:ln w="9525">
            <a:solidFill>
              <a:srgbClr val="A6B2C4"/>
            </a:solidFill>
          </a:ln>
        </c:spPr>
        <c:txPr>
          <a:bodyPr anchorCtr="1"/>
          <a:lstStyle/>
          <a:p>
            <a:pPr>
              <a:defRPr sz="1425">
                <a:solidFill>
                  <a:srgbClr val="102D69"/>
                </a:solidFill>
                <a:latin typeface="HSE Sans"/>
                <a:ea typeface="HSE Sans"/>
                <a:cs typeface="HSE Sans"/>
              </a:defRPr>
            </a:pPr>
            <a:endParaRPr lang="ru-RU"/>
          </a:p>
        </c:txPr>
        <c:crossAx val="48672768"/>
        <c:crosses val="min"/>
        <c:crossBetween val="midCat"/>
        <c:majorUnit val="1"/>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scatterChart>
        <c:scatterStyle val="lineMarker"/>
        <c:varyColors val="1"/>
        <c:ser>
          <c:idx val="0"/>
          <c:order val="0"/>
          <c:tx>
            <c:v>Одинаковая ошибка</c:v>
          </c:tx>
          <c:spPr>
            <a:ln w="28575">
              <a:solidFill>
                <a:srgbClr val="C5CDDA"/>
              </a:solidFill>
            </a:ln>
          </c:spPr>
          <c:marker>
            <c:symbol val="none"/>
          </c:marker>
          <c:xVal>
            <c:numRef>
              <c:f>'Chart Data'!$A$2:$A$102</c:f>
              <c:numCache>
                <c:formatCode>0.00</c:formatCode>
                <c:ptCount val="101"/>
                <c:pt idx="0">
                  <c:v>0.6</c:v>
                </c:pt>
                <c:pt idx="1">
                  <c:v>0.59881604</c:v>
                </c:pt>
                <c:pt idx="2">
                  <c:v>0.59526882</c:v>
                </c:pt>
                <c:pt idx="3">
                  <c:v>0.58937235</c:v>
                </c:pt>
                <c:pt idx="4">
                  <c:v>0.5811499</c:v>
                </c:pt>
                <c:pt idx="5">
                  <c:v>0.57063391</c:v>
                </c:pt>
                <c:pt idx="6">
                  <c:v>0.55786589</c:v>
                </c:pt>
                <c:pt idx="7">
                  <c:v>0.54289623</c:v>
                </c:pt>
                <c:pt idx="8">
                  <c:v>0.52578401</c:v>
                </c:pt>
                <c:pt idx="9">
                  <c:v>0.50659676</c:v>
                </c:pt>
                <c:pt idx="10">
                  <c:v>0.4854102</c:v>
                </c:pt>
                <c:pt idx="11">
                  <c:v>0.46230795</c:v>
                </c:pt>
                <c:pt idx="12">
                  <c:v>0.43738118</c:v>
                </c:pt>
                <c:pt idx="13">
                  <c:v>0.41072826</c:v>
                </c:pt>
                <c:pt idx="14">
                  <c:v>0.38245439</c:v>
                </c:pt>
                <c:pt idx="15">
                  <c:v>0.35267115</c:v>
                </c:pt>
                <c:pt idx="16">
                  <c:v>0.32149608</c:v>
                </c:pt>
                <c:pt idx="17">
                  <c:v>0.2890522</c:v>
                </c:pt>
                <c:pt idx="18">
                  <c:v>0.25546757</c:v>
                </c:pt>
                <c:pt idx="19">
                  <c:v>0.22087473</c:v>
                </c:pt>
                <c:pt idx="20">
                  <c:v>0.1854102</c:v>
                </c:pt>
                <c:pt idx="21">
                  <c:v>0.14921393</c:v>
                </c:pt>
                <c:pt idx="22">
                  <c:v>0.11242879</c:v>
                </c:pt>
                <c:pt idx="23">
                  <c:v>0.07519994</c:v>
                </c:pt>
                <c:pt idx="24">
                  <c:v>0.03767431</c:v>
                </c:pt>
                <c:pt idx="25">
                  <c:v>0</c:v>
                </c:pt>
                <c:pt idx="26">
                  <c:v>-0.03767431</c:v>
                </c:pt>
                <c:pt idx="27">
                  <c:v>-0.07519994</c:v>
                </c:pt>
                <c:pt idx="28">
                  <c:v>-0.11242879</c:v>
                </c:pt>
                <c:pt idx="29">
                  <c:v>-0.14921393</c:v>
                </c:pt>
                <c:pt idx="30">
                  <c:v>-0.1854102</c:v>
                </c:pt>
                <c:pt idx="31">
                  <c:v>-0.22087473</c:v>
                </c:pt>
                <c:pt idx="32">
                  <c:v>-0.25546757</c:v>
                </c:pt>
                <c:pt idx="33">
                  <c:v>-0.2890522</c:v>
                </c:pt>
                <c:pt idx="34">
                  <c:v>-0.32149608</c:v>
                </c:pt>
                <c:pt idx="35">
                  <c:v>-0.35267115</c:v>
                </c:pt>
                <c:pt idx="36">
                  <c:v>-0.38245439</c:v>
                </c:pt>
                <c:pt idx="37">
                  <c:v>-0.41072826</c:v>
                </c:pt>
                <c:pt idx="38">
                  <c:v>-0.43738118</c:v>
                </c:pt>
                <c:pt idx="39">
                  <c:v>-0.46230795</c:v>
                </c:pt>
                <c:pt idx="40">
                  <c:v>-0.4854102</c:v>
                </c:pt>
                <c:pt idx="41">
                  <c:v>-0.50659676</c:v>
                </c:pt>
                <c:pt idx="42">
                  <c:v>-0.52578401</c:v>
                </c:pt>
                <c:pt idx="43">
                  <c:v>-0.54289623</c:v>
                </c:pt>
                <c:pt idx="44">
                  <c:v>-0.55786589</c:v>
                </c:pt>
                <c:pt idx="45">
                  <c:v>-0.57063391</c:v>
                </c:pt>
                <c:pt idx="46">
                  <c:v>-0.5811499</c:v>
                </c:pt>
                <c:pt idx="47">
                  <c:v>-0.58937235</c:v>
                </c:pt>
                <c:pt idx="48">
                  <c:v>-0.59526882</c:v>
                </c:pt>
                <c:pt idx="49">
                  <c:v>-0.59881604</c:v>
                </c:pt>
                <c:pt idx="50">
                  <c:v>-0.6</c:v>
                </c:pt>
                <c:pt idx="51">
                  <c:v>-0.59881604</c:v>
                </c:pt>
                <c:pt idx="52">
                  <c:v>-0.59526882</c:v>
                </c:pt>
                <c:pt idx="53">
                  <c:v>-0.58937235</c:v>
                </c:pt>
                <c:pt idx="54">
                  <c:v>-0.5811499</c:v>
                </c:pt>
                <c:pt idx="55">
                  <c:v>-0.57063391</c:v>
                </c:pt>
                <c:pt idx="56">
                  <c:v>-0.55786589</c:v>
                </c:pt>
                <c:pt idx="57">
                  <c:v>-0.54289623</c:v>
                </c:pt>
                <c:pt idx="58">
                  <c:v>-0.52578401</c:v>
                </c:pt>
                <c:pt idx="59">
                  <c:v>-0.50659676</c:v>
                </c:pt>
                <c:pt idx="60">
                  <c:v>-0.4854102</c:v>
                </c:pt>
                <c:pt idx="61">
                  <c:v>-0.46230795</c:v>
                </c:pt>
                <c:pt idx="62">
                  <c:v>-0.43738118</c:v>
                </c:pt>
                <c:pt idx="63">
                  <c:v>-0.41072826</c:v>
                </c:pt>
                <c:pt idx="64">
                  <c:v>-0.38245439</c:v>
                </c:pt>
                <c:pt idx="65">
                  <c:v>-0.35267115</c:v>
                </c:pt>
                <c:pt idx="66">
                  <c:v>-0.32149608</c:v>
                </c:pt>
                <c:pt idx="67">
                  <c:v>-0.2890522</c:v>
                </c:pt>
                <c:pt idx="68">
                  <c:v>-0.25546757</c:v>
                </c:pt>
                <c:pt idx="69">
                  <c:v>-0.22087473</c:v>
                </c:pt>
                <c:pt idx="70">
                  <c:v>-0.1854102</c:v>
                </c:pt>
                <c:pt idx="71">
                  <c:v>-0.14921393</c:v>
                </c:pt>
                <c:pt idx="72">
                  <c:v>-0.11242879</c:v>
                </c:pt>
                <c:pt idx="73">
                  <c:v>-0.07519994</c:v>
                </c:pt>
                <c:pt idx="74">
                  <c:v>-0.03767431</c:v>
                </c:pt>
                <c:pt idx="75">
                  <c:v>0</c:v>
                </c:pt>
                <c:pt idx="76">
                  <c:v>0.03767431</c:v>
                </c:pt>
                <c:pt idx="77">
                  <c:v>0.07519994</c:v>
                </c:pt>
                <c:pt idx="78">
                  <c:v>0.11242879</c:v>
                </c:pt>
                <c:pt idx="79">
                  <c:v>0.14921393</c:v>
                </c:pt>
                <c:pt idx="80">
                  <c:v>0.1854102</c:v>
                </c:pt>
                <c:pt idx="81">
                  <c:v>0.22087473</c:v>
                </c:pt>
                <c:pt idx="82">
                  <c:v>0.25546757</c:v>
                </c:pt>
                <c:pt idx="83">
                  <c:v>0.2890522</c:v>
                </c:pt>
                <c:pt idx="84">
                  <c:v>0.32149608</c:v>
                </c:pt>
                <c:pt idx="85">
                  <c:v>0.35267115</c:v>
                </c:pt>
                <c:pt idx="86">
                  <c:v>0.38245439</c:v>
                </c:pt>
                <c:pt idx="87">
                  <c:v>0.41072826</c:v>
                </c:pt>
                <c:pt idx="88">
                  <c:v>0.43738118</c:v>
                </c:pt>
                <c:pt idx="89">
                  <c:v>0.46230795</c:v>
                </c:pt>
                <c:pt idx="90">
                  <c:v>0.4854102</c:v>
                </c:pt>
                <c:pt idx="91">
                  <c:v>0.50659676</c:v>
                </c:pt>
                <c:pt idx="92">
                  <c:v>0.52578401</c:v>
                </c:pt>
                <c:pt idx="93">
                  <c:v>0.54289623</c:v>
                </c:pt>
                <c:pt idx="94">
                  <c:v>0.55786589</c:v>
                </c:pt>
                <c:pt idx="95">
                  <c:v>0.57063391</c:v>
                </c:pt>
                <c:pt idx="96">
                  <c:v>0.5811499</c:v>
                </c:pt>
                <c:pt idx="97">
                  <c:v>0.58937235</c:v>
                </c:pt>
                <c:pt idx="98">
                  <c:v>0.59526882</c:v>
                </c:pt>
                <c:pt idx="99">
                  <c:v>0.59881604</c:v>
                </c:pt>
                <c:pt idx="100">
                  <c:v>0.6</c:v>
                </c:pt>
              </c:numCache>
            </c:numRef>
          </c:xVal>
          <c:yVal>
            <c:numRef>
              <c:f>'Chart Data'!$B$2:$B$102</c:f>
              <c:numCache>
                <c:formatCode>0.00</c:formatCode>
                <c:ptCount val="101"/>
                <c:pt idx="0">
                  <c:v>0</c:v>
                </c:pt>
                <c:pt idx="1">
                  <c:v>0.01883716</c:v>
                </c:pt>
                <c:pt idx="2">
                  <c:v>0.03759997</c:v>
                </c:pt>
                <c:pt idx="3">
                  <c:v>0.05621439</c:v>
                </c:pt>
                <c:pt idx="4">
                  <c:v>0.07460697</c:v>
                </c:pt>
                <c:pt idx="5">
                  <c:v>0.0927051</c:v>
                </c:pt>
                <c:pt idx="6">
                  <c:v>0.11043737</c:v>
                </c:pt>
                <c:pt idx="7">
                  <c:v>0.12773379</c:v>
                </c:pt>
                <c:pt idx="8">
                  <c:v>0.1445261</c:v>
                </c:pt>
                <c:pt idx="9">
                  <c:v>0.16074804</c:v>
                </c:pt>
                <c:pt idx="10">
                  <c:v>0.17633558</c:v>
                </c:pt>
                <c:pt idx="11">
                  <c:v>0.1912272</c:v>
                </c:pt>
                <c:pt idx="12">
                  <c:v>0.20536413</c:v>
                </c:pt>
                <c:pt idx="13">
                  <c:v>0.21869059</c:v>
                </c:pt>
                <c:pt idx="14">
                  <c:v>0.23115397</c:v>
                </c:pt>
                <c:pt idx="15">
                  <c:v>0.2427051</c:v>
                </c:pt>
                <c:pt idx="16">
                  <c:v>0.25329838</c:v>
                </c:pt>
                <c:pt idx="17">
                  <c:v>0.262892</c:v>
                </c:pt>
                <c:pt idx="18">
                  <c:v>0.27144812</c:v>
                </c:pt>
                <c:pt idx="19">
                  <c:v>0.27893295</c:v>
                </c:pt>
                <c:pt idx="20">
                  <c:v>0.28531695</c:v>
                </c:pt>
                <c:pt idx="21">
                  <c:v>0.29057495</c:v>
                </c:pt>
                <c:pt idx="22">
                  <c:v>0.29468618</c:v>
                </c:pt>
                <c:pt idx="23">
                  <c:v>0.29763441</c:v>
                </c:pt>
                <c:pt idx="24">
                  <c:v>0.29940802</c:v>
                </c:pt>
                <c:pt idx="25">
                  <c:v>0.3</c:v>
                </c:pt>
                <c:pt idx="26">
                  <c:v>0.29940802</c:v>
                </c:pt>
                <c:pt idx="27">
                  <c:v>0.29763441</c:v>
                </c:pt>
                <c:pt idx="28">
                  <c:v>0.29468618</c:v>
                </c:pt>
                <c:pt idx="29">
                  <c:v>0.29057495</c:v>
                </c:pt>
                <c:pt idx="30">
                  <c:v>0.28531695</c:v>
                </c:pt>
                <c:pt idx="31">
                  <c:v>0.27893295</c:v>
                </c:pt>
                <c:pt idx="32">
                  <c:v>0.27144812</c:v>
                </c:pt>
                <c:pt idx="33">
                  <c:v>0.262892</c:v>
                </c:pt>
                <c:pt idx="34">
                  <c:v>0.25329838</c:v>
                </c:pt>
                <c:pt idx="35">
                  <c:v>0.2427051</c:v>
                </c:pt>
                <c:pt idx="36">
                  <c:v>0.23115397</c:v>
                </c:pt>
                <c:pt idx="37">
                  <c:v>0.21869059</c:v>
                </c:pt>
                <c:pt idx="38">
                  <c:v>0.20536413</c:v>
                </c:pt>
                <c:pt idx="39">
                  <c:v>0.1912272</c:v>
                </c:pt>
                <c:pt idx="40">
                  <c:v>0.17633558</c:v>
                </c:pt>
                <c:pt idx="41">
                  <c:v>0.16074804</c:v>
                </c:pt>
                <c:pt idx="42">
                  <c:v>0.1445261</c:v>
                </c:pt>
                <c:pt idx="43">
                  <c:v>0.12773379</c:v>
                </c:pt>
                <c:pt idx="44">
                  <c:v>0.11043737</c:v>
                </c:pt>
                <c:pt idx="45">
                  <c:v>0.0927051</c:v>
                </c:pt>
                <c:pt idx="46">
                  <c:v>0.07460697</c:v>
                </c:pt>
                <c:pt idx="47">
                  <c:v>0.05621439</c:v>
                </c:pt>
                <c:pt idx="48">
                  <c:v>0.03759997</c:v>
                </c:pt>
                <c:pt idx="49">
                  <c:v>0.01883716</c:v>
                </c:pt>
                <c:pt idx="50">
                  <c:v>0</c:v>
                </c:pt>
                <c:pt idx="51">
                  <c:v>-0.01883716</c:v>
                </c:pt>
                <c:pt idx="52">
                  <c:v>-0.03759997</c:v>
                </c:pt>
                <c:pt idx="53">
                  <c:v>-0.05621439</c:v>
                </c:pt>
                <c:pt idx="54">
                  <c:v>-0.07460697</c:v>
                </c:pt>
                <c:pt idx="55">
                  <c:v>-0.0927051</c:v>
                </c:pt>
                <c:pt idx="56">
                  <c:v>-0.11043737</c:v>
                </c:pt>
                <c:pt idx="57">
                  <c:v>-0.12773379</c:v>
                </c:pt>
                <c:pt idx="58">
                  <c:v>-0.1445261</c:v>
                </c:pt>
                <c:pt idx="59">
                  <c:v>-0.16074804</c:v>
                </c:pt>
                <c:pt idx="60">
                  <c:v>-0.17633558</c:v>
                </c:pt>
                <c:pt idx="61">
                  <c:v>-0.1912272</c:v>
                </c:pt>
                <c:pt idx="62">
                  <c:v>-0.20536413</c:v>
                </c:pt>
                <c:pt idx="63">
                  <c:v>-0.21869059</c:v>
                </c:pt>
                <c:pt idx="64">
                  <c:v>-0.23115397</c:v>
                </c:pt>
                <c:pt idx="65">
                  <c:v>-0.2427051</c:v>
                </c:pt>
                <c:pt idx="66">
                  <c:v>-0.25329838</c:v>
                </c:pt>
                <c:pt idx="67">
                  <c:v>-0.262892</c:v>
                </c:pt>
                <c:pt idx="68">
                  <c:v>-0.27144812</c:v>
                </c:pt>
                <c:pt idx="69">
                  <c:v>-0.27893295</c:v>
                </c:pt>
                <c:pt idx="70">
                  <c:v>-0.28531695</c:v>
                </c:pt>
                <c:pt idx="71">
                  <c:v>-0.29057495</c:v>
                </c:pt>
                <c:pt idx="72">
                  <c:v>-0.29468618</c:v>
                </c:pt>
                <c:pt idx="73">
                  <c:v>-0.29763441</c:v>
                </c:pt>
                <c:pt idx="74">
                  <c:v>-0.29940802</c:v>
                </c:pt>
                <c:pt idx="75">
                  <c:v>-0.3</c:v>
                </c:pt>
                <c:pt idx="76">
                  <c:v>-0.29940802</c:v>
                </c:pt>
                <c:pt idx="77">
                  <c:v>-0.29763441</c:v>
                </c:pt>
                <c:pt idx="78">
                  <c:v>-0.29468618</c:v>
                </c:pt>
                <c:pt idx="79">
                  <c:v>-0.29057495</c:v>
                </c:pt>
                <c:pt idx="80">
                  <c:v>-0.28531695</c:v>
                </c:pt>
                <c:pt idx="81">
                  <c:v>-0.27893295</c:v>
                </c:pt>
                <c:pt idx="82">
                  <c:v>-0.27144812</c:v>
                </c:pt>
                <c:pt idx="83">
                  <c:v>-0.262892</c:v>
                </c:pt>
                <c:pt idx="84">
                  <c:v>-0.25329838</c:v>
                </c:pt>
                <c:pt idx="85">
                  <c:v>-0.2427051</c:v>
                </c:pt>
                <c:pt idx="86">
                  <c:v>-0.23115397</c:v>
                </c:pt>
                <c:pt idx="87">
                  <c:v>-0.21869059</c:v>
                </c:pt>
                <c:pt idx="88">
                  <c:v>-0.20536413</c:v>
                </c:pt>
                <c:pt idx="89">
                  <c:v>-0.1912272</c:v>
                </c:pt>
                <c:pt idx="90">
                  <c:v>-0.17633558</c:v>
                </c:pt>
                <c:pt idx="91">
                  <c:v>-0.16074804</c:v>
                </c:pt>
                <c:pt idx="92">
                  <c:v>-0.1445261</c:v>
                </c:pt>
                <c:pt idx="93">
                  <c:v>-0.12773379</c:v>
                </c:pt>
                <c:pt idx="94">
                  <c:v>-0.11043737</c:v>
                </c:pt>
                <c:pt idx="95">
                  <c:v>-0.0927051</c:v>
                </c:pt>
                <c:pt idx="96">
                  <c:v>-0.07460697</c:v>
                </c:pt>
                <c:pt idx="97">
                  <c:v>-0.05621439</c:v>
                </c:pt>
                <c:pt idx="98">
                  <c:v>-0.03759997</c:v>
                </c:pt>
                <c:pt idx="99">
                  <c:v>-0.01883716</c:v>
                </c:pt>
                <c:pt idx="100">
                  <c:v>0</c:v>
                </c:pt>
              </c:numCache>
            </c:numRef>
          </c:yVal>
          <c:smooth val="0"/>
          <c:extLst>
            <c:ext xmlns:c16="http://schemas.microsoft.com/office/drawing/2014/chart" uri="{C3380CC4-5D6E-409C-BE32-E72D297353CC}">
              <c16:uniqueId val="{00000000-810B-BC4C-936D-D1E61AE164FF}"/>
            </c:ext>
          </c:extLst>
        </c:ser>
        <c:ser>
          <c:idx val="1"/>
          <c:order val="1"/>
          <c:tx>
            <c:v>Одинаковая ошибка</c:v>
          </c:tx>
          <c:spPr>
            <a:ln w="28575">
              <a:solidFill>
                <a:srgbClr val="C5CDDA"/>
              </a:solidFill>
            </a:ln>
          </c:spPr>
          <c:marker>
            <c:symbol val="none"/>
          </c:marker>
          <c:xVal>
            <c:numRef>
              <c:f>'Chart Data'!$C$2:$C$102</c:f>
              <c:numCache>
                <c:formatCode>0.00</c:formatCode>
                <c:ptCount val="101"/>
                <c:pt idx="0">
                  <c:v>1.2</c:v>
                </c:pt>
                <c:pt idx="1">
                  <c:v>1.19763207</c:v>
                </c:pt>
                <c:pt idx="2">
                  <c:v>1.19053764</c:v>
                </c:pt>
                <c:pt idx="3">
                  <c:v>1.1787447</c:v>
                </c:pt>
                <c:pt idx="4">
                  <c:v>1.16229979</c:v>
                </c:pt>
                <c:pt idx="5">
                  <c:v>1.14126782</c:v>
                </c:pt>
                <c:pt idx="6">
                  <c:v>1.11573178</c:v>
                </c:pt>
                <c:pt idx="7">
                  <c:v>1.08579246</c:v>
                </c:pt>
                <c:pt idx="8">
                  <c:v>1.05156802</c:v>
                </c:pt>
                <c:pt idx="9">
                  <c:v>1.01319351</c:v>
                </c:pt>
                <c:pt idx="10">
                  <c:v>0.97082039</c:v>
                </c:pt>
                <c:pt idx="11">
                  <c:v>0.92461589</c:v>
                </c:pt>
                <c:pt idx="12">
                  <c:v>0.87476235</c:v>
                </c:pt>
                <c:pt idx="13">
                  <c:v>0.82145653</c:v>
                </c:pt>
                <c:pt idx="14">
                  <c:v>0.76490879</c:v>
                </c:pt>
                <c:pt idx="15">
                  <c:v>0.7053423</c:v>
                </c:pt>
                <c:pt idx="16">
                  <c:v>0.64299215</c:v>
                </c:pt>
                <c:pt idx="17">
                  <c:v>0.57810441</c:v>
                </c:pt>
                <c:pt idx="18">
                  <c:v>0.51093515</c:v>
                </c:pt>
                <c:pt idx="19">
                  <c:v>0.44174946</c:v>
                </c:pt>
                <c:pt idx="20">
                  <c:v>0.37082039</c:v>
                </c:pt>
                <c:pt idx="21">
                  <c:v>0.29842786</c:v>
                </c:pt>
                <c:pt idx="22">
                  <c:v>0.22485758</c:v>
                </c:pt>
                <c:pt idx="23">
                  <c:v>0.15039988</c:v>
                </c:pt>
                <c:pt idx="24">
                  <c:v>0.07534862</c:v>
                </c:pt>
                <c:pt idx="25">
                  <c:v>0</c:v>
                </c:pt>
                <c:pt idx="26">
                  <c:v>-0.07534862</c:v>
                </c:pt>
                <c:pt idx="27">
                  <c:v>-0.15039988</c:v>
                </c:pt>
                <c:pt idx="28">
                  <c:v>-0.22485758</c:v>
                </c:pt>
                <c:pt idx="29">
                  <c:v>-0.29842786</c:v>
                </c:pt>
                <c:pt idx="30">
                  <c:v>-0.37082039</c:v>
                </c:pt>
                <c:pt idx="31">
                  <c:v>-0.44174946</c:v>
                </c:pt>
                <c:pt idx="32">
                  <c:v>-0.51093515</c:v>
                </c:pt>
                <c:pt idx="33">
                  <c:v>-0.57810441</c:v>
                </c:pt>
                <c:pt idx="34">
                  <c:v>-0.64299215</c:v>
                </c:pt>
                <c:pt idx="35">
                  <c:v>-0.7053423</c:v>
                </c:pt>
                <c:pt idx="36">
                  <c:v>-0.76490879</c:v>
                </c:pt>
                <c:pt idx="37">
                  <c:v>-0.82145653</c:v>
                </c:pt>
                <c:pt idx="38">
                  <c:v>-0.87476235</c:v>
                </c:pt>
                <c:pt idx="39">
                  <c:v>-0.92461589</c:v>
                </c:pt>
                <c:pt idx="40">
                  <c:v>-0.97082039</c:v>
                </c:pt>
                <c:pt idx="41">
                  <c:v>-1.01319351</c:v>
                </c:pt>
                <c:pt idx="42">
                  <c:v>-1.05156802</c:v>
                </c:pt>
                <c:pt idx="43">
                  <c:v>-1.08579246</c:v>
                </c:pt>
                <c:pt idx="44">
                  <c:v>-1.11573178</c:v>
                </c:pt>
                <c:pt idx="45">
                  <c:v>-1.14126782</c:v>
                </c:pt>
                <c:pt idx="46">
                  <c:v>-1.16229979</c:v>
                </c:pt>
                <c:pt idx="47">
                  <c:v>-1.1787447</c:v>
                </c:pt>
                <c:pt idx="48">
                  <c:v>-1.19053764</c:v>
                </c:pt>
                <c:pt idx="49">
                  <c:v>-1.19763207</c:v>
                </c:pt>
                <c:pt idx="50">
                  <c:v>-1.2</c:v>
                </c:pt>
                <c:pt idx="51">
                  <c:v>-1.19763207</c:v>
                </c:pt>
                <c:pt idx="52">
                  <c:v>-1.19053764</c:v>
                </c:pt>
                <c:pt idx="53">
                  <c:v>-1.1787447</c:v>
                </c:pt>
                <c:pt idx="54">
                  <c:v>-1.16229979</c:v>
                </c:pt>
                <c:pt idx="55">
                  <c:v>-1.14126782</c:v>
                </c:pt>
                <c:pt idx="56">
                  <c:v>-1.11573178</c:v>
                </c:pt>
                <c:pt idx="57">
                  <c:v>-1.08579246</c:v>
                </c:pt>
                <c:pt idx="58">
                  <c:v>-1.05156802</c:v>
                </c:pt>
                <c:pt idx="59">
                  <c:v>-1.01319351</c:v>
                </c:pt>
                <c:pt idx="60">
                  <c:v>-0.97082039</c:v>
                </c:pt>
                <c:pt idx="61">
                  <c:v>-0.92461589</c:v>
                </c:pt>
                <c:pt idx="62">
                  <c:v>-0.87476235</c:v>
                </c:pt>
                <c:pt idx="63">
                  <c:v>-0.82145653</c:v>
                </c:pt>
                <c:pt idx="64">
                  <c:v>-0.76490879</c:v>
                </c:pt>
                <c:pt idx="65">
                  <c:v>-0.7053423</c:v>
                </c:pt>
                <c:pt idx="66">
                  <c:v>-0.64299215</c:v>
                </c:pt>
                <c:pt idx="67">
                  <c:v>-0.57810441</c:v>
                </c:pt>
                <c:pt idx="68">
                  <c:v>-0.51093515</c:v>
                </c:pt>
                <c:pt idx="69">
                  <c:v>-0.44174946</c:v>
                </c:pt>
                <c:pt idx="70">
                  <c:v>-0.37082039</c:v>
                </c:pt>
                <c:pt idx="71">
                  <c:v>-0.29842786</c:v>
                </c:pt>
                <c:pt idx="72">
                  <c:v>-0.22485758</c:v>
                </c:pt>
                <c:pt idx="73">
                  <c:v>-0.15039988</c:v>
                </c:pt>
                <c:pt idx="74">
                  <c:v>-0.07534862</c:v>
                </c:pt>
                <c:pt idx="75">
                  <c:v>0</c:v>
                </c:pt>
                <c:pt idx="76">
                  <c:v>0.07534862</c:v>
                </c:pt>
                <c:pt idx="77">
                  <c:v>0.15039988</c:v>
                </c:pt>
                <c:pt idx="78">
                  <c:v>0.22485758</c:v>
                </c:pt>
                <c:pt idx="79">
                  <c:v>0.29842786</c:v>
                </c:pt>
                <c:pt idx="80">
                  <c:v>0.37082039</c:v>
                </c:pt>
                <c:pt idx="81">
                  <c:v>0.44174946</c:v>
                </c:pt>
                <c:pt idx="82">
                  <c:v>0.51093515</c:v>
                </c:pt>
                <c:pt idx="83">
                  <c:v>0.57810441</c:v>
                </c:pt>
                <c:pt idx="84">
                  <c:v>0.64299215</c:v>
                </c:pt>
                <c:pt idx="85">
                  <c:v>0.7053423</c:v>
                </c:pt>
                <c:pt idx="86">
                  <c:v>0.76490879</c:v>
                </c:pt>
                <c:pt idx="87">
                  <c:v>0.82145653</c:v>
                </c:pt>
                <c:pt idx="88">
                  <c:v>0.87476235</c:v>
                </c:pt>
                <c:pt idx="89">
                  <c:v>0.92461589</c:v>
                </c:pt>
                <c:pt idx="90">
                  <c:v>0.97082039</c:v>
                </c:pt>
                <c:pt idx="91">
                  <c:v>1.01319351</c:v>
                </c:pt>
                <c:pt idx="92">
                  <c:v>1.05156802</c:v>
                </c:pt>
                <c:pt idx="93">
                  <c:v>1.08579246</c:v>
                </c:pt>
                <c:pt idx="94">
                  <c:v>1.11573178</c:v>
                </c:pt>
                <c:pt idx="95">
                  <c:v>1.14126782</c:v>
                </c:pt>
                <c:pt idx="96">
                  <c:v>1.16229979</c:v>
                </c:pt>
                <c:pt idx="97">
                  <c:v>1.1787447</c:v>
                </c:pt>
                <c:pt idx="98">
                  <c:v>1.19053764</c:v>
                </c:pt>
                <c:pt idx="99">
                  <c:v>1.19763207</c:v>
                </c:pt>
                <c:pt idx="100">
                  <c:v>1.2</c:v>
                </c:pt>
              </c:numCache>
            </c:numRef>
          </c:xVal>
          <c:yVal>
            <c:numRef>
              <c:f>'Chart Data'!$D$2:$D$102</c:f>
              <c:numCache>
                <c:formatCode>0.00</c:formatCode>
                <c:ptCount val="101"/>
                <c:pt idx="0">
                  <c:v>0</c:v>
                </c:pt>
                <c:pt idx="1">
                  <c:v>0.03767431</c:v>
                </c:pt>
                <c:pt idx="2">
                  <c:v>0.07519994</c:v>
                </c:pt>
                <c:pt idx="3">
                  <c:v>0.11242879</c:v>
                </c:pt>
                <c:pt idx="4">
                  <c:v>0.14921393</c:v>
                </c:pt>
                <c:pt idx="5">
                  <c:v>0.1854102</c:v>
                </c:pt>
                <c:pt idx="6">
                  <c:v>0.22087473</c:v>
                </c:pt>
                <c:pt idx="7">
                  <c:v>0.25546757</c:v>
                </c:pt>
                <c:pt idx="8">
                  <c:v>0.2890522</c:v>
                </c:pt>
                <c:pt idx="9">
                  <c:v>0.32149608</c:v>
                </c:pt>
                <c:pt idx="10">
                  <c:v>0.35267115</c:v>
                </c:pt>
                <c:pt idx="11">
                  <c:v>0.38245439</c:v>
                </c:pt>
                <c:pt idx="12">
                  <c:v>0.41072826</c:v>
                </c:pt>
                <c:pt idx="13">
                  <c:v>0.43738118</c:v>
                </c:pt>
                <c:pt idx="14">
                  <c:v>0.46230795</c:v>
                </c:pt>
                <c:pt idx="15">
                  <c:v>0.4854102</c:v>
                </c:pt>
                <c:pt idx="16">
                  <c:v>0.50659676</c:v>
                </c:pt>
                <c:pt idx="17">
                  <c:v>0.52578401</c:v>
                </c:pt>
                <c:pt idx="18">
                  <c:v>0.54289623</c:v>
                </c:pt>
                <c:pt idx="19">
                  <c:v>0.55786589</c:v>
                </c:pt>
                <c:pt idx="20">
                  <c:v>0.57063391</c:v>
                </c:pt>
                <c:pt idx="21">
                  <c:v>0.5811499</c:v>
                </c:pt>
                <c:pt idx="22">
                  <c:v>0.58937235</c:v>
                </c:pt>
                <c:pt idx="23">
                  <c:v>0.59526882</c:v>
                </c:pt>
                <c:pt idx="24">
                  <c:v>0.59881604</c:v>
                </c:pt>
                <c:pt idx="25">
                  <c:v>0.6</c:v>
                </c:pt>
                <c:pt idx="26">
                  <c:v>0.59881604</c:v>
                </c:pt>
                <c:pt idx="27">
                  <c:v>0.59526882</c:v>
                </c:pt>
                <c:pt idx="28">
                  <c:v>0.58937235</c:v>
                </c:pt>
                <c:pt idx="29">
                  <c:v>0.5811499</c:v>
                </c:pt>
                <c:pt idx="30">
                  <c:v>0.57063391</c:v>
                </c:pt>
                <c:pt idx="31">
                  <c:v>0.55786589</c:v>
                </c:pt>
                <c:pt idx="32">
                  <c:v>0.54289623</c:v>
                </c:pt>
                <c:pt idx="33">
                  <c:v>0.52578401</c:v>
                </c:pt>
                <c:pt idx="34">
                  <c:v>0.50659676</c:v>
                </c:pt>
                <c:pt idx="35">
                  <c:v>0.4854102</c:v>
                </c:pt>
                <c:pt idx="36">
                  <c:v>0.46230795</c:v>
                </c:pt>
                <c:pt idx="37">
                  <c:v>0.43738118</c:v>
                </c:pt>
                <c:pt idx="38">
                  <c:v>0.41072826</c:v>
                </c:pt>
                <c:pt idx="39">
                  <c:v>0.38245439</c:v>
                </c:pt>
                <c:pt idx="40">
                  <c:v>0.35267115</c:v>
                </c:pt>
                <c:pt idx="41">
                  <c:v>0.32149608</c:v>
                </c:pt>
                <c:pt idx="42">
                  <c:v>0.2890522</c:v>
                </c:pt>
                <c:pt idx="43">
                  <c:v>0.25546757</c:v>
                </c:pt>
                <c:pt idx="44">
                  <c:v>0.22087473</c:v>
                </c:pt>
                <c:pt idx="45">
                  <c:v>0.1854102</c:v>
                </c:pt>
                <c:pt idx="46">
                  <c:v>0.14921393</c:v>
                </c:pt>
                <c:pt idx="47">
                  <c:v>0.11242879</c:v>
                </c:pt>
                <c:pt idx="48">
                  <c:v>0.07519994</c:v>
                </c:pt>
                <c:pt idx="49">
                  <c:v>0.03767431</c:v>
                </c:pt>
                <c:pt idx="50">
                  <c:v>0</c:v>
                </c:pt>
                <c:pt idx="51">
                  <c:v>-0.03767431</c:v>
                </c:pt>
                <c:pt idx="52">
                  <c:v>-0.07519994</c:v>
                </c:pt>
                <c:pt idx="53">
                  <c:v>-0.11242879</c:v>
                </c:pt>
                <c:pt idx="54">
                  <c:v>-0.14921393</c:v>
                </c:pt>
                <c:pt idx="55">
                  <c:v>-0.1854102</c:v>
                </c:pt>
                <c:pt idx="56">
                  <c:v>-0.22087473</c:v>
                </c:pt>
                <c:pt idx="57">
                  <c:v>-0.25546757</c:v>
                </c:pt>
                <c:pt idx="58">
                  <c:v>-0.2890522</c:v>
                </c:pt>
                <c:pt idx="59">
                  <c:v>-0.32149608</c:v>
                </c:pt>
                <c:pt idx="60">
                  <c:v>-0.35267115</c:v>
                </c:pt>
                <c:pt idx="61">
                  <c:v>-0.38245439</c:v>
                </c:pt>
                <c:pt idx="62">
                  <c:v>-0.41072826</c:v>
                </c:pt>
                <c:pt idx="63">
                  <c:v>-0.43738118</c:v>
                </c:pt>
                <c:pt idx="64">
                  <c:v>-0.46230795</c:v>
                </c:pt>
                <c:pt idx="65">
                  <c:v>-0.4854102</c:v>
                </c:pt>
                <c:pt idx="66">
                  <c:v>-0.50659676</c:v>
                </c:pt>
                <c:pt idx="67">
                  <c:v>-0.52578401</c:v>
                </c:pt>
                <c:pt idx="68">
                  <c:v>-0.54289623</c:v>
                </c:pt>
                <c:pt idx="69">
                  <c:v>-0.55786589</c:v>
                </c:pt>
                <c:pt idx="70">
                  <c:v>-0.57063391</c:v>
                </c:pt>
                <c:pt idx="71">
                  <c:v>-0.5811499</c:v>
                </c:pt>
                <c:pt idx="72">
                  <c:v>-0.58937235</c:v>
                </c:pt>
                <c:pt idx="73">
                  <c:v>-0.59526882</c:v>
                </c:pt>
                <c:pt idx="74">
                  <c:v>-0.59881604</c:v>
                </c:pt>
                <c:pt idx="75">
                  <c:v>-0.6</c:v>
                </c:pt>
                <c:pt idx="76">
                  <c:v>-0.59881604</c:v>
                </c:pt>
                <c:pt idx="77">
                  <c:v>-0.59526882</c:v>
                </c:pt>
                <c:pt idx="78">
                  <c:v>-0.58937235</c:v>
                </c:pt>
                <c:pt idx="79">
                  <c:v>-0.5811499</c:v>
                </c:pt>
                <c:pt idx="80">
                  <c:v>-0.57063391</c:v>
                </c:pt>
                <c:pt idx="81">
                  <c:v>-0.55786589</c:v>
                </c:pt>
                <c:pt idx="82">
                  <c:v>-0.54289623</c:v>
                </c:pt>
                <c:pt idx="83">
                  <c:v>-0.52578401</c:v>
                </c:pt>
                <c:pt idx="84">
                  <c:v>-0.50659676</c:v>
                </c:pt>
                <c:pt idx="85">
                  <c:v>-0.4854102</c:v>
                </c:pt>
                <c:pt idx="86">
                  <c:v>-0.46230795</c:v>
                </c:pt>
                <c:pt idx="87">
                  <c:v>-0.43738118</c:v>
                </c:pt>
                <c:pt idx="88">
                  <c:v>-0.41072826</c:v>
                </c:pt>
                <c:pt idx="89">
                  <c:v>-0.38245439</c:v>
                </c:pt>
                <c:pt idx="90">
                  <c:v>-0.35267115</c:v>
                </c:pt>
                <c:pt idx="91">
                  <c:v>-0.32149608</c:v>
                </c:pt>
                <c:pt idx="92">
                  <c:v>-0.2890522</c:v>
                </c:pt>
                <c:pt idx="93">
                  <c:v>-0.25546757</c:v>
                </c:pt>
                <c:pt idx="94">
                  <c:v>-0.22087473</c:v>
                </c:pt>
                <c:pt idx="95">
                  <c:v>-0.1854102</c:v>
                </c:pt>
                <c:pt idx="96">
                  <c:v>-0.14921393</c:v>
                </c:pt>
                <c:pt idx="97">
                  <c:v>-0.11242879</c:v>
                </c:pt>
                <c:pt idx="98">
                  <c:v>-0.07519994</c:v>
                </c:pt>
                <c:pt idx="99">
                  <c:v>-0.03767431</c:v>
                </c:pt>
                <c:pt idx="100">
                  <c:v>0</c:v>
                </c:pt>
              </c:numCache>
            </c:numRef>
          </c:yVal>
          <c:smooth val="0"/>
          <c:extLst>
            <c:ext xmlns:c16="http://schemas.microsoft.com/office/drawing/2014/chart" uri="{C3380CC4-5D6E-409C-BE32-E72D297353CC}">
              <c16:uniqueId val="{00000001-810B-BC4C-936D-D1E61AE164FF}"/>
            </c:ext>
          </c:extLst>
        </c:ser>
        <c:ser>
          <c:idx val="2"/>
          <c:order val="2"/>
          <c:tx>
            <c:v>Одинаковая ошибка</c:v>
          </c:tx>
          <c:spPr>
            <a:ln w="28575">
              <a:solidFill>
                <a:srgbClr val="C5CDDA"/>
              </a:solidFill>
            </a:ln>
          </c:spPr>
          <c:marker>
            <c:symbol val="none"/>
          </c:marker>
          <c:xVal>
            <c:numRef>
              <c:f>'Chart Data'!$E$2:$E$102</c:f>
              <c:numCache>
                <c:formatCode>0.00</c:formatCode>
                <c:ptCount val="101"/>
                <c:pt idx="0">
                  <c:v>1.8</c:v>
                </c:pt>
                <c:pt idx="1">
                  <c:v>1.79644811</c:v>
                </c:pt>
                <c:pt idx="2">
                  <c:v>1.78580646</c:v>
                </c:pt>
                <c:pt idx="3">
                  <c:v>1.76811705</c:v>
                </c:pt>
                <c:pt idx="4">
                  <c:v>1.74344969</c:v>
                </c:pt>
                <c:pt idx="5">
                  <c:v>1.71190173</c:v>
                </c:pt>
                <c:pt idx="6">
                  <c:v>1.67359767</c:v>
                </c:pt>
                <c:pt idx="7">
                  <c:v>1.62868869</c:v>
                </c:pt>
                <c:pt idx="8">
                  <c:v>1.57735202</c:v>
                </c:pt>
                <c:pt idx="9">
                  <c:v>1.51979027</c:v>
                </c:pt>
                <c:pt idx="10">
                  <c:v>1.45623059</c:v>
                </c:pt>
                <c:pt idx="11">
                  <c:v>1.38692384</c:v>
                </c:pt>
                <c:pt idx="12">
                  <c:v>1.31214353</c:v>
                </c:pt>
                <c:pt idx="13">
                  <c:v>1.23218479</c:v>
                </c:pt>
                <c:pt idx="14">
                  <c:v>1.14736318</c:v>
                </c:pt>
                <c:pt idx="15">
                  <c:v>1.05801345</c:v>
                </c:pt>
                <c:pt idx="16">
                  <c:v>0.96448823</c:v>
                </c:pt>
                <c:pt idx="17">
                  <c:v>0.86715661</c:v>
                </c:pt>
                <c:pt idx="18">
                  <c:v>0.76640272</c:v>
                </c:pt>
                <c:pt idx="19">
                  <c:v>0.66262419</c:v>
                </c:pt>
                <c:pt idx="20">
                  <c:v>0.55623059</c:v>
                </c:pt>
                <c:pt idx="21">
                  <c:v>0.4476418</c:v>
                </c:pt>
                <c:pt idx="22">
                  <c:v>0.33728637</c:v>
                </c:pt>
                <c:pt idx="23">
                  <c:v>0.22559982</c:v>
                </c:pt>
                <c:pt idx="24">
                  <c:v>0.11302294</c:v>
                </c:pt>
                <c:pt idx="25">
                  <c:v>0</c:v>
                </c:pt>
                <c:pt idx="26">
                  <c:v>-0.11302294</c:v>
                </c:pt>
                <c:pt idx="27">
                  <c:v>-0.22559982</c:v>
                </c:pt>
                <c:pt idx="28">
                  <c:v>-0.33728637</c:v>
                </c:pt>
                <c:pt idx="29">
                  <c:v>-0.4476418</c:v>
                </c:pt>
                <c:pt idx="30">
                  <c:v>-0.55623059</c:v>
                </c:pt>
                <c:pt idx="31">
                  <c:v>-0.66262419</c:v>
                </c:pt>
                <c:pt idx="32">
                  <c:v>-0.76640272</c:v>
                </c:pt>
                <c:pt idx="33">
                  <c:v>-0.86715661</c:v>
                </c:pt>
                <c:pt idx="34">
                  <c:v>-0.96448823</c:v>
                </c:pt>
                <c:pt idx="35">
                  <c:v>-1.05801345</c:v>
                </c:pt>
                <c:pt idx="36">
                  <c:v>-1.14736318</c:v>
                </c:pt>
                <c:pt idx="37">
                  <c:v>-1.23218479</c:v>
                </c:pt>
                <c:pt idx="38">
                  <c:v>-1.31214353</c:v>
                </c:pt>
                <c:pt idx="39">
                  <c:v>-1.38692384</c:v>
                </c:pt>
                <c:pt idx="40">
                  <c:v>-1.45623059</c:v>
                </c:pt>
                <c:pt idx="41">
                  <c:v>-1.51979027</c:v>
                </c:pt>
                <c:pt idx="42">
                  <c:v>-1.57735202</c:v>
                </c:pt>
                <c:pt idx="43">
                  <c:v>-1.62868869</c:v>
                </c:pt>
                <c:pt idx="44">
                  <c:v>-1.67359767</c:v>
                </c:pt>
                <c:pt idx="45">
                  <c:v>-1.71190173</c:v>
                </c:pt>
                <c:pt idx="46">
                  <c:v>-1.74344969</c:v>
                </c:pt>
                <c:pt idx="47">
                  <c:v>-1.76811705</c:v>
                </c:pt>
                <c:pt idx="48">
                  <c:v>-1.78580646</c:v>
                </c:pt>
                <c:pt idx="49">
                  <c:v>-1.79644811</c:v>
                </c:pt>
                <c:pt idx="50">
                  <c:v>-1.8</c:v>
                </c:pt>
                <c:pt idx="51">
                  <c:v>-1.79644811</c:v>
                </c:pt>
                <c:pt idx="52">
                  <c:v>-1.78580646</c:v>
                </c:pt>
                <c:pt idx="53">
                  <c:v>-1.76811705</c:v>
                </c:pt>
                <c:pt idx="54">
                  <c:v>-1.74344969</c:v>
                </c:pt>
                <c:pt idx="55">
                  <c:v>-1.71190173</c:v>
                </c:pt>
                <c:pt idx="56">
                  <c:v>-1.67359767</c:v>
                </c:pt>
                <c:pt idx="57">
                  <c:v>-1.62868869</c:v>
                </c:pt>
                <c:pt idx="58">
                  <c:v>-1.57735202</c:v>
                </c:pt>
                <c:pt idx="59">
                  <c:v>-1.51979027</c:v>
                </c:pt>
                <c:pt idx="60">
                  <c:v>-1.45623059</c:v>
                </c:pt>
                <c:pt idx="61">
                  <c:v>-1.38692384</c:v>
                </c:pt>
                <c:pt idx="62">
                  <c:v>-1.31214353</c:v>
                </c:pt>
                <c:pt idx="63">
                  <c:v>-1.23218479</c:v>
                </c:pt>
                <c:pt idx="64">
                  <c:v>-1.14736318</c:v>
                </c:pt>
                <c:pt idx="65">
                  <c:v>-1.05801345</c:v>
                </c:pt>
                <c:pt idx="66">
                  <c:v>-0.96448823</c:v>
                </c:pt>
                <c:pt idx="67">
                  <c:v>-0.86715661</c:v>
                </c:pt>
                <c:pt idx="68">
                  <c:v>-0.76640272</c:v>
                </c:pt>
                <c:pt idx="69">
                  <c:v>-0.66262419</c:v>
                </c:pt>
                <c:pt idx="70">
                  <c:v>-0.55623059</c:v>
                </c:pt>
                <c:pt idx="71">
                  <c:v>-0.4476418</c:v>
                </c:pt>
                <c:pt idx="72">
                  <c:v>-0.33728637</c:v>
                </c:pt>
                <c:pt idx="73">
                  <c:v>-0.22559982</c:v>
                </c:pt>
                <c:pt idx="74">
                  <c:v>-0.11302294</c:v>
                </c:pt>
                <c:pt idx="75">
                  <c:v>0</c:v>
                </c:pt>
                <c:pt idx="76">
                  <c:v>0.11302294</c:v>
                </c:pt>
                <c:pt idx="77">
                  <c:v>0.22559982</c:v>
                </c:pt>
                <c:pt idx="78">
                  <c:v>0.33728637</c:v>
                </c:pt>
                <c:pt idx="79">
                  <c:v>0.4476418</c:v>
                </c:pt>
                <c:pt idx="80">
                  <c:v>0.55623059</c:v>
                </c:pt>
                <c:pt idx="81">
                  <c:v>0.66262419</c:v>
                </c:pt>
                <c:pt idx="82">
                  <c:v>0.76640272</c:v>
                </c:pt>
                <c:pt idx="83">
                  <c:v>0.86715661</c:v>
                </c:pt>
                <c:pt idx="84">
                  <c:v>0.96448823</c:v>
                </c:pt>
                <c:pt idx="85">
                  <c:v>1.05801345</c:v>
                </c:pt>
                <c:pt idx="86">
                  <c:v>1.14736318</c:v>
                </c:pt>
                <c:pt idx="87">
                  <c:v>1.23218479</c:v>
                </c:pt>
                <c:pt idx="88">
                  <c:v>1.31214353</c:v>
                </c:pt>
                <c:pt idx="89">
                  <c:v>1.38692384</c:v>
                </c:pt>
                <c:pt idx="90">
                  <c:v>1.45623059</c:v>
                </c:pt>
                <c:pt idx="91">
                  <c:v>1.51979027</c:v>
                </c:pt>
                <c:pt idx="92">
                  <c:v>1.57735202</c:v>
                </c:pt>
                <c:pt idx="93">
                  <c:v>1.62868869</c:v>
                </c:pt>
                <c:pt idx="94">
                  <c:v>1.67359767</c:v>
                </c:pt>
                <c:pt idx="95">
                  <c:v>1.71190173</c:v>
                </c:pt>
                <c:pt idx="96">
                  <c:v>1.74344969</c:v>
                </c:pt>
                <c:pt idx="97">
                  <c:v>1.76811705</c:v>
                </c:pt>
                <c:pt idx="98">
                  <c:v>1.78580646</c:v>
                </c:pt>
                <c:pt idx="99">
                  <c:v>1.79644811</c:v>
                </c:pt>
                <c:pt idx="100">
                  <c:v>1.8</c:v>
                </c:pt>
              </c:numCache>
            </c:numRef>
          </c:xVal>
          <c:yVal>
            <c:numRef>
              <c:f>'Chart Data'!$F$2:$F$102</c:f>
              <c:numCache>
                <c:formatCode>0.00</c:formatCode>
                <c:ptCount val="101"/>
                <c:pt idx="0">
                  <c:v>0</c:v>
                </c:pt>
                <c:pt idx="1">
                  <c:v>0.05651147</c:v>
                </c:pt>
                <c:pt idx="2">
                  <c:v>0.11279991</c:v>
                </c:pt>
                <c:pt idx="3">
                  <c:v>0.16864318</c:v>
                </c:pt>
                <c:pt idx="4">
                  <c:v>0.2238209</c:v>
                </c:pt>
                <c:pt idx="5">
                  <c:v>0.27811529</c:v>
                </c:pt>
                <c:pt idx="6">
                  <c:v>0.3313121</c:v>
                </c:pt>
                <c:pt idx="7">
                  <c:v>0.38320136</c:v>
                </c:pt>
                <c:pt idx="8">
                  <c:v>0.43357831</c:v>
                </c:pt>
                <c:pt idx="9">
                  <c:v>0.48224412</c:v>
                </c:pt>
                <c:pt idx="10">
                  <c:v>0.52900673</c:v>
                </c:pt>
                <c:pt idx="11">
                  <c:v>0.57368159</c:v>
                </c:pt>
                <c:pt idx="12">
                  <c:v>0.6160924</c:v>
                </c:pt>
                <c:pt idx="13">
                  <c:v>0.65607176</c:v>
                </c:pt>
                <c:pt idx="14">
                  <c:v>0.69346192</c:v>
                </c:pt>
                <c:pt idx="15">
                  <c:v>0.72811529</c:v>
                </c:pt>
                <c:pt idx="16">
                  <c:v>0.75989513</c:v>
                </c:pt>
                <c:pt idx="17">
                  <c:v>0.78867601</c:v>
                </c:pt>
                <c:pt idx="18">
                  <c:v>0.81434435</c:v>
                </c:pt>
                <c:pt idx="19">
                  <c:v>0.83679884</c:v>
                </c:pt>
                <c:pt idx="20">
                  <c:v>0.85595086</c:v>
                </c:pt>
                <c:pt idx="21">
                  <c:v>0.87172485</c:v>
                </c:pt>
                <c:pt idx="22">
                  <c:v>0.88405853</c:v>
                </c:pt>
                <c:pt idx="23">
                  <c:v>0.89290323</c:v>
                </c:pt>
                <c:pt idx="24">
                  <c:v>0.89822406</c:v>
                </c:pt>
                <c:pt idx="25">
                  <c:v>0.9</c:v>
                </c:pt>
                <c:pt idx="26">
                  <c:v>0.89822406</c:v>
                </c:pt>
                <c:pt idx="27">
                  <c:v>0.89290323</c:v>
                </c:pt>
                <c:pt idx="28">
                  <c:v>0.88405853</c:v>
                </c:pt>
                <c:pt idx="29">
                  <c:v>0.87172485</c:v>
                </c:pt>
                <c:pt idx="30">
                  <c:v>0.85595086</c:v>
                </c:pt>
                <c:pt idx="31">
                  <c:v>0.83679884</c:v>
                </c:pt>
                <c:pt idx="32">
                  <c:v>0.81434435</c:v>
                </c:pt>
                <c:pt idx="33">
                  <c:v>0.78867601</c:v>
                </c:pt>
                <c:pt idx="34">
                  <c:v>0.75989513</c:v>
                </c:pt>
                <c:pt idx="35">
                  <c:v>0.72811529</c:v>
                </c:pt>
                <c:pt idx="36">
                  <c:v>0.69346192</c:v>
                </c:pt>
                <c:pt idx="37">
                  <c:v>0.65607176</c:v>
                </c:pt>
                <c:pt idx="38">
                  <c:v>0.6160924</c:v>
                </c:pt>
                <c:pt idx="39">
                  <c:v>0.57368159</c:v>
                </c:pt>
                <c:pt idx="40">
                  <c:v>0.52900673</c:v>
                </c:pt>
                <c:pt idx="41">
                  <c:v>0.48224412</c:v>
                </c:pt>
                <c:pt idx="42">
                  <c:v>0.43357831</c:v>
                </c:pt>
                <c:pt idx="43">
                  <c:v>0.38320136</c:v>
                </c:pt>
                <c:pt idx="44">
                  <c:v>0.3313121</c:v>
                </c:pt>
                <c:pt idx="45">
                  <c:v>0.27811529</c:v>
                </c:pt>
                <c:pt idx="46">
                  <c:v>0.2238209</c:v>
                </c:pt>
                <c:pt idx="47">
                  <c:v>0.16864318</c:v>
                </c:pt>
                <c:pt idx="48">
                  <c:v>0.11279991</c:v>
                </c:pt>
                <c:pt idx="49">
                  <c:v>0.05651147</c:v>
                </c:pt>
                <c:pt idx="50">
                  <c:v>0</c:v>
                </c:pt>
                <c:pt idx="51">
                  <c:v>-0.05651147</c:v>
                </c:pt>
                <c:pt idx="52">
                  <c:v>-0.11279991</c:v>
                </c:pt>
                <c:pt idx="53">
                  <c:v>-0.16864318</c:v>
                </c:pt>
                <c:pt idx="54">
                  <c:v>-0.2238209</c:v>
                </c:pt>
                <c:pt idx="55">
                  <c:v>-0.27811529</c:v>
                </c:pt>
                <c:pt idx="56">
                  <c:v>-0.3313121</c:v>
                </c:pt>
                <c:pt idx="57">
                  <c:v>-0.38320136</c:v>
                </c:pt>
                <c:pt idx="58">
                  <c:v>-0.43357831</c:v>
                </c:pt>
                <c:pt idx="59">
                  <c:v>-0.48224412</c:v>
                </c:pt>
                <c:pt idx="60">
                  <c:v>-0.52900673</c:v>
                </c:pt>
                <c:pt idx="61">
                  <c:v>-0.57368159</c:v>
                </c:pt>
                <c:pt idx="62">
                  <c:v>-0.6160924</c:v>
                </c:pt>
                <c:pt idx="63">
                  <c:v>-0.65607176</c:v>
                </c:pt>
                <c:pt idx="64">
                  <c:v>-0.69346192</c:v>
                </c:pt>
                <c:pt idx="65">
                  <c:v>-0.72811529</c:v>
                </c:pt>
                <c:pt idx="66">
                  <c:v>-0.75989513</c:v>
                </c:pt>
                <c:pt idx="67">
                  <c:v>-0.78867601</c:v>
                </c:pt>
                <c:pt idx="68">
                  <c:v>-0.81434435</c:v>
                </c:pt>
                <c:pt idx="69">
                  <c:v>-0.83679884</c:v>
                </c:pt>
                <c:pt idx="70">
                  <c:v>-0.85595086</c:v>
                </c:pt>
                <c:pt idx="71">
                  <c:v>-0.87172485</c:v>
                </c:pt>
                <c:pt idx="72">
                  <c:v>-0.88405853</c:v>
                </c:pt>
                <c:pt idx="73">
                  <c:v>-0.89290323</c:v>
                </c:pt>
                <c:pt idx="74">
                  <c:v>-0.89822406</c:v>
                </c:pt>
                <c:pt idx="75">
                  <c:v>-0.9</c:v>
                </c:pt>
                <c:pt idx="76">
                  <c:v>-0.89822406</c:v>
                </c:pt>
                <c:pt idx="77">
                  <c:v>-0.89290323</c:v>
                </c:pt>
                <c:pt idx="78">
                  <c:v>-0.88405853</c:v>
                </c:pt>
                <c:pt idx="79">
                  <c:v>-0.87172485</c:v>
                </c:pt>
                <c:pt idx="80">
                  <c:v>-0.85595086</c:v>
                </c:pt>
                <c:pt idx="81">
                  <c:v>-0.83679884</c:v>
                </c:pt>
                <c:pt idx="82">
                  <c:v>-0.81434435</c:v>
                </c:pt>
                <c:pt idx="83">
                  <c:v>-0.78867601</c:v>
                </c:pt>
                <c:pt idx="84">
                  <c:v>-0.75989513</c:v>
                </c:pt>
                <c:pt idx="85">
                  <c:v>-0.72811529</c:v>
                </c:pt>
                <c:pt idx="86">
                  <c:v>-0.69346192</c:v>
                </c:pt>
                <c:pt idx="87">
                  <c:v>-0.65607176</c:v>
                </c:pt>
                <c:pt idx="88">
                  <c:v>-0.6160924</c:v>
                </c:pt>
                <c:pt idx="89">
                  <c:v>-0.57368159</c:v>
                </c:pt>
                <c:pt idx="90">
                  <c:v>-0.52900673</c:v>
                </c:pt>
                <c:pt idx="91">
                  <c:v>-0.48224412</c:v>
                </c:pt>
                <c:pt idx="92">
                  <c:v>-0.43357831</c:v>
                </c:pt>
                <c:pt idx="93">
                  <c:v>-0.38320136</c:v>
                </c:pt>
                <c:pt idx="94">
                  <c:v>-0.3313121</c:v>
                </c:pt>
                <c:pt idx="95">
                  <c:v>-0.27811529</c:v>
                </c:pt>
                <c:pt idx="96">
                  <c:v>-0.2238209</c:v>
                </c:pt>
                <c:pt idx="97">
                  <c:v>-0.16864318</c:v>
                </c:pt>
                <c:pt idx="98">
                  <c:v>-0.11279991</c:v>
                </c:pt>
                <c:pt idx="99">
                  <c:v>-0.05651147</c:v>
                </c:pt>
                <c:pt idx="100">
                  <c:v>0</c:v>
                </c:pt>
              </c:numCache>
            </c:numRef>
          </c:yVal>
          <c:smooth val="0"/>
          <c:extLst>
            <c:ext xmlns:c16="http://schemas.microsoft.com/office/drawing/2014/chart" uri="{C3380CC4-5D6E-409C-BE32-E72D297353CC}">
              <c16:uniqueId val="{00000002-810B-BC4C-936D-D1E61AE164FF}"/>
            </c:ext>
          </c:extLst>
        </c:ser>
        <c:ser>
          <c:idx val="3"/>
          <c:order val="3"/>
          <c:tx>
            <c:v>Одинаковая ошибка</c:v>
          </c:tx>
          <c:spPr>
            <a:ln w="28575">
              <a:solidFill>
                <a:srgbClr val="C5CDDA"/>
              </a:solidFill>
            </a:ln>
          </c:spPr>
          <c:marker>
            <c:symbol val="none"/>
          </c:marker>
          <c:xVal>
            <c:numRef>
              <c:f>'Chart Data'!$G$2:$G$32</c:f>
              <c:numCache>
                <c:formatCode>0.00</c:formatCode>
                <c:ptCount val="31"/>
                <c:pt idx="0">
                  <c:v>2</c:v>
                </c:pt>
                <c:pt idx="1">
                  <c:v>1.92628311</c:v>
                </c:pt>
                <c:pt idx="2">
                  <c:v>1.82242157</c:v>
                </c:pt>
                <c:pt idx="3">
                  <c:v>1.71136776</c:v>
                </c:pt>
                <c:pt idx="4">
                  <c:v>1.59355997</c:v>
                </c:pt>
                <c:pt idx="5">
                  <c:v>1.46946313</c:v>
                </c:pt>
                <c:pt idx="6">
                  <c:v>1.33956699</c:v>
                </c:pt>
                <c:pt idx="7">
                  <c:v>1.20438419</c:v>
                </c:pt>
                <c:pt idx="8">
                  <c:v>1.06444823</c:v>
                </c:pt>
                <c:pt idx="9">
                  <c:v>0.92031138</c:v>
                </c:pt>
                <c:pt idx="10">
                  <c:v>0.77254249</c:v>
                </c:pt>
                <c:pt idx="11">
                  <c:v>0.62172472</c:v>
                </c:pt>
                <c:pt idx="12">
                  <c:v>0.46845329</c:v>
                </c:pt>
                <c:pt idx="13">
                  <c:v>0.31333308</c:v>
                </c:pt>
                <c:pt idx="14">
                  <c:v>0.1569763</c:v>
                </c:pt>
                <c:pt idx="15">
                  <c:v>0</c:v>
                </c:pt>
                <c:pt idx="16">
                  <c:v>-0.1569763</c:v>
                </c:pt>
                <c:pt idx="17">
                  <c:v>-0.31333308</c:v>
                </c:pt>
                <c:pt idx="18">
                  <c:v>-0.46845329</c:v>
                </c:pt>
                <c:pt idx="19">
                  <c:v>-0.62172472</c:v>
                </c:pt>
                <c:pt idx="20">
                  <c:v>-0.77254249</c:v>
                </c:pt>
                <c:pt idx="21">
                  <c:v>-0.92031138</c:v>
                </c:pt>
                <c:pt idx="22">
                  <c:v>-1.06444823</c:v>
                </c:pt>
                <c:pt idx="23">
                  <c:v>-1.20438419</c:v>
                </c:pt>
                <c:pt idx="24">
                  <c:v>-1.33956699</c:v>
                </c:pt>
                <c:pt idx="25">
                  <c:v>-1.46946313</c:v>
                </c:pt>
                <c:pt idx="26">
                  <c:v>-1.59355997</c:v>
                </c:pt>
                <c:pt idx="27">
                  <c:v>-1.71136776</c:v>
                </c:pt>
                <c:pt idx="28">
                  <c:v>-1.82242157</c:v>
                </c:pt>
                <c:pt idx="29">
                  <c:v>-1.92628311</c:v>
                </c:pt>
                <c:pt idx="30">
                  <c:v>-2</c:v>
                </c:pt>
              </c:numCache>
            </c:numRef>
          </c:xVal>
          <c:yVal>
            <c:numRef>
              <c:f>'Chart Data'!$H$2:$H$32</c:f>
              <c:numCache>
                <c:formatCode>0.00</c:formatCode>
                <c:ptCount val="31"/>
                <c:pt idx="0">
                  <c:v>0.74926236</c:v>
                </c:pt>
                <c:pt idx="1">
                  <c:v>0.79677999</c:v>
                </c:pt>
                <c:pt idx="2">
                  <c:v>0.85568388</c:v>
                </c:pt>
                <c:pt idx="3">
                  <c:v>0.91121078</c:v>
                </c:pt>
                <c:pt idx="4">
                  <c:v>0.96314155</c:v>
                </c:pt>
                <c:pt idx="5">
                  <c:v>1.01127124</c:v>
                </c:pt>
                <c:pt idx="6">
                  <c:v>1.05540991</c:v>
                </c:pt>
                <c:pt idx="7">
                  <c:v>1.09538335</c:v>
                </c:pt>
                <c:pt idx="8">
                  <c:v>1.13103382</c:v>
                </c:pt>
                <c:pt idx="9">
                  <c:v>1.16222061</c:v>
                </c:pt>
                <c:pt idx="10">
                  <c:v>1.18882065</c:v>
                </c:pt>
                <c:pt idx="11">
                  <c:v>1.21072895</c:v>
                </c:pt>
                <c:pt idx="12">
                  <c:v>1.22785906</c:v>
                </c:pt>
                <c:pt idx="13">
                  <c:v>1.24014338</c:v>
                </c:pt>
                <c:pt idx="14">
                  <c:v>1.24753341</c:v>
                </c:pt>
                <c:pt idx="15">
                  <c:v>1.25</c:v>
                </c:pt>
                <c:pt idx="16">
                  <c:v>1.24753341</c:v>
                </c:pt>
                <c:pt idx="17">
                  <c:v>1.24014338</c:v>
                </c:pt>
                <c:pt idx="18">
                  <c:v>1.22785906</c:v>
                </c:pt>
                <c:pt idx="19">
                  <c:v>1.21072895</c:v>
                </c:pt>
                <c:pt idx="20">
                  <c:v>1.18882065</c:v>
                </c:pt>
                <c:pt idx="21">
                  <c:v>1.16222061</c:v>
                </c:pt>
                <c:pt idx="22">
                  <c:v>1.13103382</c:v>
                </c:pt>
                <c:pt idx="23">
                  <c:v>1.09538335</c:v>
                </c:pt>
                <c:pt idx="24">
                  <c:v>1.05540991</c:v>
                </c:pt>
                <c:pt idx="25">
                  <c:v>1.01127124</c:v>
                </c:pt>
                <c:pt idx="26">
                  <c:v>0.96314155</c:v>
                </c:pt>
                <c:pt idx="27">
                  <c:v>0.91121078</c:v>
                </c:pt>
                <c:pt idx="28">
                  <c:v>0.85568388</c:v>
                </c:pt>
                <c:pt idx="29">
                  <c:v>0.79677999</c:v>
                </c:pt>
                <c:pt idx="30">
                  <c:v>0.74926236</c:v>
                </c:pt>
              </c:numCache>
            </c:numRef>
          </c:yVal>
          <c:smooth val="0"/>
          <c:extLst>
            <c:ext xmlns:c16="http://schemas.microsoft.com/office/drawing/2014/chart" uri="{C3380CC4-5D6E-409C-BE32-E72D297353CC}">
              <c16:uniqueId val="{00000003-810B-BC4C-936D-D1E61AE164FF}"/>
            </c:ext>
          </c:extLst>
        </c:ser>
        <c:ser>
          <c:idx val="4"/>
          <c:order val="4"/>
          <c:tx>
            <c:v>Одинаковая ошибка</c:v>
          </c:tx>
          <c:spPr>
            <a:ln w="28575">
              <a:solidFill>
                <a:srgbClr val="C5CDDA"/>
              </a:solidFill>
            </a:ln>
          </c:spPr>
          <c:marker>
            <c:symbol val="none"/>
          </c:marker>
          <c:xVal>
            <c:numRef>
              <c:f>'Chart Data'!$I$2:$I$32</c:f>
              <c:numCache>
                <c:formatCode>0.00</c:formatCode>
                <c:ptCount val="31"/>
                <c:pt idx="0">
                  <c:v>-2</c:v>
                </c:pt>
                <c:pt idx="1">
                  <c:v>-1.92628311</c:v>
                </c:pt>
                <c:pt idx="2">
                  <c:v>-1.82242157</c:v>
                </c:pt>
                <c:pt idx="3">
                  <c:v>-1.71136776</c:v>
                </c:pt>
                <c:pt idx="4">
                  <c:v>-1.59355997</c:v>
                </c:pt>
                <c:pt idx="5">
                  <c:v>-1.46946313</c:v>
                </c:pt>
                <c:pt idx="6">
                  <c:v>-1.33956699</c:v>
                </c:pt>
                <c:pt idx="7">
                  <c:v>-1.20438419</c:v>
                </c:pt>
                <c:pt idx="8">
                  <c:v>-1.06444823</c:v>
                </c:pt>
                <c:pt idx="9">
                  <c:v>-0.92031138</c:v>
                </c:pt>
                <c:pt idx="10">
                  <c:v>-0.77254249</c:v>
                </c:pt>
                <c:pt idx="11">
                  <c:v>-0.62172472</c:v>
                </c:pt>
                <c:pt idx="12">
                  <c:v>-0.46845329</c:v>
                </c:pt>
                <c:pt idx="13">
                  <c:v>-0.31333308</c:v>
                </c:pt>
                <c:pt idx="14">
                  <c:v>-0.1569763</c:v>
                </c:pt>
                <c:pt idx="15">
                  <c:v>0</c:v>
                </c:pt>
                <c:pt idx="16">
                  <c:v>0.1569763</c:v>
                </c:pt>
                <c:pt idx="17">
                  <c:v>0.31333308</c:v>
                </c:pt>
                <c:pt idx="18">
                  <c:v>0.46845329</c:v>
                </c:pt>
                <c:pt idx="19">
                  <c:v>0.62172472</c:v>
                </c:pt>
                <c:pt idx="20">
                  <c:v>0.77254249</c:v>
                </c:pt>
                <c:pt idx="21">
                  <c:v>0.92031138</c:v>
                </c:pt>
                <c:pt idx="22">
                  <c:v>1.06444823</c:v>
                </c:pt>
                <c:pt idx="23">
                  <c:v>1.20438419</c:v>
                </c:pt>
                <c:pt idx="24">
                  <c:v>1.33956699</c:v>
                </c:pt>
                <c:pt idx="25">
                  <c:v>1.46946313</c:v>
                </c:pt>
                <c:pt idx="26">
                  <c:v>1.59355997</c:v>
                </c:pt>
                <c:pt idx="27">
                  <c:v>1.71136776</c:v>
                </c:pt>
                <c:pt idx="28">
                  <c:v>1.82242157</c:v>
                </c:pt>
                <c:pt idx="29">
                  <c:v>1.92628311</c:v>
                </c:pt>
                <c:pt idx="30">
                  <c:v>2</c:v>
                </c:pt>
              </c:numCache>
            </c:numRef>
          </c:xVal>
          <c:yVal>
            <c:numRef>
              <c:f>'Chart Data'!$J$2:$J$32</c:f>
              <c:numCache>
                <c:formatCode>0.00</c:formatCode>
                <c:ptCount val="31"/>
                <c:pt idx="0">
                  <c:v>-0.74926236</c:v>
                </c:pt>
                <c:pt idx="1">
                  <c:v>-0.79677999</c:v>
                </c:pt>
                <c:pt idx="2">
                  <c:v>-0.85568388</c:v>
                </c:pt>
                <c:pt idx="3">
                  <c:v>-0.91121078</c:v>
                </c:pt>
                <c:pt idx="4">
                  <c:v>-0.96314155</c:v>
                </c:pt>
                <c:pt idx="5">
                  <c:v>-1.01127124</c:v>
                </c:pt>
                <c:pt idx="6">
                  <c:v>-1.05540991</c:v>
                </c:pt>
                <c:pt idx="7">
                  <c:v>-1.09538335</c:v>
                </c:pt>
                <c:pt idx="8">
                  <c:v>-1.13103382</c:v>
                </c:pt>
                <c:pt idx="9">
                  <c:v>-1.16222061</c:v>
                </c:pt>
                <c:pt idx="10">
                  <c:v>-1.18882065</c:v>
                </c:pt>
                <c:pt idx="11">
                  <c:v>-1.21072895</c:v>
                </c:pt>
                <c:pt idx="12">
                  <c:v>-1.22785906</c:v>
                </c:pt>
                <c:pt idx="13">
                  <c:v>-1.24014338</c:v>
                </c:pt>
                <c:pt idx="14">
                  <c:v>-1.24753341</c:v>
                </c:pt>
                <c:pt idx="15">
                  <c:v>-1.25</c:v>
                </c:pt>
                <c:pt idx="16">
                  <c:v>-1.24753341</c:v>
                </c:pt>
                <c:pt idx="17">
                  <c:v>-1.24014338</c:v>
                </c:pt>
                <c:pt idx="18">
                  <c:v>-1.22785906</c:v>
                </c:pt>
                <c:pt idx="19">
                  <c:v>-1.21072895</c:v>
                </c:pt>
                <c:pt idx="20">
                  <c:v>-1.18882065</c:v>
                </c:pt>
                <c:pt idx="21">
                  <c:v>-1.16222061</c:v>
                </c:pt>
                <c:pt idx="22">
                  <c:v>-1.13103382</c:v>
                </c:pt>
                <c:pt idx="23">
                  <c:v>-1.09538335</c:v>
                </c:pt>
                <c:pt idx="24">
                  <c:v>-1.05540991</c:v>
                </c:pt>
                <c:pt idx="25">
                  <c:v>-1.01127124</c:v>
                </c:pt>
                <c:pt idx="26">
                  <c:v>-0.96314155</c:v>
                </c:pt>
                <c:pt idx="27">
                  <c:v>-0.91121078</c:v>
                </c:pt>
                <c:pt idx="28">
                  <c:v>-0.85568388</c:v>
                </c:pt>
                <c:pt idx="29">
                  <c:v>-0.79677999</c:v>
                </c:pt>
                <c:pt idx="30">
                  <c:v>-0.74926236</c:v>
                </c:pt>
              </c:numCache>
            </c:numRef>
          </c:yVal>
          <c:smooth val="0"/>
          <c:extLst>
            <c:ext xmlns:c16="http://schemas.microsoft.com/office/drawing/2014/chart" uri="{C3380CC4-5D6E-409C-BE32-E72D297353CC}">
              <c16:uniqueId val="{00000004-810B-BC4C-936D-D1E61AE164FF}"/>
            </c:ext>
          </c:extLst>
        </c:ser>
        <c:ser>
          <c:idx val="5"/>
          <c:order val="5"/>
          <c:tx>
            <c:v>Траектория</c:v>
          </c:tx>
          <c:spPr>
            <a:ln w="28575">
              <a:solidFill>
                <a:srgbClr val="EB681F"/>
              </a:solidFill>
            </a:ln>
          </c:spPr>
          <c:marker>
            <c:symbol val="circle"/>
            <c:size val="4"/>
            <c:spPr>
              <a:solidFill>
                <a:srgbClr val="EB681F"/>
              </a:solidFill>
              <a:ln>
                <a:solidFill>
                  <a:srgbClr val="EB681F"/>
                </a:solidFill>
              </a:ln>
            </c:spPr>
          </c:marker>
          <c:xVal>
            <c:numRef>
              <c:f>'Chart Data'!$K$2:$K$37</c:f>
              <c:numCache>
                <c:formatCode>0.00</c:formatCode>
                <c:ptCount val="36"/>
                <c:pt idx="0">
                  <c:v>1.7</c:v>
                </c:pt>
                <c:pt idx="1">
                  <c:v>1.295</c:v>
                </c:pt>
                <c:pt idx="2">
                  <c:v>1.25075</c:v>
                </c:pt>
                <c:pt idx="3">
                  <c:v>0.9131375</c:v>
                </c:pt>
                <c:pt idx="4">
                  <c:v>0.92616687</c:v>
                </c:pt>
                <c:pt idx="5">
                  <c:v>0.63724184</c:v>
                </c:pt>
                <c:pt idx="6">
                  <c:v>0.69165557</c:v>
                </c:pt>
                <c:pt idx="7">
                  <c:v>0.73790723</c:v>
                </c:pt>
                <c:pt idx="8">
                  <c:v>0.77722115</c:v>
                </c:pt>
                <c:pt idx="9">
                  <c:v>0.51063798</c:v>
                </c:pt>
                <c:pt idx="10">
                  <c:v>0.28404228</c:v>
                </c:pt>
                <c:pt idx="11">
                  <c:v>0.09143594</c:v>
                </c:pt>
                <c:pt idx="12">
                  <c:v>0.22772055</c:v>
                </c:pt>
                <c:pt idx="13">
                  <c:v>0.34356246</c:v>
                </c:pt>
                <c:pt idx="14">
                  <c:v>0.44202809</c:v>
                </c:pt>
                <c:pt idx="15">
                  <c:v>0.52572388</c:v>
                </c:pt>
                <c:pt idx="16">
                  <c:v>0.5968653</c:v>
                </c:pt>
                <c:pt idx="17">
                  <c:v>0.6573355</c:v>
                </c:pt>
                <c:pt idx="18">
                  <c:v>0.40873518</c:v>
                </c:pt>
                <c:pt idx="19">
                  <c:v>0.1974249</c:v>
                </c:pt>
                <c:pt idx="20">
                  <c:v>0.31781117</c:v>
                </c:pt>
                <c:pt idx="21">
                  <c:v>0.42013949</c:v>
                </c:pt>
                <c:pt idx="22">
                  <c:v>0.50711857</c:v>
                </c:pt>
                <c:pt idx="23">
                  <c:v>0.58105078</c:v>
                </c:pt>
                <c:pt idx="24">
                  <c:v>0.34389317</c:v>
                </c:pt>
                <c:pt idx="25">
                  <c:v>0.14230919</c:v>
                </c:pt>
                <c:pt idx="26">
                  <c:v>-0.02903719</c:v>
                </c:pt>
                <c:pt idx="27">
                  <c:v>-0.17468161</c:v>
                </c:pt>
                <c:pt idx="28">
                  <c:v>-0.29847937</c:v>
                </c:pt>
                <c:pt idx="29">
                  <c:v>-0.40370746</c:v>
                </c:pt>
                <c:pt idx="30">
                  <c:v>-0.19315134</c:v>
                </c:pt>
                <c:pt idx="31">
                  <c:v>-0.01417864</c:v>
                </c:pt>
                <c:pt idx="32">
                  <c:v>0.13794815</c:v>
                </c:pt>
                <c:pt idx="33">
                  <c:v>-0.03274407</c:v>
                </c:pt>
                <c:pt idx="34">
                  <c:v>0.12216754</c:v>
                </c:pt>
                <c:pt idx="35">
                  <c:v>0.25384241</c:v>
                </c:pt>
              </c:numCache>
            </c:numRef>
          </c:xVal>
          <c:yVal>
            <c:numRef>
              <c:f>'Chart Data'!$L$2:$L$37</c:f>
              <c:numCache>
                <c:formatCode>0.00</c:formatCode>
                <c:ptCount val="36"/>
                <c:pt idx="0">
                  <c:v>1.7</c:v>
                </c:pt>
                <c:pt idx="1">
                  <c:v>1.28</c:v>
                </c:pt>
                <c:pt idx="2">
                  <c:v>-0.088</c:v>
                </c:pt>
                <c:pt idx="3">
                  <c:v>-0.6352</c:v>
                </c:pt>
                <c:pt idx="4">
                  <c:v>-0.85408</c:v>
                </c:pt>
                <c:pt idx="5">
                  <c:v>0.258368</c:v>
                </c:pt>
                <c:pt idx="6">
                  <c:v>-0.4966528</c:v>
                </c:pt>
                <c:pt idx="7">
                  <c:v>0.40133888</c:v>
                </c:pt>
                <c:pt idx="8">
                  <c:v>-0.43946445</c:v>
                </c:pt>
                <c:pt idx="9">
                  <c:v>0.42421422</c:v>
                </c:pt>
                <c:pt idx="10">
                  <c:v>-0.43031431</c:v>
                </c:pt>
                <c:pt idx="11">
                  <c:v>0.42787428</c:v>
                </c:pt>
                <c:pt idx="12">
                  <c:v>0.77114971</c:v>
                </c:pt>
                <c:pt idx="13">
                  <c:v>0.90845988</c:v>
                </c:pt>
                <c:pt idx="14">
                  <c:v>-0.23661605</c:v>
                </c:pt>
                <c:pt idx="15">
                  <c:v>0.50535358</c:v>
                </c:pt>
                <c:pt idx="16">
                  <c:v>-0.39785857</c:v>
                </c:pt>
                <c:pt idx="17">
                  <c:v>0.44085657</c:v>
                </c:pt>
                <c:pt idx="18">
                  <c:v>0.77634263</c:v>
                </c:pt>
                <c:pt idx="19">
                  <c:v>-0.28946295</c:v>
                </c:pt>
                <c:pt idx="20">
                  <c:v>0.48421482</c:v>
                </c:pt>
                <c:pt idx="21">
                  <c:v>0.79368593</c:v>
                </c:pt>
                <c:pt idx="22">
                  <c:v>-0.28252563</c:v>
                </c:pt>
                <c:pt idx="23">
                  <c:v>0.48698975</c:v>
                </c:pt>
                <c:pt idx="24">
                  <c:v>-0.4052041</c:v>
                </c:pt>
                <c:pt idx="25">
                  <c:v>-0.76208164</c:v>
                </c:pt>
                <c:pt idx="26">
                  <c:v>-0.90483266</c:v>
                </c:pt>
                <c:pt idx="27">
                  <c:v>-0.96193306</c:v>
                </c:pt>
                <c:pt idx="28">
                  <c:v>0.21522678</c:v>
                </c:pt>
                <c:pt idx="29">
                  <c:v>-0.51390929</c:v>
                </c:pt>
                <c:pt idx="30">
                  <c:v>-0.80556372</c:v>
                </c:pt>
                <c:pt idx="31">
                  <c:v>-0.92222549</c:v>
                </c:pt>
                <c:pt idx="32">
                  <c:v>0.23110981</c:v>
                </c:pt>
                <c:pt idx="33">
                  <c:v>-0.50755608</c:v>
                </c:pt>
                <c:pt idx="34">
                  <c:v>0.39697757</c:v>
                </c:pt>
                <c:pt idx="35">
                  <c:v>-0.44120897</c:v>
                </c:pt>
              </c:numCache>
            </c:numRef>
          </c:yVal>
          <c:smooth val="0"/>
          <c:extLst>
            <c:ext xmlns:c16="http://schemas.microsoft.com/office/drawing/2014/chart" uri="{C3380CC4-5D6E-409C-BE32-E72D297353CC}">
              <c16:uniqueId val="{00000005-810B-BC4C-936D-D1E61AE164FF}"/>
            </c:ext>
          </c:extLst>
        </c:ser>
        <c:dLbls>
          <c:showLegendKey val="0"/>
          <c:showVal val="0"/>
          <c:showCatName val="0"/>
          <c:showSerName val="0"/>
          <c:showPercent val="0"/>
          <c:showBubbleSize val="0"/>
        </c:dLbls>
        <c:axId val="48650112"/>
        <c:axId val="48672768"/>
      </c:scatterChart>
      <c:valAx>
        <c:axId val="48672768"/>
        <c:scaling>
          <c:orientation val="minMax"/>
          <c:max val="2"/>
          <c:min val="-2"/>
        </c:scaling>
        <c:delete val="0"/>
        <c:axPos val="l"/>
        <c:majorGridlines>
          <c:spPr>
            <a:ln w="9525">
              <a:solidFill>
                <a:srgbClr val="DFE6F0"/>
              </a:solidFill>
            </a:ln>
          </c:spPr>
        </c:majorGridlines>
        <c:title>
          <c:tx>
            <c:rich>
              <a:bodyPr/>
              <a:lstStyle/>
              <a:p>
                <a:r>
                  <a:rPr lang="ru-RU" sz="1500">
                    <a:solidFill>
                      <a:srgbClr val="102D69"/>
                    </a:solidFill>
                    <a:latin typeface="HSE Sans"/>
                    <a:ea typeface="HSE Sans"/>
                    <a:cs typeface="HSE Sans"/>
                  </a:rPr>
                  <a:t>Вес </a:t>
                </a:r>
                <a:r>
                  <a:rPr lang="en" sz="1500">
                    <a:solidFill>
                      <a:srgbClr val="102D69"/>
                    </a:solidFill>
                    <a:latin typeface="HSE Sans"/>
                    <a:ea typeface="HSE Sans"/>
                    <a:cs typeface="HSE Sans"/>
                  </a:rPr>
                  <a:t>w₂</a:t>
                </a:r>
              </a:p>
            </c:rich>
          </c:tx>
          <c:overlay val="0"/>
        </c:title>
        <c:numFmt formatCode="0" sourceLinked="0"/>
        <c:majorTickMark val="none"/>
        <c:minorTickMark val="none"/>
        <c:tickLblPos val="low"/>
        <c:spPr>
          <a:ln w="9525">
            <a:solidFill>
              <a:srgbClr val="A6B2C4"/>
            </a:solidFill>
          </a:ln>
        </c:spPr>
        <c:txPr>
          <a:bodyPr anchorCtr="1"/>
          <a:lstStyle/>
          <a:p>
            <a:pPr>
              <a:defRPr sz="1425">
                <a:solidFill>
                  <a:srgbClr val="102D69"/>
                </a:solidFill>
                <a:latin typeface="HSE Sans"/>
                <a:ea typeface="HSE Sans"/>
                <a:cs typeface="HSE Sans"/>
              </a:defRPr>
            </a:pPr>
            <a:endParaRPr lang="ru-RU"/>
          </a:p>
        </c:txPr>
        <c:crossAx val="48650112"/>
        <c:crosses val="min"/>
        <c:crossBetween val="midCat"/>
        <c:majorUnit val="1"/>
      </c:valAx>
      <c:valAx>
        <c:axId val="48650112"/>
        <c:scaling>
          <c:orientation val="minMax"/>
          <c:max val="2"/>
          <c:min val="-2"/>
        </c:scaling>
        <c:delete val="0"/>
        <c:axPos val="b"/>
        <c:title>
          <c:tx>
            <c:rich>
              <a:bodyPr/>
              <a:lstStyle/>
              <a:p>
                <a:r>
                  <a:rPr lang="ru-RU" sz="1500">
                    <a:solidFill>
                      <a:srgbClr val="102D69"/>
                    </a:solidFill>
                    <a:latin typeface="HSE Sans"/>
                    <a:ea typeface="HSE Sans"/>
                    <a:cs typeface="HSE Sans"/>
                  </a:rPr>
                  <a:t>Вес </a:t>
                </a:r>
                <a:r>
                  <a:rPr lang="en" sz="1500">
                    <a:solidFill>
                      <a:srgbClr val="102D69"/>
                    </a:solidFill>
                    <a:latin typeface="HSE Sans"/>
                    <a:ea typeface="HSE Sans"/>
                    <a:cs typeface="HSE Sans"/>
                  </a:rPr>
                  <a:t>w₁</a:t>
                </a:r>
              </a:p>
            </c:rich>
          </c:tx>
          <c:overlay val="0"/>
        </c:title>
        <c:numFmt formatCode="0" sourceLinked="0"/>
        <c:majorTickMark val="none"/>
        <c:minorTickMark val="none"/>
        <c:tickLblPos val="low"/>
        <c:spPr>
          <a:ln w="9525">
            <a:solidFill>
              <a:srgbClr val="A6B2C4"/>
            </a:solidFill>
          </a:ln>
        </c:spPr>
        <c:txPr>
          <a:bodyPr anchorCtr="1"/>
          <a:lstStyle/>
          <a:p>
            <a:pPr>
              <a:defRPr sz="1425">
                <a:solidFill>
                  <a:srgbClr val="102D69"/>
                </a:solidFill>
                <a:latin typeface="HSE Sans"/>
                <a:ea typeface="HSE Sans"/>
                <a:cs typeface="HSE Sans"/>
              </a:defRPr>
            </a:pPr>
            <a:endParaRPr lang="ru-RU"/>
          </a:p>
        </c:txPr>
        <c:crossAx val="48672768"/>
        <c:crosses val="min"/>
        <c:crossBetween val="midCat"/>
        <c:majorUnit val="1"/>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Продолжение</a:t>
            </a:r>
            <a:r>
              <a:rPr dirty="0"/>
              <a:t> </a:t>
            </a:r>
            <a:r>
              <a:rPr dirty="0" err="1"/>
              <a:t>лекций</a:t>
            </a:r>
            <a:r>
              <a:rPr dirty="0"/>
              <a:t> 1 </a:t>
            </a:r>
            <a:r>
              <a:rPr dirty="0" err="1"/>
              <a:t>и</a:t>
            </a:r>
            <a:r>
              <a:rPr dirty="0"/>
              <a:t> 2. </a:t>
            </a:r>
            <a:r>
              <a:rPr dirty="0" err="1"/>
              <a:t>Исходная</a:t>
            </a:r>
            <a:r>
              <a:rPr dirty="0"/>
              <a:t> </a:t>
            </a:r>
            <a:r>
              <a:rPr dirty="0" err="1"/>
              <a:t>структура</a:t>
            </a:r>
            <a:r>
              <a:rPr dirty="0"/>
              <a:t>: </a:t>
            </a:r>
            <a:r>
              <a:rPr dirty="0" err="1"/>
              <a:t>лекция</a:t>
            </a:r>
            <a:r>
              <a:rPr dirty="0"/>
              <a:t> 3 </a:t>
            </a:r>
            <a:r>
              <a:rPr dirty="0" err="1"/>
              <a:t>Вышки</a:t>
            </a:r>
            <a:r>
              <a:rPr dirty="0"/>
              <a:t>, 2025. Материал </a:t>
            </a:r>
            <a:r>
              <a:rPr dirty="0" err="1"/>
              <a:t>кросс-валидации</a:t>
            </a:r>
            <a:r>
              <a:rPr dirty="0"/>
              <a:t> </a:t>
            </a:r>
            <a:r>
              <a:rPr dirty="0" err="1"/>
              <a:t>и</a:t>
            </a:r>
            <a:r>
              <a:rPr dirty="0"/>
              <a:t> </a:t>
            </a:r>
            <a:r>
              <a:rPr dirty="0" err="1"/>
              <a:t>регуляризации</a:t>
            </a:r>
            <a:r>
              <a:rPr dirty="0"/>
              <a:t> </a:t>
            </a:r>
            <a:r>
              <a:rPr dirty="0" err="1"/>
              <a:t>дополнен</a:t>
            </a:r>
            <a:r>
              <a:rPr dirty="0"/>
              <a:t> </a:t>
            </a:r>
            <a:r>
              <a:rPr dirty="0" err="1"/>
              <a:t>по</a:t>
            </a:r>
            <a:r>
              <a:rPr dirty="0"/>
              <a:t> </a:t>
            </a:r>
            <a:r>
              <a:rPr dirty="0" err="1"/>
              <a:t>лекциям</a:t>
            </a:r>
            <a:r>
              <a:rPr dirty="0"/>
              <a:t> ЦУ.</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ЦУ, МАГА2026, </a:t>
            </a:r>
            <a:r>
              <a:rPr dirty="0" err="1"/>
              <a:t>неделя</a:t>
            </a:r>
            <a:r>
              <a:rPr dirty="0"/>
              <a:t> 2, </a:t>
            </a:r>
            <a:r>
              <a:rPr dirty="0" err="1"/>
              <a:t>презентация</a:t>
            </a:r>
            <a:r>
              <a:rPr dirty="0"/>
              <a:t> 2, </a:t>
            </a:r>
            <a:r>
              <a:rPr dirty="0" err="1"/>
              <a:t>слайды</a:t>
            </a:r>
            <a:r>
              <a:rPr dirty="0"/>
              <a:t> 8–23,39–42. </a:t>
            </a:r>
            <a:r>
              <a:rPr dirty="0" err="1"/>
              <a:t>Стратификация</a:t>
            </a:r>
            <a:r>
              <a:rPr dirty="0"/>
              <a:t> </a:t>
            </a:r>
            <a:r>
              <a:rPr dirty="0" err="1"/>
              <a:t>и</a:t>
            </a:r>
            <a:r>
              <a:rPr dirty="0"/>
              <a:t> </a:t>
            </a:r>
            <a:r>
              <a:rPr dirty="0" err="1"/>
              <a:t>группы</a:t>
            </a:r>
            <a:r>
              <a:rPr dirty="0"/>
              <a:t> </a:t>
            </a:r>
            <a:r>
              <a:rPr dirty="0" err="1"/>
              <a:t>определяют</a:t>
            </a:r>
            <a:r>
              <a:rPr dirty="0"/>
              <a:t> </a:t>
            </a:r>
            <a:r>
              <a:rPr dirty="0" err="1"/>
              <a:t>способ</a:t>
            </a:r>
            <a:r>
              <a:rPr dirty="0"/>
              <a:t> </a:t>
            </a:r>
            <a:r>
              <a:rPr dirty="0" err="1"/>
              <a:t>разбиения</a:t>
            </a:r>
            <a:r>
              <a:rPr dirty="0"/>
              <a:t>, </a:t>
            </a:r>
            <a:r>
              <a:rPr dirty="0" err="1"/>
              <a:t>а</a:t>
            </a:r>
            <a:r>
              <a:rPr dirty="0"/>
              <a:t> </a:t>
            </a:r>
            <a:r>
              <a:rPr dirty="0" err="1"/>
              <a:t>не</a:t>
            </a:r>
            <a:r>
              <a:rPr dirty="0"/>
              <a:t> </a:t>
            </a:r>
            <a:r>
              <a:rPr dirty="0" err="1"/>
              <a:t>являются</a:t>
            </a:r>
            <a:r>
              <a:rPr dirty="0"/>
              <a:t> </a:t>
            </a:r>
            <a:r>
              <a:rPr dirty="0" err="1"/>
              <a:t>отдельными</a:t>
            </a:r>
            <a:r>
              <a:rPr dirty="0"/>
              <a:t> </a:t>
            </a:r>
            <a:r>
              <a:rPr dirty="0" err="1"/>
              <a:t>методами</a:t>
            </a:r>
            <a:r>
              <a:rPr dirty="0"/>
              <a:t> </a:t>
            </a:r>
            <a:r>
              <a:rPr dirty="0" err="1"/>
              <a:t>оценки</a:t>
            </a:r>
            <a:r>
              <a:rPr dirty="0"/>
              <a:t>.</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ЦУ, МАГА2026, </a:t>
            </a:r>
            <a:r>
              <a:rPr dirty="0" err="1"/>
              <a:t>неделя</a:t>
            </a:r>
            <a:r>
              <a:rPr dirty="0"/>
              <a:t> 2, </a:t>
            </a:r>
            <a:r>
              <a:rPr dirty="0" err="1"/>
              <a:t>презентация</a:t>
            </a:r>
            <a:r>
              <a:rPr dirty="0"/>
              <a:t> 2, </a:t>
            </a:r>
            <a:r>
              <a:rPr dirty="0" err="1"/>
              <a:t>слайды</a:t>
            </a:r>
            <a:r>
              <a:rPr dirty="0"/>
              <a:t> 8–14.</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ЦУ, МАГА2026, </a:t>
            </a:r>
            <a:r>
              <a:rPr dirty="0" err="1"/>
              <a:t>неделя</a:t>
            </a:r>
            <a:r>
              <a:rPr dirty="0"/>
              <a:t> 2, </a:t>
            </a:r>
            <a:r>
              <a:rPr dirty="0" err="1"/>
              <a:t>презентация</a:t>
            </a:r>
            <a:r>
              <a:rPr dirty="0"/>
              <a:t> 2, </a:t>
            </a:r>
            <a:r>
              <a:rPr dirty="0" err="1"/>
              <a:t>слайд</a:t>
            </a:r>
            <a:r>
              <a:rPr dirty="0"/>
              <a:t> 21. </a:t>
            </a:r>
            <a:r>
              <a:rPr dirty="0" err="1"/>
              <a:t>Учебный</a:t>
            </a:r>
            <a:r>
              <a:rPr dirty="0"/>
              <a:t> </a:t>
            </a:r>
            <a:r>
              <a:rPr dirty="0" err="1"/>
              <a:t>пример</a:t>
            </a:r>
            <a:r>
              <a:rPr dirty="0"/>
              <a:t>: 100 </a:t>
            </a:r>
            <a:r>
              <a:rPr dirty="0" err="1"/>
              <a:t>объектов</a:t>
            </a:r>
            <a:r>
              <a:rPr dirty="0"/>
              <a:t>, 90 </a:t>
            </a:r>
            <a:r>
              <a:rPr dirty="0" err="1"/>
              <a:t>объектов</a:t>
            </a:r>
            <a:r>
              <a:rPr dirty="0"/>
              <a:t> </a:t>
            </a:r>
            <a:r>
              <a:rPr dirty="0" err="1"/>
              <a:t>класса</a:t>
            </a:r>
            <a:r>
              <a:rPr dirty="0"/>
              <a:t> </a:t>
            </a:r>
            <a:r>
              <a:rPr dirty="0" err="1"/>
              <a:t>А</a:t>
            </a:r>
            <a:r>
              <a:rPr dirty="0"/>
              <a:t> </a:t>
            </a:r>
            <a:r>
              <a:rPr dirty="0" err="1"/>
              <a:t>и</a:t>
            </a:r>
            <a:r>
              <a:rPr dirty="0"/>
              <a:t> 10 </a:t>
            </a:r>
            <a:r>
              <a:rPr dirty="0" err="1"/>
              <a:t>класса</a:t>
            </a:r>
            <a:r>
              <a:rPr dirty="0"/>
              <a:t> </a:t>
            </a:r>
            <a:r>
              <a:rPr dirty="0" err="1"/>
              <a:t>Б</a:t>
            </a:r>
            <a:r>
              <a:rPr dirty="0"/>
              <a:t>.</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ЦУ, МАГА2026, </a:t>
            </a:r>
            <a:r>
              <a:rPr dirty="0" err="1"/>
              <a:t>неделя</a:t>
            </a:r>
            <a:r>
              <a:rPr dirty="0"/>
              <a:t> 2, </a:t>
            </a:r>
            <a:r>
              <a:rPr dirty="0" err="1"/>
              <a:t>презентация</a:t>
            </a:r>
            <a:r>
              <a:rPr dirty="0"/>
              <a:t> 2, </a:t>
            </a:r>
            <a:r>
              <a:rPr dirty="0" err="1"/>
              <a:t>слайды</a:t>
            </a:r>
            <a:r>
              <a:rPr dirty="0"/>
              <a:t> 13–17.</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ЦУ, МАГА2026, </a:t>
            </a:r>
            <a:r>
              <a:rPr dirty="0" err="1"/>
              <a:t>неделя</a:t>
            </a:r>
            <a:r>
              <a:rPr dirty="0"/>
              <a:t> 2, </a:t>
            </a:r>
            <a:r>
              <a:rPr dirty="0" err="1"/>
              <a:t>презентация</a:t>
            </a:r>
            <a:r>
              <a:rPr dirty="0"/>
              <a:t> 2, </a:t>
            </a:r>
            <a:r>
              <a:rPr dirty="0" err="1"/>
              <a:t>слайды</a:t>
            </a:r>
            <a:r>
              <a:rPr dirty="0"/>
              <a:t> 13–15. </a:t>
            </a:r>
            <a:r>
              <a:rPr dirty="0" err="1"/>
              <a:t>Учебный</a:t>
            </a:r>
            <a:r>
              <a:rPr dirty="0"/>
              <a:t> </a:t>
            </a:r>
            <a:r>
              <a:rPr dirty="0" err="1"/>
              <a:t>пример</a:t>
            </a:r>
            <a:r>
              <a:rPr dirty="0"/>
              <a:t>. </a:t>
            </a:r>
            <a:r>
              <a:rPr dirty="0" err="1"/>
              <a:t>Стандартное</a:t>
            </a:r>
            <a:r>
              <a:rPr dirty="0"/>
              <a:t> </a:t>
            </a:r>
            <a:r>
              <a:rPr dirty="0" err="1"/>
              <a:t>отклонение</a:t>
            </a:r>
            <a:r>
              <a:rPr dirty="0"/>
              <a:t> </a:t>
            </a:r>
            <a:r>
              <a:rPr dirty="0" err="1"/>
              <a:t>пяти</a:t>
            </a:r>
            <a:r>
              <a:rPr dirty="0"/>
              <a:t> </a:t>
            </a:r>
            <a:r>
              <a:rPr dirty="0" err="1"/>
              <a:t>оценок</a:t>
            </a:r>
            <a:r>
              <a:rPr dirty="0"/>
              <a:t> </a:t>
            </a:r>
            <a:r>
              <a:rPr dirty="0" err="1"/>
              <a:t>с</a:t>
            </a:r>
            <a:r>
              <a:rPr dirty="0"/>
              <a:t> </a:t>
            </a:r>
            <a:r>
              <a:rPr dirty="0" err="1"/>
              <a:t>делителем</a:t>
            </a:r>
            <a:r>
              <a:rPr dirty="0"/>
              <a:t> K, </a:t>
            </a:r>
            <a:r>
              <a:rPr dirty="0" err="1"/>
              <a:t>не</a:t>
            </a:r>
            <a:r>
              <a:rPr dirty="0"/>
              <a:t> </a:t>
            </a:r>
            <a:r>
              <a:rPr dirty="0" err="1"/>
              <a:t>оценка</a:t>
            </a:r>
            <a:r>
              <a:rPr dirty="0"/>
              <a:t> </a:t>
            </a:r>
            <a:r>
              <a:rPr dirty="0" err="1"/>
              <a:t>стандартной</a:t>
            </a:r>
            <a:r>
              <a:rPr dirty="0"/>
              <a:t> </a:t>
            </a:r>
            <a:r>
              <a:rPr dirty="0" err="1"/>
              <a:t>ошибки</a:t>
            </a:r>
            <a:r>
              <a:rPr dirty="0"/>
              <a:t> </a:t>
            </a:r>
            <a:r>
              <a:rPr dirty="0" err="1"/>
              <a:t>среднего</a:t>
            </a:r>
            <a:r>
              <a:rPr dirty="0"/>
              <a:t>.</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ЦУ, МАГА2026, </a:t>
            </a:r>
            <a:r>
              <a:rPr dirty="0" err="1"/>
              <a:t>неделя</a:t>
            </a:r>
            <a:r>
              <a:rPr dirty="0"/>
              <a:t> 2, </a:t>
            </a:r>
            <a:r>
              <a:rPr dirty="0" err="1"/>
              <a:t>презентация</a:t>
            </a:r>
            <a:r>
              <a:rPr dirty="0"/>
              <a:t> 2, </a:t>
            </a:r>
            <a:r>
              <a:rPr dirty="0" err="1"/>
              <a:t>слайды</a:t>
            </a:r>
            <a:r>
              <a:rPr dirty="0"/>
              <a:t> 21–23. </a:t>
            </a:r>
            <a:r>
              <a:rPr dirty="0" err="1"/>
              <a:t>Собственная</a:t>
            </a:r>
            <a:r>
              <a:rPr dirty="0"/>
              <a:t> </a:t>
            </a:r>
            <a:r>
              <a:rPr dirty="0" err="1"/>
              <a:t>схема</a:t>
            </a:r>
            <a:r>
              <a:rPr dirty="0"/>
              <a:t>: 12 </a:t>
            </a:r>
            <a:r>
              <a:rPr dirty="0" err="1"/>
              <a:t>объектов</a:t>
            </a:r>
            <a:r>
              <a:rPr dirty="0"/>
              <a:t>, 9 </a:t>
            </a:r>
            <a:r>
              <a:rPr dirty="0" err="1"/>
              <a:t>класса</a:t>
            </a:r>
            <a:r>
              <a:rPr dirty="0"/>
              <a:t> </a:t>
            </a:r>
            <a:r>
              <a:rPr dirty="0" err="1"/>
              <a:t>А</a:t>
            </a:r>
            <a:r>
              <a:rPr dirty="0"/>
              <a:t> </a:t>
            </a:r>
            <a:r>
              <a:rPr dirty="0" err="1"/>
              <a:t>и</a:t>
            </a:r>
            <a:r>
              <a:rPr dirty="0"/>
              <a:t> 3 </a:t>
            </a:r>
            <a:r>
              <a:rPr dirty="0" err="1"/>
              <a:t>класса</a:t>
            </a:r>
            <a:r>
              <a:rPr dirty="0"/>
              <a:t> </a:t>
            </a:r>
            <a:r>
              <a:rPr dirty="0" err="1"/>
              <a:t>Б</a:t>
            </a:r>
            <a:r>
              <a:rPr dirty="0"/>
              <a:t>. Три </a:t>
            </a:r>
            <a:r>
              <a:rPr dirty="0" err="1"/>
              <a:t>тестовых</a:t>
            </a:r>
            <a:r>
              <a:rPr dirty="0"/>
              <a:t> </a:t>
            </a:r>
            <a:r>
              <a:rPr dirty="0" err="1"/>
              <a:t>блока</a:t>
            </a:r>
            <a:r>
              <a:rPr dirty="0"/>
              <a:t> </a:t>
            </a:r>
            <a:r>
              <a:rPr dirty="0" err="1"/>
              <a:t>по</a:t>
            </a:r>
            <a:r>
              <a:rPr dirty="0"/>
              <a:t> 3 </a:t>
            </a:r>
            <a:r>
              <a:rPr dirty="0" err="1"/>
              <a:t>объекта</a:t>
            </a:r>
            <a:r>
              <a:rPr dirty="0"/>
              <a:t> </a:t>
            </a:r>
            <a:r>
              <a:rPr dirty="0" err="1"/>
              <a:t>А</a:t>
            </a:r>
            <a:r>
              <a:rPr dirty="0"/>
              <a:t> </a:t>
            </a:r>
            <a:r>
              <a:rPr dirty="0" err="1"/>
              <a:t>и</a:t>
            </a:r>
            <a:r>
              <a:rPr dirty="0"/>
              <a:t> 1 </a:t>
            </a:r>
            <a:r>
              <a:rPr dirty="0" err="1"/>
              <a:t>Б</a:t>
            </a:r>
            <a:r>
              <a:rPr dirty="0"/>
              <a:t>.</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ЦУ, МАГА2026, </a:t>
            </a:r>
            <a:r>
              <a:rPr dirty="0" err="1"/>
              <a:t>неделя</a:t>
            </a:r>
            <a:r>
              <a:rPr dirty="0"/>
              <a:t> 2, </a:t>
            </a:r>
            <a:r>
              <a:rPr dirty="0" err="1"/>
              <a:t>презентация</a:t>
            </a:r>
            <a:r>
              <a:rPr dirty="0"/>
              <a:t> 2, </a:t>
            </a:r>
            <a:r>
              <a:rPr dirty="0" err="1"/>
              <a:t>слайды</a:t>
            </a:r>
            <a:r>
              <a:rPr dirty="0"/>
              <a:t> 39–42. Условные </a:t>
            </a:r>
            <a:r>
              <a:rPr dirty="0" err="1"/>
              <a:t>месяцы</a:t>
            </a:r>
            <a:r>
              <a:rPr dirty="0"/>
              <a:t>, </a:t>
            </a:r>
            <a:r>
              <a:rPr dirty="0" err="1"/>
              <a:t>схема</a:t>
            </a:r>
            <a:r>
              <a:rPr dirty="0"/>
              <a:t> </a:t>
            </a:r>
            <a:r>
              <a:rPr dirty="0" err="1"/>
              <a:t>нарастающего</a:t>
            </a:r>
            <a:r>
              <a:rPr dirty="0"/>
              <a:t> </a:t>
            </a:r>
            <a:r>
              <a:rPr dirty="0" err="1"/>
              <a:t>окна</a:t>
            </a:r>
            <a:r>
              <a:rPr dirty="0"/>
              <a:t>.</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Р</a:t>
            </a:r>
            <a:r>
              <a:rPr dirty="0"/>
              <a:t>. </a:t>
            </a:r>
            <a:r>
              <a:rPr dirty="0" err="1"/>
              <a:t>Васильев</a:t>
            </a:r>
            <a:r>
              <a:rPr dirty="0"/>
              <a:t>, 20210921_lr.key, </a:t>
            </a:r>
            <a:r>
              <a:rPr dirty="0" err="1"/>
              <a:t>StandardScaler</a:t>
            </a:r>
            <a:r>
              <a:rPr dirty="0"/>
              <a:t>. ЦУ, МАГА2026, </a:t>
            </a:r>
            <a:r>
              <a:rPr dirty="0" err="1"/>
              <a:t>неделя</a:t>
            </a:r>
            <a:r>
              <a:rPr dirty="0"/>
              <a:t> 2, </a:t>
            </a:r>
            <a:r>
              <a:rPr dirty="0" err="1"/>
              <a:t>презентация</a:t>
            </a:r>
            <a:r>
              <a:rPr dirty="0"/>
              <a:t> 2, </a:t>
            </a:r>
            <a:r>
              <a:rPr dirty="0" err="1"/>
              <a:t>слайд</a:t>
            </a:r>
            <a:r>
              <a:rPr dirty="0"/>
              <a:t> 48.</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Учебный</a:t>
            </a:r>
            <a:r>
              <a:rPr dirty="0"/>
              <a:t> </a:t>
            </a:r>
            <a:r>
              <a:rPr dirty="0" err="1"/>
              <a:t>пример</a:t>
            </a:r>
            <a:r>
              <a:rPr dirty="0"/>
              <a:t>: a(x)=10x−9, b(x)=x. </a:t>
            </a:r>
            <a:r>
              <a:rPr dirty="0" err="1"/>
              <a:t>При</a:t>
            </a:r>
            <a:r>
              <a:rPr dirty="0"/>
              <a:t> x=1 </a:t>
            </a:r>
            <a:r>
              <a:rPr dirty="0" err="1"/>
              <a:t>обе</a:t>
            </a:r>
            <a:r>
              <a:rPr dirty="0"/>
              <a:t> </a:t>
            </a:r>
            <a:r>
              <a:rPr dirty="0" err="1"/>
              <a:t>модели</a:t>
            </a:r>
            <a:r>
              <a:rPr dirty="0"/>
              <a:t> </a:t>
            </a:r>
            <a:r>
              <a:rPr dirty="0" err="1"/>
              <a:t>дают</a:t>
            </a:r>
            <a:r>
              <a:rPr dirty="0"/>
              <a:t> 1, </a:t>
            </a:r>
            <a:r>
              <a:rPr dirty="0" err="1"/>
              <a:t>при</a:t>
            </a:r>
            <a:r>
              <a:rPr dirty="0"/>
              <a:t> x=1.1 </a:t>
            </a:r>
            <a:r>
              <a:rPr dirty="0" err="1"/>
              <a:t>дают</a:t>
            </a:r>
            <a:r>
              <a:rPr dirty="0"/>
              <a:t> 2 </a:t>
            </a:r>
            <a:r>
              <a:rPr dirty="0" err="1"/>
              <a:t>и</a:t>
            </a:r>
            <a:r>
              <a:rPr dirty="0"/>
              <a:t> 1.1.</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4, 6.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Р</a:t>
            </a:r>
            <a:r>
              <a:rPr dirty="0"/>
              <a:t>. </a:t>
            </a:r>
            <a:r>
              <a:rPr dirty="0" err="1"/>
              <a:t>Васильев</a:t>
            </a:r>
            <a:r>
              <a:rPr dirty="0"/>
              <a:t>, 20200917_2_gd.key, </a:t>
            </a:r>
            <a:r>
              <a:rPr dirty="0" err="1"/>
              <a:t>раздел</a:t>
            </a:r>
            <a:r>
              <a:rPr dirty="0"/>
              <a:t> «</a:t>
            </a:r>
            <a:r>
              <a:rPr dirty="0" err="1"/>
              <a:t>Регуляризация</a:t>
            </a:r>
            <a:r>
              <a:rPr dirty="0"/>
              <a:t>».</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4, 5.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ЦУ, МАГА2026, </a:t>
            </a:r>
            <a:r>
              <a:rPr dirty="0" err="1"/>
              <a:t>неделя</a:t>
            </a:r>
            <a:r>
              <a:rPr dirty="0"/>
              <a:t> 4, </a:t>
            </a:r>
            <a:r>
              <a:rPr dirty="0" err="1"/>
              <a:t>слайды</a:t>
            </a:r>
            <a:r>
              <a:rPr dirty="0"/>
              <a:t> 37–38.</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6, 7.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ЦУ, МАГА2026, </a:t>
            </a:r>
            <a:r>
              <a:rPr dirty="0" err="1"/>
              <a:t>неделя</a:t>
            </a:r>
            <a:r>
              <a:rPr dirty="0"/>
              <a:t> 4, </a:t>
            </a:r>
            <a:r>
              <a:rPr dirty="0" err="1"/>
              <a:t>слайд</a:t>
            </a:r>
            <a:r>
              <a:rPr dirty="0"/>
              <a:t> 36.</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5, 7, 8.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ЦУ, МАГА2026, </a:t>
            </a:r>
            <a:r>
              <a:rPr dirty="0" err="1"/>
              <a:t>неделя</a:t>
            </a:r>
            <a:r>
              <a:rPr dirty="0"/>
              <a:t> 4, </a:t>
            </a:r>
            <a:r>
              <a:rPr dirty="0" err="1"/>
              <a:t>слайды</a:t>
            </a:r>
            <a:r>
              <a:rPr dirty="0"/>
              <a:t> 31–34.</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5, 7.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Р</a:t>
            </a:r>
            <a:r>
              <a:rPr dirty="0"/>
              <a:t>. </a:t>
            </a:r>
            <a:r>
              <a:rPr dirty="0" err="1"/>
              <a:t>Васильев</a:t>
            </a:r>
            <a:r>
              <a:rPr dirty="0"/>
              <a:t>, 20210921_lr.key, «</a:t>
            </a:r>
            <a:r>
              <a:rPr dirty="0" err="1"/>
              <a:t>Объяснение</a:t>
            </a:r>
            <a:r>
              <a:rPr dirty="0"/>
              <a:t> </a:t>
            </a:r>
            <a:r>
              <a:rPr dirty="0" err="1"/>
              <a:t>картинки</a:t>
            </a:r>
            <a:r>
              <a:rPr dirty="0"/>
              <a:t>». </a:t>
            </a:r>
            <a:r>
              <a:rPr dirty="0" err="1"/>
              <a:t>Изображение</a:t>
            </a:r>
            <a:r>
              <a:rPr dirty="0"/>
              <a:t>: ЦУ, </a:t>
            </a:r>
            <a:r>
              <a:rPr dirty="0" err="1"/>
              <a:t>неделя</a:t>
            </a:r>
            <a:r>
              <a:rPr dirty="0"/>
              <a:t> 4, </a:t>
            </a:r>
            <a:r>
              <a:rPr dirty="0" err="1"/>
              <a:t>слайд</a:t>
            </a:r>
            <a:r>
              <a:rPr dirty="0"/>
              <a:t> 39. </a:t>
            </a:r>
            <a:r>
              <a:rPr dirty="0" err="1"/>
              <a:t>Возвращено</a:t>
            </a:r>
            <a:r>
              <a:rPr dirty="0"/>
              <a:t> </a:t>
            </a:r>
            <a:r>
              <a:rPr dirty="0" err="1"/>
              <a:t>по</a:t>
            </a:r>
            <a:r>
              <a:rPr dirty="0"/>
              <a:t> </a:t>
            </a:r>
            <a:r>
              <a:rPr dirty="0" err="1"/>
              <a:t>запросу</a:t>
            </a:r>
            <a:r>
              <a:rPr dirty="0"/>
              <a:t> </a:t>
            </a:r>
            <a:r>
              <a:rPr dirty="0" err="1"/>
              <a:t>автора</a:t>
            </a:r>
            <a:r>
              <a:rPr dirty="0"/>
              <a:t> </a:t>
            </a:r>
            <a:r>
              <a:rPr dirty="0" err="1"/>
              <a:t>курса</a:t>
            </a:r>
            <a:r>
              <a:rPr dirty="0"/>
              <a:t>.</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5, 7.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ЦУ, МАГА2026, </a:t>
            </a:r>
            <a:r>
              <a:rPr dirty="0" err="1"/>
              <a:t>неделя</a:t>
            </a:r>
            <a:r>
              <a:rPr dirty="0"/>
              <a:t> 4, </a:t>
            </a:r>
            <a:r>
              <a:rPr dirty="0" err="1"/>
              <a:t>слайд</a:t>
            </a:r>
            <a:r>
              <a:rPr dirty="0"/>
              <a:t> 33. Q(w)=||Aw−y||²/ℓ. D </a:t>
            </a:r>
            <a:r>
              <a:rPr dirty="0" err="1"/>
              <a:t>оставляет</a:t>
            </a:r>
            <a:r>
              <a:rPr dirty="0"/>
              <a:t> </a:t>
            </a:r>
            <a:r>
              <a:rPr dirty="0" err="1"/>
              <a:t>свободный</a:t>
            </a:r>
            <a:r>
              <a:rPr dirty="0"/>
              <a:t> </a:t>
            </a:r>
            <a:r>
              <a:rPr dirty="0" err="1"/>
              <a:t>член</a:t>
            </a:r>
            <a:r>
              <a:rPr dirty="0"/>
              <a:t> </a:t>
            </a:r>
            <a:r>
              <a:rPr dirty="0" err="1"/>
              <a:t>без</a:t>
            </a:r>
            <a:r>
              <a:rPr dirty="0"/>
              <a:t> </a:t>
            </a:r>
            <a:r>
              <a:rPr dirty="0" err="1"/>
              <a:t>штрафа</a:t>
            </a:r>
            <a:r>
              <a:rPr dirty="0"/>
              <a:t>.</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5, 7.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ЦУ, МАГА2026, </a:t>
            </a:r>
            <a:r>
              <a:rPr dirty="0" err="1"/>
              <a:t>неделя</a:t>
            </a:r>
            <a:r>
              <a:rPr dirty="0"/>
              <a:t> 4, </a:t>
            </a:r>
            <a:r>
              <a:rPr dirty="0" err="1"/>
              <a:t>слайды</a:t>
            </a:r>
            <a:r>
              <a:rPr dirty="0"/>
              <a:t> 35,41.</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ЦУ, МАГА2026, </a:t>
            </a:r>
            <a:r>
              <a:rPr dirty="0" err="1"/>
              <a:t>неделя</a:t>
            </a:r>
            <a:r>
              <a:rPr dirty="0"/>
              <a:t> 4, </a:t>
            </a:r>
            <a:r>
              <a:rPr dirty="0" err="1"/>
              <a:t>слайд</a:t>
            </a:r>
            <a:r>
              <a:rPr dirty="0"/>
              <a:t> 39. </a:t>
            </a:r>
            <a:r>
              <a:rPr dirty="0" err="1"/>
              <a:t>Изображение</a:t>
            </a:r>
            <a:r>
              <a:rPr dirty="0"/>
              <a:t> </a:t>
            </a:r>
            <a:r>
              <a:rPr dirty="0" err="1"/>
              <a:t>возвращено</a:t>
            </a:r>
            <a:r>
              <a:rPr dirty="0"/>
              <a:t> </a:t>
            </a:r>
            <a:r>
              <a:rPr dirty="0" err="1"/>
              <a:t>по</a:t>
            </a:r>
            <a:r>
              <a:rPr dirty="0"/>
              <a:t> </a:t>
            </a:r>
            <a:r>
              <a:rPr dirty="0" err="1"/>
              <a:t>запросу</a:t>
            </a:r>
            <a:r>
              <a:rPr dirty="0"/>
              <a:t> </a:t>
            </a:r>
            <a:r>
              <a:rPr dirty="0" err="1"/>
              <a:t>автора</a:t>
            </a:r>
            <a:r>
              <a:rPr dirty="0"/>
              <a:t> </a:t>
            </a:r>
            <a:r>
              <a:rPr dirty="0" err="1"/>
              <a:t>курса</a:t>
            </a:r>
            <a:r>
              <a:rPr dirty="0"/>
              <a:t>.</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7, 8.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ЦУ, МАГА2026, </a:t>
            </a:r>
            <a:r>
              <a:rPr dirty="0" err="1"/>
              <a:t>неделя</a:t>
            </a:r>
            <a:r>
              <a:rPr dirty="0"/>
              <a:t> 4, </a:t>
            </a:r>
            <a:r>
              <a:rPr dirty="0" err="1"/>
              <a:t>слайд</a:t>
            </a:r>
            <a:r>
              <a:rPr dirty="0"/>
              <a:t> 40. </a:t>
            </a:r>
            <a:r>
              <a:rPr dirty="0" err="1"/>
              <a:t>Изображение</a:t>
            </a:r>
            <a:r>
              <a:rPr dirty="0"/>
              <a:t> </a:t>
            </a:r>
            <a:r>
              <a:rPr dirty="0" err="1"/>
              <a:t>возвращено</a:t>
            </a:r>
            <a:r>
              <a:rPr dirty="0"/>
              <a:t> </a:t>
            </a:r>
            <a:r>
              <a:rPr dirty="0" err="1"/>
              <a:t>по</a:t>
            </a:r>
            <a:r>
              <a:rPr dirty="0"/>
              <a:t> </a:t>
            </a:r>
            <a:r>
              <a:rPr dirty="0" err="1"/>
              <a:t>запросу</a:t>
            </a:r>
            <a:r>
              <a:rPr dirty="0"/>
              <a:t> </a:t>
            </a:r>
            <a:r>
              <a:rPr dirty="0" err="1"/>
              <a:t>автора</a:t>
            </a:r>
            <a:r>
              <a:rPr dirty="0"/>
              <a:t> </a:t>
            </a:r>
            <a:r>
              <a:rPr dirty="0" err="1"/>
              <a:t>курса</a:t>
            </a:r>
            <a:r>
              <a:rPr dirty="0"/>
              <a:t>.</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ЦУ, МАГА2026, </a:t>
            </a:r>
            <a:r>
              <a:rPr dirty="0" err="1"/>
              <a:t>неделя</a:t>
            </a:r>
            <a:r>
              <a:rPr dirty="0"/>
              <a:t> 4, </a:t>
            </a:r>
            <a:r>
              <a:rPr dirty="0" err="1"/>
              <a:t>слайды</a:t>
            </a:r>
            <a:r>
              <a:rPr dirty="0"/>
              <a:t> 34–35. Оригинальные </a:t>
            </a:r>
            <a:r>
              <a:rPr dirty="0" err="1"/>
              <a:t>графики</a:t>
            </a:r>
            <a:r>
              <a:rPr dirty="0"/>
              <a:t> </a:t>
            </a:r>
            <a:r>
              <a:rPr dirty="0" err="1"/>
              <a:t>из</a:t>
            </a:r>
            <a:r>
              <a:rPr dirty="0"/>
              <a:t> </a:t>
            </a:r>
            <a:r>
              <a:rPr dirty="0" err="1"/>
              <a:t>исходного</a:t>
            </a:r>
            <a:r>
              <a:rPr dirty="0"/>
              <a:t> PPTX. Это </a:t>
            </a:r>
            <a:r>
              <a:rPr dirty="0" err="1"/>
              <a:t>разные</a:t>
            </a:r>
            <a:r>
              <a:rPr dirty="0"/>
              <a:t> </a:t>
            </a:r>
            <a:r>
              <a:rPr dirty="0" err="1"/>
              <a:t>примеры</a:t>
            </a:r>
            <a:r>
              <a:rPr dirty="0"/>
              <a:t>, </a:t>
            </a:r>
            <a:r>
              <a:rPr dirty="0" err="1"/>
              <a:t>численные</a:t>
            </a:r>
            <a:r>
              <a:rPr dirty="0"/>
              <a:t> </a:t>
            </a:r>
            <a:r>
              <a:rPr dirty="0" err="1"/>
              <a:t>шкалы</a:t>
            </a:r>
            <a:r>
              <a:rPr dirty="0"/>
              <a:t> alpha </a:t>
            </a:r>
            <a:r>
              <a:rPr dirty="0" err="1"/>
              <a:t>не</a:t>
            </a:r>
            <a:r>
              <a:rPr dirty="0"/>
              <a:t> </a:t>
            </a:r>
            <a:r>
              <a:rPr dirty="0" err="1"/>
              <a:t>сопоставляются</a:t>
            </a:r>
            <a:r>
              <a:rPr dirty="0"/>
              <a:t>.</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9, 10.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ЦУ, МАГА2026, </a:t>
            </a:r>
            <a:r>
              <a:rPr dirty="0" err="1"/>
              <a:t>неделя</a:t>
            </a:r>
            <a:r>
              <a:rPr dirty="0"/>
              <a:t> 4, </a:t>
            </a:r>
            <a:r>
              <a:rPr dirty="0" err="1"/>
              <a:t>слайд</a:t>
            </a:r>
            <a:r>
              <a:rPr dirty="0"/>
              <a:t> 43. Прямой </a:t>
            </a:r>
            <a:r>
              <a:rPr dirty="0" err="1"/>
              <a:t>метод</a:t>
            </a:r>
            <a:r>
              <a:rPr dirty="0"/>
              <a:t> </a:t>
            </a:r>
            <a:r>
              <a:rPr dirty="0" err="1"/>
              <a:t>решает</a:t>
            </a:r>
            <a:r>
              <a:rPr dirty="0"/>
              <a:t> </a:t>
            </a:r>
            <a:r>
              <a:rPr dirty="0" err="1"/>
              <a:t>нормальные</a:t>
            </a:r>
            <a:r>
              <a:rPr dirty="0"/>
              <a:t> </a:t>
            </a:r>
            <a:r>
              <a:rPr dirty="0" err="1"/>
              <a:t>уравнения</a:t>
            </a:r>
            <a:r>
              <a:rPr dirty="0"/>
              <a:t>. Обратная </a:t>
            </a:r>
            <a:r>
              <a:rPr dirty="0" err="1"/>
              <a:t>матрица</a:t>
            </a:r>
            <a:r>
              <a:rPr dirty="0"/>
              <a:t> </a:t>
            </a:r>
            <a:r>
              <a:rPr dirty="0" err="1"/>
              <a:t>задаёт</a:t>
            </a:r>
            <a:r>
              <a:rPr dirty="0"/>
              <a:t> </a:t>
            </a:r>
            <a:r>
              <a:rPr dirty="0" err="1"/>
              <a:t>формулу</a:t>
            </a:r>
            <a:r>
              <a:rPr dirty="0"/>
              <a:t>, </a:t>
            </a:r>
            <a:r>
              <a:rPr dirty="0" err="1"/>
              <a:t>на</a:t>
            </a:r>
            <a:r>
              <a:rPr dirty="0"/>
              <a:t> </a:t>
            </a:r>
            <a:r>
              <a:rPr dirty="0" err="1"/>
              <a:t>практике</a:t>
            </a:r>
            <a:r>
              <a:rPr dirty="0"/>
              <a:t> </a:t>
            </a:r>
            <a:r>
              <a:rPr dirty="0" err="1"/>
              <a:t>систему</a:t>
            </a:r>
            <a:r>
              <a:rPr dirty="0"/>
              <a:t> </a:t>
            </a:r>
            <a:r>
              <a:rPr dirty="0" err="1"/>
              <a:t>решают</a:t>
            </a:r>
            <a:r>
              <a:rPr dirty="0"/>
              <a:t> </a:t>
            </a:r>
            <a:r>
              <a:rPr dirty="0" err="1"/>
              <a:t>численно</a:t>
            </a:r>
            <a:r>
              <a:rPr dirty="0"/>
              <a:t> </a:t>
            </a:r>
            <a:r>
              <a:rPr dirty="0" err="1"/>
              <a:t>без</a:t>
            </a:r>
            <a:r>
              <a:rPr dirty="0"/>
              <a:t> </a:t>
            </a:r>
            <a:r>
              <a:rPr dirty="0" err="1"/>
              <a:t>явного</a:t>
            </a:r>
            <a:r>
              <a:rPr dirty="0"/>
              <a:t> </a:t>
            </a:r>
            <a:r>
              <a:rPr dirty="0" err="1"/>
              <a:t>обращения</a:t>
            </a:r>
            <a:r>
              <a:rPr dirty="0"/>
              <a:t>.</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ЦУ, МАГА2026, </a:t>
            </a:r>
            <a:r>
              <a:rPr dirty="0" err="1"/>
              <a:t>неделя</a:t>
            </a:r>
            <a:r>
              <a:rPr dirty="0"/>
              <a:t> 4, </a:t>
            </a:r>
            <a:r>
              <a:rPr dirty="0" err="1"/>
              <a:t>слайды</a:t>
            </a:r>
            <a:r>
              <a:rPr dirty="0"/>
              <a:t> 44–45. Иллюстрация </a:t>
            </a:r>
            <a:r>
              <a:rPr dirty="0" err="1"/>
              <a:t>гладкой</a:t>
            </a:r>
            <a:r>
              <a:rPr dirty="0"/>
              <a:t> </a:t>
            </a:r>
            <a:r>
              <a:rPr dirty="0" err="1"/>
              <a:t>функции</a:t>
            </a:r>
            <a:r>
              <a:rPr dirty="0"/>
              <a:t>, </a:t>
            </a:r>
            <a:r>
              <a:rPr dirty="0" err="1"/>
              <a:t>не</a:t>
            </a:r>
            <a:r>
              <a:rPr dirty="0"/>
              <a:t> </a:t>
            </a:r>
            <a:r>
              <a:rPr dirty="0" err="1"/>
              <a:t>квадратичной</a:t>
            </a:r>
            <a:r>
              <a:rPr dirty="0"/>
              <a:t> </a:t>
            </a:r>
            <a:r>
              <a:rPr dirty="0" err="1"/>
              <a:t>ошибки</a:t>
            </a:r>
            <a:r>
              <a:rPr dirty="0"/>
              <a:t> МНК.</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ЦУ, МАГА2026, </a:t>
            </a:r>
            <a:r>
              <a:rPr dirty="0" err="1"/>
              <a:t>неделя</a:t>
            </a:r>
            <a:r>
              <a:rPr dirty="0"/>
              <a:t> 4, </a:t>
            </a:r>
            <a:r>
              <a:rPr dirty="0" err="1"/>
              <a:t>слайды</a:t>
            </a:r>
            <a:r>
              <a:rPr dirty="0"/>
              <a:t> 44–46.</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13, 16.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ЦУ, МАГА2026, </a:t>
            </a:r>
            <a:r>
              <a:rPr dirty="0" err="1"/>
              <a:t>неделя</a:t>
            </a:r>
            <a:r>
              <a:rPr dirty="0"/>
              <a:t> 4, </a:t>
            </a:r>
            <a:r>
              <a:rPr dirty="0" err="1"/>
              <a:t>слайды</a:t>
            </a:r>
            <a:r>
              <a:rPr dirty="0"/>
              <a:t> 44–46.</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13, 14.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ЦУ, МАГА2026, </a:t>
            </a:r>
            <a:r>
              <a:rPr dirty="0" err="1"/>
              <a:t>неделя</a:t>
            </a:r>
            <a:r>
              <a:rPr dirty="0"/>
              <a:t> 4, </a:t>
            </a:r>
            <a:r>
              <a:rPr dirty="0" err="1"/>
              <a:t>слайды</a:t>
            </a:r>
            <a:r>
              <a:rPr dirty="0"/>
              <a:t> 46,53. </a:t>
            </a:r>
            <a:r>
              <a:rPr dirty="0" err="1"/>
              <a:t>Собственный</a:t>
            </a:r>
            <a:r>
              <a:rPr dirty="0"/>
              <a:t> </a:t>
            </a:r>
            <a:r>
              <a:rPr dirty="0" err="1"/>
              <a:t>пример</a:t>
            </a:r>
            <a:r>
              <a:rPr dirty="0"/>
              <a:t>. </a:t>
            </a:r>
            <a:r>
              <a:rPr dirty="0" err="1"/>
              <a:t>Центрирование</a:t>
            </a:r>
            <a:r>
              <a:rPr dirty="0"/>
              <a:t> </a:t>
            </a:r>
            <a:r>
              <a:rPr dirty="0" err="1"/>
              <a:t>признака</a:t>
            </a:r>
            <a:r>
              <a:rPr dirty="0"/>
              <a:t> </a:t>
            </a:r>
            <a:r>
              <a:rPr dirty="0" err="1"/>
              <a:t>делает</a:t>
            </a:r>
            <a:r>
              <a:rPr dirty="0"/>
              <a:t> </a:t>
            </a:r>
            <a:r>
              <a:rPr dirty="0" err="1"/>
              <a:t>оптимальный</a:t>
            </a:r>
            <a:r>
              <a:rPr dirty="0"/>
              <a:t> </a:t>
            </a:r>
            <a:r>
              <a:rPr dirty="0" err="1"/>
              <a:t>свободный</a:t>
            </a:r>
            <a:r>
              <a:rPr dirty="0"/>
              <a:t> </a:t>
            </a:r>
            <a:r>
              <a:rPr dirty="0" err="1"/>
              <a:t>член</a:t>
            </a:r>
            <a:r>
              <a:rPr dirty="0"/>
              <a:t> </a:t>
            </a:r>
            <a:r>
              <a:rPr dirty="0" err="1"/>
              <a:t>равным</a:t>
            </a:r>
            <a:r>
              <a:rPr dirty="0"/>
              <a:t> 25 </a:t>
            </a:r>
            <a:r>
              <a:rPr dirty="0" err="1"/>
              <a:t>при</a:t>
            </a:r>
            <a:r>
              <a:rPr dirty="0"/>
              <a:t> </a:t>
            </a:r>
            <a:r>
              <a:rPr dirty="0" err="1"/>
              <a:t>любом</a:t>
            </a:r>
            <a:r>
              <a:rPr dirty="0"/>
              <a:t> </a:t>
            </a:r>
            <a:r>
              <a:rPr dirty="0" err="1"/>
              <a:t>наклоне</a:t>
            </a:r>
            <a:r>
              <a:rPr dirty="0"/>
              <a:t>.</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13, 16.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ЦУ, МАГА2026, </a:t>
            </a:r>
            <a:r>
              <a:rPr dirty="0" err="1"/>
              <a:t>неделя</a:t>
            </a:r>
            <a:r>
              <a:rPr dirty="0"/>
              <a:t> 4, </a:t>
            </a:r>
            <a:r>
              <a:rPr dirty="0" err="1"/>
              <a:t>слайды</a:t>
            </a:r>
            <a:r>
              <a:rPr dirty="0"/>
              <a:t> 46,53. </a:t>
            </a:r>
            <a:r>
              <a:rPr dirty="0" err="1"/>
              <a:t>η</a:t>
            </a:r>
            <a:r>
              <a:rPr dirty="0"/>
              <a:t>=.1, w0=0. Все </a:t>
            </a:r>
            <a:r>
              <a:rPr dirty="0" err="1"/>
              <a:t>значения</a:t>
            </a:r>
            <a:r>
              <a:rPr dirty="0"/>
              <a:t> </a:t>
            </a:r>
            <a:r>
              <a:rPr dirty="0" err="1"/>
              <a:t>вычислены</a:t>
            </a:r>
            <a:r>
              <a:rPr dirty="0"/>
              <a:t> </a:t>
            </a:r>
            <a:r>
              <a:rPr dirty="0" err="1"/>
              <a:t>из</a:t>
            </a:r>
            <a:r>
              <a:rPr dirty="0"/>
              <a:t> </a:t>
            </a:r>
            <a:r>
              <a:rPr dirty="0" err="1"/>
              <a:t>исходных</a:t>
            </a:r>
            <a:r>
              <a:rPr dirty="0"/>
              <a:t> </a:t>
            </a:r>
            <a:r>
              <a:rPr dirty="0" err="1"/>
              <a:t>пяти</a:t>
            </a:r>
            <a:r>
              <a:rPr dirty="0"/>
              <a:t> </a:t>
            </a:r>
            <a:r>
              <a:rPr dirty="0" err="1"/>
              <a:t>наблюдений</a:t>
            </a:r>
            <a:r>
              <a:rPr dirty="0"/>
              <a:t>.</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Р</a:t>
            </a:r>
            <a:r>
              <a:rPr dirty="0"/>
              <a:t>. </a:t>
            </a:r>
            <a:r>
              <a:rPr dirty="0" err="1"/>
              <a:t>Васильев</a:t>
            </a:r>
            <a:r>
              <a:rPr dirty="0"/>
              <a:t>, 20200917_2_gd.key, </a:t>
            </a:r>
            <a:r>
              <a:rPr dirty="0" err="1"/>
              <a:t>авторская</a:t>
            </a:r>
            <a:r>
              <a:rPr dirty="0"/>
              <a:t> </a:t>
            </a:r>
            <a:r>
              <a:rPr dirty="0" err="1"/>
              <a:t>иллюстрация</a:t>
            </a:r>
            <a:r>
              <a:rPr dirty="0"/>
              <a:t> </a:t>
            </a:r>
            <a:r>
              <a:rPr dirty="0" err="1"/>
              <a:t>движения</a:t>
            </a:r>
            <a:r>
              <a:rPr dirty="0"/>
              <a:t> </a:t>
            </a:r>
            <a:r>
              <a:rPr dirty="0" err="1"/>
              <a:t>к</a:t>
            </a:r>
            <a:r>
              <a:rPr dirty="0"/>
              <a:t> </a:t>
            </a:r>
            <a:r>
              <a:rPr dirty="0" err="1"/>
              <a:t>минимуму</a:t>
            </a:r>
            <a:r>
              <a:rPr dirty="0"/>
              <a:t>. </a:t>
            </a:r>
            <a:r>
              <a:rPr dirty="0" err="1"/>
              <a:t>Общая</a:t>
            </a:r>
            <a:r>
              <a:rPr dirty="0"/>
              <a:t> </a:t>
            </a:r>
            <a:r>
              <a:rPr dirty="0" err="1"/>
              <a:t>гладкая</a:t>
            </a:r>
            <a:r>
              <a:rPr dirty="0"/>
              <a:t> </a:t>
            </a:r>
            <a:r>
              <a:rPr dirty="0" err="1"/>
              <a:t>функция</a:t>
            </a:r>
            <a:r>
              <a:rPr dirty="0"/>
              <a:t>, </a:t>
            </a:r>
            <a:r>
              <a:rPr dirty="0" err="1"/>
              <a:t>не</a:t>
            </a:r>
            <a:r>
              <a:rPr dirty="0"/>
              <a:t> </a:t>
            </a:r>
            <a:r>
              <a:rPr dirty="0" err="1"/>
              <a:t>квадратичная</a:t>
            </a:r>
            <a:r>
              <a:rPr dirty="0"/>
              <a:t> </a:t>
            </a:r>
            <a:r>
              <a:rPr dirty="0" err="1"/>
              <a:t>ошибка</a:t>
            </a:r>
            <a:r>
              <a:rPr dirty="0"/>
              <a:t> </a:t>
            </a:r>
            <a:r>
              <a:rPr dirty="0" err="1"/>
              <a:t>предыдущего</a:t>
            </a:r>
            <a:r>
              <a:rPr dirty="0"/>
              <a:t> </a:t>
            </a:r>
            <a:r>
              <a:rPr dirty="0" err="1"/>
              <a:t>примера</a:t>
            </a:r>
            <a:r>
              <a:rPr dirty="0"/>
              <a:t>.</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Р</a:t>
            </a:r>
            <a:r>
              <a:rPr dirty="0"/>
              <a:t>. </a:t>
            </a:r>
            <a:r>
              <a:rPr dirty="0" err="1"/>
              <a:t>Васильев</a:t>
            </a:r>
            <a:r>
              <a:rPr dirty="0"/>
              <a:t>, 20200917_2_gd.key, </a:t>
            </a:r>
            <a:r>
              <a:rPr dirty="0" err="1"/>
              <a:t>авторская</a:t>
            </a:r>
            <a:r>
              <a:rPr dirty="0"/>
              <a:t> </a:t>
            </a:r>
            <a:r>
              <a:rPr dirty="0" err="1"/>
              <a:t>иллюстрация</a:t>
            </a:r>
            <a:r>
              <a:rPr dirty="0"/>
              <a:t> </a:t>
            </a:r>
            <a:r>
              <a:rPr dirty="0" err="1"/>
              <a:t>слишком</a:t>
            </a:r>
            <a:r>
              <a:rPr dirty="0"/>
              <a:t> </a:t>
            </a:r>
            <a:r>
              <a:rPr dirty="0" err="1"/>
              <a:t>большого</a:t>
            </a:r>
            <a:r>
              <a:rPr dirty="0"/>
              <a:t> learning rate.</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13, 17.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Учебные </a:t>
            </a:r>
            <a:r>
              <a:rPr dirty="0" err="1"/>
              <a:t>квадратичные</a:t>
            </a:r>
            <a:r>
              <a:rPr dirty="0"/>
              <a:t> </a:t>
            </a:r>
            <a:r>
              <a:rPr dirty="0" err="1"/>
              <a:t>функции</a:t>
            </a:r>
            <a:r>
              <a:rPr dirty="0"/>
              <a:t>. </a:t>
            </a:r>
            <a:r>
              <a:rPr dirty="0" err="1"/>
              <a:t>До</a:t>
            </a:r>
            <a:r>
              <a:rPr dirty="0"/>
              <a:t>: Q=(w1²+25w2²)/2, </a:t>
            </a:r>
            <a:r>
              <a:rPr dirty="0" err="1"/>
              <a:t>η</a:t>
            </a:r>
            <a:r>
              <a:rPr dirty="0"/>
              <a:t>=.07. После </a:t>
            </a:r>
            <a:r>
              <a:rPr dirty="0" err="1"/>
              <a:t>замены</a:t>
            </a:r>
            <a:r>
              <a:rPr dirty="0"/>
              <a:t> v2=5w2: Q=(v1²+v2²)/2, </a:t>
            </a:r>
            <a:r>
              <a:rPr dirty="0" err="1"/>
              <a:t>η</a:t>
            </a:r>
            <a:r>
              <a:rPr dirty="0"/>
              <a:t>=.3. </a:t>
            </a:r>
            <a:r>
              <a:rPr dirty="0" err="1"/>
              <a:t>Иллюстративные</a:t>
            </a:r>
            <a:r>
              <a:rPr dirty="0"/>
              <a:t> </a:t>
            </a:r>
            <a:r>
              <a:rPr dirty="0" err="1"/>
              <a:t>старты</a:t>
            </a:r>
            <a:r>
              <a:rPr dirty="0"/>
              <a:t> </a:t>
            </a:r>
            <a:r>
              <a:rPr dirty="0" err="1"/>
              <a:t>в</a:t>
            </a:r>
            <a:r>
              <a:rPr dirty="0"/>
              <a:t> </a:t>
            </a:r>
            <a:r>
              <a:rPr dirty="0" err="1"/>
              <a:t>каждой</a:t>
            </a:r>
            <a:r>
              <a:rPr dirty="0"/>
              <a:t> </a:t>
            </a:r>
            <a:r>
              <a:rPr dirty="0" err="1"/>
              <a:t>системе</a:t>
            </a:r>
            <a:r>
              <a:rPr dirty="0"/>
              <a:t> </a:t>
            </a:r>
            <a:r>
              <a:rPr dirty="0" err="1"/>
              <a:t>координат</a:t>
            </a:r>
            <a:r>
              <a:rPr dirty="0"/>
              <a:t> (1.7,1.7). 20 </a:t>
            </a:r>
            <a:r>
              <a:rPr dirty="0" err="1"/>
              <a:t>обновлений</a:t>
            </a:r>
            <a:r>
              <a:rPr dirty="0"/>
              <a:t>. Графики </a:t>
            </a:r>
            <a:r>
              <a:rPr dirty="0" err="1"/>
              <a:t>вычислены</a:t>
            </a:r>
            <a:r>
              <a:rPr dirty="0"/>
              <a:t> </a:t>
            </a:r>
            <a:r>
              <a:rPr dirty="0" err="1"/>
              <a:t>по</a:t>
            </a:r>
            <a:r>
              <a:rPr dirty="0"/>
              <a:t> </a:t>
            </a:r>
            <a:r>
              <a:rPr dirty="0" err="1"/>
              <a:t>формулам</a:t>
            </a:r>
            <a:r>
              <a:rPr dirty="0"/>
              <a:t>.</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13, 15.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ЦУ, МАГА2026, </a:t>
            </a:r>
            <a:r>
              <a:rPr dirty="0" err="1"/>
              <a:t>неделя</a:t>
            </a:r>
            <a:r>
              <a:rPr dirty="0"/>
              <a:t> 4, </a:t>
            </a:r>
            <a:r>
              <a:rPr dirty="0" err="1"/>
              <a:t>слайд</a:t>
            </a:r>
            <a:r>
              <a:rPr dirty="0"/>
              <a:t> 49. </a:t>
            </a:r>
            <a:r>
              <a:rPr dirty="0" err="1"/>
              <a:t>Исправление</a:t>
            </a:r>
            <a:r>
              <a:rPr dirty="0"/>
              <a:t> </a:t>
            </a:r>
            <a:r>
              <a:rPr dirty="0" err="1"/>
              <a:t>исходника</a:t>
            </a:r>
            <a:r>
              <a:rPr dirty="0"/>
              <a:t>: validation </a:t>
            </a:r>
            <a:r>
              <a:rPr dirty="0" err="1"/>
              <a:t>вместо</a:t>
            </a:r>
            <a:r>
              <a:rPr dirty="0"/>
              <a:t> test. </a:t>
            </a:r>
            <a:r>
              <a:rPr dirty="0" err="1"/>
              <a:t>Полный</a:t>
            </a:r>
            <a:r>
              <a:rPr dirty="0"/>
              <a:t> </a:t>
            </a:r>
            <a:r>
              <a:rPr dirty="0" err="1"/>
              <a:t>ранг</a:t>
            </a:r>
            <a:r>
              <a:rPr dirty="0"/>
              <a:t> </a:t>
            </a:r>
            <a:r>
              <a:rPr dirty="0" err="1"/>
              <a:t>гарантирует</a:t>
            </a:r>
            <a:r>
              <a:rPr dirty="0"/>
              <a:t> </a:t>
            </a:r>
            <a:r>
              <a:rPr dirty="0" err="1"/>
              <a:t>единственность</a:t>
            </a:r>
            <a:r>
              <a:rPr dirty="0"/>
              <a:t> </a:t>
            </a:r>
            <a:r>
              <a:rPr dirty="0" err="1"/>
              <a:t>для</a:t>
            </a:r>
            <a:r>
              <a:rPr dirty="0"/>
              <a:t> </a:t>
            </a:r>
            <a:r>
              <a:rPr dirty="0" err="1"/>
              <a:t>квадратичного</a:t>
            </a:r>
            <a:r>
              <a:rPr dirty="0"/>
              <a:t> МНК, </a:t>
            </a:r>
            <a:r>
              <a:rPr dirty="0" err="1"/>
              <a:t>не</a:t>
            </a:r>
            <a:r>
              <a:rPr dirty="0"/>
              <a:t> </a:t>
            </a:r>
            <a:r>
              <a:rPr dirty="0" err="1"/>
              <a:t>для</a:t>
            </a:r>
            <a:r>
              <a:rPr dirty="0"/>
              <a:t> </a:t>
            </a:r>
            <a:r>
              <a:rPr dirty="0" err="1"/>
              <a:t>любой</a:t>
            </a:r>
            <a:r>
              <a:rPr dirty="0"/>
              <a:t> </a:t>
            </a:r>
            <a:r>
              <a:rPr dirty="0" err="1"/>
              <a:t>потери</a:t>
            </a:r>
            <a:r>
              <a:rPr dirty="0"/>
              <a:t>.</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13, 14.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ЦУ, МАГА2026, </a:t>
            </a:r>
            <a:r>
              <a:rPr dirty="0" err="1"/>
              <a:t>неделя</a:t>
            </a:r>
            <a:r>
              <a:rPr dirty="0"/>
              <a:t> 4, </a:t>
            </a:r>
            <a:r>
              <a:rPr dirty="0" err="1"/>
              <a:t>слайд</a:t>
            </a:r>
            <a:r>
              <a:rPr dirty="0"/>
              <a:t> 50. Расчёт </a:t>
            </a:r>
            <a:r>
              <a:rPr dirty="0" err="1"/>
              <a:t>для</a:t>
            </a:r>
            <a:r>
              <a:rPr dirty="0"/>
              <a:t> </a:t>
            </a:r>
            <a:r>
              <a:rPr dirty="0" err="1"/>
              <a:t>фиксированного</a:t>
            </a:r>
            <a:r>
              <a:rPr dirty="0"/>
              <a:t> intercept=25 </a:t>
            </a:r>
            <a:r>
              <a:rPr dirty="0" err="1"/>
              <a:t>и</a:t>
            </a:r>
            <a:r>
              <a:rPr dirty="0"/>
              <a:t> w=0, z=x−3.</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ЦУ, МАГА2026, </a:t>
            </a:r>
            <a:r>
              <a:rPr dirty="0" err="1"/>
              <a:t>неделя</a:t>
            </a:r>
            <a:r>
              <a:rPr dirty="0"/>
              <a:t> 4, </a:t>
            </a:r>
            <a:r>
              <a:rPr dirty="0" err="1"/>
              <a:t>слайды</a:t>
            </a:r>
            <a:r>
              <a:rPr dirty="0"/>
              <a:t> 50–52. При </a:t>
            </a:r>
            <a:r>
              <a:rPr dirty="0" err="1"/>
              <a:t>равномерном</a:t>
            </a:r>
            <a:r>
              <a:rPr dirty="0"/>
              <a:t> </a:t>
            </a:r>
            <a:r>
              <a:rPr dirty="0" err="1"/>
              <a:t>независимом</a:t>
            </a:r>
            <a:r>
              <a:rPr dirty="0"/>
              <a:t> </a:t>
            </a:r>
            <a:r>
              <a:rPr dirty="0" err="1"/>
              <a:t>выборе</a:t>
            </a:r>
            <a:r>
              <a:rPr dirty="0"/>
              <a:t> </a:t>
            </a:r>
            <a:r>
              <a:rPr dirty="0" err="1"/>
              <a:t>i</a:t>
            </a:r>
            <a:r>
              <a:rPr dirty="0"/>
              <a:t> </a:t>
            </a:r>
            <a:r>
              <a:rPr dirty="0" err="1"/>
              <a:t>условное</a:t>
            </a:r>
            <a:r>
              <a:rPr dirty="0"/>
              <a:t> </a:t>
            </a:r>
            <a:r>
              <a:rPr dirty="0" err="1"/>
              <a:t>математическое</a:t>
            </a:r>
            <a:r>
              <a:rPr dirty="0"/>
              <a:t> </a:t>
            </a:r>
            <a:r>
              <a:rPr dirty="0" err="1"/>
              <a:t>ожидание</a:t>
            </a:r>
            <a:r>
              <a:rPr dirty="0"/>
              <a:t> </a:t>
            </a:r>
            <a:r>
              <a:rPr dirty="0" err="1"/>
              <a:t>градиента</a:t>
            </a:r>
            <a:r>
              <a:rPr dirty="0"/>
              <a:t> </a:t>
            </a:r>
            <a:r>
              <a:rPr dirty="0" err="1"/>
              <a:t>равно</a:t>
            </a:r>
            <a:r>
              <a:rPr dirty="0"/>
              <a:t> </a:t>
            </a:r>
            <a:r>
              <a:rPr dirty="0" err="1"/>
              <a:t>полному</a:t>
            </a:r>
            <a:r>
              <a:rPr dirty="0"/>
              <a:t>.</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ЦУ, МАГА2026, </a:t>
            </a:r>
            <a:r>
              <a:rPr dirty="0" err="1"/>
              <a:t>неделя</a:t>
            </a:r>
            <a:r>
              <a:rPr dirty="0"/>
              <a:t> 4, </a:t>
            </a:r>
            <a:r>
              <a:rPr dirty="0" err="1"/>
              <a:t>слайды</a:t>
            </a:r>
            <a:r>
              <a:rPr dirty="0"/>
              <a:t> 50–52. </a:t>
            </a:r>
            <a:r>
              <a:rPr dirty="0" err="1"/>
              <a:t>Дополнение</a:t>
            </a:r>
            <a:r>
              <a:rPr dirty="0"/>
              <a:t> </a:t>
            </a:r>
            <a:r>
              <a:rPr dirty="0" err="1"/>
              <a:t>исходной</a:t>
            </a:r>
            <a:r>
              <a:rPr dirty="0"/>
              <a:t> </a:t>
            </a:r>
            <a:r>
              <a:rPr dirty="0" err="1"/>
              <a:t>формулы</a:t>
            </a:r>
            <a:r>
              <a:rPr dirty="0"/>
              <a:t> mini-batch, B </a:t>
            </a:r>
            <a:r>
              <a:rPr dirty="0" err="1"/>
              <a:t>размер</a:t>
            </a:r>
            <a:r>
              <a:rPr dirty="0"/>
              <a:t> </a:t>
            </a:r>
            <a:r>
              <a:rPr dirty="0" err="1"/>
              <a:t>батча</a:t>
            </a:r>
            <a:r>
              <a:rPr dirty="0"/>
              <a:t>.</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18, 20.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Воспроизводимый</a:t>
            </a:r>
            <a:r>
              <a:rPr dirty="0"/>
              <a:t> </a:t>
            </a:r>
            <a:r>
              <a:rPr dirty="0" err="1"/>
              <a:t>учебный</a:t>
            </a:r>
            <a:r>
              <a:rPr dirty="0"/>
              <a:t> </a:t>
            </a:r>
            <a:r>
              <a:rPr dirty="0" err="1"/>
              <a:t>пример</a:t>
            </a:r>
            <a:r>
              <a:rPr dirty="0"/>
              <a:t>: </a:t>
            </a:r>
            <a:r>
              <a:rPr dirty="0" err="1"/>
              <a:t>q_i</a:t>
            </a:r>
            <a:r>
              <a:rPr dirty="0"/>
              <a:t>(w)=((w1−a_i)²+4(w2−b_i)²)/2, </a:t>
            </a:r>
            <a:r>
              <a:rPr dirty="0" err="1"/>
              <a:t>центры</a:t>
            </a:r>
            <a:r>
              <a:rPr dirty="0"/>
              <a:t> (</a:t>
            </a:r>
            <a:r>
              <a:rPr dirty="0" err="1"/>
              <a:t>a_i,b_i</a:t>
            </a:r>
            <a:r>
              <a:rPr dirty="0"/>
              <a:t>)∈{−1,1}². Q=</a:t>
            </a:r>
            <a:r>
              <a:rPr dirty="0" err="1"/>
              <a:t>среднее</a:t>
            </a:r>
            <a:r>
              <a:rPr dirty="0"/>
              <a:t> </a:t>
            </a:r>
            <a:r>
              <a:rPr dirty="0" err="1"/>
              <a:t>q_i</a:t>
            </a:r>
            <a:r>
              <a:rPr dirty="0"/>
              <a:t>, </a:t>
            </a:r>
            <a:r>
              <a:rPr dirty="0" err="1"/>
              <a:t>минимум</a:t>
            </a:r>
            <a:r>
              <a:rPr dirty="0"/>
              <a:t> (0,0). </a:t>
            </a:r>
            <a:r>
              <a:rPr dirty="0" err="1"/>
              <a:t>Старт</a:t>
            </a:r>
            <a:r>
              <a:rPr dirty="0"/>
              <a:t> (1.7,1.7), </a:t>
            </a:r>
            <a:r>
              <a:rPr dirty="0" err="1"/>
              <a:t>η</a:t>
            </a:r>
            <a:r>
              <a:rPr dirty="0"/>
              <a:t>=.15, 35 </a:t>
            </a:r>
            <a:r>
              <a:rPr dirty="0" err="1"/>
              <a:t>шагов</a:t>
            </a:r>
            <a:r>
              <a:rPr dirty="0"/>
              <a:t>. Mini-batch 2 </a:t>
            </a:r>
            <a:r>
              <a:rPr dirty="0" err="1"/>
              <a:t>разных</a:t>
            </a:r>
            <a:r>
              <a:rPr dirty="0"/>
              <a:t> </a:t>
            </a:r>
            <a:r>
              <a:rPr dirty="0" err="1"/>
              <a:t>объекта</a:t>
            </a:r>
            <a:r>
              <a:rPr dirty="0"/>
              <a:t>, SGD 1 </a:t>
            </a:r>
            <a:r>
              <a:rPr dirty="0" err="1"/>
              <a:t>объект</a:t>
            </a:r>
            <a:r>
              <a:rPr dirty="0"/>
              <a:t>. LCG seed 20260923, </a:t>
            </a:r>
            <a:r>
              <a:rPr dirty="0" err="1"/>
              <a:t>единый</a:t>
            </a:r>
            <a:r>
              <a:rPr dirty="0"/>
              <a:t> </a:t>
            </a:r>
            <a:r>
              <a:rPr dirty="0" err="1"/>
              <a:t>поток</a:t>
            </a:r>
            <a:r>
              <a:rPr dirty="0"/>
              <a:t> </a:t>
            </a:r>
            <a:r>
              <a:rPr dirty="0" err="1"/>
              <a:t>случайных</a:t>
            </a:r>
            <a:r>
              <a:rPr dirty="0"/>
              <a:t> </a:t>
            </a:r>
            <a:r>
              <a:rPr dirty="0" err="1"/>
              <a:t>индексов</a:t>
            </a:r>
            <a:r>
              <a:rPr dirty="0"/>
              <a:t>.</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Р</a:t>
            </a:r>
            <a:r>
              <a:rPr dirty="0"/>
              <a:t>. </a:t>
            </a:r>
            <a:r>
              <a:rPr dirty="0" err="1"/>
              <a:t>Васильев</a:t>
            </a:r>
            <a:r>
              <a:rPr dirty="0"/>
              <a:t>, 20200917_2_gd.key, </a:t>
            </a:r>
            <a:r>
              <a:rPr dirty="0" err="1"/>
              <a:t>объяснение</a:t>
            </a:r>
            <a:r>
              <a:rPr dirty="0"/>
              <a:t> </a:t>
            </a:r>
            <a:r>
              <a:rPr dirty="0" err="1"/>
              <a:t>шага</a:t>
            </a:r>
            <a:r>
              <a:rPr dirty="0"/>
              <a:t> </a:t>
            </a:r>
            <a:r>
              <a:rPr dirty="0" err="1"/>
              <a:t>и</a:t>
            </a:r>
            <a:r>
              <a:rPr dirty="0"/>
              <a:t> SGD.</a:t>
            </a:r>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a:t>
            </a:r>
            <a:r>
              <a:rPr dirty="0"/>
              <a:t> </a:t>
            </a:r>
            <a:r>
              <a:rPr dirty="0" err="1"/>
              <a:t>градиентное</a:t>
            </a:r>
            <a:r>
              <a:rPr dirty="0"/>
              <a:t> </a:t>
            </a:r>
            <a:r>
              <a:rPr dirty="0" err="1"/>
              <a:t>обучение</a:t>
            </a:r>
            <a:r>
              <a:rPr dirty="0"/>
              <a:t>», </a:t>
            </a:r>
            <a:r>
              <a:rPr dirty="0" err="1"/>
              <a:t>лекция</a:t>
            </a:r>
            <a:r>
              <a:rPr dirty="0"/>
              <a:t> 3, 2025, </a:t>
            </a:r>
            <a:r>
              <a:rPr dirty="0" err="1"/>
              <a:t>слайды</a:t>
            </a:r>
            <a:r>
              <a:rPr dirty="0"/>
              <a:t> 17, 18.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Опора: Вышка, «Линейная регрессия и градиентное обучение», лекция 3, 2025, слайды 21, 22, 23, 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Обложка">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1" name="Picture 28"/>
          <p:cNvPicPr>
            <a:picLocks noChangeAspect="1"/>
          </p:cNvPicPr>
          <p:nvPr/>
        </p:nvPicPr>
        <p:blipFill>
          <a:blip r:embed="rId3"/>
          <a:stretch>
            <a:fillRect/>
          </a:stretch>
        </p:blipFill>
        <p:spPr>
          <a:xfrm>
            <a:off x="1013859" y="962173"/>
            <a:ext cx="886499" cy="886499"/>
          </a:xfrm>
          <a:prstGeom prst="rect">
            <a:avLst/>
          </a:prstGeom>
        </p:spPr>
      </p:pic>
      <p:sp>
        <p:nvSpPr>
          <p:cNvPr id="11" name="Straight Connector 48">
            <a:extLst>
              <a:ext uri="{FF2B5EF4-FFF2-40B4-BE49-F238E27FC236}">
                <a16:creationId xmlns:a16="http://schemas.microsoft.com/office/drawing/2014/main" id="{AB9A58DF-A6C1-4741-9BB4-DD6B5B784127}"/>
              </a:ext>
            </a:extLst>
          </p:cNvPr>
          <p:cNvSpPr>
            <a:spLocks noGrp="1"/>
          </p:cNvSpPr>
          <p:nvPr/>
        </p:nvSpPr>
        <p:spPr>
          <a:xfrm>
            <a:off x="6090212"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txBody>
          <a:bodyPr/>
          <a:lstStyle/>
          <a:p>
            <a:endParaRPr lang="ru-RU"/>
          </a:p>
        </p:txBody>
      </p:sp>
      <p:sp>
        <p:nvSpPr>
          <p:cNvPr id="12" name="Straight Connector 50">
            <a:extLst>
              <a:ext uri="{FF2B5EF4-FFF2-40B4-BE49-F238E27FC236}">
                <a16:creationId xmlns:a16="http://schemas.microsoft.com/office/drawing/2014/main" id="{1CDCB3DB-A11F-4D64-B94B-0994AF1020DF}"/>
              </a:ext>
            </a:extLst>
          </p:cNvPr>
          <p:cNvSpPr>
            <a:spLocks noGrp="1"/>
          </p:cNvSpPr>
          <p:nvPr/>
        </p:nvSpPr>
        <p:spPr>
          <a:xfrm>
            <a:off x="8642581"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txBody>
          <a:bodyPr/>
          <a:lstStyle/>
          <a:p>
            <a:endParaRPr lang="ru-RU"/>
          </a:p>
        </p:txBody>
      </p:sp>
      <p:sp>
        <p:nvSpPr>
          <p:cNvPr id="13" name="Straight Connector 51">
            <a:extLst>
              <a:ext uri="{FF2B5EF4-FFF2-40B4-BE49-F238E27FC236}">
                <a16:creationId xmlns:a16="http://schemas.microsoft.com/office/drawing/2014/main" id="{793E353D-875A-434C-AAE8-56E61A9F4649}"/>
              </a:ext>
            </a:extLst>
          </p:cNvPr>
          <p:cNvSpPr>
            <a:spLocks noGrp="1"/>
          </p:cNvSpPr>
          <p:nvPr/>
        </p:nvSpPr>
        <p:spPr>
          <a:xfrm>
            <a:off x="11179047"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txBody>
          <a:bodyPr/>
          <a:lstStyle/>
          <a:p>
            <a:endParaRPr lang="ru-RU"/>
          </a:p>
        </p:txBody>
      </p:sp>
      <p:sp>
        <p:nvSpPr>
          <p:cNvPr id="16" name="Заголовок 15">
            <a:extLst>
              <a:ext uri="{FF2B5EF4-FFF2-40B4-BE49-F238E27FC236}">
                <a16:creationId xmlns:a16="http://schemas.microsoft.com/office/drawing/2014/main" id="{6007C52F-2E27-E24A-B9DC-AAAB052DBD59}"/>
              </a:ext>
            </a:extLst>
          </p:cNvPr>
          <p:cNvSpPr>
            <a:spLocks noGrp="1"/>
          </p:cNvSpPr>
          <p:nvPr>
            <p:ph type="title" hasCustomPrompt="1"/>
          </p:nvPr>
        </p:nvSpPr>
        <p:spPr>
          <a:xfrm>
            <a:off x="1027967" y="2404670"/>
            <a:ext cx="7634059" cy="1978323"/>
          </a:xfrm>
        </p:spPr>
        <p:txBody>
          <a:bodyPr lIns="0" tIns="0" rIns="0" bIns="0" anchor="t">
            <a:normAutofit/>
          </a:bodyPr>
          <a:lstStyle>
            <a:lvl1pPr>
              <a:lnSpc>
                <a:spcPct val="100000"/>
              </a:lnSpc>
              <a:buNone/>
              <a:defRPr sz="4300" b="0" i="0" baseline="0">
                <a:solidFill>
                  <a:srgbClr val="0E2D69"/>
                </a:solidFill>
                <a:latin typeface="HSE Sans"/>
                <a:ea typeface="HSE Sans"/>
                <a:cs typeface="HSE Sans"/>
              </a:defRPr>
            </a:lvl1pPr>
          </a:lstStyle>
          <a:p>
            <a:r>
              <a:rPr sz="4400">
                <a:solidFill>
                  <a:srgbClr val="102D69"/>
                </a:solidFill>
                <a:latin typeface="HSE Sans"/>
                <a:ea typeface="HSE Sans"/>
                <a:cs typeface="HSE Sans"/>
              </a:rPr>
              <a:t>Название презентации</a:t>
            </a:r>
            <a:br/>
            <a:r>
              <a:rPr sz="4400">
                <a:solidFill>
                  <a:srgbClr val="102D69"/>
                </a:solidFill>
                <a:latin typeface="HSE Sans"/>
                <a:ea typeface="HSE Sans"/>
                <a:cs typeface="HSE Sans"/>
              </a:rPr>
              <a:t>может быть набрано в две </a:t>
            </a:r>
            <a:br/>
            <a:r>
              <a:rPr sz="4400">
                <a:solidFill>
                  <a:srgbClr val="102D69"/>
                </a:solidFill>
                <a:latin typeface="HSE Sans"/>
                <a:ea typeface="HSE Sans"/>
                <a:cs typeface="HSE Sans"/>
              </a:rPr>
              <a:t>или три строки (43 pt)</a:t>
            </a:r>
          </a:p>
        </p:txBody>
      </p:sp>
      <p:sp>
        <p:nvSpPr>
          <p:cNvPr id="20" name="Текст 19">
            <a:extLst>
              <a:ext uri="{FF2B5EF4-FFF2-40B4-BE49-F238E27FC236}">
                <a16:creationId xmlns:a16="http://schemas.microsoft.com/office/drawing/2014/main" id="{18109844-C2E7-354F-9C01-8834E4DCE373}"/>
              </a:ext>
            </a:extLst>
          </p:cNvPr>
          <p:cNvSpPr>
            <a:spLocks noGrp="1"/>
          </p:cNvSpPr>
          <p:nvPr>
            <p:ph type="body" idx="10" hasCustomPrompt="1"/>
          </p:nvPr>
        </p:nvSpPr>
        <p:spPr>
          <a:xfrm>
            <a:off x="2074947" y="1187841"/>
            <a:ext cx="3848717" cy="435163"/>
          </a:xfrm>
        </p:spPr>
        <p:txBody>
          <a:bodyPr lIns="0" tIns="0" rIns="0" bIns="0" anchor="t">
            <a:noAutofit/>
          </a:bodyPr>
          <a:lstStyle>
            <a:lvl1pPr marL="0" indent="0" algn="l">
              <a:lnSpc>
                <a:spcPct val="100000"/>
              </a:lnSpc>
              <a:spcBef>
                <a:spcPts val="0"/>
              </a:spcBef>
              <a:buNone/>
              <a:defRPr sz="1600" b="0" i="0">
                <a:latin typeface="HSE Sans"/>
                <a:ea typeface="HSE Sans"/>
                <a:cs typeface="HSE Sans"/>
              </a:defRPr>
            </a:lvl1pPr>
            <a:lvl2pPr marL="457200" indent="0" algn="l">
              <a:buNone/>
              <a:defRPr sz="1600" b="0" i="0">
                <a:latin typeface="HSE Sans"/>
                <a:ea typeface="HSE Sans"/>
                <a:cs typeface="HSE Sans"/>
              </a:defRPr>
            </a:lvl2pPr>
            <a:lvl3pPr marL="914400" indent="0" algn="l">
              <a:buNone/>
              <a:defRPr sz="1600" b="0" i="0">
                <a:latin typeface="HSE Sans"/>
                <a:ea typeface="HSE Sans"/>
                <a:cs typeface="HSE Sans"/>
              </a:defRPr>
            </a:lvl3pPr>
            <a:lvl4pPr marL="1371600" indent="0" algn="l">
              <a:buNone/>
              <a:defRPr sz="1600" b="0" i="0">
                <a:latin typeface="HSE Sans"/>
                <a:ea typeface="HSE Sans"/>
                <a:cs typeface="HSE Sans"/>
              </a:defRPr>
            </a:lvl4pPr>
            <a:lvl5pPr marL="1828800" indent="0" algn="l">
              <a:buNone/>
              <a:defRPr sz="1600" b="0" i="0">
                <a:latin typeface="HSE Sans"/>
                <a:ea typeface="HSE Sans"/>
                <a:cs typeface="HSE Sans"/>
              </a:defRPr>
            </a:lvl5pPr>
          </a:lstStyle>
          <a:p>
            <a:r>
              <a:rPr>
                <a:latin typeface="HSE Sans"/>
                <a:ea typeface="HSE Sans"/>
                <a:cs typeface="HSE Sans"/>
              </a:rPr>
              <a:t>Название факультета</a:t>
            </a:r>
            <a:br/>
            <a:r>
              <a:rPr>
                <a:latin typeface="HSE Sans"/>
                <a:ea typeface="HSE Sans"/>
                <a:cs typeface="HSE Sans"/>
              </a:rPr>
              <a:t>в две строки (16 pt)</a:t>
            </a:r>
          </a:p>
        </p:txBody>
      </p:sp>
      <p:sp>
        <p:nvSpPr>
          <p:cNvPr id="25" name="Текст 24">
            <a:extLst>
              <a:ext uri="{FF2B5EF4-FFF2-40B4-BE49-F238E27FC236}">
                <a16:creationId xmlns:a16="http://schemas.microsoft.com/office/drawing/2014/main" id="{40A04329-C800-BB42-BFE0-7E3C68848DA7}"/>
              </a:ext>
            </a:extLst>
          </p:cNvPr>
          <p:cNvSpPr>
            <a:spLocks noGrp="1"/>
          </p:cNvSpPr>
          <p:nvPr>
            <p:ph type="body" idx="11" hasCustomPrompt="1"/>
          </p:nvPr>
        </p:nvSpPr>
        <p:spPr>
          <a:xfrm>
            <a:off x="6259420" y="1173829"/>
            <a:ext cx="2278063" cy="463186"/>
          </a:xfrm>
        </p:spPr>
        <p:txBody>
          <a:bodyPr lIns="0" tIns="0" rIns="0" bIns="0" anchor="t">
            <a:normAutofit/>
          </a:bodyPr>
          <a:lstStyle>
            <a:lvl1pPr marL="0" marR="0" indent="0" algn="l" defTabSz="914400">
              <a:lnSpc>
                <a:spcPct val="100000"/>
              </a:lnSpc>
              <a:spcBef>
                <a:spcPts val="0"/>
              </a:spcBef>
              <a:spcAft>
                <a:spcPts val="0"/>
              </a:spcAft>
              <a:buClrTx/>
              <a:buSzTx/>
              <a:buFont typeface="Arial"/>
              <a:buNone/>
              <a:defRPr sz="1200" b="0" i="0">
                <a:solidFill>
                  <a:srgbClr val="0E2D69"/>
                </a:solidFill>
                <a:latin typeface="HSE Sans"/>
                <a:ea typeface="HSE Sans"/>
                <a:cs typeface="HSE Sans"/>
              </a:defRPr>
            </a:lvl1pPr>
          </a:lstStyle>
          <a:p>
            <a:pPr marL="0" marR="0" lvl="0" indent="0" algn="l" defTabSz="914400">
              <a:lnSpc>
                <a:spcPct val="90000"/>
              </a:lnSpc>
              <a:spcBef>
                <a:spcPts val="1000"/>
              </a:spcBef>
              <a:spcAft>
                <a:spcPts val="0"/>
              </a:spcAft>
              <a:buClrTx/>
              <a:buSzTx/>
              <a:buFont typeface="Arial"/>
              <a:buNone/>
            </a:pPr>
            <a:r>
              <a:rPr sz="1200">
                <a:latin typeface="HSE Sans"/>
                <a:ea typeface="HSE Sans"/>
                <a:cs typeface="HSE Sans"/>
              </a:rPr>
              <a:t>Название подразделения</a:t>
            </a:r>
            <a:br/>
            <a:r>
              <a:rPr sz="1200">
                <a:latin typeface="HSE Sans"/>
                <a:ea typeface="HSE Sans"/>
                <a:cs typeface="HSE Sans"/>
              </a:rPr>
              <a:t>в две или три строки (12pt)</a:t>
            </a:r>
          </a:p>
        </p:txBody>
      </p:sp>
      <p:sp>
        <p:nvSpPr>
          <p:cNvPr id="27" name="Текст 26">
            <a:extLst>
              <a:ext uri="{FF2B5EF4-FFF2-40B4-BE49-F238E27FC236}">
                <a16:creationId xmlns:a16="http://schemas.microsoft.com/office/drawing/2014/main" id="{98337931-3EC2-F348-99EA-860F4FFDC188}"/>
              </a:ext>
            </a:extLst>
          </p:cNvPr>
          <p:cNvSpPr>
            <a:spLocks noGrp="1"/>
          </p:cNvSpPr>
          <p:nvPr>
            <p:ph type="body" idx="12" hasCustomPrompt="1"/>
          </p:nvPr>
        </p:nvSpPr>
        <p:spPr>
          <a:xfrm>
            <a:off x="8786720" y="1173829"/>
            <a:ext cx="2217738" cy="463186"/>
          </a:xfrm>
        </p:spPr>
        <p:txBody>
          <a:bodyPr lIns="0" tIns="0" rIns="0" bIns="0" anchor="t">
            <a:normAutofit/>
          </a:bodyPr>
          <a:lstStyle>
            <a:lvl1pPr marL="0" marR="0" indent="0" algn="l" defTabSz="914400">
              <a:lnSpc>
                <a:spcPct val="100000"/>
              </a:lnSpc>
              <a:spcBef>
                <a:spcPts val="0"/>
              </a:spcBef>
              <a:spcAft>
                <a:spcPts val="0"/>
              </a:spcAft>
              <a:buClrTx/>
              <a:buSzTx/>
              <a:buFont typeface="Arial"/>
              <a:buNone/>
              <a:defRPr sz="1200" b="0" i="0">
                <a:solidFill>
                  <a:srgbClr val="0E2D69"/>
                </a:solidFill>
                <a:latin typeface="HSE Sans"/>
                <a:ea typeface="HSE Sans"/>
                <a:cs typeface="HSE Sans"/>
              </a:defRPr>
            </a:lvl1pPr>
          </a:lstStyle>
          <a:p>
            <a:pPr marL="0" marR="0" lvl="0" indent="0" algn="l" defTabSz="914400">
              <a:lnSpc>
                <a:spcPct val="90000"/>
              </a:lnSpc>
              <a:spcBef>
                <a:spcPts val="1000"/>
              </a:spcBef>
              <a:spcAft>
                <a:spcPts val="0"/>
              </a:spcAft>
              <a:buClrTx/>
              <a:buSzTx/>
              <a:buFont typeface="Arial"/>
              <a:buNone/>
            </a:pPr>
            <a:r>
              <a:rPr sz="1200">
                <a:latin typeface="HSE Sans"/>
                <a:ea typeface="HSE Sans"/>
                <a:cs typeface="HSE Sans"/>
              </a:rPr>
              <a:t>Москва</a:t>
            </a:r>
            <a:br/>
            <a:r>
              <a:rPr sz="1200">
                <a:latin typeface="HSE Sans"/>
                <a:ea typeface="HSE Sans"/>
                <a:cs typeface="HSE Sans"/>
              </a:rPr>
              <a:t>2022 (12pt)</a:t>
            </a:r>
          </a:p>
        </p:txBody>
      </p:sp>
      <p:sp>
        <p:nvSpPr>
          <p:cNvPr id="29" name="Текст 28">
            <a:extLst>
              <a:ext uri="{FF2B5EF4-FFF2-40B4-BE49-F238E27FC236}">
                <a16:creationId xmlns:a16="http://schemas.microsoft.com/office/drawing/2014/main" id="{EEA7A79B-D410-B44F-BF32-C3EAEFC20A6E}"/>
              </a:ext>
            </a:extLst>
          </p:cNvPr>
          <p:cNvSpPr>
            <a:spLocks noGrp="1"/>
          </p:cNvSpPr>
          <p:nvPr>
            <p:ph type="body" idx="13" hasCustomPrompt="1"/>
          </p:nvPr>
        </p:nvSpPr>
        <p:spPr>
          <a:xfrm>
            <a:off x="1027967" y="4824914"/>
            <a:ext cx="7625267" cy="652860"/>
          </a:xfrm>
        </p:spPr>
        <p:txBody>
          <a:bodyPr lIns="0" tIns="0" rIns="0" bIns="0">
            <a:normAutofit/>
          </a:bodyPr>
          <a:lstStyle>
            <a:lvl1pPr marL="0" marR="0" indent="0" algn="l" defTabSz="914400">
              <a:lnSpc>
                <a:spcPct val="100000"/>
              </a:lnSpc>
              <a:spcBef>
                <a:spcPts val="0"/>
              </a:spcBef>
              <a:spcAft>
                <a:spcPts val="0"/>
              </a:spcAft>
              <a:buClrTx/>
              <a:buSzTx/>
              <a:buFont typeface="Arial"/>
              <a:buNone/>
              <a:defRPr sz="1600" b="0" i="0">
                <a:solidFill>
                  <a:srgbClr val="0E2D69"/>
                </a:solidFill>
                <a:latin typeface="HSE Sans"/>
                <a:ea typeface="HSE Sans"/>
                <a:cs typeface="HSE Sans"/>
              </a:defRPr>
            </a:lvl1pPr>
          </a:lstStyle>
          <a:p>
            <a:pPr marL="0" marR="0" lvl="0" indent="0" algn="l" defTabSz="914400">
              <a:lnSpc>
                <a:spcPct val="90000"/>
              </a:lnSpc>
              <a:spcBef>
                <a:spcPts val="1000"/>
              </a:spcBef>
              <a:spcAft>
                <a:spcPts val="0"/>
              </a:spcAft>
              <a:buClrTx/>
              <a:buSzTx/>
              <a:buFont typeface="Arial"/>
              <a:buNone/>
            </a:pPr>
            <a:r>
              <a:rPr sz="1600">
                <a:latin typeface="HSE Sans"/>
                <a:ea typeface="HSE Sans"/>
                <a:cs typeface="HSE Sans"/>
              </a:rPr>
              <a:t>Если нужно больше места, то используйте подзаголовок (16 pt)</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Текст_1">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3" name="Picture 4"/>
          <p:cNvPicPr>
            <a:picLocks noChangeAspect="1"/>
          </p:cNvPicPr>
          <p:nvPr/>
        </p:nvPicPr>
        <p:blipFill>
          <a:blip r:embed="rId3"/>
          <a:stretch>
            <a:fillRect/>
          </a:stretch>
        </p:blipFill>
        <p:spPr>
          <a:xfrm>
            <a:off x="517199" y="464363"/>
            <a:ext cx="448276" cy="448276"/>
          </a:xfrm>
          <a:prstGeom prst="rect">
            <a:avLst/>
          </a:prstGeom>
        </p:spPr>
      </p:pic>
      <p:sp>
        <p:nvSpPr>
          <p:cNvPr id="11" name="Straight Connector 19">
            <a:extLst>
              <a:ext uri="{FF2B5EF4-FFF2-40B4-BE49-F238E27FC236}">
                <a16:creationId xmlns:a16="http://schemas.microsoft.com/office/drawing/2014/main" id="{51740617-1660-4B11-BF27-3C1FA8F4DFAF}"/>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2" name="Straight Connector 21">
            <a:extLst>
              <a:ext uri="{FF2B5EF4-FFF2-40B4-BE49-F238E27FC236}">
                <a16:creationId xmlns:a16="http://schemas.microsoft.com/office/drawing/2014/main" id="{56E43894-7CC5-4AF6-8FA9-1154F24F06FF}"/>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3" name="Straight Connector 25">
            <a:extLst>
              <a:ext uri="{FF2B5EF4-FFF2-40B4-BE49-F238E27FC236}">
                <a16:creationId xmlns:a16="http://schemas.microsoft.com/office/drawing/2014/main" id="{9EAACFB4-3EAE-4BC9-8702-DD3025093132}"/>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7" name="TextBox 16">
            <a:extLst>
              <a:ext uri="{FF2B5EF4-FFF2-40B4-BE49-F238E27FC236}">
                <a16:creationId xmlns:a16="http://schemas.microsoft.com/office/drawing/2014/main" id="{24D3A12E-0E10-C441-81D2-C3C1EB6A0537}"/>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9" name="Straight Connector 59">
            <a:extLst>
              <a:ext uri="{FF2B5EF4-FFF2-40B4-BE49-F238E27FC236}">
                <a16:creationId xmlns:a16="http://schemas.microsoft.com/office/drawing/2014/main" id="{528E4358-79D4-4D4C-A423-BD68B6539FBC}"/>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24" name="Рисунок 23">
            <a:extLst>
              <a:ext uri="{FF2B5EF4-FFF2-40B4-BE49-F238E27FC236}">
                <a16:creationId xmlns:a16="http://schemas.microsoft.com/office/drawing/2014/main" id="{61115A7A-23E5-E442-9551-F72F1CDA57B9}"/>
              </a:ext>
            </a:extLst>
          </p:cNvPr>
          <p:cNvSpPr>
            <a:spLocks noGrp="1"/>
          </p:cNvSpPr>
          <p:nvPr>
            <p:ph type="pic" idx="10" hasCustomPrompt="1"/>
          </p:nvPr>
        </p:nvSpPr>
        <p:spPr>
          <a:xfrm>
            <a:off x="6684653" y="1447790"/>
            <a:ext cx="4325167" cy="4325107"/>
          </a:xfrm>
          <a:prstGeom prst="rect">
            <a:avLst/>
          </a:prstGeom>
          <a:solidFill>
            <a:srgbClr val="D9D9D9"/>
          </a:solidFill>
        </p:spPr>
        <p:txBody>
          <a:bodyPr anchor="ctr">
            <a:normAutofit/>
          </a:bodyPr>
          <a:lstStyle>
            <a:lvl1pPr marL="0" marR="0" indent="0" algn="ctr" defTabSz="914400">
              <a:lnSpc>
                <a:spcPct val="90000"/>
              </a:lnSpc>
              <a:spcBef>
                <a:spcPts val="1000"/>
              </a:spcBef>
              <a:spcAft>
                <a:spcPts val="0"/>
              </a:spcAft>
              <a:buClrTx/>
              <a:buSzTx/>
              <a:buFont typeface="Arial"/>
              <a:buNone/>
              <a:defRPr sz="1200">
                <a:solidFill>
                  <a:schemeClr val="bg2">
                    <a:lumMod val="10000"/>
                  </a:schemeClr>
                </a:solidFill>
              </a:defRPr>
            </a:lvl1pPr>
          </a:lstStyle>
          <a:p>
            <a:pPr marL="0" marR="0" lvl="0" indent="0" algn="ctr" defTabSz="914400">
              <a:lnSpc>
                <a:spcPct val="90000"/>
              </a:lnSpc>
              <a:spcBef>
                <a:spcPts val="1000"/>
              </a:spcBef>
              <a:spcAft>
                <a:spcPts val="0"/>
              </a:spcAft>
              <a:buClrTx/>
              <a:buSzTx/>
              <a:buFont typeface="Arial"/>
              <a:buNone/>
            </a:pPr>
            <a:r>
              <a:rPr sz="2800">
                <a:solidFill>
                  <a:schemeClr val="tx1"/>
                </a:solidFill>
                <a:latin typeface="HSE Sans"/>
                <a:ea typeface="HSE Sans"/>
                <a:cs typeface="HSE Sans"/>
              </a:rPr>
              <a:t>Чтобы слайд не выглядел пустым, сюда можно поставить иллюстрацию или фотографию</a:t>
            </a:r>
          </a:p>
        </p:txBody>
      </p:sp>
      <p:sp>
        <p:nvSpPr>
          <p:cNvPr id="32" name="Заголовок 31">
            <a:extLst>
              <a:ext uri="{FF2B5EF4-FFF2-40B4-BE49-F238E27FC236}">
                <a16:creationId xmlns:a16="http://schemas.microsoft.com/office/drawing/2014/main" id="{9ED7AA97-D972-DF4F-B662-A65F2A544CC5}"/>
              </a:ext>
            </a:extLst>
          </p:cNvPr>
          <p:cNvSpPr>
            <a:spLocks noGrp="1"/>
          </p:cNvSpPr>
          <p:nvPr>
            <p:ph type="title" hasCustomPrompt="1"/>
          </p:nvPr>
        </p:nvSpPr>
        <p:spPr>
          <a:xfrm>
            <a:off x="585898" y="1447790"/>
            <a:ext cx="5245560" cy="777025"/>
          </a:xfrm>
        </p:spPr>
        <p:txBody>
          <a:bodyPr lIns="0" tIns="0" rIns="0" bIns="0" anchor="t">
            <a:normAutofit/>
          </a:bodyPr>
          <a:lstStyle>
            <a:lvl1pPr>
              <a:lnSpc>
                <a:spcPct val="100000"/>
              </a:lnSpc>
              <a:buNone/>
              <a:defRPr sz="2400" b="0" i="0">
                <a:latin typeface="HSE Sans"/>
                <a:ea typeface="HSE Sans"/>
                <a:cs typeface="HSE Sans"/>
              </a:defRPr>
            </a:lvl1pPr>
          </a:lstStyle>
          <a:p>
            <a:r>
              <a:rPr sz="2400">
                <a:solidFill>
                  <a:srgbClr val="102D69"/>
                </a:solidFill>
                <a:latin typeface="HSE Sans"/>
                <a:ea typeface="HSE Sans"/>
                <a:cs typeface="HSE Sans"/>
              </a:rPr>
              <a:t>Заголовок может быть набран</a:t>
            </a:r>
            <a:br/>
            <a:r>
              <a:rPr sz="2400">
                <a:solidFill>
                  <a:srgbClr val="102D69"/>
                </a:solidFill>
                <a:latin typeface="HSE Sans"/>
                <a:ea typeface="HSE Sans"/>
                <a:cs typeface="HSE Sans"/>
              </a:rPr>
              <a:t>в две или три строки (24 pt)</a:t>
            </a:r>
          </a:p>
        </p:txBody>
      </p:sp>
      <p:sp>
        <p:nvSpPr>
          <p:cNvPr id="36" name="Текст 35">
            <a:extLst>
              <a:ext uri="{FF2B5EF4-FFF2-40B4-BE49-F238E27FC236}">
                <a16:creationId xmlns:a16="http://schemas.microsoft.com/office/drawing/2014/main" id="{69E35E54-2B19-7441-876F-1C6A84F4F156}"/>
              </a:ext>
            </a:extLst>
          </p:cNvPr>
          <p:cNvSpPr>
            <a:spLocks noGrp="1"/>
          </p:cNvSpPr>
          <p:nvPr>
            <p:ph type="body" idx="12" hasCustomPrompt="1"/>
          </p:nvPr>
        </p:nvSpPr>
        <p:spPr>
          <a:xfrm>
            <a:off x="585897" y="2379663"/>
            <a:ext cx="5245561" cy="3393234"/>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pPr lvl="0">
              <a:buNone/>
            </a:pPr>
            <a:r>
              <a:t>Небольшие куски текста (13pt) можно набирать в одну колонку, но не делайте колонку на всю ширину экрана.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у вас есть свободное пространство и вы считаете, что текст одинок и ему нужна компания, то поставьте рядом небольшое изображение, которое иллюстрирует ваш текст или дополняет его.</a:t>
            </a:r>
          </a:p>
        </p:txBody>
      </p:sp>
      <p:sp>
        <p:nvSpPr>
          <p:cNvPr id="38" name="Текст 37">
            <a:extLst>
              <a:ext uri="{FF2B5EF4-FFF2-40B4-BE49-F238E27FC236}">
                <a16:creationId xmlns:a16="http://schemas.microsoft.com/office/drawing/2014/main" id="{7FB4A275-856E-364D-8AA4-2071AADC6AAA}"/>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40" name="Текст 39">
            <a:extLst>
              <a:ext uri="{FF2B5EF4-FFF2-40B4-BE49-F238E27FC236}">
                <a16:creationId xmlns:a16="http://schemas.microsoft.com/office/drawing/2014/main" id="{58FBA0EA-8BE0-A643-B258-4E5C34467172}"/>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41" name="Текст 39">
            <a:extLst>
              <a:ext uri="{FF2B5EF4-FFF2-40B4-BE49-F238E27FC236}">
                <a16:creationId xmlns:a16="http://schemas.microsoft.com/office/drawing/2014/main" id="{0BEC062F-1BEB-DE4C-B7EE-C552C9D45F13}"/>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Текст_2">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0" name="Picture 4"/>
          <p:cNvPicPr>
            <a:picLocks noChangeAspect="1"/>
          </p:cNvPicPr>
          <p:nvPr/>
        </p:nvPicPr>
        <p:blipFill>
          <a:blip r:embed="rId3"/>
          <a:stretch>
            <a:fillRect/>
          </a:stretch>
        </p:blipFill>
        <p:spPr>
          <a:xfrm>
            <a:off x="517199" y="464363"/>
            <a:ext cx="448276" cy="448276"/>
          </a:xfrm>
          <a:prstGeom prst="rect">
            <a:avLst/>
          </a:prstGeom>
        </p:spPr>
      </p:pic>
      <p:sp>
        <p:nvSpPr>
          <p:cNvPr id="8" name="Straight Connector 19">
            <a:extLst>
              <a:ext uri="{FF2B5EF4-FFF2-40B4-BE49-F238E27FC236}">
                <a16:creationId xmlns:a16="http://schemas.microsoft.com/office/drawing/2014/main" id="{4F7989D0-1FB6-44EA-B414-275E5A5C15C5}"/>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txBody>
          <a:bodyPr/>
          <a:lstStyle/>
          <a:p>
            <a:endParaRPr lang="ru-RU"/>
          </a:p>
        </p:txBody>
      </p:sp>
      <p:sp>
        <p:nvSpPr>
          <p:cNvPr id="9" name="Straight Connector 21">
            <a:extLst>
              <a:ext uri="{FF2B5EF4-FFF2-40B4-BE49-F238E27FC236}">
                <a16:creationId xmlns:a16="http://schemas.microsoft.com/office/drawing/2014/main" id="{FB3B63B3-44ED-429B-8C0C-A4241FAB0E7B}"/>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txBody>
          <a:bodyPr/>
          <a:lstStyle/>
          <a:p>
            <a:endParaRPr lang="ru-RU"/>
          </a:p>
        </p:txBody>
      </p:sp>
      <p:sp>
        <p:nvSpPr>
          <p:cNvPr id="10" name="Straight Connector 25">
            <a:extLst>
              <a:ext uri="{FF2B5EF4-FFF2-40B4-BE49-F238E27FC236}">
                <a16:creationId xmlns:a16="http://schemas.microsoft.com/office/drawing/2014/main" id="{74E9D939-24DB-4BED-9DE8-E8D77D674599}"/>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txBody>
          <a:bodyPr/>
          <a:lstStyle/>
          <a:p>
            <a:endParaRPr lang="ru-RU"/>
          </a:p>
        </p:txBody>
      </p:sp>
      <p:sp>
        <p:nvSpPr>
          <p:cNvPr id="11" name="TextBox 10">
            <a:extLst>
              <a:ext uri="{FF2B5EF4-FFF2-40B4-BE49-F238E27FC236}">
                <a16:creationId xmlns:a16="http://schemas.microsoft.com/office/drawing/2014/main" id="{55E88681-53A8-3B45-B80A-372EDFB53883}"/>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2" name="Straight Connector 59">
            <a:extLst>
              <a:ext uri="{FF2B5EF4-FFF2-40B4-BE49-F238E27FC236}">
                <a16:creationId xmlns:a16="http://schemas.microsoft.com/office/drawing/2014/main" id="{56FFAAAF-81F5-4E7A-881C-A916CB19B898}"/>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txBody>
          <a:bodyPr/>
          <a:lstStyle/>
          <a:p>
            <a:endParaRPr lang="ru-RU"/>
          </a:p>
        </p:txBody>
      </p:sp>
      <p:sp>
        <p:nvSpPr>
          <p:cNvPr id="13" name="Текст 37">
            <a:extLst>
              <a:ext uri="{FF2B5EF4-FFF2-40B4-BE49-F238E27FC236}">
                <a16:creationId xmlns:a16="http://schemas.microsoft.com/office/drawing/2014/main" id="{5026DBD8-54A3-1446-9D3B-BA2B38460F1E}"/>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4" name="Текст 39">
            <a:extLst>
              <a:ext uri="{FF2B5EF4-FFF2-40B4-BE49-F238E27FC236}">
                <a16:creationId xmlns:a16="http://schemas.microsoft.com/office/drawing/2014/main" id="{E8AA3569-5054-7D47-AB14-BCFB0440D0A6}"/>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6" name="Заголовок 31">
            <a:extLst>
              <a:ext uri="{FF2B5EF4-FFF2-40B4-BE49-F238E27FC236}">
                <a16:creationId xmlns:a16="http://schemas.microsoft.com/office/drawing/2014/main" id="{76942483-EB13-0A4B-8060-DB65024C294E}"/>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buNone/>
              <a:defRPr sz="2400" b="0" i="0">
                <a:latin typeface="HSE Sans"/>
                <a:ea typeface="HSE Sans"/>
                <a:cs typeface="HSE Sans"/>
              </a:defRPr>
            </a:lvl1pPr>
          </a:lstStyle>
          <a:p>
            <a:r>
              <a:rPr sz="2400">
                <a:solidFill>
                  <a:srgbClr val="102D69"/>
                </a:solidFill>
                <a:latin typeface="HSE Sans"/>
                <a:ea typeface="HSE Sans"/>
                <a:cs typeface="HSE Sans"/>
              </a:rPr>
              <a:t>Заголовок может быть набран в две или три строки (24 pt)</a:t>
            </a:r>
          </a:p>
        </p:txBody>
      </p:sp>
      <p:sp>
        <p:nvSpPr>
          <p:cNvPr id="18" name="Текст 39">
            <a:extLst>
              <a:ext uri="{FF2B5EF4-FFF2-40B4-BE49-F238E27FC236}">
                <a16:creationId xmlns:a16="http://schemas.microsoft.com/office/drawing/2014/main" id="{8A048480-30C9-044E-8C2E-0F67398FEE12}"/>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Текст_3">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7" name="Picture 4"/>
          <p:cNvPicPr>
            <a:picLocks noChangeAspect="1"/>
          </p:cNvPicPr>
          <p:nvPr/>
        </p:nvPicPr>
        <p:blipFill>
          <a:blip r:embed="rId3"/>
          <a:stretch>
            <a:fillRect/>
          </a:stretch>
        </p:blipFill>
        <p:spPr>
          <a:xfrm>
            <a:off x="517199" y="464363"/>
            <a:ext cx="448276" cy="448276"/>
          </a:xfrm>
          <a:prstGeom prst="rect">
            <a:avLst/>
          </a:prstGeom>
        </p:spPr>
      </p:pic>
      <p:sp>
        <p:nvSpPr>
          <p:cNvPr id="8" name="Straight Connector 19">
            <a:extLst>
              <a:ext uri="{FF2B5EF4-FFF2-40B4-BE49-F238E27FC236}">
                <a16:creationId xmlns:a16="http://schemas.microsoft.com/office/drawing/2014/main" id="{7B62139A-26B0-4457-B5C0-5CBBF2949C23}"/>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9" name="Straight Connector 21">
            <a:extLst>
              <a:ext uri="{FF2B5EF4-FFF2-40B4-BE49-F238E27FC236}">
                <a16:creationId xmlns:a16="http://schemas.microsoft.com/office/drawing/2014/main" id="{C3F3739C-B21F-4851-BC1F-D391AEDC89D6}"/>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0" name="Straight Connector 25">
            <a:extLst>
              <a:ext uri="{FF2B5EF4-FFF2-40B4-BE49-F238E27FC236}">
                <a16:creationId xmlns:a16="http://schemas.microsoft.com/office/drawing/2014/main" id="{6DBCE206-5A58-4FDE-92BD-8FDE08C4BB55}"/>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1" name="TextBox 10">
            <a:extLst>
              <a:ext uri="{FF2B5EF4-FFF2-40B4-BE49-F238E27FC236}">
                <a16:creationId xmlns:a16="http://schemas.microsoft.com/office/drawing/2014/main" id="{05ECCF8F-5855-7943-B503-5573887A534D}"/>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2" name="Straight Connector 59">
            <a:extLst>
              <a:ext uri="{FF2B5EF4-FFF2-40B4-BE49-F238E27FC236}">
                <a16:creationId xmlns:a16="http://schemas.microsoft.com/office/drawing/2014/main" id="{98F9D093-5A15-4AA5-9C4B-D2BA90CB2369}"/>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3" name="Текст 37">
            <a:extLst>
              <a:ext uri="{FF2B5EF4-FFF2-40B4-BE49-F238E27FC236}">
                <a16:creationId xmlns:a16="http://schemas.microsoft.com/office/drawing/2014/main" id="{C2D710AE-3CBE-5940-A7EB-F96132E6592D}"/>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4" name="Текст 39">
            <a:extLst>
              <a:ext uri="{FF2B5EF4-FFF2-40B4-BE49-F238E27FC236}">
                <a16:creationId xmlns:a16="http://schemas.microsoft.com/office/drawing/2014/main" id="{FCC5A33D-0A3C-F140-B745-367744A5F308}"/>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7" name="Текст 35">
            <a:extLst>
              <a:ext uri="{FF2B5EF4-FFF2-40B4-BE49-F238E27FC236}">
                <a16:creationId xmlns:a16="http://schemas.microsoft.com/office/drawing/2014/main" id="{5163BE0A-A745-414A-AF21-D968BD69D2DA}"/>
              </a:ext>
            </a:extLst>
          </p:cNvPr>
          <p:cNvSpPr>
            <a:spLocks noGrp="1"/>
          </p:cNvSpPr>
          <p:nvPr>
            <p:ph type="body" idx="12" hasCustomPrompt="1"/>
          </p:nvPr>
        </p:nvSpPr>
        <p:spPr>
          <a:xfrm>
            <a:off x="585898" y="2379663"/>
            <a:ext cx="4322531" cy="239937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pPr lvl="0">
              <a:buNone/>
            </a:pPr>
            <a:r>
              <a:t>Небольшие куски текста (13pt) можно набирать в одну колонку, но не делайте колонку на всю ширину экрана.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у вас есть свободное пространство и вы считаете, что текст одинок и ему нужна компания, то поставьте рядом небольшое изображение, которое иллюстрирует ваш текст или дополняет его.</a:t>
            </a:r>
          </a:p>
        </p:txBody>
      </p:sp>
      <p:sp>
        <p:nvSpPr>
          <p:cNvPr id="20" name="Текст 35">
            <a:extLst>
              <a:ext uri="{FF2B5EF4-FFF2-40B4-BE49-F238E27FC236}">
                <a16:creationId xmlns:a16="http://schemas.microsoft.com/office/drawing/2014/main" id="{B3D47CF6-5FC1-2346-8894-A7CC39063DE3}"/>
              </a:ext>
            </a:extLst>
          </p:cNvPr>
          <p:cNvSpPr>
            <a:spLocks noGrp="1"/>
          </p:cNvSpPr>
          <p:nvPr>
            <p:ph type="body" idx="16" hasCustomPrompt="1"/>
          </p:nvPr>
        </p:nvSpPr>
        <p:spPr>
          <a:xfrm>
            <a:off x="585897" y="5183249"/>
            <a:ext cx="3934345" cy="553998"/>
          </a:xfrm>
        </p:spPr>
        <p:txBody>
          <a:bodyPr lIns="0" tIns="0" rIns="0">
            <a:normAutofit/>
          </a:bodyPr>
          <a:lstStyle>
            <a:lvl1pPr marL="0" marR="0" indent="0" algn="l" defTabSz="914400">
              <a:lnSpc>
                <a:spcPct val="100000"/>
              </a:lnSpc>
              <a:spcBef>
                <a:spcPts val="1000"/>
              </a:spcBef>
              <a:spcAft>
                <a:spcPts val="0"/>
              </a:spcAft>
              <a:buClrTx/>
              <a:buSzTx/>
              <a:buFont typeface="Arial"/>
              <a:buNone/>
              <a:defRPr sz="10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000">
                <a:latin typeface="HSE Sans"/>
                <a:ea typeface="HSE Sans"/>
                <a:cs typeface="HSE Sans"/>
              </a:rPr>
              <a:t>Примечания, или любая другая пояснительная или дополнительная информация набираются шрифтом размером 10 pt</a:t>
            </a:r>
          </a:p>
        </p:txBody>
      </p:sp>
      <p:sp>
        <p:nvSpPr>
          <p:cNvPr id="23" name="Текст 22">
            <a:extLst>
              <a:ext uri="{FF2B5EF4-FFF2-40B4-BE49-F238E27FC236}">
                <a16:creationId xmlns:a16="http://schemas.microsoft.com/office/drawing/2014/main" id="{CD14B8F3-89C2-9F45-809E-D1EAF85AC566}"/>
              </a:ext>
            </a:extLst>
          </p:cNvPr>
          <p:cNvSpPr>
            <a:spLocks noGrp="1"/>
          </p:cNvSpPr>
          <p:nvPr>
            <p:ph type="body" idx="18" hasCustomPrompt="1"/>
          </p:nvPr>
        </p:nvSpPr>
        <p:spPr>
          <a:xfrm>
            <a:off x="6259892" y="2379663"/>
            <a:ext cx="5383968" cy="3451794"/>
          </a:xfrm>
        </p:spPr>
        <p:txBody>
          <a:bodyPr lIns="0" tIns="0" rIns="0" bIns="0">
            <a:normAutofit/>
          </a:bodyPr>
          <a:lstStyle>
            <a:lvl1pPr marL="0" marR="0" indent="0" algn="l" defTabSz="914400">
              <a:lnSpc>
                <a:spcPct val="90000"/>
              </a:lnSpc>
              <a:spcBef>
                <a:spcPts val="1000"/>
              </a:spcBef>
              <a:spcAft>
                <a:spcPts val="0"/>
              </a:spcAft>
              <a:buClrTx/>
              <a:buSzTx/>
              <a:buFont typeface="Arial"/>
              <a:buNone/>
              <a:defRPr sz="3200" b="0" i="0">
                <a:solidFill>
                  <a:srgbClr val="0E2D69"/>
                </a:solidFill>
                <a:latin typeface="HSE Sans"/>
                <a:ea typeface="HSE Sans"/>
                <a:cs typeface="HSE Sans"/>
              </a:defRPr>
            </a:lvl1pPr>
          </a:lstStyle>
          <a:p>
            <a:pPr marL="0" marR="0" lvl="0" indent="0" algn="l" defTabSz="914400">
              <a:lnSpc>
                <a:spcPct val="90000"/>
              </a:lnSpc>
              <a:spcBef>
                <a:spcPts val="1000"/>
              </a:spcBef>
              <a:spcAft>
                <a:spcPts val="0"/>
              </a:spcAft>
              <a:buClrTx/>
              <a:buSzTx/>
              <a:buFont typeface="Arial"/>
              <a:buNone/>
            </a:pPr>
            <a:r>
              <a:rPr sz="3200">
                <a:solidFill>
                  <a:srgbClr val="102D69"/>
                </a:solidFill>
                <a:latin typeface="HSE Sans"/>
                <a:ea typeface="HSE Sans"/>
                <a:cs typeface="HSE Sans"/>
              </a:rPr>
              <a:t>Небольшую фразу, с важной информацией, можно выделить, набрав ее более крупным кеглем, чем обычный  текст. Делать это часто не рекомендуется.</a:t>
            </a:r>
          </a:p>
          <a:p>
            <a:pPr lvl="0">
              <a:buNone/>
            </a:pPr>
            <a:endParaRPr/>
          </a:p>
        </p:txBody>
      </p:sp>
      <p:sp>
        <p:nvSpPr>
          <p:cNvPr id="24" name="Текст 39">
            <a:extLst>
              <a:ext uri="{FF2B5EF4-FFF2-40B4-BE49-F238E27FC236}">
                <a16:creationId xmlns:a16="http://schemas.microsoft.com/office/drawing/2014/main" id="{3BE4279A-8109-B244-B721-18F10C696B17}"/>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
        <p:nvSpPr>
          <p:cNvPr id="25" name="Заголовок 31">
            <a:extLst>
              <a:ext uri="{FF2B5EF4-FFF2-40B4-BE49-F238E27FC236}">
                <a16:creationId xmlns:a16="http://schemas.microsoft.com/office/drawing/2014/main" id="{B32DC3D4-97A5-3E4F-A29B-422D5E3129B7}"/>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buNone/>
              <a:defRPr sz="2400" b="0" i="0">
                <a:latin typeface="HSE Sans"/>
                <a:ea typeface="HSE Sans"/>
                <a:cs typeface="HSE Sans"/>
              </a:defRPr>
            </a:lvl1pPr>
          </a:lstStyle>
          <a:p>
            <a:r>
              <a:rPr sz="2400">
                <a:solidFill>
                  <a:srgbClr val="102D69"/>
                </a:solidFill>
                <a:latin typeface="HSE Sans"/>
                <a:ea typeface="HSE Sans"/>
                <a:cs typeface="HSE Sans"/>
              </a:rPr>
              <a:t>Заголовок может быть набран в две или три строки (24 pt)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График_1">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3" name="Picture 4"/>
          <p:cNvPicPr>
            <a:picLocks noChangeAspect="1"/>
          </p:cNvPicPr>
          <p:nvPr/>
        </p:nvPicPr>
        <p:blipFill>
          <a:blip r:embed="rId3"/>
          <a:stretch>
            <a:fillRect/>
          </a:stretch>
        </p:blipFill>
        <p:spPr>
          <a:xfrm>
            <a:off x="517199" y="464363"/>
            <a:ext cx="448276" cy="448276"/>
          </a:xfrm>
          <a:prstGeom prst="rect">
            <a:avLst/>
          </a:prstGeom>
        </p:spPr>
      </p:pic>
      <p:sp>
        <p:nvSpPr>
          <p:cNvPr id="8" name="Straight Connector 19">
            <a:extLst>
              <a:ext uri="{FF2B5EF4-FFF2-40B4-BE49-F238E27FC236}">
                <a16:creationId xmlns:a16="http://schemas.microsoft.com/office/drawing/2014/main" id="{FFBA1A48-0239-4FDD-9098-96D5375F2125}"/>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9" name="Straight Connector 21">
            <a:extLst>
              <a:ext uri="{FF2B5EF4-FFF2-40B4-BE49-F238E27FC236}">
                <a16:creationId xmlns:a16="http://schemas.microsoft.com/office/drawing/2014/main" id="{8229C92C-80EF-43F4-A3E3-5B4C15C706CA}"/>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0" name="Straight Connector 25">
            <a:extLst>
              <a:ext uri="{FF2B5EF4-FFF2-40B4-BE49-F238E27FC236}">
                <a16:creationId xmlns:a16="http://schemas.microsoft.com/office/drawing/2014/main" id="{E9361328-E311-4BCD-A45C-75992D9F58CF}"/>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1" name="TextBox 10">
            <a:extLst>
              <a:ext uri="{FF2B5EF4-FFF2-40B4-BE49-F238E27FC236}">
                <a16:creationId xmlns:a16="http://schemas.microsoft.com/office/drawing/2014/main" id="{66DF89EC-1E7C-3B40-85F4-6D19A7D29AC7}"/>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2" name="Straight Connector 59">
            <a:extLst>
              <a:ext uri="{FF2B5EF4-FFF2-40B4-BE49-F238E27FC236}">
                <a16:creationId xmlns:a16="http://schemas.microsoft.com/office/drawing/2014/main" id="{10BBA888-60CC-44BE-ADAE-53E8DB234688}"/>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3" name="Текст 37">
            <a:extLst>
              <a:ext uri="{FF2B5EF4-FFF2-40B4-BE49-F238E27FC236}">
                <a16:creationId xmlns:a16="http://schemas.microsoft.com/office/drawing/2014/main" id="{A9BD5ADD-B3F2-C342-82F7-83683F040D2F}"/>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4" name="Текст 39">
            <a:extLst>
              <a:ext uri="{FF2B5EF4-FFF2-40B4-BE49-F238E27FC236}">
                <a16:creationId xmlns:a16="http://schemas.microsoft.com/office/drawing/2014/main" id="{4F15CBC0-FC8B-744E-95A7-C9863CDC31BD}"/>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6" name="Текст 39">
            <a:extLst>
              <a:ext uri="{FF2B5EF4-FFF2-40B4-BE49-F238E27FC236}">
                <a16:creationId xmlns:a16="http://schemas.microsoft.com/office/drawing/2014/main" id="{BC3B54AA-A0BD-E646-B3B7-C0E724D26D23}"/>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
        <p:nvSpPr>
          <p:cNvPr id="17" name="Заголовок 31">
            <a:extLst>
              <a:ext uri="{FF2B5EF4-FFF2-40B4-BE49-F238E27FC236}">
                <a16:creationId xmlns:a16="http://schemas.microsoft.com/office/drawing/2014/main" id="{B3F16318-C9C3-B948-A508-4BC53D0B7716}"/>
              </a:ext>
            </a:extLst>
          </p:cNvPr>
          <p:cNvSpPr>
            <a:spLocks noGrp="1"/>
          </p:cNvSpPr>
          <p:nvPr>
            <p:ph type="title" hasCustomPrompt="1"/>
          </p:nvPr>
        </p:nvSpPr>
        <p:spPr>
          <a:xfrm>
            <a:off x="585899" y="1447790"/>
            <a:ext cx="4322530" cy="777025"/>
          </a:xfrm>
        </p:spPr>
        <p:txBody>
          <a:bodyPr lIns="0" tIns="0" rIns="0" bIns="0" anchor="t">
            <a:normAutofit/>
          </a:bodyPr>
          <a:lstStyle>
            <a:lvl1pPr>
              <a:lnSpc>
                <a:spcPct val="100000"/>
              </a:lnSpc>
              <a:buNone/>
              <a:defRPr sz="2400" b="0" i="0">
                <a:latin typeface="HSE Sans"/>
                <a:ea typeface="HSE Sans"/>
                <a:cs typeface="HSE Sans"/>
              </a:defRPr>
            </a:lvl1pPr>
          </a:lstStyle>
          <a:p>
            <a:r>
              <a:rPr sz="2400">
                <a:solidFill>
                  <a:srgbClr val="102D69"/>
                </a:solidFill>
                <a:latin typeface="HSE Sans"/>
                <a:ea typeface="HSE Sans"/>
                <a:cs typeface="HSE Sans"/>
              </a:rPr>
              <a:t>Заголовок может быть набран </a:t>
            </a:r>
            <a:br/>
            <a:r>
              <a:rPr sz="2400">
                <a:solidFill>
                  <a:srgbClr val="102D69"/>
                </a:solidFill>
                <a:latin typeface="HSE Sans"/>
                <a:ea typeface="HSE Sans"/>
                <a:cs typeface="HSE Sans"/>
              </a:rPr>
              <a:t>в две или три строки (24 pt)</a:t>
            </a:r>
          </a:p>
        </p:txBody>
      </p:sp>
      <p:sp>
        <p:nvSpPr>
          <p:cNvPr id="18" name="Текст 35">
            <a:extLst>
              <a:ext uri="{FF2B5EF4-FFF2-40B4-BE49-F238E27FC236}">
                <a16:creationId xmlns:a16="http://schemas.microsoft.com/office/drawing/2014/main" id="{23B3E5FB-BBCE-4149-AD9A-8CAB06CC9FCF}"/>
              </a:ext>
            </a:extLst>
          </p:cNvPr>
          <p:cNvSpPr>
            <a:spLocks noGrp="1"/>
          </p:cNvSpPr>
          <p:nvPr>
            <p:ph type="body" idx="12" hasCustomPrompt="1"/>
          </p:nvPr>
        </p:nvSpPr>
        <p:spPr>
          <a:xfrm>
            <a:off x="585898" y="2379663"/>
            <a:ext cx="4322531" cy="239937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300">
                <a:latin typeface="HSE Sans"/>
                <a:ea typeface="HSE Sans"/>
                <a:cs typeface="HSE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id="19" name="Текст 35">
            <a:extLst>
              <a:ext uri="{FF2B5EF4-FFF2-40B4-BE49-F238E27FC236}">
                <a16:creationId xmlns:a16="http://schemas.microsoft.com/office/drawing/2014/main" id="{658542D3-7E45-6E46-8039-27C4C43DD617}"/>
              </a:ext>
            </a:extLst>
          </p:cNvPr>
          <p:cNvSpPr>
            <a:spLocks noGrp="1"/>
          </p:cNvSpPr>
          <p:nvPr>
            <p:ph type="body" idx="16" hasCustomPrompt="1"/>
          </p:nvPr>
        </p:nvSpPr>
        <p:spPr>
          <a:xfrm>
            <a:off x="585897" y="5183249"/>
            <a:ext cx="3934345" cy="553998"/>
          </a:xfrm>
        </p:spPr>
        <p:txBody>
          <a:bodyPr lIns="0" tIns="0" rIns="0">
            <a:normAutofit/>
          </a:bodyPr>
          <a:lstStyle>
            <a:lvl1pPr marL="0" marR="0" indent="0" algn="l" defTabSz="914400">
              <a:lnSpc>
                <a:spcPct val="100000"/>
              </a:lnSpc>
              <a:spcBef>
                <a:spcPts val="1000"/>
              </a:spcBef>
              <a:spcAft>
                <a:spcPts val="0"/>
              </a:spcAft>
              <a:buClrTx/>
              <a:buSzTx/>
              <a:buFont typeface="Arial"/>
              <a:buNone/>
              <a:defRPr sz="10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000">
                <a:latin typeface="HSE Sans"/>
                <a:ea typeface="HSE Sans"/>
                <a:cs typeface="HSE Sans"/>
              </a:rPr>
              <a:t>Примечания, или любая другая пояснительная или дополнительная информация набираются шрифтом размером 10 pt</a:t>
            </a:r>
          </a:p>
        </p:txBody>
      </p:sp>
      <p:sp>
        <p:nvSpPr>
          <p:cNvPr id="21" name="Диаграмма 7">
            <a:extLst>
              <a:ext uri="{FF2B5EF4-FFF2-40B4-BE49-F238E27FC236}">
                <a16:creationId xmlns:a16="http://schemas.microsoft.com/office/drawing/2014/main" id="{57965DCA-4776-7546-97FD-A69317A34CF2}"/>
              </a:ext>
            </a:extLst>
          </p:cNvPr>
          <p:cNvSpPr>
            <a:spLocks noGrp="1"/>
          </p:cNvSpPr>
          <p:nvPr>
            <p:ph type="chart" idx="10"/>
          </p:nvPr>
        </p:nvSpPr>
        <p:spPr>
          <a:xfrm>
            <a:off x="5272097" y="1447790"/>
            <a:ext cx="6371768" cy="4289457"/>
          </a:xfrm>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График_2">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0" name="Picture 4"/>
          <p:cNvPicPr>
            <a:picLocks noChangeAspect="1"/>
          </p:cNvPicPr>
          <p:nvPr/>
        </p:nvPicPr>
        <p:blipFill>
          <a:blip r:embed="rId3"/>
          <a:stretch>
            <a:fillRect/>
          </a:stretch>
        </p:blipFill>
        <p:spPr>
          <a:xfrm>
            <a:off x="517199" y="464363"/>
            <a:ext cx="448276" cy="448276"/>
          </a:xfrm>
          <a:prstGeom prst="rect">
            <a:avLst/>
          </a:prstGeom>
        </p:spPr>
      </p:pic>
      <p:sp>
        <p:nvSpPr>
          <p:cNvPr id="9" name="Straight Connector 19">
            <a:extLst>
              <a:ext uri="{FF2B5EF4-FFF2-40B4-BE49-F238E27FC236}">
                <a16:creationId xmlns:a16="http://schemas.microsoft.com/office/drawing/2014/main" id="{6C806DB2-5FB7-482C-81EF-081DAE3E8597}"/>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0" name="Straight Connector 21">
            <a:extLst>
              <a:ext uri="{FF2B5EF4-FFF2-40B4-BE49-F238E27FC236}">
                <a16:creationId xmlns:a16="http://schemas.microsoft.com/office/drawing/2014/main" id="{7F90D146-E6A5-4205-9D66-5A6E82CD5589}"/>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1" name="Straight Connector 25">
            <a:extLst>
              <a:ext uri="{FF2B5EF4-FFF2-40B4-BE49-F238E27FC236}">
                <a16:creationId xmlns:a16="http://schemas.microsoft.com/office/drawing/2014/main" id="{8C07F067-95ED-40B8-A69C-9762375AC71A}"/>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2" name="TextBox 11">
            <a:extLst>
              <a:ext uri="{FF2B5EF4-FFF2-40B4-BE49-F238E27FC236}">
                <a16:creationId xmlns:a16="http://schemas.microsoft.com/office/drawing/2014/main" id="{C65A5D7C-EB12-9D4D-A99A-4B26C81B7387}"/>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3" name="Straight Connector 59">
            <a:extLst>
              <a:ext uri="{FF2B5EF4-FFF2-40B4-BE49-F238E27FC236}">
                <a16:creationId xmlns:a16="http://schemas.microsoft.com/office/drawing/2014/main" id="{43680F7F-ED43-4A22-B595-22A96F3A9D96}"/>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4" name="Текст 37">
            <a:extLst>
              <a:ext uri="{FF2B5EF4-FFF2-40B4-BE49-F238E27FC236}">
                <a16:creationId xmlns:a16="http://schemas.microsoft.com/office/drawing/2014/main" id="{3E0AB43B-5E98-6042-A282-C61E0C5A37B9}"/>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5" name="Текст 39">
            <a:extLst>
              <a:ext uri="{FF2B5EF4-FFF2-40B4-BE49-F238E27FC236}">
                <a16:creationId xmlns:a16="http://schemas.microsoft.com/office/drawing/2014/main" id="{7388A8DF-D130-5445-A3F8-F96E1202BA19}"/>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7" name="Текст 39">
            <a:extLst>
              <a:ext uri="{FF2B5EF4-FFF2-40B4-BE49-F238E27FC236}">
                <a16:creationId xmlns:a16="http://schemas.microsoft.com/office/drawing/2014/main" id="{02CBC466-1703-7541-94E4-AC76F4E6D938}"/>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
        <p:nvSpPr>
          <p:cNvPr id="20" name="Текст 35">
            <a:extLst>
              <a:ext uri="{FF2B5EF4-FFF2-40B4-BE49-F238E27FC236}">
                <a16:creationId xmlns:a16="http://schemas.microsoft.com/office/drawing/2014/main" id="{5812BF3C-1D24-3640-84D2-BFFCA525AE5F}"/>
              </a:ext>
            </a:extLst>
          </p:cNvPr>
          <p:cNvSpPr>
            <a:spLocks noGrp="1"/>
          </p:cNvSpPr>
          <p:nvPr>
            <p:ph type="body" idx="16" hasCustomPrompt="1"/>
          </p:nvPr>
        </p:nvSpPr>
        <p:spPr>
          <a:xfrm>
            <a:off x="585897" y="5183249"/>
            <a:ext cx="3934345" cy="553998"/>
          </a:xfrm>
        </p:spPr>
        <p:txBody>
          <a:bodyPr lIns="0" tIns="0" rIns="0">
            <a:normAutofit/>
          </a:bodyPr>
          <a:lstStyle>
            <a:lvl1pPr marL="0" marR="0" indent="0" algn="l" defTabSz="914400">
              <a:lnSpc>
                <a:spcPct val="100000"/>
              </a:lnSpc>
              <a:spcBef>
                <a:spcPts val="1000"/>
              </a:spcBef>
              <a:spcAft>
                <a:spcPts val="0"/>
              </a:spcAft>
              <a:buClrTx/>
              <a:buSzTx/>
              <a:buFont typeface="Arial"/>
              <a:buNone/>
              <a:defRPr sz="10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000">
                <a:latin typeface="HSE Sans"/>
                <a:ea typeface="HSE Sans"/>
                <a:cs typeface="HSE Sans"/>
              </a:rPr>
              <a:t>Примечания, или любая другая пояснительная или дополнительная информация набираются шрифтом размером 10 pt</a:t>
            </a:r>
          </a:p>
        </p:txBody>
      </p:sp>
      <p:sp>
        <p:nvSpPr>
          <p:cNvPr id="21" name="Диаграмма 7">
            <a:extLst>
              <a:ext uri="{FF2B5EF4-FFF2-40B4-BE49-F238E27FC236}">
                <a16:creationId xmlns:a16="http://schemas.microsoft.com/office/drawing/2014/main" id="{BCBBDD44-9DC9-F74E-979F-120A7BBD4EE1}"/>
              </a:ext>
            </a:extLst>
          </p:cNvPr>
          <p:cNvSpPr>
            <a:spLocks noGrp="1"/>
          </p:cNvSpPr>
          <p:nvPr>
            <p:ph type="chart" idx="10"/>
          </p:nvPr>
        </p:nvSpPr>
        <p:spPr>
          <a:xfrm>
            <a:off x="5272097" y="1447790"/>
            <a:ext cx="6371768" cy="4289457"/>
          </a:xfrm>
        </p:spPr>
        <p:txBody>
          <a:bodyPr/>
          <a:lstStyle/>
          <a:p>
            <a:endParaRPr/>
          </a:p>
        </p:txBody>
      </p:sp>
      <p:sp>
        <p:nvSpPr>
          <p:cNvPr id="23" name="Текст 22">
            <a:extLst>
              <a:ext uri="{FF2B5EF4-FFF2-40B4-BE49-F238E27FC236}">
                <a16:creationId xmlns:a16="http://schemas.microsoft.com/office/drawing/2014/main" id="{7C68DF7B-E804-E44B-83DF-5DC36AF76F43}"/>
              </a:ext>
            </a:extLst>
          </p:cNvPr>
          <p:cNvSpPr>
            <a:spLocks noGrp="1"/>
          </p:cNvSpPr>
          <p:nvPr>
            <p:ph type="body" idx="17" hasCustomPrompt="1"/>
          </p:nvPr>
        </p:nvSpPr>
        <p:spPr>
          <a:xfrm>
            <a:off x="585788" y="1447064"/>
            <a:ext cx="4322762" cy="703205"/>
          </a:xfrm>
        </p:spPr>
        <p:txBody>
          <a:bodyPr>
            <a:noAutofit/>
          </a:bodyPr>
          <a:lstStyle>
            <a:lvl1pPr marL="0" indent="0">
              <a:buNone/>
              <a:defRPr sz="1600" b="0" i="0">
                <a:solidFill>
                  <a:srgbClr val="0E2D69"/>
                </a:solidFill>
                <a:latin typeface="HSE Sans"/>
                <a:ea typeface="HSE Sans"/>
                <a:cs typeface="HSE Sans"/>
              </a:defRPr>
            </a:lvl1pPr>
            <a:lvl2pPr>
              <a:buNone/>
              <a:defRPr sz="1600" b="0" i="0">
                <a:solidFill>
                  <a:srgbClr val="0E2D69"/>
                </a:solidFill>
                <a:latin typeface="HSE Sans"/>
                <a:ea typeface="HSE Sans"/>
                <a:cs typeface="HSE Sans"/>
              </a:defRPr>
            </a:lvl2pPr>
            <a:lvl3pPr>
              <a:buNone/>
              <a:defRPr sz="1600" b="0" i="0">
                <a:solidFill>
                  <a:srgbClr val="0E2D69"/>
                </a:solidFill>
                <a:latin typeface="HSE Sans"/>
                <a:ea typeface="HSE Sans"/>
                <a:cs typeface="HSE Sans"/>
              </a:defRPr>
            </a:lvl3pPr>
            <a:lvl4pPr>
              <a:buNone/>
              <a:defRPr sz="1600" b="0" i="0">
                <a:solidFill>
                  <a:srgbClr val="0E2D69"/>
                </a:solidFill>
                <a:latin typeface="HSE Sans"/>
                <a:ea typeface="HSE Sans"/>
                <a:cs typeface="HSE Sans"/>
              </a:defRPr>
            </a:lvl4pPr>
            <a:lvl5pPr>
              <a:buNone/>
              <a:defRPr sz="1600" b="0" i="0">
                <a:solidFill>
                  <a:srgbClr val="0E2D69"/>
                </a:solidFill>
                <a:latin typeface="HSE Sans"/>
                <a:ea typeface="HSE Sans"/>
                <a:cs typeface="HSE Sans"/>
              </a:defRPr>
            </a:lvl5pPr>
          </a:lstStyle>
          <a:p>
            <a:r>
              <a:rPr sz="1600">
                <a:solidFill>
                  <a:srgbClr val="102D69"/>
                </a:solidFill>
                <a:latin typeface="HSE Sans"/>
                <a:ea typeface="HSE Sans"/>
                <a:cs typeface="HSE Sans"/>
              </a:rPr>
              <a:t>Название графика. Обратите внимание, что название графика набирается меньшим кеглем, чем заголовок (16pt)</a:t>
            </a:r>
          </a:p>
        </p:txBody>
      </p:sp>
      <p:sp>
        <p:nvSpPr>
          <p:cNvPr id="28" name="Текст 35">
            <a:extLst>
              <a:ext uri="{FF2B5EF4-FFF2-40B4-BE49-F238E27FC236}">
                <a16:creationId xmlns:a16="http://schemas.microsoft.com/office/drawing/2014/main" id="{89E931D8-2901-A54D-86EA-096E47B81880}"/>
              </a:ext>
            </a:extLst>
          </p:cNvPr>
          <p:cNvSpPr>
            <a:spLocks noGrp="1"/>
          </p:cNvSpPr>
          <p:nvPr>
            <p:ph type="body" idx="12" hasCustomPrompt="1"/>
          </p:nvPr>
        </p:nvSpPr>
        <p:spPr>
          <a:xfrm>
            <a:off x="585898" y="2379663"/>
            <a:ext cx="4322531" cy="239937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300">
                <a:latin typeface="HSE Sans"/>
                <a:ea typeface="HSE Sans"/>
                <a:cs typeface="HSE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Цифры">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2" name="Picture 4"/>
          <p:cNvPicPr>
            <a:picLocks noChangeAspect="1"/>
          </p:cNvPicPr>
          <p:nvPr/>
        </p:nvPicPr>
        <p:blipFill>
          <a:blip r:embed="rId3"/>
          <a:stretch>
            <a:fillRect/>
          </a:stretch>
        </p:blipFill>
        <p:spPr>
          <a:xfrm>
            <a:off x="517199" y="464363"/>
            <a:ext cx="448276" cy="448276"/>
          </a:xfrm>
          <a:prstGeom prst="rect">
            <a:avLst/>
          </a:prstGeom>
        </p:spPr>
      </p:pic>
      <p:sp>
        <p:nvSpPr>
          <p:cNvPr id="7" name="Straight Connector 19">
            <a:extLst>
              <a:ext uri="{FF2B5EF4-FFF2-40B4-BE49-F238E27FC236}">
                <a16:creationId xmlns:a16="http://schemas.microsoft.com/office/drawing/2014/main" id="{5145F62A-CCA9-4774-8E07-FC1FDBC81815}"/>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8" name="Straight Connector 21">
            <a:extLst>
              <a:ext uri="{FF2B5EF4-FFF2-40B4-BE49-F238E27FC236}">
                <a16:creationId xmlns:a16="http://schemas.microsoft.com/office/drawing/2014/main" id="{8F44E190-3791-47D3-91E1-05991612CF0D}"/>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9" name="Straight Connector 25">
            <a:extLst>
              <a:ext uri="{FF2B5EF4-FFF2-40B4-BE49-F238E27FC236}">
                <a16:creationId xmlns:a16="http://schemas.microsoft.com/office/drawing/2014/main" id="{6E9A65D8-7B3D-4087-B3B3-0B258F92B586}"/>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0" name="TextBox 9">
            <a:extLst>
              <a:ext uri="{FF2B5EF4-FFF2-40B4-BE49-F238E27FC236}">
                <a16:creationId xmlns:a16="http://schemas.microsoft.com/office/drawing/2014/main" id="{30460EF6-ECAD-8941-8132-1B3E005D6067}"/>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1" name="Straight Connector 59">
            <a:extLst>
              <a:ext uri="{FF2B5EF4-FFF2-40B4-BE49-F238E27FC236}">
                <a16:creationId xmlns:a16="http://schemas.microsoft.com/office/drawing/2014/main" id="{25B1DDA2-F8A0-4AF7-8097-C1F40BD8C608}"/>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2" name="Текст 37">
            <a:extLst>
              <a:ext uri="{FF2B5EF4-FFF2-40B4-BE49-F238E27FC236}">
                <a16:creationId xmlns:a16="http://schemas.microsoft.com/office/drawing/2014/main" id="{D9986185-6D5E-FD48-A5CA-AF2D5B58A3E7}"/>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3" name="Текст 39">
            <a:extLst>
              <a:ext uri="{FF2B5EF4-FFF2-40B4-BE49-F238E27FC236}">
                <a16:creationId xmlns:a16="http://schemas.microsoft.com/office/drawing/2014/main" id="{5DBFD327-E3A8-944A-AABF-7D813AD0F13C}"/>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5" name="Текст 39">
            <a:extLst>
              <a:ext uri="{FF2B5EF4-FFF2-40B4-BE49-F238E27FC236}">
                <a16:creationId xmlns:a16="http://schemas.microsoft.com/office/drawing/2014/main" id="{D206FCE0-05C3-2C45-A7D6-1FC287C017BE}"/>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
        <p:nvSpPr>
          <p:cNvPr id="17" name="Заголовок 31">
            <a:extLst>
              <a:ext uri="{FF2B5EF4-FFF2-40B4-BE49-F238E27FC236}">
                <a16:creationId xmlns:a16="http://schemas.microsoft.com/office/drawing/2014/main" id="{3B28B62E-5EE9-834C-9BB6-BD66079B8164}"/>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buNone/>
              <a:defRPr sz="2400" b="0" i="0">
                <a:latin typeface="HSE Sans"/>
                <a:ea typeface="HSE Sans"/>
                <a:cs typeface="HSE Sans"/>
              </a:defRPr>
            </a:lvl1pPr>
          </a:lstStyle>
          <a:p>
            <a:r>
              <a:rPr sz="2400">
                <a:solidFill>
                  <a:srgbClr val="102D69"/>
                </a:solidFill>
                <a:latin typeface="HSE Sans"/>
                <a:ea typeface="HSE Sans"/>
                <a:cs typeface="HSE Sans"/>
              </a:rPr>
              <a:t>Заголовок может быть набран в две или три строки (24 pt)</a:t>
            </a:r>
          </a:p>
        </p:txBody>
      </p:sp>
      <p:sp>
        <p:nvSpPr>
          <p:cNvPr id="24" name="Текст 35">
            <a:extLst>
              <a:ext uri="{FF2B5EF4-FFF2-40B4-BE49-F238E27FC236}">
                <a16:creationId xmlns:a16="http://schemas.microsoft.com/office/drawing/2014/main" id="{621215DE-C1FD-2B4C-B236-AF679CF906BE}"/>
              </a:ext>
            </a:extLst>
          </p:cNvPr>
          <p:cNvSpPr>
            <a:spLocks noGrp="1"/>
          </p:cNvSpPr>
          <p:nvPr>
            <p:ph type="body" idx="12" hasCustomPrompt="1"/>
          </p:nvPr>
        </p:nvSpPr>
        <p:spPr>
          <a:xfrm>
            <a:off x="575076" y="4103994"/>
            <a:ext cx="2758143" cy="156966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300">
                <a:latin typeface="HSE Sans"/>
                <a:ea typeface="HSE Sans"/>
                <a:cs typeface="HSE Sans"/>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5" name="Текст 35">
            <a:extLst>
              <a:ext uri="{FF2B5EF4-FFF2-40B4-BE49-F238E27FC236}">
                <a16:creationId xmlns:a16="http://schemas.microsoft.com/office/drawing/2014/main" id="{8BC2F90D-0CE0-574C-A7C1-EAA3E6F1AB56}"/>
              </a:ext>
            </a:extLst>
          </p:cNvPr>
          <p:cNvSpPr>
            <a:spLocks noGrp="1"/>
          </p:cNvSpPr>
          <p:nvPr>
            <p:ph type="body" idx="16" hasCustomPrompt="1"/>
          </p:nvPr>
        </p:nvSpPr>
        <p:spPr>
          <a:xfrm>
            <a:off x="4047007" y="4103994"/>
            <a:ext cx="2757612" cy="156966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300">
                <a:latin typeface="HSE Sans"/>
                <a:ea typeface="HSE Sans"/>
                <a:cs typeface="HSE Sans"/>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6" name="Текст 35">
            <a:extLst>
              <a:ext uri="{FF2B5EF4-FFF2-40B4-BE49-F238E27FC236}">
                <a16:creationId xmlns:a16="http://schemas.microsoft.com/office/drawing/2014/main" id="{239E188B-2696-8A48-9F8A-36223EEF61E9}"/>
              </a:ext>
            </a:extLst>
          </p:cNvPr>
          <p:cNvSpPr>
            <a:spLocks noGrp="1"/>
          </p:cNvSpPr>
          <p:nvPr>
            <p:ph type="body" idx="17" hasCustomPrompt="1"/>
          </p:nvPr>
        </p:nvSpPr>
        <p:spPr>
          <a:xfrm>
            <a:off x="7518938" y="4103994"/>
            <a:ext cx="2757612" cy="156966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300">
                <a:latin typeface="HSE Sans"/>
                <a:ea typeface="HSE Sans"/>
                <a:cs typeface="HSE Sans"/>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8" name="Текст 27">
            <a:extLst>
              <a:ext uri="{FF2B5EF4-FFF2-40B4-BE49-F238E27FC236}">
                <a16:creationId xmlns:a16="http://schemas.microsoft.com/office/drawing/2014/main" id="{379BF4C6-F899-294C-B88E-8363AFBEEC2A}"/>
              </a:ext>
            </a:extLst>
          </p:cNvPr>
          <p:cNvSpPr>
            <a:spLocks noGrp="1"/>
          </p:cNvSpPr>
          <p:nvPr>
            <p:ph type="body" idx="18" hasCustomPrompt="1"/>
          </p:nvPr>
        </p:nvSpPr>
        <p:spPr>
          <a:xfrm>
            <a:off x="575076" y="2710235"/>
            <a:ext cx="2758143" cy="1164116"/>
          </a:xfrm>
        </p:spPr>
        <p:txBody>
          <a:bodyPr lIns="0" tIns="0" rIns="0" bIns="0">
            <a:noAutofit/>
          </a:bodyPr>
          <a:lstStyle>
            <a:lvl1pPr marL="0" indent="0">
              <a:buNone/>
              <a:defRPr sz="9600">
                <a:latin typeface="HSE Sans"/>
                <a:ea typeface="HSE Sans"/>
                <a:cs typeface="HSE Sans"/>
              </a:defRPr>
            </a:lvl1pPr>
            <a:lvl2pPr>
              <a:buNone/>
              <a:defRPr sz="9600">
                <a:latin typeface="HSE Sans"/>
                <a:ea typeface="HSE Sans"/>
                <a:cs typeface="HSE Sans"/>
              </a:defRPr>
            </a:lvl2pPr>
            <a:lvl3pPr>
              <a:buNone/>
              <a:defRPr sz="9600">
                <a:latin typeface="HSE Sans"/>
                <a:ea typeface="HSE Sans"/>
                <a:cs typeface="HSE Sans"/>
              </a:defRPr>
            </a:lvl3pPr>
            <a:lvl4pPr>
              <a:buNone/>
              <a:defRPr sz="9600">
                <a:latin typeface="HSE Sans"/>
                <a:ea typeface="HSE Sans"/>
                <a:cs typeface="HSE Sans"/>
              </a:defRPr>
            </a:lvl4pPr>
            <a:lvl5pPr>
              <a:buNone/>
              <a:defRPr sz="9600">
                <a:latin typeface="HSE Sans"/>
                <a:ea typeface="HSE Sans"/>
                <a:cs typeface="HSE Sans"/>
              </a:defRPr>
            </a:lvl5pPr>
          </a:lstStyle>
          <a:p>
            <a:pPr lvl="0">
              <a:buNone/>
            </a:pPr>
            <a:r>
              <a:rPr sz="9600">
                <a:solidFill>
                  <a:srgbClr val="102D69"/>
                </a:solidFill>
                <a:latin typeface="HSE Sans"/>
                <a:ea typeface="HSE Sans"/>
                <a:cs typeface="HSE Sans"/>
              </a:rPr>
              <a:t>152</a:t>
            </a:r>
            <a:endParaRPr/>
          </a:p>
        </p:txBody>
      </p:sp>
      <p:sp>
        <p:nvSpPr>
          <p:cNvPr id="29" name="Текст 27">
            <a:extLst>
              <a:ext uri="{FF2B5EF4-FFF2-40B4-BE49-F238E27FC236}">
                <a16:creationId xmlns:a16="http://schemas.microsoft.com/office/drawing/2014/main" id="{DE7F352B-F6D9-B545-A835-443A55956E74}"/>
              </a:ext>
            </a:extLst>
          </p:cNvPr>
          <p:cNvSpPr>
            <a:spLocks noGrp="1"/>
          </p:cNvSpPr>
          <p:nvPr>
            <p:ph type="body" idx="19" hasCustomPrompt="1"/>
          </p:nvPr>
        </p:nvSpPr>
        <p:spPr>
          <a:xfrm>
            <a:off x="4047007" y="2710235"/>
            <a:ext cx="2758143" cy="1164116"/>
          </a:xfrm>
        </p:spPr>
        <p:txBody>
          <a:bodyPr lIns="0" tIns="0" rIns="0" bIns="0">
            <a:noAutofit/>
          </a:bodyPr>
          <a:lstStyle>
            <a:lvl1pPr marL="0" indent="0">
              <a:buNone/>
              <a:defRPr sz="9600">
                <a:latin typeface="HSE Sans"/>
                <a:ea typeface="HSE Sans"/>
                <a:cs typeface="HSE Sans"/>
              </a:defRPr>
            </a:lvl1pPr>
            <a:lvl2pPr>
              <a:buNone/>
              <a:defRPr sz="9600">
                <a:latin typeface="HSE Sans"/>
                <a:ea typeface="HSE Sans"/>
                <a:cs typeface="HSE Sans"/>
              </a:defRPr>
            </a:lvl2pPr>
            <a:lvl3pPr>
              <a:buNone/>
              <a:defRPr sz="9600">
                <a:latin typeface="HSE Sans"/>
                <a:ea typeface="HSE Sans"/>
                <a:cs typeface="HSE Sans"/>
              </a:defRPr>
            </a:lvl3pPr>
            <a:lvl4pPr>
              <a:buNone/>
              <a:defRPr sz="9600">
                <a:latin typeface="HSE Sans"/>
                <a:ea typeface="HSE Sans"/>
                <a:cs typeface="HSE Sans"/>
              </a:defRPr>
            </a:lvl4pPr>
            <a:lvl5pPr>
              <a:buNone/>
              <a:defRPr sz="9600">
                <a:latin typeface="HSE Sans"/>
                <a:ea typeface="HSE Sans"/>
                <a:cs typeface="HSE Sans"/>
              </a:defRPr>
            </a:lvl5pPr>
          </a:lstStyle>
          <a:p>
            <a:pPr lvl="0">
              <a:buNone/>
            </a:pPr>
            <a:r>
              <a:rPr sz="9600">
                <a:solidFill>
                  <a:srgbClr val="102D69"/>
                </a:solidFill>
                <a:latin typeface="HSE Sans"/>
                <a:ea typeface="HSE Sans"/>
                <a:cs typeface="HSE Sans"/>
              </a:rPr>
              <a:t>95</a:t>
            </a:r>
            <a:endParaRPr/>
          </a:p>
        </p:txBody>
      </p:sp>
      <p:sp>
        <p:nvSpPr>
          <p:cNvPr id="30" name="Текст 27">
            <a:extLst>
              <a:ext uri="{FF2B5EF4-FFF2-40B4-BE49-F238E27FC236}">
                <a16:creationId xmlns:a16="http://schemas.microsoft.com/office/drawing/2014/main" id="{D1D5AF9F-C1B0-7842-8789-1DB8963D981B}"/>
              </a:ext>
            </a:extLst>
          </p:cNvPr>
          <p:cNvSpPr>
            <a:spLocks noGrp="1"/>
          </p:cNvSpPr>
          <p:nvPr>
            <p:ph type="body" idx="20" hasCustomPrompt="1"/>
          </p:nvPr>
        </p:nvSpPr>
        <p:spPr>
          <a:xfrm>
            <a:off x="7518938" y="2710235"/>
            <a:ext cx="2758143" cy="1164116"/>
          </a:xfrm>
        </p:spPr>
        <p:txBody>
          <a:bodyPr lIns="0" tIns="0" rIns="0" bIns="0">
            <a:noAutofit/>
          </a:bodyPr>
          <a:lstStyle>
            <a:lvl1pPr marL="0" indent="0">
              <a:buNone/>
              <a:defRPr sz="9600">
                <a:latin typeface="HSE Sans"/>
                <a:ea typeface="HSE Sans"/>
                <a:cs typeface="HSE Sans"/>
              </a:defRPr>
            </a:lvl1pPr>
            <a:lvl2pPr>
              <a:buNone/>
              <a:defRPr sz="9600">
                <a:latin typeface="HSE Sans"/>
                <a:ea typeface="HSE Sans"/>
                <a:cs typeface="HSE Sans"/>
              </a:defRPr>
            </a:lvl2pPr>
            <a:lvl3pPr>
              <a:buNone/>
              <a:defRPr sz="9600">
                <a:latin typeface="HSE Sans"/>
                <a:ea typeface="HSE Sans"/>
                <a:cs typeface="HSE Sans"/>
              </a:defRPr>
            </a:lvl3pPr>
            <a:lvl4pPr>
              <a:buNone/>
              <a:defRPr sz="9600">
                <a:latin typeface="HSE Sans"/>
                <a:ea typeface="HSE Sans"/>
                <a:cs typeface="HSE Sans"/>
              </a:defRPr>
            </a:lvl4pPr>
            <a:lvl5pPr>
              <a:buNone/>
              <a:defRPr sz="9600">
                <a:latin typeface="HSE Sans"/>
                <a:ea typeface="HSE Sans"/>
                <a:cs typeface="HSE Sans"/>
              </a:defRPr>
            </a:lvl5pPr>
          </a:lstStyle>
          <a:p>
            <a:pPr lvl="0">
              <a:buNone/>
            </a:pPr>
            <a:r>
              <a:rPr sz="9600">
                <a:solidFill>
                  <a:srgbClr val="102D69"/>
                </a:solidFill>
                <a:latin typeface="HSE Sans"/>
                <a:ea typeface="HSE Sans"/>
                <a:cs typeface="HSE Sans"/>
              </a:rPr>
              <a:t>284</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Таблица_1">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1" name="Picture 4"/>
          <p:cNvPicPr>
            <a:picLocks noChangeAspect="1"/>
          </p:cNvPicPr>
          <p:nvPr/>
        </p:nvPicPr>
        <p:blipFill>
          <a:blip r:embed="rId3"/>
          <a:stretch>
            <a:fillRect/>
          </a:stretch>
        </p:blipFill>
        <p:spPr>
          <a:xfrm>
            <a:off x="517199" y="464363"/>
            <a:ext cx="448276" cy="448276"/>
          </a:xfrm>
          <a:prstGeom prst="rect">
            <a:avLst/>
          </a:prstGeom>
        </p:spPr>
      </p:pic>
      <p:sp>
        <p:nvSpPr>
          <p:cNvPr id="6" name="Straight Connector 19">
            <a:extLst>
              <a:ext uri="{FF2B5EF4-FFF2-40B4-BE49-F238E27FC236}">
                <a16:creationId xmlns:a16="http://schemas.microsoft.com/office/drawing/2014/main" id="{994AA7CB-217C-4D4B-834E-7100850A7B9C}"/>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7" name="Straight Connector 21">
            <a:extLst>
              <a:ext uri="{FF2B5EF4-FFF2-40B4-BE49-F238E27FC236}">
                <a16:creationId xmlns:a16="http://schemas.microsoft.com/office/drawing/2014/main" id="{A9308466-6498-4362-A6E6-6ACA1F0960C8}"/>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8" name="Straight Connector 25">
            <a:extLst>
              <a:ext uri="{FF2B5EF4-FFF2-40B4-BE49-F238E27FC236}">
                <a16:creationId xmlns:a16="http://schemas.microsoft.com/office/drawing/2014/main" id="{FB87534B-15C1-4A90-ADA0-EBC221D8D817}"/>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9" name="TextBox 8">
            <a:extLst>
              <a:ext uri="{FF2B5EF4-FFF2-40B4-BE49-F238E27FC236}">
                <a16:creationId xmlns:a16="http://schemas.microsoft.com/office/drawing/2014/main" id="{764502F5-56EE-354B-A3B1-E79F8B005172}"/>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0" name="Straight Connector 59">
            <a:extLst>
              <a:ext uri="{FF2B5EF4-FFF2-40B4-BE49-F238E27FC236}">
                <a16:creationId xmlns:a16="http://schemas.microsoft.com/office/drawing/2014/main" id="{21384712-6466-4905-BC7F-DCDECE9F6BEE}"/>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1" name="Текст 37">
            <a:extLst>
              <a:ext uri="{FF2B5EF4-FFF2-40B4-BE49-F238E27FC236}">
                <a16:creationId xmlns:a16="http://schemas.microsoft.com/office/drawing/2014/main" id="{6EC59AAD-5962-8D49-BF4D-7DA5D573073E}"/>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2" name="Текст 39">
            <a:extLst>
              <a:ext uri="{FF2B5EF4-FFF2-40B4-BE49-F238E27FC236}">
                <a16:creationId xmlns:a16="http://schemas.microsoft.com/office/drawing/2014/main" id="{49041ACC-EEF4-D34B-A7DE-87B1AF2ED383}"/>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4" name="Текст 39">
            <a:extLst>
              <a:ext uri="{FF2B5EF4-FFF2-40B4-BE49-F238E27FC236}">
                <a16:creationId xmlns:a16="http://schemas.microsoft.com/office/drawing/2014/main" id="{BF93B2CC-81A4-0943-AF6C-C86576792995}"/>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
        <p:nvSpPr>
          <p:cNvPr id="15" name="Текст 22">
            <a:extLst>
              <a:ext uri="{FF2B5EF4-FFF2-40B4-BE49-F238E27FC236}">
                <a16:creationId xmlns:a16="http://schemas.microsoft.com/office/drawing/2014/main" id="{51340CB4-0355-3640-A212-F684523CDCCF}"/>
              </a:ext>
            </a:extLst>
          </p:cNvPr>
          <p:cNvSpPr>
            <a:spLocks noGrp="1"/>
          </p:cNvSpPr>
          <p:nvPr>
            <p:ph type="body" idx="17" hasCustomPrompt="1"/>
          </p:nvPr>
        </p:nvSpPr>
        <p:spPr>
          <a:xfrm>
            <a:off x="585787" y="1447065"/>
            <a:ext cx="11058065" cy="307778"/>
          </a:xfrm>
        </p:spPr>
        <p:txBody>
          <a:bodyPr lIns="0" tIns="0" rIns="0" bIns="0">
            <a:noAutofit/>
          </a:bodyPr>
          <a:lstStyle>
            <a:lvl1pPr marL="0" indent="0">
              <a:buNone/>
              <a:defRPr sz="1600" b="0" i="0">
                <a:solidFill>
                  <a:srgbClr val="0E2D69"/>
                </a:solidFill>
                <a:latin typeface="HSE Sans"/>
                <a:ea typeface="HSE Sans"/>
                <a:cs typeface="HSE Sans"/>
              </a:defRPr>
            </a:lvl1pPr>
            <a:lvl2pPr>
              <a:buNone/>
              <a:defRPr sz="1600" b="0" i="0">
                <a:solidFill>
                  <a:srgbClr val="0E2D69"/>
                </a:solidFill>
                <a:latin typeface="HSE Sans"/>
                <a:ea typeface="HSE Sans"/>
                <a:cs typeface="HSE Sans"/>
              </a:defRPr>
            </a:lvl2pPr>
            <a:lvl3pPr>
              <a:buNone/>
              <a:defRPr sz="1600" b="0" i="0">
                <a:solidFill>
                  <a:srgbClr val="0E2D69"/>
                </a:solidFill>
                <a:latin typeface="HSE Sans"/>
                <a:ea typeface="HSE Sans"/>
                <a:cs typeface="HSE Sans"/>
              </a:defRPr>
            </a:lvl3pPr>
            <a:lvl4pPr>
              <a:buNone/>
              <a:defRPr sz="1600" b="0" i="0">
                <a:solidFill>
                  <a:srgbClr val="0E2D69"/>
                </a:solidFill>
                <a:latin typeface="HSE Sans"/>
                <a:ea typeface="HSE Sans"/>
                <a:cs typeface="HSE Sans"/>
              </a:defRPr>
            </a:lvl4pPr>
            <a:lvl5pPr>
              <a:buNone/>
              <a:defRPr sz="1600" b="0" i="0">
                <a:solidFill>
                  <a:srgbClr val="0E2D69"/>
                </a:solidFill>
                <a:latin typeface="HSE Sans"/>
                <a:ea typeface="HSE Sans"/>
                <a:cs typeface="HSE Sans"/>
              </a:defRPr>
            </a:lvl5pPr>
          </a:lstStyle>
          <a:p>
            <a:r>
              <a:rPr sz="1600">
                <a:solidFill>
                  <a:srgbClr val="102D69"/>
                </a:solidFill>
                <a:latin typeface="HSE Sans"/>
                <a:ea typeface="HSE Sans"/>
                <a:cs typeface="HSE Sans"/>
              </a:rPr>
              <a:t>Название таблицы. Обратите внимание, что название графика набирается меньшим кеглем, чем заголовок (16pt)</a:t>
            </a:r>
          </a:p>
        </p:txBody>
      </p:sp>
      <p:sp>
        <p:nvSpPr>
          <p:cNvPr id="17" name="Текст 16">
            <a:extLst>
              <a:ext uri="{FF2B5EF4-FFF2-40B4-BE49-F238E27FC236}">
                <a16:creationId xmlns:a16="http://schemas.microsoft.com/office/drawing/2014/main" id="{8C6F2EA4-CEDC-324C-9C06-8713118041EB}"/>
              </a:ext>
            </a:extLst>
          </p:cNvPr>
          <p:cNvSpPr>
            <a:spLocks noGrp="1"/>
          </p:cNvSpPr>
          <p:nvPr>
            <p:ph type="body" idx="18" hasCustomPrompt="1"/>
          </p:nvPr>
        </p:nvSpPr>
        <p:spPr>
          <a:xfrm>
            <a:off x="585788" y="5739189"/>
            <a:ext cx="6824303" cy="703205"/>
          </a:xfrm>
        </p:spPr>
        <p:txBody>
          <a:bodyPr lIns="0" tIns="0" rIns="0" bIns="0">
            <a:normAutofit/>
          </a:bodyPr>
          <a:lstStyle>
            <a:lvl1pPr marL="0" marR="0" indent="0" algn="l" defTabSz="914400">
              <a:lnSpc>
                <a:spcPct val="100000"/>
              </a:lnSpc>
              <a:spcBef>
                <a:spcPts val="600"/>
              </a:spcBef>
              <a:spcAft>
                <a:spcPts val="0"/>
              </a:spcAft>
              <a:buClrTx/>
              <a:buSzTx/>
              <a:buFontTx/>
              <a:buNone/>
              <a:defRPr sz="1300" b="0" i="0">
                <a:solidFill>
                  <a:srgbClr val="0E2D69"/>
                </a:solidFill>
                <a:latin typeface="HSE Sans"/>
                <a:ea typeface="HSE Sans"/>
                <a:cs typeface="HSE Sans"/>
              </a:defRPr>
            </a:lvl1pPr>
            <a:lvl2pPr>
              <a:buNone/>
              <a:defRPr sz="1300" b="0" i="0">
                <a:solidFill>
                  <a:srgbClr val="0E2D69"/>
                </a:solidFill>
                <a:latin typeface="HSE Sans"/>
                <a:ea typeface="HSE Sans"/>
                <a:cs typeface="HSE Sans"/>
              </a:defRPr>
            </a:lvl2pPr>
            <a:lvl3pPr>
              <a:buNone/>
              <a:defRPr sz="1300" b="0" i="0">
                <a:solidFill>
                  <a:srgbClr val="0E2D69"/>
                </a:solidFill>
                <a:latin typeface="HSE Sans"/>
                <a:ea typeface="HSE Sans"/>
                <a:cs typeface="HSE Sans"/>
              </a:defRPr>
            </a:lvl3pPr>
            <a:lvl4pPr>
              <a:buNone/>
              <a:defRPr sz="1300" b="0" i="0">
                <a:solidFill>
                  <a:srgbClr val="0E2D69"/>
                </a:solidFill>
                <a:latin typeface="HSE Sans"/>
                <a:ea typeface="HSE Sans"/>
                <a:cs typeface="HSE Sans"/>
              </a:defRPr>
            </a:lvl4pPr>
            <a:lvl5pPr>
              <a:buNone/>
              <a:defRPr sz="1300" b="0" i="0">
                <a:solidFill>
                  <a:srgbClr val="0E2D69"/>
                </a:solidFill>
                <a:latin typeface="HSE Sans"/>
                <a:ea typeface="HSE Sans"/>
                <a:cs typeface="HSE Sans"/>
              </a:defRPr>
            </a:lvl5pPr>
          </a:lstStyle>
          <a:p>
            <a:pPr marL="0" marR="0" lvl="0" indent="0" algn="l" defTabSz="914400">
              <a:lnSpc>
                <a:spcPct val="100000"/>
              </a:lnSpc>
              <a:spcBef>
                <a:spcPts val="600"/>
              </a:spcBef>
              <a:spcAft>
                <a:spcPts val="0"/>
              </a:spcAft>
              <a:buClrTx/>
              <a:buSzTx/>
              <a:buFontTx/>
              <a:buNone/>
            </a:pPr>
            <a:r>
              <a:rPr sz="1300" b="0">
                <a:ln>
                  <a:noFill/>
                </a:ln>
                <a:latin typeface="HSE Sans"/>
                <a:ea typeface="HSE Sans"/>
                <a:cs typeface="HSE Sans"/>
              </a:rPr>
              <a:t>Мы рекомендуем очень аккуратно использовать жирное начертание, старайтесь выделять жирным самое важное. </a:t>
            </a:r>
            <a:r>
              <a:rPr sz="1300">
                <a:latin typeface="HSE Sans"/>
                <a:ea typeface="HSE Sans"/>
                <a:cs typeface="HSE Sans"/>
              </a:rPr>
              <a:t>Также старайтесь не использовать выделение жирным начертанием вместе с заливкой ячеек каким-либо цветом, достаточно и одного акцента.</a:t>
            </a:r>
            <a:endParaRPr sz="1300" b="0">
              <a:ln>
                <a:noFill/>
              </a:ln>
              <a:latin typeface="HSE Sans"/>
              <a:ea typeface="HSE Sans"/>
              <a:cs typeface="HSE Sans"/>
            </a:endParaRPr>
          </a:p>
        </p:txBody>
      </p:sp>
      <p:sp>
        <p:nvSpPr>
          <p:cNvPr id="19" name="Таблица 18">
            <a:extLst>
              <a:ext uri="{FF2B5EF4-FFF2-40B4-BE49-F238E27FC236}">
                <a16:creationId xmlns:a16="http://schemas.microsoft.com/office/drawing/2014/main" id="{7B291085-A9B9-D842-B1A7-96258FAF012C}"/>
              </a:ext>
            </a:extLst>
          </p:cNvPr>
          <p:cNvSpPr>
            <a:spLocks noGrp="1"/>
          </p:cNvSpPr>
          <p:nvPr>
            <p:ph type="tbl" idx="19"/>
          </p:nvPr>
        </p:nvSpPr>
        <p:spPr>
          <a:xfrm>
            <a:off x="585787" y="1984076"/>
            <a:ext cx="11058527" cy="3519576"/>
          </a:xfrm>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Таблица_2">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3" name="Picture 4"/>
          <p:cNvPicPr>
            <a:picLocks noChangeAspect="1"/>
          </p:cNvPicPr>
          <p:nvPr/>
        </p:nvPicPr>
        <p:blipFill>
          <a:blip r:embed="rId3"/>
          <a:stretch>
            <a:fillRect/>
          </a:stretch>
        </p:blipFill>
        <p:spPr>
          <a:xfrm>
            <a:off x="517199" y="464363"/>
            <a:ext cx="448276" cy="448276"/>
          </a:xfrm>
          <a:prstGeom prst="rect">
            <a:avLst/>
          </a:prstGeom>
        </p:spPr>
      </p:pic>
      <p:sp>
        <p:nvSpPr>
          <p:cNvPr id="9" name="Straight Connector 19">
            <a:extLst>
              <a:ext uri="{FF2B5EF4-FFF2-40B4-BE49-F238E27FC236}">
                <a16:creationId xmlns:a16="http://schemas.microsoft.com/office/drawing/2014/main" id="{6E0D45A4-3126-4DB3-AF26-38E00A6444B8}"/>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0" name="Straight Connector 21">
            <a:extLst>
              <a:ext uri="{FF2B5EF4-FFF2-40B4-BE49-F238E27FC236}">
                <a16:creationId xmlns:a16="http://schemas.microsoft.com/office/drawing/2014/main" id="{CAF4F179-32F1-4FBF-9A22-DC555F58287F}"/>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1" name="Straight Connector 25">
            <a:extLst>
              <a:ext uri="{FF2B5EF4-FFF2-40B4-BE49-F238E27FC236}">
                <a16:creationId xmlns:a16="http://schemas.microsoft.com/office/drawing/2014/main" id="{9F10899E-F919-4158-AE00-69EFB4CCD17F}"/>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2" name="TextBox 11">
            <a:extLst>
              <a:ext uri="{FF2B5EF4-FFF2-40B4-BE49-F238E27FC236}">
                <a16:creationId xmlns:a16="http://schemas.microsoft.com/office/drawing/2014/main" id="{F33F65D6-1072-F140-B6A5-758D7B595A92}"/>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3" name="Straight Connector 59">
            <a:extLst>
              <a:ext uri="{FF2B5EF4-FFF2-40B4-BE49-F238E27FC236}">
                <a16:creationId xmlns:a16="http://schemas.microsoft.com/office/drawing/2014/main" id="{9E51795F-8C16-47B5-8B0E-32402489EBCF}"/>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4" name="Текст 37">
            <a:extLst>
              <a:ext uri="{FF2B5EF4-FFF2-40B4-BE49-F238E27FC236}">
                <a16:creationId xmlns:a16="http://schemas.microsoft.com/office/drawing/2014/main" id="{44D0326E-FD7A-3541-A998-62A1C30E2738}"/>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5" name="Текст 39">
            <a:extLst>
              <a:ext uri="{FF2B5EF4-FFF2-40B4-BE49-F238E27FC236}">
                <a16:creationId xmlns:a16="http://schemas.microsoft.com/office/drawing/2014/main" id="{279CCCA0-F959-5245-8321-106D3C5E837D}"/>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7" name="Текст 39">
            <a:extLst>
              <a:ext uri="{FF2B5EF4-FFF2-40B4-BE49-F238E27FC236}">
                <a16:creationId xmlns:a16="http://schemas.microsoft.com/office/drawing/2014/main" id="{8B839C6B-8494-8841-9714-4C8F710F8400}"/>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
        <p:nvSpPr>
          <p:cNvPr id="18" name="Текст 22">
            <a:extLst>
              <a:ext uri="{FF2B5EF4-FFF2-40B4-BE49-F238E27FC236}">
                <a16:creationId xmlns:a16="http://schemas.microsoft.com/office/drawing/2014/main" id="{4D940599-2B77-CE47-91E6-CDB51ADE1840}"/>
              </a:ext>
            </a:extLst>
          </p:cNvPr>
          <p:cNvSpPr>
            <a:spLocks noGrp="1"/>
          </p:cNvSpPr>
          <p:nvPr>
            <p:ph type="body" idx="17" hasCustomPrompt="1"/>
          </p:nvPr>
        </p:nvSpPr>
        <p:spPr>
          <a:xfrm>
            <a:off x="585787" y="1447064"/>
            <a:ext cx="7617877" cy="537011"/>
          </a:xfrm>
        </p:spPr>
        <p:txBody>
          <a:bodyPr lIns="0" tIns="0" rIns="0" bIns="0">
            <a:noAutofit/>
          </a:bodyPr>
          <a:lstStyle>
            <a:lvl1pPr marL="0" indent="0">
              <a:buNone/>
              <a:defRPr sz="1600" b="0" i="0">
                <a:solidFill>
                  <a:srgbClr val="0E2D69"/>
                </a:solidFill>
                <a:latin typeface="HSE Sans"/>
                <a:ea typeface="HSE Sans"/>
                <a:cs typeface="HSE Sans"/>
              </a:defRPr>
            </a:lvl1pPr>
            <a:lvl2pPr>
              <a:buNone/>
              <a:defRPr sz="1600" b="0" i="0">
                <a:solidFill>
                  <a:srgbClr val="0E2D69"/>
                </a:solidFill>
                <a:latin typeface="HSE Sans"/>
                <a:ea typeface="HSE Sans"/>
                <a:cs typeface="HSE Sans"/>
              </a:defRPr>
            </a:lvl2pPr>
            <a:lvl3pPr>
              <a:buNone/>
              <a:defRPr sz="1600" b="0" i="0">
                <a:solidFill>
                  <a:srgbClr val="0E2D69"/>
                </a:solidFill>
                <a:latin typeface="HSE Sans"/>
                <a:ea typeface="HSE Sans"/>
                <a:cs typeface="HSE Sans"/>
              </a:defRPr>
            </a:lvl3pPr>
            <a:lvl4pPr>
              <a:buNone/>
              <a:defRPr sz="1600" b="0" i="0">
                <a:solidFill>
                  <a:srgbClr val="0E2D69"/>
                </a:solidFill>
                <a:latin typeface="HSE Sans"/>
                <a:ea typeface="HSE Sans"/>
                <a:cs typeface="HSE Sans"/>
              </a:defRPr>
            </a:lvl4pPr>
            <a:lvl5pPr>
              <a:buNone/>
              <a:defRPr sz="1600" b="0" i="0">
                <a:solidFill>
                  <a:srgbClr val="0E2D69"/>
                </a:solidFill>
                <a:latin typeface="HSE Sans"/>
                <a:ea typeface="HSE Sans"/>
                <a:cs typeface="HSE Sans"/>
              </a:defRPr>
            </a:lvl5pPr>
          </a:lstStyle>
          <a:p>
            <a:r>
              <a:rPr sz="1600">
                <a:solidFill>
                  <a:srgbClr val="102D69"/>
                </a:solidFill>
                <a:latin typeface="HSE Sans"/>
                <a:ea typeface="HSE Sans"/>
                <a:cs typeface="HSE Sans"/>
              </a:rPr>
              <a:t>Название таблицы. Обратите внимание, что название графика набирается меньшим кеглем, чем заголовок (16pt)</a:t>
            </a:r>
          </a:p>
        </p:txBody>
      </p:sp>
      <p:sp>
        <p:nvSpPr>
          <p:cNvPr id="19" name="Текст 16">
            <a:extLst>
              <a:ext uri="{FF2B5EF4-FFF2-40B4-BE49-F238E27FC236}">
                <a16:creationId xmlns:a16="http://schemas.microsoft.com/office/drawing/2014/main" id="{A7333712-9DED-4F4B-B209-2F13075EDB3F}"/>
              </a:ext>
            </a:extLst>
          </p:cNvPr>
          <p:cNvSpPr>
            <a:spLocks noGrp="1"/>
          </p:cNvSpPr>
          <p:nvPr>
            <p:ph type="body" idx="18" hasCustomPrompt="1"/>
          </p:nvPr>
        </p:nvSpPr>
        <p:spPr>
          <a:xfrm>
            <a:off x="585788" y="5739189"/>
            <a:ext cx="6824303" cy="703205"/>
          </a:xfrm>
        </p:spPr>
        <p:txBody>
          <a:bodyPr lIns="0" tIns="0" rIns="0" bIns="0">
            <a:normAutofit/>
          </a:bodyPr>
          <a:lstStyle>
            <a:lvl1pPr marL="0" marR="0" indent="0" algn="l" defTabSz="914400">
              <a:lnSpc>
                <a:spcPct val="100000"/>
              </a:lnSpc>
              <a:spcBef>
                <a:spcPts val="600"/>
              </a:spcBef>
              <a:spcAft>
                <a:spcPts val="0"/>
              </a:spcAft>
              <a:buClrTx/>
              <a:buSzTx/>
              <a:buFontTx/>
              <a:buNone/>
              <a:defRPr sz="1300" b="0" i="0">
                <a:solidFill>
                  <a:srgbClr val="0E2D69"/>
                </a:solidFill>
                <a:latin typeface="HSE Sans"/>
                <a:ea typeface="HSE Sans"/>
                <a:cs typeface="HSE Sans"/>
              </a:defRPr>
            </a:lvl1pPr>
            <a:lvl2pPr>
              <a:buNone/>
              <a:defRPr sz="1300" b="0" i="0">
                <a:solidFill>
                  <a:srgbClr val="0E2D69"/>
                </a:solidFill>
                <a:latin typeface="HSE Sans"/>
                <a:ea typeface="HSE Sans"/>
                <a:cs typeface="HSE Sans"/>
              </a:defRPr>
            </a:lvl2pPr>
            <a:lvl3pPr>
              <a:buNone/>
              <a:defRPr sz="1300" b="0" i="0">
                <a:solidFill>
                  <a:srgbClr val="0E2D69"/>
                </a:solidFill>
                <a:latin typeface="HSE Sans"/>
                <a:ea typeface="HSE Sans"/>
                <a:cs typeface="HSE Sans"/>
              </a:defRPr>
            </a:lvl3pPr>
            <a:lvl4pPr>
              <a:buNone/>
              <a:defRPr sz="1300" b="0" i="0">
                <a:solidFill>
                  <a:srgbClr val="0E2D69"/>
                </a:solidFill>
                <a:latin typeface="HSE Sans"/>
                <a:ea typeface="HSE Sans"/>
                <a:cs typeface="HSE Sans"/>
              </a:defRPr>
            </a:lvl4pPr>
            <a:lvl5pPr>
              <a:buNone/>
              <a:defRPr sz="1300" b="0" i="0">
                <a:solidFill>
                  <a:srgbClr val="0E2D69"/>
                </a:solidFill>
                <a:latin typeface="HSE Sans"/>
                <a:ea typeface="HSE Sans"/>
                <a:cs typeface="HSE Sans"/>
              </a:defRPr>
            </a:lvl5pPr>
          </a:lstStyle>
          <a:p>
            <a:pPr marL="0" marR="0" lvl="0" indent="0" algn="l" defTabSz="914400">
              <a:lnSpc>
                <a:spcPct val="100000"/>
              </a:lnSpc>
              <a:spcBef>
                <a:spcPts val="600"/>
              </a:spcBef>
              <a:spcAft>
                <a:spcPts val="0"/>
              </a:spcAft>
              <a:buClrTx/>
              <a:buSzTx/>
              <a:buFontTx/>
              <a:buNone/>
            </a:pPr>
            <a:r>
              <a:rPr sz="1300" b="0">
                <a:ln>
                  <a:noFill/>
                </a:ln>
                <a:latin typeface="HSE Sans"/>
                <a:ea typeface="HSE Sans"/>
                <a:cs typeface="HSE Sans"/>
              </a:rPr>
              <a:t>Мы рекомендуем очень аккуратно использовать жирное начертание, старайтесь выделять жирным самое важное. </a:t>
            </a:r>
            <a:r>
              <a:rPr sz="1300">
                <a:latin typeface="HSE Sans"/>
                <a:ea typeface="HSE Sans"/>
                <a:cs typeface="HSE Sans"/>
              </a:rPr>
              <a:t>Также старайтесь не использовать выделение жирным начертанием вместе с заливкой ячеек каким-либо цветом, достаточно и одного акцента.</a:t>
            </a:r>
            <a:endParaRPr sz="1300" b="0">
              <a:ln>
                <a:noFill/>
              </a:ln>
              <a:latin typeface="HSE Sans"/>
              <a:ea typeface="HSE Sans"/>
              <a:cs typeface="HSE Sans"/>
            </a:endParaRPr>
          </a:p>
        </p:txBody>
      </p:sp>
      <p:sp>
        <p:nvSpPr>
          <p:cNvPr id="20" name="Таблица 18">
            <a:extLst>
              <a:ext uri="{FF2B5EF4-FFF2-40B4-BE49-F238E27FC236}">
                <a16:creationId xmlns:a16="http://schemas.microsoft.com/office/drawing/2014/main" id="{DD467C42-8209-B740-8419-DBB6A6F7D5EE}"/>
              </a:ext>
            </a:extLst>
          </p:cNvPr>
          <p:cNvSpPr>
            <a:spLocks noGrp="1"/>
          </p:cNvSpPr>
          <p:nvPr>
            <p:ph type="tbl" idx="19"/>
          </p:nvPr>
        </p:nvSpPr>
        <p:spPr>
          <a:xfrm>
            <a:off x="585787" y="2208362"/>
            <a:ext cx="7617895" cy="3295290"/>
          </a:xfrm>
        </p:spPr>
        <p:txBody>
          <a:bodyPr/>
          <a:lstStyle/>
          <a:p>
            <a:endParaRPr/>
          </a:p>
        </p:txBody>
      </p:sp>
      <p:sp>
        <p:nvSpPr>
          <p:cNvPr id="21" name="Текст 35">
            <a:extLst>
              <a:ext uri="{FF2B5EF4-FFF2-40B4-BE49-F238E27FC236}">
                <a16:creationId xmlns:a16="http://schemas.microsoft.com/office/drawing/2014/main" id="{B4309850-76EA-224C-A9E2-B6BBDBF99DE2}"/>
              </a:ext>
            </a:extLst>
          </p:cNvPr>
          <p:cNvSpPr>
            <a:spLocks noGrp="1"/>
          </p:cNvSpPr>
          <p:nvPr>
            <p:ph type="body" idx="12" hasCustomPrompt="1"/>
          </p:nvPr>
        </p:nvSpPr>
        <p:spPr>
          <a:xfrm>
            <a:off x="8686807" y="2208363"/>
            <a:ext cx="2930666" cy="2570672"/>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300">
                <a:latin typeface="HSE Sans"/>
                <a:ea typeface="HSE Sans"/>
                <a:cs typeface="HSE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цвет">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2" name="Picture 4"/>
          <p:cNvPicPr>
            <a:picLocks noChangeAspect="1"/>
          </p:cNvPicPr>
          <p:nvPr/>
        </p:nvPicPr>
        <p:blipFill>
          <a:blip r:embed="rId3"/>
          <a:stretch>
            <a:fillRect/>
          </a:stretch>
        </p:blipFill>
        <p:spPr>
          <a:xfrm>
            <a:off x="517199" y="464363"/>
            <a:ext cx="448276" cy="448276"/>
          </a:xfrm>
          <a:prstGeom prst="rect">
            <a:avLst/>
          </a:prstGeom>
        </p:spPr>
      </p:pic>
      <p:sp>
        <p:nvSpPr>
          <p:cNvPr id="8" name="Straight Connector 19">
            <a:extLst>
              <a:ext uri="{FF2B5EF4-FFF2-40B4-BE49-F238E27FC236}">
                <a16:creationId xmlns:a16="http://schemas.microsoft.com/office/drawing/2014/main" id="{598FE76A-B88E-41F6-9495-1439687BDE06}"/>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9" name="Straight Connector 21">
            <a:extLst>
              <a:ext uri="{FF2B5EF4-FFF2-40B4-BE49-F238E27FC236}">
                <a16:creationId xmlns:a16="http://schemas.microsoft.com/office/drawing/2014/main" id="{9B6A20DD-2538-4770-88D5-6CD20B9BDF18}"/>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0" name="Straight Connector 25">
            <a:extLst>
              <a:ext uri="{FF2B5EF4-FFF2-40B4-BE49-F238E27FC236}">
                <a16:creationId xmlns:a16="http://schemas.microsoft.com/office/drawing/2014/main" id="{11CD6884-7EE9-46BC-B304-D2F085BC047A}"/>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1" name="TextBox 10">
            <a:extLst>
              <a:ext uri="{FF2B5EF4-FFF2-40B4-BE49-F238E27FC236}">
                <a16:creationId xmlns:a16="http://schemas.microsoft.com/office/drawing/2014/main" id="{3A39D099-B515-F343-BF7A-A95468DA3860}"/>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2" name="Straight Connector 59">
            <a:extLst>
              <a:ext uri="{FF2B5EF4-FFF2-40B4-BE49-F238E27FC236}">
                <a16:creationId xmlns:a16="http://schemas.microsoft.com/office/drawing/2014/main" id="{7629719D-F1F3-4F4C-A93E-BCA2416B960B}"/>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3" name="Текст 37">
            <a:extLst>
              <a:ext uri="{FF2B5EF4-FFF2-40B4-BE49-F238E27FC236}">
                <a16:creationId xmlns:a16="http://schemas.microsoft.com/office/drawing/2014/main" id="{9C21DFE9-C3B2-C54E-9275-7776355F7360}"/>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4" name="Текст 39">
            <a:extLst>
              <a:ext uri="{FF2B5EF4-FFF2-40B4-BE49-F238E27FC236}">
                <a16:creationId xmlns:a16="http://schemas.microsoft.com/office/drawing/2014/main" id="{5A73F99D-6D58-724E-ADB3-150D9B24F8CB}"/>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6" name="Текст 39">
            <a:extLst>
              <a:ext uri="{FF2B5EF4-FFF2-40B4-BE49-F238E27FC236}">
                <a16:creationId xmlns:a16="http://schemas.microsoft.com/office/drawing/2014/main" id="{7E89E360-BE39-5041-BAD6-C7B708340AA2}"/>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
        <p:nvSpPr>
          <p:cNvPr id="19" name="Заголовок 31">
            <a:extLst>
              <a:ext uri="{FF2B5EF4-FFF2-40B4-BE49-F238E27FC236}">
                <a16:creationId xmlns:a16="http://schemas.microsoft.com/office/drawing/2014/main" id="{1C20890C-BC1C-0745-9AF3-46700BA27C4A}"/>
              </a:ext>
            </a:extLst>
          </p:cNvPr>
          <p:cNvSpPr>
            <a:spLocks noGrp="1"/>
          </p:cNvSpPr>
          <p:nvPr>
            <p:ph type="title" hasCustomPrompt="1"/>
          </p:nvPr>
        </p:nvSpPr>
        <p:spPr>
          <a:xfrm>
            <a:off x="585899" y="1447790"/>
            <a:ext cx="4322530" cy="777025"/>
          </a:xfrm>
        </p:spPr>
        <p:txBody>
          <a:bodyPr lIns="0" tIns="0" rIns="0" bIns="0" anchor="t">
            <a:normAutofit/>
          </a:bodyPr>
          <a:lstStyle>
            <a:lvl1pPr>
              <a:lnSpc>
                <a:spcPct val="100000"/>
              </a:lnSpc>
              <a:buNone/>
              <a:defRPr sz="2400" b="0" i="0">
                <a:latin typeface="HSE Sans"/>
                <a:ea typeface="HSE Sans"/>
                <a:cs typeface="HSE Sans"/>
              </a:defRPr>
            </a:lvl1pPr>
          </a:lstStyle>
          <a:p>
            <a:r>
              <a:rPr sz="2400">
                <a:solidFill>
                  <a:srgbClr val="102D69"/>
                </a:solidFill>
                <a:latin typeface="HSE Sans"/>
                <a:ea typeface="HSE Sans"/>
                <a:cs typeface="HSE Sans"/>
              </a:rPr>
              <a:t>Дополнительная </a:t>
            </a:r>
            <a:br/>
            <a:r>
              <a:rPr sz="2400">
                <a:solidFill>
                  <a:srgbClr val="102D69"/>
                </a:solidFill>
                <a:latin typeface="HSE Sans"/>
                <a:ea typeface="HSE Sans"/>
                <a:cs typeface="HSE Sans"/>
              </a:rPr>
              <a:t>цветовая гамма</a:t>
            </a:r>
          </a:p>
        </p:txBody>
      </p:sp>
      <p:sp>
        <p:nvSpPr>
          <p:cNvPr id="20" name="Текст 35">
            <a:extLst>
              <a:ext uri="{FF2B5EF4-FFF2-40B4-BE49-F238E27FC236}">
                <a16:creationId xmlns:a16="http://schemas.microsoft.com/office/drawing/2014/main" id="{CA2589F7-4500-024F-8E07-D726629A599C}"/>
              </a:ext>
            </a:extLst>
          </p:cNvPr>
          <p:cNvSpPr>
            <a:spLocks noGrp="1"/>
          </p:cNvSpPr>
          <p:nvPr>
            <p:ph type="body" idx="12" hasCustomPrompt="1"/>
          </p:nvPr>
        </p:nvSpPr>
        <p:spPr>
          <a:xfrm>
            <a:off x="585898" y="2379663"/>
            <a:ext cx="4322531" cy="239937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300">
                <a:latin typeface="HSE Sans"/>
                <a:ea typeface="HSE Sans"/>
                <a:cs typeface="HSE Sans"/>
              </a:rPr>
              <a:t>Для оформления графиков, таблиц, диаграмм могут потребоваться дополнительные цвета и вы совершенно правы, задавая вопрос, какие цвета использовать и где их взять. Мы предлагаем использовать палитру цветов Вышки для этих целей.</a:t>
            </a:r>
          </a:p>
        </p:txBody>
      </p:sp>
      <p:sp>
        <p:nvSpPr>
          <p:cNvPr id="21" name="Oval 5">
            <a:extLst>
              <a:ext uri="{FF2B5EF4-FFF2-40B4-BE49-F238E27FC236}">
                <a16:creationId xmlns:a16="http://schemas.microsoft.com/office/drawing/2014/main" id="{D2CA403A-98E7-6C42-8F44-30AB6622C802}"/>
              </a:ext>
            </a:extLst>
          </p:cNvPr>
          <p:cNvSpPr>
            <a:spLocks noGrp="1"/>
          </p:cNvSpPr>
          <p:nvPr/>
        </p:nvSpPr>
        <p:spPr>
          <a:xfrm>
            <a:off x="5392982" y="1447790"/>
            <a:ext cx="830997" cy="830997"/>
          </a:xfrm>
          <a:prstGeom prst="ellipse">
            <a:avLst/>
          </a:prstGeom>
          <a:solidFill>
            <a:srgbClr val="0E2D69"/>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 name="Oval 20">
            <a:extLst>
              <a:ext uri="{FF2B5EF4-FFF2-40B4-BE49-F238E27FC236}">
                <a16:creationId xmlns:a16="http://schemas.microsoft.com/office/drawing/2014/main" id="{42ABAA5D-E7AB-6E48-9D43-A48178C9BDD4}"/>
              </a:ext>
            </a:extLst>
          </p:cNvPr>
          <p:cNvSpPr>
            <a:spLocks noGrp="1"/>
          </p:cNvSpPr>
          <p:nvPr/>
        </p:nvSpPr>
        <p:spPr>
          <a:xfrm>
            <a:off x="6742925" y="1447790"/>
            <a:ext cx="830997" cy="830997"/>
          </a:xfrm>
          <a:prstGeom prst="ellipse">
            <a:avLst/>
          </a:prstGeom>
          <a:solidFill>
            <a:srgbClr val="234A9B"/>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 name="Oval 22">
            <a:extLst>
              <a:ext uri="{FF2B5EF4-FFF2-40B4-BE49-F238E27FC236}">
                <a16:creationId xmlns:a16="http://schemas.microsoft.com/office/drawing/2014/main" id="{209F185A-8F67-9C42-A7C5-87E483F4FC19}"/>
              </a:ext>
            </a:extLst>
          </p:cNvPr>
          <p:cNvSpPr>
            <a:spLocks noGrp="1"/>
          </p:cNvSpPr>
          <p:nvPr/>
        </p:nvSpPr>
        <p:spPr>
          <a:xfrm>
            <a:off x="8092868" y="1447790"/>
            <a:ext cx="830997" cy="830997"/>
          </a:xfrm>
          <a:prstGeom prst="ellipse">
            <a:avLst/>
          </a:prstGeom>
          <a:solidFill>
            <a:srgbClr val="11A0D7"/>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4" name="Oval 23">
            <a:extLst>
              <a:ext uri="{FF2B5EF4-FFF2-40B4-BE49-F238E27FC236}">
                <a16:creationId xmlns:a16="http://schemas.microsoft.com/office/drawing/2014/main" id="{279AE0F6-4E37-6C4D-AF45-824EEE489A15}"/>
              </a:ext>
            </a:extLst>
          </p:cNvPr>
          <p:cNvSpPr>
            <a:spLocks noGrp="1"/>
          </p:cNvSpPr>
          <p:nvPr/>
        </p:nvSpPr>
        <p:spPr>
          <a:xfrm>
            <a:off x="9442811" y="1447790"/>
            <a:ext cx="830997" cy="830997"/>
          </a:xfrm>
          <a:prstGeom prst="ellipse">
            <a:avLst/>
          </a:prstGeom>
          <a:solidFill>
            <a:srgbClr val="029C63"/>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5" name="Oval 26">
            <a:extLst>
              <a:ext uri="{FF2B5EF4-FFF2-40B4-BE49-F238E27FC236}">
                <a16:creationId xmlns:a16="http://schemas.microsoft.com/office/drawing/2014/main" id="{330C0EA4-7FD1-CE4D-AC95-8C484C5AC790}"/>
              </a:ext>
            </a:extLst>
          </p:cNvPr>
          <p:cNvSpPr>
            <a:spLocks noGrp="1"/>
          </p:cNvSpPr>
          <p:nvPr/>
        </p:nvSpPr>
        <p:spPr>
          <a:xfrm>
            <a:off x="10792754" y="1447790"/>
            <a:ext cx="830997" cy="830997"/>
          </a:xfrm>
          <a:prstGeom prst="ellipse">
            <a:avLst/>
          </a:prstGeom>
          <a:solidFill>
            <a:srgbClr val="EB681F"/>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6" name="Oval 29">
            <a:extLst>
              <a:ext uri="{FF2B5EF4-FFF2-40B4-BE49-F238E27FC236}">
                <a16:creationId xmlns:a16="http://schemas.microsoft.com/office/drawing/2014/main" id="{4C53CF3D-7EFB-DF4F-8EA6-5644574E9AFB}"/>
              </a:ext>
            </a:extLst>
          </p:cNvPr>
          <p:cNvSpPr>
            <a:spLocks noGrp="1"/>
          </p:cNvSpPr>
          <p:nvPr/>
        </p:nvSpPr>
        <p:spPr>
          <a:xfrm>
            <a:off x="5392982" y="2708699"/>
            <a:ext cx="830997" cy="830997"/>
          </a:xfrm>
          <a:prstGeom prst="ellipse">
            <a:avLst/>
          </a:prstGeom>
          <a:solidFill>
            <a:srgbClr val="7D4EBA"/>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7" name="Oval 33">
            <a:extLst>
              <a:ext uri="{FF2B5EF4-FFF2-40B4-BE49-F238E27FC236}">
                <a16:creationId xmlns:a16="http://schemas.microsoft.com/office/drawing/2014/main" id="{B42CE88A-E9A3-2A4E-BD50-EB37311F39EC}"/>
              </a:ext>
            </a:extLst>
          </p:cNvPr>
          <p:cNvSpPr>
            <a:spLocks noGrp="1"/>
          </p:cNvSpPr>
          <p:nvPr/>
        </p:nvSpPr>
        <p:spPr>
          <a:xfrm>
            <a:off x="6742925" y="2708699"/>
            <a:ext cx="830997" cy="830997"/>
          </a:xfrm>
          <a:prstGeom prst="ellipse">
            <a:avLst/>
          </a:prstGeom>
          <a:solidFill>
            <a:srgbClr val="E61F3D"/>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8" name="Oval 34">
            <a:extLst>
              <a:ext uri="{FF2B5EF4-FFF2-40B4-BE49-F238E27FC236}">
                <a16:creationId xmlns:a16="http://schemas.microsoft.com/office/drawing/2014/main" id="{B699EFDF-DB9D-3C4F-9D1F-461508017BDA}"/>
              </a:ext>
            </a:extLst>
          </p:cNvPr>
          <p:cNvSpPr>
            <a:spLocks noGrp="1"/>
          </p:cNvSpPr>
          <p:nvPr/>
        </p:nvSpPr>
        <p:spPr>
          <a:xfrm>
            <a:off x="8092868" y="2708699"/>
            <a:ext cx="830997" cy="830997"/>
          </a:xfrm>
          <a:prstGeom prst="ellipse">
            <a:avLst/>
          </a:prstGeom>
          <a:solidFill>
            <a:srgbClr val="FBBA00"/>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9" name="Oval 35">
            <a:extLst>
              <a:ext uri="{FF2B5EF4-FFF2-40B4-BE49-F238E27FC236}">
                <a16:creationId xmlns:a16="http://schemas.microsoft.com/office/drawing/2014/main" id="{5DF3131C-EEA1-5446-B567-C9DA0A2A1AFF}"/>
              </a:ext>
            </a:extLst>
          </p:cNvPr>
          <p:cNvSpPr>
            <a:spLocks noGrp="1"/>
          </p:cNvSpPr>
          <p:nvPr/>
        </p:nvSpPr>
        <p:spPr>
          <a:xfrm>
            <a:off x="9442811" y="2708699"/>
            <a:ext cx="830997" cy="830997"/>
          </a:xfrm>
          <a:prstGeom prst="ellipse">
            <a:avLst/>
          </a:prstGeom>
          <a:solidFill>
            <a:srgbClr val="7DA0D3"/>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0" name="Oval 36">
            <a:extLst>
              <a:ext uri="{FF2B5EF4-FFF2-40B4-BE49-F238E27FC236}">
                <a16:creationId xmlns:a16="http://schemas.microsoft.com/office/drawing/2014/main" id="{6D03B317-B61D-2945-8C0A-A6EBD87ACD07}"/>
              </a:ext>
            </a:extLst>
          </p:cNvPr>
          <p:cNvSpPr>
            <a:spLocks noGrp="1"/>
          </p:cNvSpPr>
          <p:nvPr/>
        </p:nvSpPr>
        <p:spPr>
          <a:xfrm>
            <a:off x="10792754" y="2708699"/>
            <a:ext cx="830997" cy="830997"/>
          </a:xfrm>
          <a:prstGeom prst="ellipse">
            <a:avLst/>
          </a:prstGeom>
          <a:solidFill>
            <a:srgbClr val="47A0A0"/>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1" name="Oval 37">
            <a:extLst>
              <a:ext uri="{FF2B5EF4-FFF2-40B4-BE49-F238E27FC236}">
                <a16:creationId xmlns:a16="http://schemas.microsoft.com/office/drawing/2014/main" id="{9C0266F1-C0B7-624A-A873-5F2C8801E766}"/>
              </a:ext>
            </a:extLst>
          </p:cNvPr>
          <p:cNvSpPr>
            <a:spLocks noGrp="1"/>
          </p:cNvSpPr>
          <p:nvPr/>
        </p:nvSpPr>
        <p:spPr>
          <a:xfrm>
            <a:off x="5392982" y="3969609"/>
            <a:ext cx="830997" cy="830997"/>
          </a:xfrm>
          <a:prstGeom prst="ellipse">
            <a:avLst/>
          </a:prstGeom>
          <a:solidFill>
            <a:srgbClr val="EB8C3C"/>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2" name="Oval 38">
            <a:extLst>
              <a:ext uri="{FF2B5EF4-FFF2-40B4-BE49-F238E27FC236}">
                <a16:creationId xmlns:a16="http://schemas.microsoft.com/office/drawing/2014/main" id="{30C0C10E-388C-9843-8270-19D471BD3756}"/>
              </a:ext>
            </a:extLst>
          </p:cNvPr>
          <p:cNvSpPr>
            <a:spLocks noGrp="1"/>
          </p:cNvSpPr>
          <p:nvPr/>
        </p:nvSpPr>
        <p:spPr>
          <a:xfrm>
            <a:off x="6742925" y="3969609"/>
            <a:ext cx="830997" cy="830997"/>
          </a:xfrm>
          <a:prstGeom prst="ellipse">
            <a:avLst/>
          </a:prstGeom>
          <a:solidFill>
            <a:srgbClr val="96628C"/>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3" name="Oval 39">
            <a:extLst>
              <a:ext uri="{FF2B5EF4-FFF2-40B4-BE49-F238E27FC236}">
                <a16:creationId xmlns:a16="http://schemas.microsoft.com/office/drawing/2014/main" id="{87047EA3-79D2-8644-A568-E64AA1D7D370}"/>
              </a:ext>
            </a:extLst>
          </p:cNvPr>
          <p:cNvSpPr>
            <a:spLocks noGrp="1"/>
          </p:cNvSpPr>
          <p:nvPr/>
        </p:nvSpPr>
        <p:spPr>
          <a:xfrm>
            <a:off x="8092868" y="3969609"/>
            <a:ext cx="830997" cy="830997"/>
          </a:xfrm>
          <a:prstGeom prst="ellipse">
            <a:avLst/>
          </a:prstGeom>
          <a:solidFill>
            <a:srgbClr val="CD5A5A"/>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4" name="Oval 40">
            <a:extLst>
              <a:ext uri="{FF2B5EF4-FFF2-40B4-BE49-F238E27FC236}">
                <a16:creationId xmlns:a16="http://schemas.microsoft.com/office/drawing/2014/main" id="{7F5D1C6B-4E6B-0346-A5DC-C511DB14EFD6}"/>
              </a:ext>
            </a:extLst>
          </p:cNvPr>
          <p:cNvSpPr>
            <a:spLocks noGrp="1"/>
          </p:cNvSpPr>
          <p:nvPr/>
        </p:nvSpPr>
        <p:spPr>
          <a:xfrm>
            <a:off x="9442811" y="3969609"/>
            <a:ext cx="830997" cy="830997"/>
          </a:xfrm>
          <a:prstGeom prst="ellipse">
            <a:avLst/>
          </a:prstGeom>
          <a:solidFill>
            <a:srgbClr val="FFD746"/>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5" name="Oval 41">
            <a:extLst>
              <a:ext uri="{FF2B5EF4-FFF2-40B4-BE49-F238E27FC236}">
                <a16:creationId xmlns:a16="http://schemas.microsoft.com/office/drawing/2014/main" id="{EB421DBA-35DE-2C4F-A89E-27F0998EF4E8}"/>
              </a:ext>
            </a:extLst>
          </p:cNvPr>
          <p:cNvSpPr>
            <a:spLocks noGrp="1"/>
          </p:cNvSpPr>
          <p:nvPr/>
        </p:nvSpPr>
        <p:spPr>
          <a:xfrm>
            <a:off x="10792754" y="3969609"/>
            <a:ext cx="830997" cy="830997"/>
          </a:xfrm>
          <a:prstGeom prst="ellipse">
            <a:avLst/>
          </a:prstGeom>
          <a:solidFill>
            <a:srgbClr val="CDDDF0"/>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6" name="Oval 42">
            <a:extLst>
              <a:ext uri="{FF2B5EF4-FFF2-40B4-BE49-F238E27FC236}">
                <a16:creationId xmlns:a16="http://schemas.microsoft.com/office/drawing/2014/main" id="{081BD842-A9A1-5B44-81ED-A97BA390032B}"/>
              </a:ext>
            </a:extLst>
          </p:cNvPr>
          <p:cNvSpPr>
            <a:spLocks noGrp="1"/>
          </p:cNvSpPr>
          <p:nvPr/>
        </p:nvSpPr>
        <p:spPr>
          <a:xfrm>
            <a:off x="5392982" y="5249769"/>
            <a:ext cx="830997" cy="830997"/>
          </a:xfrm>
          <a:prstGeom prst="ellipse">
            <a:avLst/>
          </a:prstGeom>
          <a:solidFill>
            <a:srgbClr val="D7EBB4"/>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7" name="Oval 43">
            <a:extLst>
              <a:ext uri="{FF2B5EF4-FFF2-40B4-BE49-F238E27FC236}">
                <a16:creationId xmlns:a16="http://schemas.microsoft.com/office/drawing/2014/main" id="{036EE7D2-A33A-434C-B272-C82E2CDD4D4D}"/>
              </a:ext>
            </a:extLst>
          </p:cNvPr>
          <p:cNvSpPr>
            <a:spLocks noGrp="1"/>
          </p:cNvSpPr>
          <p:nvPr/>
        </p:nvSpPr>
        <p:spPr>
          <a:xfrm>
            <a:off x="6742925" y="5249769"/>
            <a:ext cx="830997" cy="830997"/>
          </a:xfrm>
          <a:prstGeom prst="ellipse">
            <a:avLst/>
          </a:prstGeom>
          <a:solidFill>
            <a:srgbClr val="FFDC91"/>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8" name="Oval 44">
            <a:extLst>
              <a:ext uri="{FF2B5EF4-FFF2-40B4-BE49-F238E27FC236}">
                <a16:creationId xmlns:a16="http://schemas.microsoft.com/office/drawing/2014/main" id="{7DD65DA4-F076-C242-813E-8C17DCABCCFB}"/>
              </a:ext>
            </a:extLst>
          </p:cNvPr>
          <p:cNvSpPr>
            <a:spLocks noGrp="1"/>
          </p:cNvSpPr>
          <p:nvPr/>
        </p:nvSpPr>
        <p:spPr>
          <a:xfrm>
            <a:off x="8092868" y="5249769"/>
            <a:ext cx="830997" cy="830997"/>
          </a:xfrm>
          <a:prstGeom prst="ellipse">
            <a:avLst/>
          </a:prstGeom>
          <a:solidFill>
            <a:srgbClr val="D7C3F1"/>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9" name="Oval 45">
            <a:extLst>
              <a:ext uri="{FF2B5EF4-FFF2-40B4-BE49-F238E27FC236}">
                <a16:creationId xmlns:a16="http://schemas.microsoft.com/office/drawing/2014/main" id="{8A44D99D-BF66-2848-B460-F59D8ECF5690}"/>
              </a:ext>
            </a:extLst>
          </p:cNvPr>
          <p:cNvSpPr>
            <a:spLocks noGrp="1"/>
          </p:cNvSpPr>
          <p:nvPr/>
        </p:nvSpPr>
        <p:spPr>
          <a:xfrm>
            <a:off x="9442811" y="5249769"/>
            <a:ext cx="830997" cy="830997"/>
          </a:xfrm>
          <a:prstGeom prst="ellipse">
            <a:avLst/>
          </a:prstGeom>
          <a:solidFill>
            <a:srgbClr val="F6C3C3"/>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0" name="Oval 46">
            <a:extLst>
              <a:ext uri="{FF2B5EF4-FFF2-40B4-BE49-F238E27FC236}">
                <a16:creationId xmlns:a16="http://schemas.microsoft.com/office/drawing/2014/main" id="{9B130CEB-3D74-B647-BA6B-32F7D70FD354}"/>
              </a:ext>
            </a:extLst>
          </p:cNvPr>
          <p:cNvSpPr>
            <a:spLocks noGrp="1"/>
          </p:cNvSpPr>
          <p:nvPr/>
        </p:nvSpPr>
        <p:spPr>
          <a:xfrm>
            <a:off x="10792754" y="5249769"/>
            <a:ext cx="830997" cy="830997"/>
          </a:xfrm>
          <a:prstGeom prst="ellipse">
            <a:avLst/>
          </a:prstGeom>
          <a:solidFill>
            <a:srgbClr val="FFF07D"/>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чистый_2">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Picture 4"/>
          <p:cNvPicPr>
            <a:picLocks noChangeAspect="1"/>
          </p:cNvPicPr>
          <p:nvPr/>
        </p:nvPicPr>
        <p:blipFill>
          <a:blip r:embed="rId3"/>
          <a:stretch>
            <a:fillRect/>
          </a:stretch>
        </p:blipFill>
        <p:spPr>
          <a:xfrm>
            <a:off x="517199" y="464363"/>
            <a:ext cx="448276" cy="448276"/>
          </a:xfrm>
          <a:prstGeom prst="rect">
            <a:avLst/>
          </a:prstGeom>
        </p:spPr>
      </p:pic>
      <p:sp>
        <p:nvSpPr>
          <p:cNvPr id="9" name="Straight Connector 19">
            <a:extLst>
              <a:ext uri="{FF2B5EF4-FFF2-40B4-BE49-F238E27FC236}">
                <a16:creationId xmlns:a16="http://schemas.microsoft.com/office/drawing/2014/main" id="{A76CAD88-7567-4938-BC2F-B8A2A83E813B}"/>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0" name="Straight Connector 21">
            <a:extLst>
              <a:ext uri="{FF2B5EF4-FFF2-40B4-BE49-F238E27FC236}">
                <a16:creationId xmlns:a16="http://schemas.microsoft.com/office/drawing/2014/main" id="{A95DB6FF-17C8-459F-820E-3A449FDB362E}"/>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1" name="Straight Connector 25">
            <a:extLst>
              <a:ext uri="{FF2B5EF4-FFF2-40B4-BE49-F238E27FC236}">
                <a16:creationId xmlns:a16="http://schemas.microsoft.com/office/drawing/2014/main" id="{35272D99-94CA-4285-A3CB-C5FC27CB534A}"/>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2" name="TextBox 11">
            <a:extLst>
              <a:ext uri="{FF2B5EF4-FFF2-40B4-BE49-F238E27FC236}">
                <a16:creationId xmlns:a16="http://schemas.microsoft.com/office/drawing/2014/main" id="{C62171D1-2A5B-7A4A-9760-17CCE51B9802}"/>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3" name="Straight Connector 59">
            <a:extLst>
              <a:ext uri="{FF2B5EF4-FFF2-40B4-BE49-F238E27FC236}">
                <a16:creationId xmlns:a16="http://schemas.microsoft.com/office/drawing/2014/main" id="{4C3D9072-80F8-4F6C-AB69-ADAB9EDA6D46}"/>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4" name="Текст 37">
            <a:extLst>
              <a:ext uri="{FF2B5EF4-FFF2-40B4-BE49-F238E27FC236}">
                <a16:creationId xmlns:a16="http://schemas.microsoft.com/office/drawing/2014/main" id="{9856D01B-EC9A-6047-B7FB-D47084AB3F50}"/>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5" name="Текст 39">
            <a:extLst>
              <a:ext uri="{FF2B5EF4-FFF2-40B4-BE49-F238E27FC236}">
                <a16:creationId xmlns:a16="http://schemas.microsoft.com/office/drawing/2014/main" id="{83E23342-AC91-354A-9A28-A14FF7BADCD2}"/>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7" name="Текст 39">
            <a:extLst>
              <a:ext uri="{FF2B5EF4-FFF2-40B4-BE49-F238E27FC236}">
                <a16:creationId xmlns:a16="http://schemas.microsoft.com/office/drawing/2014/main" id="{BB1CCE68-8F57-1A41-BC43-633D2EFC801E}"/>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чистый">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5234703-C735-5D41-99C2-019C7EBECCF4}"/>
              </a:ext>
            </a:extLst>
          </p:cNvPr>
          <p:cNvSpPr>
            <a:spLocks noGrp="1"/>
          </p:cNvSpPr>
          <p:nvPr/>
        </p:nvSpPr>
        <p:spPr>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buNone/>
            </a:pPr>
            <a:endParaRPr/>
          </a:p>
        </p:txBody>
      </p:sp>
      <p:pic>
        <p:nvPicPr>
          <p:cNvPr id="6" name="Picture 1"/>
          <p:cNvPicPr>
            <a:picLocks noChangeAspect="1"/>
          </p:cNvPicPr>
          <p:nvPr/>
        </p:nvPicPr>
        <p:blipFill>
          <a:blip r:embed="rId3"/>
          <a:srcRect/>
          <a:stretch/>
        </p:blipFill>
        <p:spPr>
          <a:xfrm>
            <a:off x="5310809" y="2643809"/>
            <a:ext cx="1570383" cy="1570383"/>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3F8FDE-7383-E947-8568-FF6B7A77655A}"/>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6F8E6541-45CA-8B42-98B4-D42737B8509B}"/>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0E70645B-C5D9-8544-BBF2-E4A13F8E4054}"/>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3063DFB-8595-A44B-9F09-A50FA310E559}" type="datetimeFigureOut">
              <a:t>23.09.2026</a:t>
            </a:fld>
            <a:endParaRPr/>
          </a:p>
        </p:txBody>
      </p:sp>
      <p:sp>
        <p:nvSpPr>
          <p:cNvPr id="5" name="Footer Placeholder 4">
            <a:extLst>
              <a:ext uri="{FF2B5EF4-FFF2-40B4-BE49-F238E27FC236}">
                <a16:creationId xmlns:a16="http://schemas.microsoft.com/office/drawing/2014/main" id="{71F52289-7F57-544F-95EE-F8B2E106276A}"/>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11C5F56-F795-5643-ABE3-DDED2186989C}"/>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4C20F133-126C-5944-A0E4-6A9616EDC0DA}"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chart" Target="../charts/char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9.xml"/><Relationship Id="rId1" Type="http://schemas.openxmlformats.org/officeDocument/2006/relationships/slideLayout" Target="../slideLayouts/slideLayout3.xml"/><Relationship Id="rId5" Type="http://schemas.openxmlformats.org/officeDocument/2006/relationships/chart" Target="../charts/chart6.xml"/><Relationship Id="rId4" Type="http://schemas.openxmlformats.org/officeDocument/2006/relationships/chart" Target="../charts/chart5.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D95C0D-D7DC-EF40-9E45-F5F0A4817CD2}"/>
              </a:ext>
            </a:extLst>
          </p:cNvPr>
          <p:cNvSpPr>
            <a:spLocks noGrp="1"/>
          </p:cNvSpPr>
          <p:nvPr>
            <p:ph type="title"/>
          </p:nvPr>
        </p:nvSpPr>
        <p:spPr/>
        <p:txBody>
          <a:bodyPr/>
          <a:lstStyle/>
          <a:p>
            <a:r>
              <a:t>Линейная регрессия</a:t>
            </a:r>
          </a:p>
          <a:p>
            <a:r>
              <a:t>и градиентное обучение</a:t>
            </a:r>
          </a:p>
        </p:txBody>
      </p:sp>
      <p:sp>
        <p:nvSpPr>
          <p:cNvPr id="3" name="Текст 2">
            <a:extLst>
              <a:ext uri="{FF2B5EF4-FFF2-40B4-BE49-F238E27FC236}">
                <a16:creationId xmlns:a16="http://schemas.microsoft.com/office/drawing/2014/main" id="{2B85EA7E-BEC4-B745-B2A8-D4E4AFC614FC}"/>
              </a:ext>
            </a:extLst>
          </p:cNvPr>
          <p:cNvSpPr>
            <a:spLocks noGrp="1"/>
          </p:cNvSpPr>
          <p:nvPr>
            <p:ph type="body" idx="10"/>
          </p:nvPr>
        </p:nvSpPr>
        <p:spPr/>
        <p:txBody>
          <a:bodyPr/>
          <a:lstStyle/>
          <a:p>
            <a:r>
              <a:t>Национальный Исследовательский Университет «Высшая Школа Экономики»</a:t>
            </a:r>
          </a:p>
        </p:txBody>
      </p:sp>
      <p:sp>
        <p:nvSpPr>
          <p:cNvPr id="5" name="Текст 4">
            <a:extLst>
              <a:ext uri="{FF2B5EF4-FFF2-40B4-BE49-F238E27FC236}">
                <a16:creationId xmlns:a16="http://schemas.microsoft.com/office/drawing/2014/main" id="{C6FAE0FA-3CAF-BA4B-8F9F-5FEF3C2F3CC6}"/>
              </a:ext>
            </a:extLst>
          </p:cNvPr>
          <p:cNvSpPr>
            <a:spLocks noGrp="1"/>
          </p:cNvSpPr>
          <p:nvPr>
            <p:ph type="body" idx="12"/>
          </p:nvPr>
        </p:nvSpPr>
        <p:spPr/>
        <p:txBody>
          <a:bodyPr/>
          <a:lstStyle/>
          <a:p>
            <a:r>
              <a:t>2026</a:t>
            </a:r>
          </a:p>
        </p:txBody>
      </p:sp>
      <p:sp>
        <p:nvSpPr>
          <p:cNvPr id="6" name="Текст 5">
            <a:extLst>
              <a:ext uri="{FF2B5EF4-FFF2-40B4-BE49-F238E27FC236}">
                <a16:creationId xmlns:a16="http://schemas.microsoft.com/office/drawing/2014/main" id="{44AFB2BF-A7AB-5648-ADCD-2A7F1BD35815}"/>
              </a:ext>
            </a:extLst>
          </p:cNvPr>
          <p:cNvSpPr>
            <a:spLocks noGrp="1"/>
          </p:cNvSpPr>
          <p:nvPr>
            <p:ph type="body" idx="13"/>
          </p:nvPr>
        </p:nvSpPr>
        <p:spPr/>
        <p:txBody>
          <a:bodyPr/>
          <a:lstStyle/>
          <a:p>
            <a:r>
              <a:t>Лекция 3</a:t>
            </a:r>
          </a:p>
        </p:txBody>
      </p:sp>
    </p:spTree>
    <p:extLst>
      <p:ext uri="{BB962C8B-B14F-4D97-AF65-F5344CB8AC3E}">
        <p14:creationId xmlns:p14="http://schemas.microsoft.com/office/powerpoint/2010/main" val="982325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Содержание</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План лекции</a:t>
            </a:r>
          </a:p>
        </p:txBody>
      </p:sp>
      <p:sp>
        <p:nvSpPr>
          <p:cNvPr id="7" name="l03-content-1">
            <a:extLst>
              <a:ext uri="{FF2B5EF4-FFF2-40B4-BE49-F238E27FC236}">
                <a16:creationId xmlns:a16="http://schemas.microsoft.com/office/drawing/2014/main" id="{5D58BFC3-8455-4C94-9C63-75987BA49CC1}"/>
              </a:ext>
            </a:extLst>
          </p:cNvPr>
          <p:cNvSpPr>
            <a:spLocks noGrp="1"/>
          </p:cNvSpPr>
          <p:nvPr/>
        </p:nvSpPr>
        <p:spPr>
          <a:xfrm>
            <a:off x="590550" y="2495550"/>
            <a:ext cx="619125" cy="476250"/>
          </a:xfrm>
          <a:prstGeom prst="rect">
            <a:avLst/>
          </a:prstGeom>
          <a:noFill/>
          <a:ln w="0">
            <a:noFill/>
          </a:ln>
        </p:spPr>
        <p:txBody>
          <a:bodyPr wrap="square" lIns="0" tIns="0" rIns="0" bIns="0" anchor="t">
            <a:noAutofit/>
          </a:bodyPr>
          <a:lstStyle/>
          <a:p>
            <a:pPr algn="l">
              <a:lnSpc>
                <a:spcPct val="112000"/>
              </a:lnSpc>
              <a:buNone/>
              <a:defRPr sz="2250" b="1">
                <a:solidFill>
                  <a:srgbClr val="234A9B"/>
                </a:solidFill>
                <a:latin typeface="HSE Sans"/>
                <a:ea typeface="HSE Sans"/>
                <a:cs typeface="HSE Sans"/>
              </a:defRPr>
            </a:pPr>
            <a:r>
              <a:rPr sz="2250" b="1">
                <a:solidFill>
                  <a:srgbClr val="234A9B"/>
                </a:solidFill>
                <a:latin typeface="HSE Sans"/>
                <a:ea typeface="HSE Sans"/>
                <a:cs typeface="HSE Sans"/>
              </a:rPr>
              <a:t>1</a:t>
            </a:r>
          </a:p>
        </p:txBody>
      </p:sp>
      <p:sp>
        <p:nvSpPr>
          <p:cNvPr id="8" name="l03-content-2">
            <a:extLst>
              <a:ext uri="{FF2B5EF4-FFF2-40B4-BE49-F238E27FC236}">
                <a16:creationId xmlns:a16="http://schemas.microsoft.com/office/drawing/2014/main" id="{EA84E5FB-342A-4DB3-9616-8AA633D3AEB9}"/>
              </a:ext>
            </a:extLst>
          </p:cNvPr>
          <p:cNvSpPr>
            <a:spLocks noGrp="1"/>
          </p:cNvSpPr>
          <p:nvPr/>
        </p:nvSpPr>
        <p:spPr>
          <a:xfrm>
            <a:off x="1381125" y="2495550"/>
            <a:ext cx="10001250" cy="571500"/>
          </a:xfrm>
          <a:prstGeom prst="rect">
            <a:avLst/>
          </a:prstGeom>
          <a:noFill/>
          <a:ln w="0">
            <a:noFill/>
          </a:ln>
        </p:spPr>
        <p:txBody>
          <a:bodyPr wrap="square" lIns="0" tIns="0" rIns="0" bIns="0" anchor="t">
            <a:noAutofit/>
          </a:bodyPr>
          <a:lstStyle/>
          <a:p>
            <a:pPr algn="l">
              <a:lnSpc>
                <a:spcPct val="112000"/>
              </a:lnSpc>
              <a:buNone/>
              <a:defRPr sz="2250" b="0">
                <a:solidFill>
                  <a:srgbClr val="102D69"/>
                </a:solidFill>
                <a:latin typeface="HSE Sans"/>
                <a:ea typeface="HSE Sans"/>
                <a:cs typeface="HSE Sans"/>
              </a:defRPr>
            </a:pPr>
            <a:r>
              <a:rPr sz="2250" b="0">
                <a:solidFill>
                  <a:srgbClr val="102D69"/>
                </a:solidFill>
                <a:latin typeface="HSE Sans"/>
                <a:ea typeface="HSE Sans"/>
                <a:cs typeface="HSE Sans"/>
              </a:rPr>
              <a:t>Валидация и кросс-валидация</a:t>
            </a:r>
          </a:p>
        </p:txBody>
      </p:sp>
      <p:sp>
        <p:nvSpPr>
          <p:cNvPr id="9" name="l03-content-3">
            <a:extLst>
              <a:ext uri="{FF2B5EF4-FFF2-40B4-BE49-F238E27FC236}">
                <a16:creationId xmlns:a16="http://schemas.microsoft.com/office/drawing/2014/main" id="{0D18F836-0505-4F28-8F34-1B32FC06FFE8}"/>
              </a:ext>
            </a:extLst>
          </p:cNvPr>
          <p:cNvSpPr>
            <a:spLocks noGrp="1"/>
          </p:cNvSpPr>
          <p:nvPr/>
        </p:nvSpPr>
        <p:spPr>
          <a:xfrm>
            <a:off x="590550" y="3390900"/>
            <a:ext cx="619125" cy="476250"/>
          </a:xfrm>
          <a:prstGeom prst="rect">
            <a:avLst/>
          </a:prstGeom>
          <a:noFill/>
          <a:ln w="0">
            <a:noFill/>
          </a:ln>
        </p:spPr>
        <p:txBody>
          <a:bodyPr wrap="square" lIns="0" tIns="0" rIns="0" bIns="0" anchor="t">
            <a:noAutofit/>
          </a:bodyPr>
          <a:lstStyle/>
          <a:p>
            <a:pPr algn="l">
              <a:lnSpc>
                <a:spcPct val="112000"/>
              </a:lnSpc>
              <a:buNone/>
              <a:defRPr sz="2250" b="1">
                <a:solidFill>
                  <a:srgbClr val="234A9B"/>
                </a:solidFill>
                <a:latin typeface="HSE Sans"/>
                <a:ea typeface="HSE Sans"/>
                <a:cs typeface="HSE Sans"/>
              </a:defRPr>
            </a:pPr>
            <a:r>
              <a:rPr sz="2250" b="1">
                <a:solidFill>
                  <a:srgbClr val="234A9B"/>
                </a:solidFill>
                <a:latin typeface="HSE Sans"/>
                <a:ea typeface="HSE Sans"/>
                <a:cs typeface="HSE Sans"/>
              </a:rPr>
              <a:t>2</a:t>
            </a:r>
          </a:p>
        </p:txBody>
      </p:sp>
      <p:sp>
        <p:nvSpPr>
          <p:cNvPr id="10" name="l03-content-4">
            <a:extLst>
              <a:ext uri="{FF2B5EF4-FFF2-40B4-BE49-F238E27FC236}">
                <a16:creationId xmlns:a16="http://schemas.microsoft.com/office/drawing/2014/main" id="{F6B6571C-7C14-480D-9E90-57F14E096F88}"/>
              </a:ext>
            </a:extLst>
          </p:cNvPr>
          <p:cNvSpPr>
            <a:spLocks noGrp="1"/>
          </p:cNvSpPr>
          <p:nvPr/>
        </p:nvSpPr>
        <p:spPr>
          <a:xfrm>
            <a:off x="1381125" y="3390900"/>
            <a:ext cx="10001250" cy="571500"/>
          </a:xfrm>
          <a:prstGeom prst="rect">
            <a:avLst/>
          </a:prstGeom>
          <a:noFill/>
          <a:ln w="0">
            <a:noFill/>
          </a:ln>
        </p:spPr>
        <p:txBody>
          <a:bodyPr wrap="square" lIns="0" tIns="0" rIns="0" bIns="0" anchor="t">
            <a:noAutofit/>
          </a:bodyPr>
          <a:lstStyle/>
          <a:p>
            <a:pPr algn="l">
              <a:lnSpc>
                <a:spcPct val="112000"/>
              </a:lnSpc>
              <a:buNone/>
              <a:defRPr sz="2250" b="0">
                <a:solidFill>
                  <a:srgbClr val="102D69"/>
                </a:solidFill>
                <a:latin typeface="HSE Sans"/>
                <a:ea typeface="HSE Sans"/>
                <a:cs typeface="HSE Sans"/>
              </a:defRPr>
            </a:pPr>
            <a:r>
              <a:rPr sz="2250" b="0">
                <a:solidFill>
                  <a:srgbClr val="102D69"/>
                </a:solidFill>
                <a:latin typeface="HSE Sans"/>
                <a:ea typeface="HSE Sans"/>
                <a:cs typeface="HSE Sans"/>
              </a:rPr>
              <a:t>Регуляризация линейной модели</a:t>
            </a:r>
          </a:p>
        </p:txBody>
      </p:sp>
      <p:sp>
        <p:nvSpPr>
          <p:cNvPr id="11" name="l03-content-5">
            <a:extLst>
              <a:ext uri="{FF2B5EF4-FFF2-40B4-BE49-F238E27FC236}">
                <a16:creationId xmlns:a16="http://schemas.microsoft.com/office/drawing/2014/main" id="{6F86F1C3-AEA9-4784-A350-D561FF860A0F}"/>
              </a:ext>
            </a:extLst>
          </p:cNvPr>
          <p:cNvSpPr>
            <a:spLocks noGrp="1"/>
          </p:cNvSpPr>
          <p:nvPr/>
        </p:nvSpPr>
        <p:spPr>
          <a:xfrm>
            <a:off x="590550" y="4286250"/>
            <a:ext cx="619125" cy="476250"/>
          </a:xfrm>
          <a:prstGeom prst="rect">
            <a:avLst/>
          </a:prstGeom>
          <a:noFill/>
          <a:ln w="0">
            <a:noFill/>
          </a:ln>
        </p:spPr>
        <p:txBody>
          <a:bodyPr wrap="square" lIns="0" tIns="0" rIns="0" bIns="0" anchor="t">
            <a:noAutofit/>
          </a:bodyPr>
          <a:lstStyle/>
          <a:p>
            <a:pPr algn="l">
              <a:lnSpc>
                <a:spcPct val="112000"/>
              </a:lnSpc>
              <a:buNone/>
              <a:defRPr sz="2250" b="1">
                <a:solidFill>
                  <a:srgbClr val="234A9B"/>
                </a:solidFill>
                <a:latin typeface="HSE Sans"/>
                <a:ea typeface="HSE Sans"/>
                <a:cs typeface="HSE Sans"/>
              </a:defRPr>
            </a:pPr>
            <a:r>
              <a:rPr sz="2250" b="1">
                <a:solidFill>
                  <a:srgbClr val="234A9B"/>
                </a:solidFill>
                <a:latin typeface="HSE Sans"/>
                <a:ea typeface="HSE Sans"/>
                <a:cs typeface="HSE Sans"/>
              </a:rPr>
              <a:t>3</a:t>
            </a:r>
          </a:p>
        </p:txBody>
      </p:sp>
      <p:sp>
        <p:nvSpPr>
          <p:cNvPr id="12" name="l03-content-6">
            <a:extLst>
              <a:ext uri="{FF2B5EF4-FFF2-40B4-BE49-F238E27FC236}">
                <a16:creationId xmlns:a16="http://schemas.microsoft.com/office/drawing/2014/main" id="{75CE8AE5-79CD-4996-87AE-EAC487E35416}"/>
              </a:ext>
            </a:extLst>
          </p:cNvPr>
          <p:cNvSpPr>
            <a:spLocks noGrp="1"/>
          </p:cNvSpPr>
          <p:nvPr/>
        </p:nvSpPr>
        <p:spPr>
          <a:xfrm>
            <a:off x="1381125" y="4286250"/>
            <a:ext cx="10001250" cy="571500"/>
          </a:xfrm>
          <a:prstGeom prst="rect">
            <a:avLst/>
          </a:prstGeom>
          <a:noFill/>
          <a:ln w="0">
            <a:noFill/>
          </a:ln>
        </p:spPr>
        <p:txBody>
          <a:bodyPr wrap="square" lIns="0" tIns="0" rIns="0" bIns="0" anchor="t">
            <a:noAutofit/>
          </a:bodyPr>
          <a:lstStyle/>
          <a:p>
            <a:pPr algn="l">
              <a:lnSpc>
                <a:spcPct val="112000"/>
              </a:lnSpc>
              <a:buNone/>
              <a:defRPr sz="2250" b="0">
                <a:solidFill>
                  <a:srgbClr val="102D69"/>
                </a:solidFill>
                <a:latin typeface="HSE Sans"/>
                <a:ea typeface="HSE Sans"/>
                <a:cs typeface="HSE Sans"/>
              </a:defRPr>
            </a:pPr>
            <a:r>
              <a:rPr sz="2250" b="0">
                <a:solidFill>
                  <a:srgbClr val="102D69"/>
                </a:solidFill>
                <a:latin typeface="HSE Sans"/>
                <a:ea typeface="HSE Sans"/>
                <a:cs typeface="HSE Sans"/>
              </a:rPr>
              <a:t>Градиентный спуск</a:t>
            </a:r>
          </a:p>
        </p:txBody>
      </p:sp>
      <p:sp>
        <p:nvSpPr>
          <p:cNvPr id="13" name="l03-content-7">
            <a:extLst>
              <a:ext uri="{FF2B5EF4-FFF2-40B4-BE49-F238E27FC236}">
                <a16:creationId xmlns:a16="http://schemas.microsoft.com/office/drawing/2014/main" id="{5755CB87-0693-4A37-ACD6-B28E39D7703F}"/>
              </a:ext>
            </a:extLst>
          </p:cNvPr>
          <p:cNvSpPr>
            <a:spLocks noGrp="1"/>
          </p:cNvSpPr>
          <p:nvPr/>
        </p:nvSpPr>
        <p:spPr>
          <a:xfrm>
            <a:off x="590550" y="5181600"/>
            <a:ext cx="619125" cy="476250"/>
          </a:xfrm>
          <a:prstGeom prst="rect">
            <a:avLst/>
          </a:prstGeom>
          <a:noFill/>
          <a:ln w="0">
            <a:noFill/>
          </a:ln>
        </p:spPr>
        <p:txBody>
          <a:bodyPr wrap="square" lIns="0" tIns="0" rIns="0" bIns="0" anchor="t">
            <a:noAutofit/>
          </a:bodyPr>
          <a:lstStyle/>
          <a:p>
            <a:pPr algn="l">
              <a:lnSpc>
                <a:spcPct val="112000"/>
              </a:lnSpc>
              <a:buNone/>
              <a:defRPr sz="2250" b="1">
                <a:solidFill>
                  <a:srgbClr val="234A9B"/>
                </a:solidFill>
                <a:latin typeface="HSE Sans"/>
                <a:ea typeface="HSE Sans"/>
                <a:cs typeface="HSE Sans"/>
              </a:defRPr>
            </a:pPr>
            <a:r>
              <a:rPr sz="2250" b="1">
                <a:solidFill>
                  <a:srgbClr val="234A9B"/>
                </a:solidFill>
                <a:latin typeface="HSE Sans"/>
                <a:ea typeface="HSE Sans"/>
                <a:cs typeface="HSE Sans"/>
              </a:rPr>
              <a:t>4</a:t>
            </a:r>
          </a:p>
        </p:txBody>
      </p:sp>
      <p:sp>
        <p:nvSpPr>
          <p:cNvPr id="14" name="l03-content-8">
            <a:extLst>
              <a:ext uri="{FF2B5EF4-FFF2-40B4-BE49-F238E27FC236}">
                <a16:creationId xmlns:a16="http://schemas.microsoft.com/office/drawing/2014/main" id="{60CCC4C0-016C-49F1-A2D4-F2AD6EDD04FD}"/>
              </a:ext>
            </a:extLst>
          </p:cNvPr>
          <p:cNvSpPr>
            <a:spLocks noGrp="1"/>
          </p:cNvSpPr>
          <p:nvPr/>
        </p:nvSpPr>
        <p:spPr>
          <a:xfrm>
            <a:off x="1381125" y="5181600"/>
            <a:ext cx="10001250" cy="571500"/>
          </a:xfrm>
          <a:prstGeom prst="rect">
            <a:avLst/>
          </a:prstGeom>
          <a:noFill/>
          <a:ln w="0">
            <a:noFill/>
          </a:ln>
        </p:spPr>
        <p:txBody>
          <a:bodyPr wrap="square" lIns="0" tIns="0" rIns="0" bIns="0" anchor="t">
            <a:noAutofit/>
          </a:bodyPr>
          <a:lstStyle/>
          <a:p>
            <a:pPr algn="l">
              <a:lnSpc>
                <a:spcPct val="112000"/>
              </a:lnSpc>
              <a:buNone/>
              <a:defRPr sz="2250" b="0">
                <a:solidFill>
                  <a:srgbClr val="102D69"/>
                </a:solidFill>
                <a:latin typeface="HSE Sans"/>
                <a:ea typeface="HSE Sans"/>
                <a:cs typeface="HSE Sans"/>
              </a:defRPr>
            </a:pPr>
            <a:r>
              <a:rPr sz="2250" b="0">
                <a:solidFill>
                  <a:srgbClr val="102D69"/>
                </a:solidFill>
                <a:latin typeface="HSE Sans"/>
                <a:ea typeface="HSE Sans"/>
                <a:cs typeface="HSE Sans"/>
              </a:rPr>
              <a:t>SGD и mini-batch</a:t>
            </a:r>
          </a:p>
        </p:txBody>
      </p:sp>
    </p:spTree>
    <p:extLst>
      <p:ext uri="{BB962C8B-B14F-4D97-AF65-F5344CB8AC3E}">
        <p14:creationId xmlns:p14="http://schemas.microsoft.com/office/powerpoint/2010/main" val="140984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Валидация и кросс-валидация</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1. Валидация и кросс-валидация</a:t>
            </a:r>
          </a:p>
        </p:txBody>
      </p:sp>
      <p:sp>
        <p:nvSpPr>
          <p:cNvPr id="7" name="l03-content-9">
            <a:extLst>
              <a:ext uri="{FF2B5EF4-FFF2-40B4-BE49-F238E27FC236}">
                <a16:creationId xmlns:a16="http://schemas.microsoft.com/office/drawing/2014/main" id="{73921A9E-E4B4-4549-8EAA-5BD893C7382A}"/>
              </a:ext>
            </a:extLst>
          </p:cNvPr>
          <p:cNvSpPr>
            <a:spLocks noGrp="1"/>
          </p:cNvSpPr>
          <p:nvPr/>
        </p:nvSpPr>
        <p:spPr>
          <a:xfrm>
            <a:off x="590550" y="2714625"/>
            <a:ext cx="1428750" cy="1047750"/>
          </a:xfrm>
          <a:prstGeom prst="rect">
            <a:avLst/>
          </a:prstGeom>
          <a:noFill/>
          <a:ln w="0">
            <a:noFill/>
          </a:ln>
        </p:spPr>
        <p:txBody>
          <a:bodyPr wrap="square" lIns="0" tIns="0" rIns="0" bIns="0" anchor="t">
            <a:noAutofit/>
          </a:bodyPr>
          <a:lstStyle/>
          <a:p>
            <a:pPr algn="l">
              <a:lnSpc>
                <a:spcPct val="112000"/>
              </a:lnSpc>
              <a:buNone/>
              <a:defRPr sz="5400" b="1">
                <a:solidFill>
                  <a:srgbClr val="234A9B"/>
                </a:solidFill>
                <a:latin typeface="HSE Sans"/>
                <a:ea typeface="HSE Sans"/>
                <a:cs typeface="HSE Sans"/>
              </a:defRPr>
            </a:pPr>
            <a:r>
              <a:rPr sz="5400" b="1">
                <a:solidFill>
                  <a:srgbClr val="234A9B"/>
                </a:solidFill>
                <a:latin typeface="HSE Sans"/>
                <a:ea typeface="HSE Sans"/>
                <a:cs typeface="HSE Sans"/>
              </a:rPr>
              <a:t>01</a:t>
            </a:r>
          </a:p>
        </p:txBody>
      </p:sp>
      <p:sp>
        <p:nvSpPr>
          <p:cNvPr id="8" name="l03-content-10">
            <a:extLst>
              <a:ext uri="{FF2B5EF4-FFF2-40B4-BE49-F238E27FC236}">
                <a16:creationId xmlns:a16="http://schemas.microsoft.com/office/drawing/2014/main" id="{9AC2A658-CCC7-409E-89A8-9BE96036CB4A}"/>
              </a:ext>
            </a:extLst>
          </p:cNvPr>
          <p:cNvSpPr>
            <a:spLocks noGrp="1"/>
          </p:cNvSpPr>
          <p:nvPr/>
        </p:nvSpPr>
        <p:spPr>
          <a:xfrm>
            <a:off x="2333625" y="2781300"/>
            <a:ext cx="9048750" cy="2190750"/>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Разбиения train/test и train/validation/test</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K-fold и стратификация</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Проверка на будущих данных</a:t>
            </a:r>
          </a:p>
        </p:txBody>
      </p:sp>
    </p:spTree>
    <p:extLst>
      <p:ext uri="{BB962C8B-B14F-4D97-AF65-F5344CB8AC3E}">
        <p14:creationId xmlns:p14="http://schemas.microsoft.com/office/powerpoint/2010/main" val="140984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Как можно проверять модель</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1. Валидация и кросс-валидация</a:t>
            </a:r>
          </a:p>
        </p:txBody>
      </p:sp>
      <p:sp>
        <p:nvSpPr>
          <p:cNvPr id="7" name="l03-content-11">
            <a:extLst>
              <a:ext uri="{FF2B5EF4-FFF2-40B4-BE49-F238E27FC236}">
                <a16:creationId xmlns:a16="http://schemas.microsoft.com/office/drawing/2014/main" id="{7D55F639-1F7F-404F-A5BC-2DABF9A2CA66}"/>
              </a:ext>
            </a:extLst>
          </p:cNvPr>
          <p:cNvSpPr>
            <a:spLocks noGrp="1"/>
          </p:cNvSpPr>
          <p:nvPr/>
        </p:nvSpPr>
        <p:spPr>
          <a:xfrm>
            <a:off x="590550" y="2324100"/>
            <a:ext cx="5200650" cy="495300"/>
          </a:xfrm>
          <a:prstGeom prst="rect">
            <a:avLst/>
          </a:prstGeom>
          <a:noFill/>
          <a:ln w="0">
            <a:noFill/>
          </a:ln>
        </p:spPr>
        <p:txBody>
          <a:bodyPr wrap="square" lIns="0" tIns="0" rIns="0" bIns="0" anchor="t">
            <a:noAutofit/>
          </a:bodyPr>
          <a:lstStyle/>
          <a:p>
            <a:pPr algn="l">
              <a:lnSpc>
                <a:spcPct val="112000"/>
              </a:lnSpc>
              <a:buNone/>
              <a:defRPr sz="2250" b="1">
                <a:solidFill>
                  <a:srgbClr val="102D69"/>
                </a:solidFill>
                <a:latin typeface="HSE Sans"/>
                <a:ea typeface="HSE Sans"/>
                <a:cs typeface="HSE Sans"/>
              </a:defRPr>
            </a:pPr>
            <a:r>
              <a:rPr sz="2250" b="1">
                <a:solidFill>
                  <a:srgbClr val="102D69"/>
                </a:solidFill>
                <a:latin typeface="HSE Sans"/>
                <a:ea typeface="HSE Sans"/>
                <a:cs typeface="HSE Sans"/>
              </a:rPr>
              <a:t>Сколько раз проверяем</a:t>
            </a:r>
          </a:p>
        </p:txBody>
      </p:sp>
      <p:sp>
        <p:nvSpPr>
          <p:cNvPr id="8" name="l03-content-12">
            <a:extLst>
              <a:ext uri="{FF2B5EF4-FFF2-40B4-BE49-F238E27FC236}">
                <a16:creationId xmlns:a16="http://schemas.microsoft.com/office/drawing/2014/main" id="{F2E11E07-0F5C-454F-B890-A8F0DB9F0299}"/>
              </a:ext>
            </a:extLst>
          </p:cNvPr>
          <p:cNvSpPr>
            <a:spLocks noGrp="1"/>
          </p:cNvSpPr>
          <p:nvPr/>
        </p:nvSpPr>
        <p:spPr>
          <a:xfrm>
            <a:off x="590550" y="3038475"/>
            <a:ext cx="5762625" cy="409575"/>
          </a:xfrm>
          <a:prstGeom prst="rect">
            <a:avLst/>
          </a:prstGeom>
          <a:noFill/>
          <a:ln w="0">
            <a:noFill/>
          </a:ln>
        </p:spPr>
        <p:txBody>
          <a:bodyPr wrap="square" lIns="0" tIns="0" rIns="0" bIns="0" anchor="t">
            <a:noAutofit/>
          </a:bodyPr>
          <a:lstStyle/>
          <a:p>
            <a:pPr algn="l">
              <a:lnSpc>
                <a:spcPct val="112000"/>
              </a:lnSpc>
              <a:buNone/>
              <a:defRPr sz="2100" b="1">
                <a:solidFill>
                  <a:srgbClr val="102D69"/>
                </a:solidFill>
                <a:latin typeface="HSE Sans"/>
                <a:ea typeface="HSE Sans"/>
                <a:cs typeface="HSE Sans"/>
              </a:defRPr>
            </a:pPr>
            <a:r>
              <a:rPr sz="2100" b="1">
                <a:solidFill>
                  <a:srgbClr val="102D69"/>
                </a:solidFill>
                <a:latin typeface="HSE Sans"/>
                <a:ea typeface="HSE Sans"/>
                <a:cs typeface="HSE Sans"/>
              </a:rPr>
              <a:t>Train / test</a:t>
            </a:r>
          </a:p>
        </p:txBody>
      </p:sp>
      <p:sp>
        <p:nvSpPr>
          <p:cNvPr id="9" name="l03-content-13">
            <a:extLst>
              <a:ext uri="{FF2B5EF4-FFF2-40B4-BE49-F238E27FC236}">
                <a16:creationId xmlns:a16="http://schemas.microsoft.com/office/drawing/2014/main" id="{5A63BB3E-2D16-404A-B00E-8EDD60AB2DEF}"/>
              </a:ext>
            </a:extLst>
          </p:cNvPr>
          <p:cNvSpPr>
            <a:spLocks noGrp="1"/>
          </p:cNvSpPr>
          <p:nvPr/>
        </p:nvSpPr>
        <p:spPr>
          <a:xfrm>
            <a:off x="590550" y="3448050"/>
            <a:ext cx="5762625" cy="695325"/>
          </a:xfrm>
          <a:prstGeom prst="rect">
            <a:avLst/>
          </a:prstGeom>
          <a:noFill/>
          <a:ln w="0">
            <a:noFill/>
          </a:ln>
        </p:spPr>
        <p:txBody>
          <a:bodyPr wrap="square" lIns="0" tIns="0" rIns="0" bIns="0" anchor="t">
            <a:noAutofit/>
          </a:bodyPr>
          <a:lstStyle/>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Обучаем модель и проверяем</a:t>
            </a:r>
          </a:p>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на отложенных данных.</a:t>
            </a:r>
          </a:p>
        </p:txBody>
      </p:sp>
      <p:sp>
        <p:nvSpPr>
          <p:cNvPr id="10" name="l03-content-14">
            <a:extLst>
              <a:ext uri="{FF2B5EF4-FFF2-40B4-BE49-F238E27FC236}">
                <a16:creationId xmlns:a16="http://schemas.microsoft.com/office/drawing/2014/main" id="{B6144AD9-C5E8-41CC-93FE-0428519F6F6C}"/>
              </a:ext>
            </a:extLst>
          </p:cNvPr>
          <p:cNvSpPr>
            <a:spLocks noGrp="1"/>
          </p:cNvSpPr>
          <p:nvPr/>
        </p:nvSpPr>
        <p:spPr>
          <a:xfrm>
            <a:off x="590550" y="4105275"/>
            <a:ext cx="5762625" cy="409575"/>
          </a:xfrm>
          <a:prstGeom prst="rect">
            <a:avLst/>
          </a:prstGeom>
          <a:noFill/>
          <a:ln w="0">
            <a:noFill/>
          </a:ln>
        </p:spPr>
        <p:txBody>
          <a:bodyPr wrap="square" lIns="0" tIns="0" rIns="0" bIns="0" anchor="t">
            <a:noAutofit/>
          </a:bodyPr>
          <a:lstStyle/>
          <a:p>
            <a:pPr algn="l">
              <a:lnSpc>
                <a:spcPct val="112000"/>
              </a:lnSpc>
              <a:buNone/>
              <a:defRPr sz="2100" b="1">
                <a:solidFill>
                  <a:srgbClr val="102D69"/>
                </a:solidFill>
                <a:latin typeface="HSE Sans"/>
                <a:ea typeface="HSE Sans"/>
                <a:cs typeface="HSE Sans"/>
              </a:defRPr>
            </a:pPr>
            <a:r>
              <a:rPr sz="2100" b="1">
                <a:solidFill>
                  <a:srgbClr val="102D69"/>
                </a:solidFill>
                <a:latin typeface="HSE Sans"/>
                <a:ea typeface="HSE Sans"/>
                <a:cs typeface="HSE Sans"/>
              </a:rPr>
              <a:t>Train / validation / test</a:t>
            </a:r>
          </a:p>
        </p:txBody>
      </p:sp>
      <p:sp>
        <p:nvSpPr>
          <p:cNvPr id="11" name="l03-content-15">
            <a:extLst>
              <a:ext uri="{FF2B5EF4-FFF2-40B4-BE49-F238E27FC236}">
                <a16:creationId xmlns:a16="http://schemas.microsoft.com/office/drawing/2014/main" id="{6C0E3CB1-650F-4073-A3DD-320AC6071D20}"/>
              </a:ext>
            </a:extLst>
          </p:cNvPr>
          <p:cNvSpPr>
            <a:spLocks noGrp="1"/>
          </p:cNvSpPr>
          <p:nvPr/>
        </p:nvSpPr>
        <p:spPr>
          <a:xfrm>
            <a:off x="590550" y="4514850"/>
            <a:ext cx="5762625" cy="695325"/>
          </a:xfrm>
          <a:prstGeom prst="rect">
            <a:avLst/>
          </a:prstGeom>
          <a:noFill/>
          <a:ln w="0">
            <a:noFill/>
          </a:ln>
        </p:spPr>
        <p:txBody>
          <a:bodyPr wrap="square" lIns="0" tIns="0" rIns="0" bIns="0" anchor="t">
            <a:noAutofit/>
          </a:bodyPr>
          <a:lstStyle/>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Отдельно подбираем настройки</a:t>
            </a:r>
          </a:p>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и оцениваем итог.</a:t>
            </a:r>
          </a:p>
        </p:txBody>
      </p:sp>
      <p:sp>
        <p:nvSpPr>
          <p:cNvPr id="12" name="l03-content-16">
            <a:extLst>
              <a:ext uri="{FF2B5EF4-FFF2-40B4-BE49-F238E27FC236}">
                <a16:creationId xmlns:a16="http://schemas.microsoft.com/office/drawing/2014/main" id="{0660B985-045E-4E5D-BEAE-DF7823E7B36E}"/>
              </a:ext>
            </a:extLst>
          </p:cNvPr>
          <p:cNvSpPr>
            <a:spLocks noGrp="1"/>
          </p:cNvSpPr>
          <p:nvPr/>
        </p:nvSpPr>
        <p:spPr>
          <a:xfrm>
            <a:off x="590550" y="5172075"/>
            <a:ext cx="5762625" cy="409575"/>
          </a:xfrm>
          <a:prstGeom prst="rect">
            <a:avLst/>
          </a:prstGeom>
          <a:noFill/>
          <a:ln w="0">
            <a:noFill/>
          </a:ln>
        </p:spPr>
        <p:txBody>
          <a:bodyPr wrap="square" lIns="0" tIns="0" rIns="0" bIns="0" anchor="t">
            <a:noAutofit/>
          </a:bodyPr>
          <a:lstStyle/>
          <a:p>
            <a:pPr algn="l">
              <a:lnSpc>
                <a:spcPct val="112000"/>
              </a:lnSpc>
              <a:buNone/>
              <a:defRPr sz="2100" b="1">
                <a:solidFill>
                  <a:srgbClr val="102D69"/>
                </a:solidFill>
                <a:latin typeface="HSE Sans"/>
                <a:ea typeface="HSE Sans"/>
                <a:cs typeface="HSE Sans"/>
              </a:defRPr>
            </a:pPr>
            <a:r>
              <a:rPr sz="2100" b="1">
                <a:solidFill>
                  <a:srgbClr val="102D69"/>
                </a:solidFill>
                <a:latin typeface="HSE Sans"/>
                <a:ea typeface="HSE Sans"/>
                <a:cs typeface="HSE Sans"/>
              </a:rPr>
              <a:t>K-fold</a:t>
            </a:r>
          </a:p>
        </p:txBody>
      </p:sp>
      <p:sp>
        <p:nvSpPr>
          <p:cNvPr id="13" name="l03-content-17">
            <a:extLst>
              <a:ext uri="{FF2B5EF4-FFF2-40B4-BE49-F238E27FC236}">
                <a16:creationId xmlns:a16="http://schemas.microsoft.com/office/drawing/2014/main" id="{FB0085A0-C666-459A-915F-D4B4C2623A1B}"/>
              </a:ext>
            </a:extLst>
          </p:cNvPr>
          <p:cNvSpPr>
            <a:spLocks noGrp="1"/>
          </p:cNvSpPr>
          <p:nvPr/>
        </p:nvSpPr>
        <p:spPr>
          <a:xfrm>
            <a:off x="590550" y="5581650"/>
            <a:ext cx="5762625" cy="695325"/>
          </a:xfrm>
          <a:prstGeom prst="rect">
            <a:avLst/>
          </a:prstGeom>
          <a:noFill/>
          <a:ln w="0">
            <a:noFill/>
          </a:ln>
        </p:spPr>
        <p:txBody>
          <a:bodyPr wrap="square" lIns="0" tIns="0" rIns="0" bIns="0" anchor="t">
            <a:noAutofit/>
          </a:bodyPr>
          <a:lstStyle/>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Повторяем обучение и проверку</a:t>
            </a:r>
          </a:p>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на разных блоках.</a:t>
            </a:r>
          </a:p>
        </p:txBody>
      </p:sp>
      <p:sp>
        <p:nvSpPr>
          <p:cNvPr id="14" name="l03-content-18">
            <a:extLst>
              <a:ext uri="{FF2B5EF4-FFF2-40B4-BE49-F238E27FC236}">
                <a16:creationId xmlns:a16="http://schemas.microsoft.com/office/drawing/2014/main" id="{EEDBDD02-0A9E-4495-A6E7-7C1E16FBEBB4}"/>
              </a:ext>
            </a:extLst>
          </p:cNvPr>
          <p:cNvSpPr>
            <a:spLocks noGrp="1"/>
          </p:cNvSpPr>
          <p:nvPr/>
        </p:nvSpPr>
        <p:spPr>
          <a:xfrm>
            <a:off x="7038975" y="2324100"/>
            <a:ext cx="4543425" cy="495300"/>
          </a:xfrm>
          <a:prstGeom prst="rect">
            <a:avLst/>
          </a:prstGeom>
          <a:noFill/>
          <a:ln w="0">
            <a:noFill/>
          </a:ln>
        </p:spPr>
        <p:txBody>
          <a:bodyPr wrap="square" lIns="0" tIns="0" rIns="0" bIns="0" anchor="t">
            <a:noAutofit/>
          </a:bodyPr>
          <a:lstStyle/>
          <a:p>
            <a:pPr algn="l">
              <a:lnSpc>
                <a:spcPct val="112000"/>
              </a:lnSpc>
              <a:buNone/>
              <a:defRPr sz="2250" b="1">
                <a:solidFill>
                  <a:srgbClr val="102D69"/>
                </a:solidFill>
                <a:latin typeface="HSE Sans"/>
                <a:ea typeface="HSE Sans"/>
                <a:cs typeface="HSE Sans"/>
              </a:defRPr>
            </a:pPr>
            <a:r>
              <a:rPr sz="2250" b="1">
                <a:solidFill>
                  <a:srgbClr val="102D69"/>
                </a:solidFill>
                <a:latin typeface="HSE Sans"/>
                <a:ea typeface="HSE Sans"/>
                <a:cs typeface="HSE Sans"/>
              </a:rPr>
              <a:t>Как делим данные</a:t>
            </a:r>
          </a:p>
        </p:txBody>
      </p:sp>
      <p:sp>
        <p:nvSpPr>
          <p:cNvPr id="15" name="l03-content-19">
            <a:extLst>
              <a:ext uri="{FF2B5EF4-FFF2-40B4-BE49-F238E27FC236}">
                <a16:creationId xmlns:a16="http://schemas.microsoft.com/office/drawing/2014/main" id="{72B52704-F833-433D-911C-D99DFEDB264F}"/>
              </a:ext>
            </a:extLst>
          </p:cNvPr>
          <p:cNvSpPr>
            <a:spLocks noGrp="1"/>
          </p:cNvSpPr>
          <p:nvPr/>
        </p:nvSpPr>
        <p:spPr>
          <a:xfrm>
            <a:off x="7029830" y="2862262"/>
            <a:ext cx="4543425" cy="82867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1" dirty="0" err="1">
                <a:solidFill>
                  <a:srgbClr val="102D69"/>
                </a:solidFill>
                <a:latin typeface="HSE Sans"/>
                <a:ea typeface="HSE Sans"/>
                <a:cs typeface="HSE Sans"/>
              </a:rPr>
              <a:t>Стратификация</a:t>
            </a:r>
            <a:endParaRPr sz="2100" b="1" dirty="0">
              <a:solidFill>
                <a:srgbClr val="102D69"/>
              </a:solidFill>
              <a:latin typeface="HSE Sans"/>
              <a:ea typeface="HSE Sans"/>
              <a:cs typeface="HSE Sans"/>
            </a:endParaRPr>
          </a:p>
          <a:p>
            <a:pPr algn="l">
              <a:lnSpc>
                <a:spcPct val="112000"/>
              </a:lnSpc>
              <a:buNone/>
              <a:defRPr sz="2100" b="0">
                <a:solidFill>
                  <a:srgbClr val="102D69"/>
                </a:solidFill>
                <a:latin typeface="HSE Sans"/>
                <a:ea typeface="HSE Sans"/>
                <a:cs typeface="HSE Sans"/>
              </a:defRPr>
            </a:pPr>
            <a:r>
              <a:rPr sz="2100" b="0" dirty="0">
                <a:solidFill>
                  <a:srgbClr val="102D69"/>
                </a:solidFill>
                <a:latin typeface="HSE Sans"/>
                <a:ea typeface="HSE Sans"/>
                <a:cs typeface="HSE Sans"/>
              </a:rPr>
              <a:t>Сохраняем </a:t>
            </a:r>
            <a:r>
              <a:rPr sz="2100" b="0" dirty="0" err="1">
                <a:solidFill>
                  <a:srgbClr val="102D69"/>
                </a:solidFill>
                <a:latin typeface="HSE Sans"/>
                <a:ea typeface="HSE Sans"/>
                <a:cs typeface="HSE Sans"/>
              </a:rPr>
              <a:t>доли</a:t>
            </a:r>
            <a:r>
              <a:rPr sz="2100" b="0" dirty="0">
                <a:solidFill>
                  <a:srgbClr val="102D69"/>
                </a:solidFill>
                <a:latin typeface="HSE Sans"/>
                <a:ea typeface="HSE Sans"/>
                <a:cs typeface="HSE Sans"/>
              </a:rPr>
              <a:t> </a:t>
            </a:r>
            <a:r>
              <a:rPr sz="2100" b="0" dirty="0" err="1">
                <a:solidFill>
                  <a:srgbClr val="102D69"/>
                </a:solidFill>
                <a:latin typeface="HSE Sans"/>
                <a:ea typeface="HSE Sans"/>
                <a:cs typeface="HSE Sans"/>
              </a:rPr>
              <a:t>классов</a:t>
            </a:r>
            <a:r>
              <a:rPr sz="2100" b="0" dirty="0">
                <a:solidFill>
                  <a:srgbClr val="102D69"/>
                </a:solidFill>
                <a:latin typeface="HSE Sans"/>
                <a:ea typeface="HSE Sans"/>
                <a:cs typeface="HSE Sans"/>
              </a:rPr>
              <a:t>.</a:t>
            </a:r>
          </a:p>
        </p:txBody>
      </p:sp>
      <p:sp>
        <p:nvSpPr>
          <p:cNvPr id="16" name="l03-content-20">
            <a:extLst>
              <a:ext uri="{FF2B5EF4-FFF2-40B4-BE49-F238E27FC236}">
                <a16:creationId xmlns:a16="http://schemas.microsoft.com/office/drawing/2014/main" id="{D406BB9D-CC99-46D4-99C4-015D7F4F3F38}"/>
              </a:ext>
            </a:extLst>
          </p:cNvPr>
          <p:cNvSpPr>
            <a:spLocks noGrp="1"/>
          </p:cNvSpPr>
          <p:nvPr/>
        </p:nvSpPr>
        <p:spPr>
          <a:xfrm>
            <a:off x="7038975" y="3833812"/>
            <a:ext cx="4543425" cy="95250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1" dirty="0" err="1">
                <a:solidFill>
                  <a:srgbClr val="102D69"/>
                </a:solidFill>
                <a:latin typeface="HSE Sans"/>
                <a:ea typeface="HSE Sans"/>
                <a:cs typeface="HSE Sans"/>
              </a:rPr>
              <a:t>Разбиение</a:t>
            </a:r>
            <a:r>
              <a:rPr sz="2100" b="1" dirty="0">
                <a:solidFill>
                  <a:srgbClr val="102D69"/>
                </a:solidFill>
                <a:latin typeface="HSE Sans"/>
                <a:ea typeface="HSE Sans"/>
                <a:cs typeface="HSE Sans"/>
              </a:rPr>
              <a:t> </a:t>
            </a:r>
            <a:r>
              <a:rPr sz="2100" b="1" dirty="0" err="1">
                <a:solidFill>
                  <a:srgbClr val="102D69"/>
                </a:solidFill>
                <a:latin typeface="HSE Sans"/>
                <a:ea typeface="HSE Sans"/>
                <a:cs typeface="HSE Sans"/>
              </a:rPr>
              <a:t>во</a:t>
            </a:r>
            <a:r>
              <a:rPr sz="2100" b="1" dirty="0">
                <a:solidFill>
                  <a:srgbClr val="102D69"/>
                </a:solidFill>
                <a:latin typeface="HSE Sans"/>
                <a:ea typeface="HSE Sans"/>
                <a:cs typeface="HSE Sans"/>
              </a:rPr>
              <a:t> </a:t>
            </a:r>
            <a:r>
              <a:rPr sz="2100" b="1" dirty="0" err="1">
                <a:solidFill>
                  <a:srgbClr val="102D69"/>
                </a:solidFill>
                <a:latin typeface="HSE Sans"/>
                <a:ea typeface="HSE Sans"/>
                <a:cs typeface="HSE Sans"/>
              </a:rPr>
              <a:t>времени</a:t>
            </a:r>
            <a:endParaRPr sz="2100" b="1" dirty="0">
              <a:solidFill>
                <a:srgbClr val="102D69"/>
              </a:solidFill>
              <a:latin typeface="HSE Sans"/>
              <a:ea typeface="HSE Sans"/>
              <a:cs typeface="HSE Sans"/>
            </a:endParaRPr>
          </a:p>
          <a:p>
            <a:pPr algn="l">
              <a:lnSpc>
                <a:spcPct val="112000"/>
              </a:lnSpc>
              <a:buNone/>
              <a:defRPr sz="2100" b="0">
                <a:solidFill>
                  <a:srgbClr val="102D69"/>
                </a:solidFill>
                <a:latin typeface="HSE Sans"/>
                <a:ea typeface="HSE Sans"/>
                <a:cs typeface="HSE Sans"/>
              </a:defRPr>
            </a:pPr>
            <a:r>
              <a:rPr sz="2100" b="0" dirty="0" err="1">
                <a:solidFill>
                  <a:srgbClr val="102D69"/>
                </a:solidFill>
                <a:latin typeface="HSE Sans"/>
                <a:ea typeface="HSE Sans"/>
                <a:cs typeface="HSE Sans"/>
              </a:rPr>
              <a:t>Учимся</a:t>
            </a:r>
            <a:r>
              <a:rPr sz="2100" b="0" dirty="0">
                <a:solidFill>
                  <a:srgbClr val="102D69"/>
                </a:solidFill>
                <a:latin typeface="HSE Sans"/>
                <a:ea typeface="HSE Sans"/>
                <a:cs typeface="HSE Sans"/>
              </a:rPr>
              <a:t> </a:t>
            </a:r>
            <a:r>
              <a:rPr sz="2100" b="0" dirty="0" err="1">
                <a:solidFill>
                  <a:srgbClr val="102D69"/>
                </a:solidFill>
                <a:latin typeface="HSE Sans"/>
                <a:ea typeface="HSE Sans"/>
                <a:cs typeface="HSE Sans"/>
              </a:rPr>
              <a:t>на</a:t>
            </a:r>
            <a:r>
              <a:rPr sz="2100" b="0" dirty="0">
                <a:solidFill>
                  <a:srgbClr val="102D69"/>
                </a:solidFill>
                <a:latin typeface="HSE Sans"/>
                <a:ea typeface="HSE Sans"/>
                <a:cs typeface="HSE Sans"/>
              </a:rPr>
              <a:t> </a:t>
            </a:r>
            <a:r>
              <a:rPr sz="2100" b="0" dirty="0" err="1">
                <a:solidFill>
                  <a:srgbClr val="102D69"/>
                </a:solidFill>
                <a:latin typeface="HSE Sans"/>
                <a:ea typeface="HSE Sans"/>
                <a:cs typeface="HSE Sans"/>
              </a:rPr>
              <a:t>прошлом</a:t>
            </a:r>
            <a:r>
              <a:rPr sz="2100" b="0" dirty="0">
                <a:solidFill>
                  <a:srgbClr val="102D69"/>
                </a:solidFill>
                <a:latin typeface="HSE Sans"/>
                <a:ea typeface="HSE Sans"/>
                <a:cs typeface="HSE Sans"/>
              </a:rPr>
              <a:t>, </a:t>
            </a:r>
            <a:r>
              <a:rPr sz="2100" b="0" dirty="0" err="1">
                <a:solidFill>
                  <a:srgbClr val="102D69"/>
                </a:solidFill>
                <a:latin typeface="HSE Sans"/>
                <a:ea typeface="HSE Sans"/>
                <a:cs typeface="HSE Sans"/>
              </a:rPr>
              <a:t>проверяем</a:t>
            </a:r>
            <a:r>
              <a:rPr sz="2100" b="0" dirty="0">
                <a:solidFill>
                  <a:srgbClr val="102D69"/>
                </a:solidFill>
                <a:latin typeface="HSE Sans"/>
                <a:ea typeface="HSE Sans"/>
                <a:cs typeface="HSE Sans"/>
              </a:rPr>
              <a:t> </a:t>
            </a:r>
            <a:r>
              <a:rPr sz="2100" b="0" dirty="0" err="1">
                <a:solidFill>
                  <a:srgbClr val="102D69"/>
                </a:solidFill>
                <a:latin typeface="HSE Sans"/>
                <a:ea typeface="HSE Sans"/>
                <a:cs typeface="HSE Sans"/>
              </a:rPr>
              <a:t>будущее</a:t>
            </a:r>
            <a:r>
              <a:rPr sz="2100" b="0" dirty="0">
                <a:solidFill>
                  <a:srgbClr val="102D69"/>
                </a:solidFill>
                <a:latin typeface="HSE Sans"/>
                <a:ea typeface="HSE Sans"/>
                <a:cs typeface="HSE Sans"/>
              </a:rPr>
              <a:t>.</a:t>
            </a:r>
          </a:p>
        </p:txBody>
      </p:sp>
      <p:sp>
        <p:nvSpPr>
          <p:cNvPr id="17" name="l03-content-21">
            <a:extLst>
              <a:ext uri="{FF2B5EF4-FFF2-40B4-BE49-F238E27FC236}">
                <a16:creationId xmlns:a16="http://schemas.microsoft.com/office/drawing/2014/main" id="{95A4B776-173B-432F-A49F-4F994E526D75}"/>
              </a:ext>
            </a:extLst>
          </p:cNvPr>
          <p:cNvSpPr>
            <a:spLocks noGrp="1"/>
          </p:cNvSpPr>
          <p:nvPr/>
        </p:nvSpPr>
        <p:spPr>
          <a:xfrm>
            <a:off x="7038975" y="5295900"/>
            <a:ext cx="4543425" cy="1200150"/>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1" dirty="0" err="1">
                <a:solidFill>
                  <a:srgbClr val="102D69"/>
                </a:solidFill>
                <a:latin typeface="HSE Sans"/>
                <a:ea typeface="HSE Sans"/>
                <a:cs typeface="HSE Sans"/>
              </a:rPr>
              <a:t>Группы</a:t>
            </a:r>
            <a:endParaRPr sz="2025" b="1" dirty="0">
              <a:solidFill>
                <a:srgbClr val="102D69"/>
              </a:solidFill>
              <a:latin typeface="HSE Sans"/>
              <a:ea typeface="HSE Sans"/>
              <a:cs typeface="HSE Sans"/>
            </a:endParaRPr>
          </a:p>
          <a:p>
            <a:pPr algn="l">
              <a:lnSpc>
                <a:spcPct val="112000"/>
              </a:lnSpc>
              <a:buNone/>
              <a:defRPr sz="2025" b="0">
                <a:solidFill>
                  <a:srgbClr val="102D69"/>
                </a:solidFill>
                <a:latin typeface="HSE Sans"/>
                <a:ea typeface="HSE Sans"/>
                <a:cs typeface="HSE Sans"/>
              </a:defRPr>
            </a:pPr>
            <a:r>
              <a:rPr sz="2025" b="0" dirty="0">
                <a:solidFill>
                  <a:srgbClr val="102D69"/>
                </a:solidFill>
                <a:latin typeface="HSE Sans"/>
                <a:ea typeface="HSE Sans"/>
                <a:cs typeface="HSE Sans"/>
              </a:rPr>
              <a:t>Связанные </a:t>
            </a:r>
            <a:r>
              <a:rPr sz="2025" b="0" dirty="0" err="1">
                <a:solidFill>
                  <a:srgbClr val="102D69"/>
                </a:solidFill>
                <a:latin typeface="HSE Sans"/>
                <a:ea typeface="HSE Sans"/>
                <a:cs typeface="HSE Sans"/>
              </a:rPr>
              <a:t>объекты</a:t>
            </a:r>
            <a:r>
              <a:rPr sz="2025" b="0" dirty="0">
                <a:solidFill>
                  <a:srgbClr val="102D69"/>
                </a:solidFill>
                <a:latin typeface="HSE Sans"/>
                <a:ea typeface="HSE Sans"/>
                <a:cs typeface="HSE Sans"/>
              </a:rPr>
              <a:t> </a:t>
            </a:r>
            <a:r>
              <a:rPr sz="2025" b="0" dirty="0" err="1">
                <a:solidFill>
                  <a:srgbClr val="102D69"/>
                </a:solidFill>
                <a:latin typeface="HSE Sans"/>
                <a:ea typeface="HSE Sans"/>
                <a:cs typeface="HSE Sans"/>
              </a:rPr>
              <a:t>держим</a:t>
            </a:r>
            <a:r>
              <a:rPr sz="2025" b="0" dirty="0">
                <a:solidFill>
                  <a:srgbClr val="102D69"/>
                </a:solidFill>
                <a:latin typeface="HSE Sans"/>
                <a:ea typeface="HSE Sans"/>
                <a:cs typeface="HSE Sans"/>
              </a:rPr>
              <a:t> </a:t>
            </a:r>
            <a:r>
              <a:rPr sz="2025" b="0" dirty="0" err="1">
                <a:solidFill>
                  <a:srgbClr val="102D69"/>
                </a:solidFill>
                <a:latin typeface="HSE Sans"/>
                <a:ea typeface="HSE Sans"/>
                <a:cs typeface="HSE Sans"/>
              </a:rPr>
              <a:t>вместе</a:t>
            </a:r>
            <a:r>
              <a:rPr sz="2025" b="0" dirty="0">
                <a:solidFill>
                  <a:srgbClr val="102D69"/>
                </a:solidFill>
                <a:latin typeface="HSE Sans"/>
                <a:ea typeface="HSE Sans"/>
                <a:cs typeface="HSE Sans"/>
              </a:rPr>
              <a:t>.</a:t>
            </a:r>
          </a:p>
          <a:p>
            <a:pPr algn="l">
              <a:lnSpc>
                <a:spcPct val="112000"/>
              </a:lnSpc>
              <a:buNone/>
              <a:defRPr sz="2025" b="0">
                <a:solidFill>
                  <a:srgbClr val="102D69"/>
                </a:solidFill>
                <a:latin typeface="HSE Sans"/>
                <a:ea typeface="HSE Sans"/>
                <a:cs typeface="HSE Sans"/>
              </a:defRPr>
            </a:pPr>
            <a:r>
              <a:rPr sz="2025" b="0" dirty="0">
                <a:solidFill>
                  <a:srgbClr val="102D69"/>
                </a:solidFill>
                <a:latin typeface="HSE Sans"/>
                <a:ea typeface="HSE Sans"/>
                <a:cs typeface="HSE Sans"/>
              </a:rPr>
              <a:t>Подробно </a:t>
            </a:r>
            <a:r>
              <a:rPr sz="2025" b="0" dirty="0" err="1">
                <a:solidFill>
                  <a:srgbClr val="102D69"/>
                </a:solidFill>
                <a:latin typeface="HSE Sans"/>
                <a:ea typeface="HSE Sans"/>
                <a:cs typeface="HSE Sans"/>
              </a:rPr>
              <a:t>здесь</a:t>
            </a:r>
            <a:r>
              <a:rPr sz="2025" b="0" dirty="0">
                <a:solidFill>
                  <a:srgbClr val="102D69"/>
                </a:solidFill>
                <a:latin typeface="HSE Sans"/>
                <a:ea typeface="HSE Sans"/>
                <a:cs typeface="HSE Sans"/>
              </a:rPr>
              <a:t> </a:t>
            </a:r>
            <a:r>
              <a:rPr sz="2025" b="0" dirty="0" err="1">
                <a:solidFill>
                  <a:srgbClr val="102D69"/>
                </a:solidFill>
                <a:latin typeface="HSE Sans"/>
                <a:ea typeface="HSE Sans"/>
                <a:cs typeface="HSE Sans"/>
              </a:rPr>
              <a:t>не</a:t>
            </a:r>
            <a:r>
              <a:rPr sz="2025" b="0" dirty="0">
                <a:solidFill>
                  <a:srgbClr val="102D69"/>
                </a:solidFill>
                <a:latin typeface="HSE Sans"/>
                <a:ea typeface="HSE Sans"/>
                <a:cs typeface="HSE Sans"/>
              </a:rPr>
              <a:t> </a:t>
            </a:r>
            <a:r>
              <a:rPr sz="2025" b="0" dirty="0" err="1">
                <a:solidFill>
                  <a:srgbClr val="102D69"/>
                </a:solidFill>
                <a:latin typeface="HSE Sans"/>
                <a:ea typeface="HSE Sans"/>
                <a:cs typeface="HSE Sans"/>
              </a:rPr>
              <a:t>разбираем</a:t>
            </a:r>
            <a:r>
              <a:rPr sz="2025" b="0" dirty="0">
                <a:solidFill>
                  <a:srgbClr val="102D69"/>
                </a:solidFill>
                <a:latin typeface="HSE Sans"/>
                <a:ea typeface="HSE Sans"/>
                <a:cs typeface="HSE Sans"/>
              </a:rPr>
              <a:t>.</a:t>
            </a:r>
          </a:p>
        </p:txBody>
      </p:sp>
    </p:spTree>
    <p:extLst>
      <p:ext uri="{BB962C8B-B14F-4D97-AF65-F5344CB8AC3E}">
        <p14:creationId xmlns:p14="http://schemas.microsoft.com/office/powerpoint/2010/main" val="14098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Обучение, валидация и тест</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1. Валидация и кросс-валидация</a:t>
            </a:r>
          </a:p>
        </p:txBody>
      </p:sp>
      <p:sp>
        <p:nvSpPr>
          <p:cNvPr id="7" name="l03-content-22">
            <a:extLst>
              <a:ext uri="{FF2B5EF4-FFF2-40B4-BE49-F238E27FC236}">
                <a16:creationId xmlns:a16="http://schemas.microsoft.com/office/drawing/2014/main" id="{E6C31B63-3F4F-4F25-805B-55357F7C8B08}"/>
              </a:ext>
            </a:extLst>
          </p:cNvPr>
          <p:cNvSpPr>
            <a:spLocks noGrp="1"/>
          </p:cNvSpPr>
          <p:nvPr/>
        </p:nvSpPr>
        <p:spPr>
          <a:xfrm>
            <a:off x="590550" y="2228850"/>
            <a:ext cx="11029950" cy="93345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Валидация оценивает качество на данных, которые модель не использовала</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при обучении. По этой оценке выбираем настройки и сравниваем модели.</a:t>
            </a:r>
          </a:p>
        </p:txBody>
      </p:sp>
      <p:graphicFrame>
        <p:nvGraphicFramePr>
          <p:cNvPr id="15" name="Таблица 14"/>
          <p:cNvGraphicFramePr/>
          <p:nvPr/>
        </p:nvGraphicFramePr>
        <p:xfrm>
          <a:off x="590550" y="3514725"/>
          <a:ext cx="11029950" cy="2266952"/>
        </p:xfrm>
        <a:graphic>
          <a:graphicData uri="http://schemas.openxmlformats.org/drawingml/2006/table">
            <a:tbl>
              <a:tblPr firstRow="1"/>
              <a:tblGrid>
                <a:gridCol w="2809875">
                  <a:extLst>
                    <a:ext uri="{9D8B030D-6E8A-4147-A177-3AD203B41FA5}">
                      <a16:colId xmlns:a16="http://schemas.microsoft.com/office/drawing/2014/main" val="20000"/>
                    </a:ext>
                  </a:extLst>
                </a:gridCol>
                <a:gridCol w="8220075">
                  <a:extLst>
                    <a:ext uri="{9D8B030D-6E8A-4147-A177-3AD203B41FA5}">
                      <a16:colId xmlns:a16="http://schemas.microsoft.com/office/drawing/2014/main" val="20001"/>
                    </a:ext>
                  </a:extLst>
                </a:gridCol>
              </a:tblGrid>
              <a:tr h="566738">
                <a:tc>
                  <a:txBody>
                    <a:bodyPr/>
                    <a:lstStyle/>
                    <a:p>
                      <a:r>
                        <a:rPr sz="2100" b="1">
                          <a:solidFill>
                            <a:srgbClr val="FFFFFF"/>
                          </a:solidFill>
                          <a:latin typeface="HSE Sans"/>
                          <a:ea typeface="HSE Sans"/>
                          <a:cs typeface="HSE Sans"/>
                        </a:rPr>
                        <a:t>Часть данных</a:t>
                      </a:r>
                    </a:p>
                  </a:txBody>
                  <a:tcPr anchor="ctr">
                    <a:solidFill>
                      <a:srgbClr val="102D69"/>
                    </a:solidFill>
                  </a:tcPr>
                </a:tc>
                <a:tc>
                  <a:txBody>
                    <a:bodyPr/>
                    <a:lstStyle/>
                    <a:p>
                      <a:r>
                        <a:rPr sz="2100" b="1">
                          <a:solidFill>
                            <a:srgbClr val="FFFFFF"/>
                          </a:solidFill>
                          <a:latin typeface="HSE Sans"/>
                          <a:ea typeface="HSE Sans"/>
                          <a:cs typeface="HSE Sans"/>
                        </a:rPr>
                        <a:t>Для чего используем</a:t>
                      </a:r>
                    </a:p>
                  </a:txBody>
                  <a:tcPr anchor="ctr">
                    <a:solidFill>
                      <a:srgbClr val="102D69"/>
                    </a:solidFill>
                  </a:tcPr>
                </a:tc>
                <a:extLst>
                  <a:ext uri="{0D108BD9-81ED-4DB2-BD59-A6C34878D82A}">
                    <a16:rowId xmlns:a16="http://schemas.microsoft.com/office/drawing/2014/main" val="10000"/>
                  </a:ext>
                </a:extLst>
              </a:tr>
              <a:tr h="566738">
                <a:tc>
                  <a:txBody>
                    <a:bodyPr/>
                    <a:lstStyle/>
                    <a:p>
                      <a:r>
                        <a:rPr sz="2100" b="0">
                          <a:solidFill>
                            <a:srgbClr val="102D69"/>
                          </a:solidFill>
                          <a:latin typeface="HSE Sans"/>
                          <a:ea typeface="HSE Sans"/>
                          <a:cs typeface="HSE Sans"/>
                        </a:rPr>
                        <a:t>Train</a:t>
                      </a:r>
                    </a:p>
                  </a:txBody>
                  <a:tcPr anchor="ctr">
                    <a:solidFill>
                      <a:srgbClr val="EFF4FB"/>
                    </a:solidFill>
                  </a:tcPr>
                </a:tc>
                <a:tc>
                  <a:txBody>
                    <a:bodyPr/>
                    <a:lstStyle/>
                    <a:p>
                      <a:r>
                        <a:rPr sz="2100" b="0">
                          <a:solidFill>
                            <a:srgbClr val="102D69"/>
                          </a:solidFill>
                          <a:latin typeface="HSE Sans"/>
                          <a:ea typeface="HSE Sans"/>
                          <a:cs typeface="HSE Sans"/>
                        </a:rPr>
                        <a:t>Находим веса модели</a:t>
                      </a:r>
                    </a:p>
                  </a:txBody>
                  <a:tcPr anchor="ctr">
                    <a:solidFill>
                      <a:srgbClr val="EFF4FB"/>
                    </a:solidFill>
                  </a:tcPr>
                </a:tc>
                <a:extLst>
                  <a:ext uri="{0D108BD9-81ED-4DB2-BD59-A6C34878D82A}">
                    <a16:rowId xmlns:a16="http://schemas.microsoft.com/office/drawing/2014/main" val="10001"/>
                  </a:ext>
                </a:extLst>
              </a:tr>
              <a:tr h="566738">
                <a:tc>
                  <a:txBody>
                    <a:bodyPr/>
                    <a:lstStyle/>
                    <a:p>
                      <a:r>
                        <a:rPr sz="2100" b="0">
                          <a:solidFill>
                            <a:srgbClr val="102D69"/>
                          </a:solidFill>
                          <a:latin typeface="HSE Sans"/>
                          <a:ea typeface="HSE Sans"/>
                          <a:cs typeface="HSE Sans"/>
                        </a:rPr>
                        <a:t>Validation</a:t>
                      </a:r>
                    </a:p>
                  </a:txBody>
                  <a:tcPr anchor="ctr">
                    <a:solidFill>
                      <a:srgbClr val="FFFFFF"/>
                    </a:solidFill>
                  </a:tcPr>
                </a:tc>
                <a:tc>
                  <a:txBody>
                    <a:bodyPr/>
                    <a:lstStyle/>
                    <a:p>
                      <a:r>
                        <a:rPr sz="2100" b="0">
                          <a:solidFill>
                            <a:srgbClr val="102D69"/>
                          </a:solidFill>
                          <a:latin typeface="HSE Sans"/>
                          <a:ea typeface="HSE Sans"/>
                          <a:cs typeface="HSE Sans"/>
                        </a:rPr>
                        <a:t>Выбираем модель и её настройки, например силу регуляризации</a:t>
                      </a:r>
                    </a:p>
                  </a:txBody>
                  <a:tcPr anchor="ctr">
                    <a:solidFill>
                      <a:srgbClr val="FFFFFF"/>
                    </a:solidFill>
                  </a:tcPr>
                </a:tc>
                <a:extLst>
                  <a:ext uri="{0D108BD9-81ED-4DB2-BD59-A6C34878D82A}">
                    <a16:rowId xmlns:a16="http://schemas.microsoft.com/office/drawing/2014/main" val="10002"/>
                  </a:ext>
                </a:extLst>
              </a:tr>
              <a:tr h="566738">
                <a:tc>
                  <a:txBody>
                    <a:bodyPr/>
                    <a:lstStyle/>
                    <a:p>
                      <a:r>
                        <a:rPr sz="2100" b="0">
                          <a:solidFill>
                            <a:srgbClr val="102D69"/>
                          </a:solidFill>
                          <a:latin typeface="HSE Sans"/>
                          <a:ea typeface="HSE Sans"/>
                          <a:cs typeface="HSE Sans"/>
                        </a:rPr>
                        <a:t>Test</a:t>
                      </a:r>
                    </a:p>
                  </a:txBody>
                  <a:tcPr anchor="ctr">
                    <a:solidFill>
                      <a:srgbClr val="EFF4FB"/>
                    </a:solidFill>
                  </a:tcPr>
                </a:tc>
                <a:tc>
                  <a:txBody>
                    <a:bodyPr/>
                    <a:lstStyle/>
                    <a:p>
                      <a:r>
                        <a:rPr sz="2100" b="0">
                          <a:solidFill>
                            <a:srgbClr val="102D69"/>
                          </a:solidFill>
                          <a:latin typeface="HSE Sans"/>
                          <a:ea typeface="HSE Sans"/>
                          <a:cs typeface="HSE Sans"/>
                        </a:rPr>
                        <a:t>Один раз оцениваем результат после завершения подбора</a:t>
                      </a:r>
                    </a:p>
                  </a:txBody>
                  <a:tcPr anchor="ctr">
                    <a:solidFill>
                      <a:srgbClr val="EFF4FB"/>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0984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Стратификация</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1. Валидация и кросс-валидация</a:t>
            </a:r>
          </a:p>
        </p:txBody>
      </p:sp>
      <p:sp>
        <p:nvSpPr>
          <p:cNvPr id="7" name="l03-content-23">
            <a:extLst>
              <a:ext uri="{FF2B5EF4-FFF2-40B4-BE49-F238E27FC236}">
                <a16:creationId xmlns:a16="http://schemas.microsoft.com/office/drawing/2014/main" id="{F9422E06-BD7D-41AE-BA98-25538C43593D}"/>
              </a:ext>
            </a:extLst>
          </p:cNvPr>
          <p:cNvSpPr>
            <a:spLocks noGrp="1"/>
          </p:cNvSpPr>
          <p:nvPr/>
        </p:nvSpPr>
        <p:spPr>
          <a:xfrm>
            <a:off x="590550" y="2238375"/>
            <a:ext cx="11029950" cy="895350"/>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Стратификация делит данные так, чтобы в каждой части</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сохранились примерно те же доли классов, что и во всей выборке.</a:t>
            </a:r>
          </a:p>
        </p:txBody>
      </p:sp>
      <p:graphicFrame>
        <p:nvGraphicFramePr>
          <p:cNvPr id="16" name="Chart"/>
          <p:cNvGraphicFramePr/>
          <p:nvPr/>
        </p:nvGraphicFramePr>
        <p:xfrm>
          <a:off x="590550" y="3267075"/>
          <a:ext cx="11029950" cy="2238375"/>
        </p:xfrm>
        <a:graphic>
          <a:graphicData uri="http://schemas.openxmlformats.org/drawingml/2006/chart">
            <c:chart xmlns:c="http://schemas.openxmlformats.org/drawingml/2006/chart" xmlns:r="http://schemas.openxmlformats.org/officeDocument/2006/relationships" r:id="rId3"/>
          </a:graphicData>
        </a:graphic>
      </p:graphicFrame>
      <p:sp>
        <p:nvSpPr>
          <p:cNvPr id="9" name="l03-content-24">
            <a:extLst>
              <a:ext uri="{FF2B5EF4-FFF2-40B4-BE49-F238E27FC236}">
                <a16:creationId xmlns:a16="http://schemas.microsoft.com/office/drawing/2014/main" id="{1FAF5BE7-17A1-4C0B-A2A5-1E45255280C5}"/>
              </a:ext>
            </a:extLst>
          </p:cNvPr>
          <p:cNvSpPr>
            <a:spLocks noGrp="1"/>
          </p:cNvSpPr>
          <p:nvPr/>
        </p:nvSpPr>
        <p:spPr>
          <a:xfrm>
            <a:off x="590550" y="5600700"/>
            <a:ext cx="11029950" cy="495300"/>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train_test_split(X, y, test_size=0.2, stratify=y)</a:t>
            </a:r>
          </a:p>
        </p:txBody>
      </p:sp>
    </p:spTree>
    <p:extLst>
      <p:ext uri="{BB962C8B-B14F-4D97-AF65-F5344CB8AC3E}">
        <p14:creationId xmlns:p14="http://schemas.microsoft.com/office/powerpoint/2010/main" val="140984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K-fold: каждый блок побывает тестовым</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1. Валидация и кросс-валидация</a:t>
            </a:r>
          </a:p>
        </p:txBody>
      </p:sp>
      <p:sp>
        <p:nvSpPr>
          <p:cNvPr id="7" name="l03-content-25">
            <a:extLst>
              <a:ext uri="{FF2B5EF4-FFF2-40B4-BE49-F238E27FC236}">
                <a16:creationId xmlns:a16="http://schemas.microsoft.com/office/drawing/2014/main" id="{E5062571-3F5B-4873-8395-9BD67A4A1F7E}"/>
              </a:ext>
            </a:extLst>
          </p:cNvPr>
          <p:cNvSpPr>
            <a:spLocks noGrp="1"/>
          </p:cNvSpPr>
          <p:nvPr/>
        </p:nvSpPr>
        <p:spPr>
          <a:xfrm>
            <a:off x="590550" y="2228850"/>
            <a:ext cx="11029950" cy="87630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Одно разбиение даёт одну оценку. K-fold повторяет проверку K раз:</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каждый раз обучаем новую модель, оставляя один блок для проверки.</a:t>
            </a:r>
          </a:p>
        </p:txBody>
      </p:sp>
      <p:graphicFrame>
        <p:nvGraphicFramePr>
          <p:cNvPr id="15" name="Таблица 14"/>
          <p:cNvGraphicFramePr/>
          <p:nvPr/>
        </p:nvGraphicFramePr>
        <p:xfrm>
          <a:off x="590550" y="3352800"/>
          <a:ext cx="11029950" cy="2381250"/>
        </p:xfrm>
        <a:graphic>
          <a:graphicData uri="http://schemas.openxmlformats.org/drawingml/2006/table">
            <a:tbl>
              <a:tblPr firstRow="1"/>
              <a:tblGrid>
                <a:gridCol w="226695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gridCol w="1752600">
                  <a:extLst>
                    <a:ext uri="{9D8B030D-6E8A-4147-A177-3AD203B41FA5}">
                      <a16:colId xmlns:a16="http://schemas.microsoft.com/office/drawing/2014/main" val="20004"/>
                    </a:ext>
                  </a:extLst>
                </a:gridCol>
                <a:gridCol w="1752600">
                  <a:extLst>
                    <a:ext uri="{9D8B030D-6E8A-4147-A177-3AD203B41FA5}">
                      <a16:colId xmlns:a16="http://schemas.microsoft.com/office/drawing/2014/main" val="20005"/>
                    </a:ext>
                  </a:extLst>
                </a:gridCol>
              </a:tblGrid>
              <a:tr h="396875">
                <a:tc>
                  <a:txBody>
                    <a:bodyPr/>
                    <a:lstStyle/>
                    <a:p>
                      <a:r>
                        <a:rPr sz="1875" b="1">
                          <a:solidFill>
                            <a:srgbClr val="FFFFFF"/>
                          </a:solidFill>
                          <a:latin typeface="HSE Sans"/>
                          <a:ea typeface="HSE Sans"/>
                          <a:cs typeface="HSE Sans"/>
                        </a:rPr>
                        <a:t>Разбиение</a:t>
                      </a:r>
                    </a:p>
                  </a:txBody>
                  <a:tcPr anchor="ctr">
                    <a:solidFill>
                      <a:srgbClr val="102D69"/>
                    </a:solidFill>
                  </a:tcPr>
                </a:tc>
                <a:tc>
                  <a:txBody>
                    <a:bodyPr/>
                    <a:lstStyle/>
                    <a:p>
                      <a:r>
                        <a:rPr sz="1875" b="1">
                          <a:solidFill>
                            <a:srgbClr val="FFFFFF"/>
                          </a:solidFill>
                          <a:latin typeface="HSE Sans"/>
                          <a:ea typeface="HSE Sans"/>
                          <a:cs typeface="HSE Sans"/>
                        </a:rPr>
                        <a:t>Блок 1</a:t>
                      </a:r>
                    </a:p>
                  </a:txBody>
                  <a:tcPr anchor="ctr">
                    <a:solidFill>
                      <a:srgbClr val="102D69"/>
                    </a:solidFill>
                  </a:tcPr>
                </a:tc>
                <a:tc>
                  <a:txBody>
                    <a:bodyPr/>
                    <a:lstStyle/>
                    <a:p>
                      <a:r>
                        <a:rPr sz="1875" b="1">
                          <a:solidFill>
                            <a:srgbClr val="FFFFFF"/>
                          </a:solidFill>
                          <a:latin typeface="HSE Sans"/>
                          <a:ea typeface="HSE Sans"/>
                          <a:cs typeface="HSE Sans"/>
                        </a:rPr>
                        <a:t>Блок 2</a:t>
                      </a:r>
                    </a:p>
                  </a:txBody>
                  <a:tcPr anchor="ctr">
                    <a:solidFill>
                      <a:srgbClr val="102D69"/>
                    </a:solidFill>
                  </a:tcPr>
                </a:tc>
                <a:tc>
                  <a:txBody>
                    <a:bodyPr/>
                    <a:lstStyle/>
                    <a:p>
                      <a:r>
                        <a:rPr sz="1875" b="1">
                          <a:solidFill>
                            <a:srgbClr val="FFFFFF"/>
                          </a:solidFill>
                          <a:latin typeface="HSE Sans"/>
                          <a:ea typeface="HSE Sans"/>
                          <a:cs typeface="HSE Sans"/>
                        </a:rPr>
                        <a:t>Блок 3</a:t>
                      </a:r>
                    </a:p>
                  </a:txBody>
                  <a:tcPr anchor="ctr">
                    <a:solidFill>
                      <a:srgbClr val="102D69"/>
                    </a:solidFill>
                  </a:tcPr>
                </a:tc>
                <a:tc>
                  <a:txBody>
                    <a:bodyPr/>
                    <a:lstStyle/>
                    <a:p>
                      <a:r>
                        <a:rPr sz="1875" b="1">
                          <a:solidFill>
                            <a:srgbClr val="FFFFFF"/>
                          </a:solidFill>
                          <a:latin typeface="HSE Sans"/>
                          <a:ea typeface="HSE Sans"/>
                          <a:cs typeface="HSE Sans"/>
                        </a:rPr>
                        <a:t>Блок 4</a:t>
                      </a:r>
                    </a:p>
                  </a:txBody>
                  <a:tcPr anchor="ctr">
                    <a:solidFill>
                      <a:srgbClr val="102D69"/>
                    </a:solidFill>
                  </a:tcPr>
                </a:tc>
                <a:tc>
                  <a:txBody>
                    <a:bodyPr/>
                    <a:lstStyle/>
                    <a:p>
                      <a:r>
                        <a:rPr sz="1875" b="1">
                          <a:solidFill>
                            <a:srgbClr val="FFFFFF"/>
                          </a:solidFill>
                          <a:latin typeface="HSE Sans"/>
                          <a:ea typeface="HSE Sans"/>
                          <a:cs typeface="HSE Sans"/>
                        </a:rPr>
                        <a:t>Блок 5</a:t>
                      </a:r>
                    </a:p>
                  </a:txBody>
                  <a:tcPr anchor="ctr">
                    <a:solidFill>
                      <a:srgbClr val="102D69"/>
                    </a:solidFill>
                  </a:tcPr>
                </a:tc>
                <a:extLst>
                  <a:ext uri="{0D108BD9-81ED-4DB2-BD59-A6C34878D82A}">
                    <a16:rowId xmlns:a16="http://schemas.microsoft.com/office/drawing/2014/main" val="10000"/>
                  </a:ext>
                </a:extLst>
              </a:tr>
              <a:tr h="396875">
                <a:tc>
                  <a:txBody>
                    <a:bodyPr/>
                    <a:lstStyle/>
                    <a:p>
                      <a:r>
                        <a:rPr sz="1875" b="0">
                          <a:solidFill>
                            <a:srgbClr val="102D69"/>
                          </a:solidFill>
                          <a:latin typeface="HSE Sans"/>
                          <a:ea typeface="HSE Sans"/>
                          <a:cs typeface="HSE Sans"/>
                        </a:rPr>
                        <a:t>1</a:t>
                      </a:r>
                    </a:p>
                  </a:txBody>
                  <a:tcPr anchor="ctr">
                    <a:solidFill>
                      <a:srgbClr val="EFF4FB"/>
                    </a:solidFill>
                  </a:tcPr>
                </a:tc>
                <a:tc>
                  <a:txBody>
                    <a:bodyPr/>
                    <a:lstStyle/>
                    <a:p>
                      <a:r>
                        <a:rPr sz="1875" b="0">
                          <a:solidFill>
                            <a:srgbClr val="102D69"/>
                          </a:solidFill>
                          <a:latin typeface="HSE Sans"/>
                          <a:ea typeface="HSE Sans"/>
                          <a:cs typeface="HSE Sans"/>
                        </a:rPr>
                        <a:t>Test</a:t>
                      </a:r>
                    </a:p>
                  </a:txBody>
                  <a:tcPr anchor="ctr">
                    <a:solidFill>
                      <a:srgbClr val="FDE7D9"/>
                    </a:solidFill>
                  </a:tcPr>
                </a:tc>
                <a:tc>
                  <a:txBody>
                    <a:bodyPr/>
                    <a:lstStyle/>
                    <a:p>
                      <a:r>
                        <a:rPr sz="1875" b="0">
                          <a:solidFill>
                            <a:srgbClr val="102D69"/>
                          </a:solidFill>
                          <a:latin typeface="HSE Sans"/>
                          <a:ea typeface="HSE Sans"/>
                          <a:cs typeface="HSE Sans"/>
                        </a:rPr>
                        <a:t>Train</a:t>
                      </a:r>
                    </a:p>
                  </a:txBody>
                  <a:tcPr anchor="ctr">
                    <a:solidFill>
                      <a:srgbClr val="E5EDF9"/>
                    </a:solidFill>
                  </a:tcPr>
                </a:tc>
                <a:tc>
                  <a:txBody>
                    <a:bodyPr/>
                    <a:lstStyle/>
                    <a:p>
                      <a:r>
                        <a:rPr sz="1875" b="0">
                          <a:solidFill>
                            <a:srgbClr val="102D69"/>
                          </a:solidFill>
                          <a:latin typeface="HSE Sans"/>
                          <a:ea typeface="HSE Sans"/>
                          <a:cs typeface="HSE Sans"/>
                        </a:rPr>
                        <a:t>Train</a:t>
                      </a:r>
                    </a:p>
                  </a:txBody>
                  <a:tcPr anchor="ctr">
                    <a:solidFill>
                      <a:srgbClr val="E5EDF9"/>
                    </a:solidFill>
                  </a:tcPr>
                </a:tc>
                <a:tc>
                  <a:txBody>
                    <a:bodyPr/>
                    <a:lstStyle/>
                    <a:p>
                      <a:r>
                        <a:rPr sz="1875" b="0">
                          <a:solidFill>
                            <a:srgbClr val="102D69"/>
                          </a:solidFill>
                          <a:latin typeface="HSE Sans"/>
                          <a:ea typeface="HSE Sans"/>
                          <a:cs typeface="HSE Sans"/>
                        </a:rPr>
                        <a:t>Train</a:t>
                      </a:r>
                    </a:p>
                  </a:txBody>
                  <a:tcPr anchor="ctr">
                    <a:solidFill>
                      <a:srgbClr val="E5EDF9"/>
                    </a:solidFill>
                  </a:tcPr>
                </a:tc>
                <a:tc>
                  <a:txBody>
                    <a:bodyPr/>
                    <a:lstStyle/>
                    <a:p>
                      <a:r>
                        <a:rPr sz="1875" b="0">
                          <a:solidFill>
                            <a:srgbClr val="102D69"/>
                          </a:solidFill>
                          <a:latin typeface="HSE Sans"/>
                          <a:ea typeface="HSE Sans"/>
                          <a:cs typeface="HSE Sans"/>
                        </a:rPr>
                        <a:t>Train</a:t>
                      </a:r>
                    </a:p>
                  </a:txBody>
                  <a:tcPr anchor="ctr">
                    <a:solidFill>
                      <a:srgbClr val="E5EDF9"/>
                    </a:solidFill>
                  </a:tcPr>
                </a:tc>
                <a:extLst>
                  <a:ext uri="{0D108BD9-81ED-4DB2-BD59-A6C34878D82A}">
                    <a16:rowId xmlns:a16="http://schemas.microsoft.com/office/drawing/2014/main" val="10001"/>
                  </a:ext>
                </a:extLst>
              </a:tr>
              <a:tr h="396875">
                <a:tc>
                  <a:txBody>
                    <a:bodyPr/>
                    <a:lstStyle/>
                    <a:p>
                      <a:r>
                        <a:rPr sz="1875" b="0">
                          <a:solidFill>
                            <a:srgbClr val="102D69"/>
                          </a:solidFill>
                          <a:latin typeface="HSE Sans"/>
                          <a:ea typeface="HSE Sans"/>
                          <a:cs typeface="HSE Sans"/>
                        </a:rPr>
                        <a:t>2</a:t>
                      </a:r>
                    </a:p>
                  </a:txBody>
                  <a:tcPr anchor="ctr">
                    <a:solidFill>
                      <a:srgbClr val="FFFFFF"/>
                    </a:solidFill>
                  </a:tcPr>
                </a:tc>
                <a:tc>
                  <a:txBody>
                    <a:bodyPr/>
                    <a:lstStyle/>
                    <a:p>
                      <a:r>
                        <a:rPr sz="1875" b="0">
                          <a:solidFill>
                            <a:srgbClr val="102D69"/>
                          </a:solidFill>
                          <a:latin typeface="HSE Sans"/>
                          <a:ea typeface="HSE Sans"/>
                          <a:cs typeface="HSE Sans"/>
                        </a:rPr>
                        <a:t>Train</a:t>
                      </a:r>
                    </a:p>
                  </a:txBody>
                  <a:tcPr anchor="ctr">
                    <a:solidFill>
                      <a:srgbClr val="E5EDF9"/>
                    </a:solidFill>
                  </a:tcPr>
                </a:tc>
                <a:tc>
                  <a:txBody>
                    <a:bodyPr/>
                    <a:lstStyle/>
                    <a:p>
                      <a:r>
                        <a:rPr sz="1875" b="0">
                          <a:solidFill>
                            <a:srgbClr val="102D69"/>
                          </a:solidFill>
                          <a:latin typeface="HSE Sans"/>
                          <a:ea typeface="HSE Sans"/>
                          <a:cs typeface="HSE Sans"/>
                        </a:rPr>
                        <a:t>Test</a:t>
                      </a:r>
                    </a:p>
                  </a:txBody>
                  <a:tcPr anchor="ctr">
                    <a:solidFill>
                      <a:srgbClr val="FDE7D9"/>
                    </a:solidFill>
                  </a:tcPr>
                </a:tc>
                <a:tc>
                  <a:txBody>
                    <a:bodyPr/>
                    <a:lstStyle/>
                    <a:p>
                      <a:r>
                        <a:rPr sz="1875" b="0">
                          <a:solidFill>
                            <a:srgbClr val="102D69"/>
                          </a:solidFill>
                          <a:latin typeface="HSE Sans"/>
                          <a:ea typeface="HSE Sans"/>
                          <a:cs typeface="HSE Sans"/>
                        </a:rPr>
                        <a:t>Train</a:t>
                      </a:r>
                    </a:p>
                  </a:txBody>
                  <a:tcPr anchor="ctr">
                    <a:solidFill>
                      <a:srgbClr val="E5EDF9"/>
                    </a:solidFill>
                  </a:tcPr>
                </a:tc>
                <a:tc>
                  <a:txBody>
                    <a:bodyPr/>
                    <a:lstStyle/>
                    <a:p>
                      <a:r>
                        <a:rPr sz="1875" b="0">
                          <a:solidFill>
                            <a:srgbClr val="102D69"/>
                          </a:solidFill>
                          <a:latin typeface="HSE Sans"/>
                          <a:ea typeface="HSE Sans"/>
                          <a:cs typeface="HSE Sans"/>
                        </a:rPr>
                        <a:t>Train</a:t>
                      </a:r>
                    </a:p>
                  </a:txBody>
                  <a:tcPr anchor="ctr">
                    <a:solidFill>
                      <a:srgbClr val="E5EDF9"/>
                    </a:solidFill>
                  </a:tcPr>
                </a:tc>
                <a:tc>
                  <a:txBody>
                    <a:bodyPr/>
                    <a:lstStyle/>
                    <a:p>
                      <a:r>
                        <a:rPr sz="1875" b="0">
                          <a:solidFill>
                            <a:srgbClr val="102D69"/>
                          </a:solidFill>
                          <a:latin typeface="HSE Sans"/>
                          <a:ea typeface="HSE Sans"/>
                          <a:cs typeface="HSE Sans"/>
                        </a:rPr>
                        <a:t>Train</a:t>
                      </a:r>
                    </a:p>
                  </a:txBody>
                  <a:tcPr anchor="ctr">
                    <a:solidFill>
                      <a:srgbClr val="E5EDF9"/>
                    </a:solidFill>
                  </a:tcPr>
                </a:tc>
                <a:extLst>
                  <a:ext uri="{0D108BD9-81ED-4DB2-BD59-A6C34878D82A}">
                    <a16:rowId xmlns:a16="http://schemas.microsoft.com/office/drawing/2014/main" val="10002"/>
                  </a:ext>
                </a:extLst>
              </a:tr>
              <a:tr h="396875">
                <a:tc>
                  <a:txBody>
                    <a:bodyPr/>
                    <a:lstStyle/>
                    <a:p>
                      <a:r>
                        <a:rPr sz="1875" b="0">
                          <a:solidFill>
                            <a:srgbClr val="102D69"/>
                          </a:solidFill>
                          <a:latin typeface="HSE Sans"/>
                          <a:ea typeface="HSE Sans"/>
                          <a:cs typeface="HSE Sans"/>
                        </a:rPr>
                        <a:t>3</a:t>
                      </a:r>
                    </a:p>
                  </a:txBody>
                  <a:tcPr anchor="ctr">
                    <a:solidFill>
                      <a:srgbClr val="EFF4FB"/>
                    </a:solidFill>
                  </a:tcPr>
                </a:tc>
                <a:tc>
                  <a:txBody>
                    <a:bodyPr/>
                    <a:lstStyle/>
                    <a:p>
                      <a:r>
                        <a:rPr sz="1875" b="0">
                          <a:solidFill>
                            <a:srgbClr val="102D69"/>
                          </a:solidFill>
                          <a:latin typeface="HSE Sans"/>
                          <a:ea typeface="HSE Sans"/>
                          <a:cs typeface="HSE Sans"/>
                        </a:rPr>
                        <a:t>Train</a:t>
                      </a:r>
                    </a:p>
                  </a:txBody>
                  <a:tcPr anchor="ctr">
                    <a:solidFill>
                      <a:srgbClr val="E5EDF9"/>
                    </a:solidFill>
                  </a:tcPr>
                </a:tc>
                <a:tc>
                  <a:txBody>
                    <a:bodyPr/>
                    <a:lstStyle/>
                    <a:p>
                      <a:r>
                        <a:rPr sz="1875" b="0">
                          <a:solidFill>
                            <a:srgbClr val="102D69"/>
                          </a:solidFill>
                          <a:latin typeface="HSE Sans"/>
                          <a:ea typeface="HSE Sans"/>
                          <a:cs typeface="HSE Sans"/>
                        </a:rPr>
                        <a:t>Train</a:t>
                      </a:r>
                    </a:p>
                  </a:txBody>
                  <a:tcPr anchor="ctr">
                    <a:solidFill>
                      <a:srgbClr val="E5EDF9"/>
                    </a:solidFill>
                  </a:tcPr>
                </a:tc>
                <a:tc>
                  <a:txBody>
                    <a:bodyPr/>
                    <a:lstStyle/>
                    <a:p>
                      <a:r>
                        <a:rPr sz="1875" b="0">
                          <a:solidFill>
                            <a:srgbClr val="102D69"/>
                          </a:solidFill>
                          <a:latin typeface="HSE Sans"/>
                          <a:ea typeface="HSE Sans"/>
                          <a:cs typeface="HSE Sans"/>
                        </a:rPr>
                        <a:t>Test</a:t>
                      </a:r>
                    </a:p>
                  </a:txBody>
                  <a:tcPr anchor="ctr">
                    <a:solidFill>
                      <a:srgbClr val="FDE7D9"/>
                    </a:solidFill>
                  </a:tcPr>
                </a:tc>
                <a:tc>
                  <a:txBody>
                    <a:bodyPr/>
                    <a:lstStyle/>
                    <a:p>
                      <a:r>
                        <a:rPr sz="1875" b="0">
                          <a:solidFill>
                            <a:srgbClr val="102D69"/>
                          </a:solidFill>
                          <a:latin typeface="HSE Sans"/>
                          <a:ea typeface="HSE Sans"/>
                          <a:cs typeface="HSE Sans"/>
                        </a:rPr>
                        <a:t>Train</a:t>
                      </a:r>
                    </a:p>
                  </a:txBody>
                  <a:tcPr anchor="ctr">
                    <a:solidFill>
                      <a:srgbClr val="E5EDF9"/>
                    </a:solidFill>
                  </a:tcPr>
                </a:tc>
                <a:tc>
                  <a:txBody>
                    <a:bodyPr/>
                    <a:lstStyle/>
                    <a:p>
                      <a:r>
                        <a:rPr sz="1875" b="0">
                          <a:solidFill>
                            <a:srgbClr val="102D69"/>
                          </a:solidFill>
                          <a:latin typeface="HSE Sans"/>
                          <a:ea typeface="HSE Sans"/>
                          <a:cs typeface="HSE Sans"/>
                        </a:rPr>
                        <a:t>Train</a:t>
                      </a:r>
                    </a:p>
                  </a:txBody>
                  <a:tcPr anchor="ctr">
                    <a:solidFill>
                      <a:srgbClr val="E5EDF9"/>
                    </a:solidFill>
                  </a:tcPr>
                </a:tc>
                <a:extLst>
                  <a:ext uri="{0D108BD9-81ED-4DB2-BD59-A6C34878D82A}">
                    <a16:rowId xmlns:a16="http://schemas.microsoft.com/office/drawing/2014/main" val="10003"/>
                  </a:ext>
                </a:extLst>
              </a:tr>
              <a:tr h="396875">
                <a:tc>
                  <a:txBody>
                    <a:bodyPr/>
                    <a:lstStyle/>
                    <a:p>
                      <a:r>
                        <a:rPr sz="1875" b="0">
                          <a:solidFill>
                            <a:srgbClr val="102D69"/>
                          </a:solidFill>
                          <a:latin typeface="HSE Sans"/>
                          <a:ea typeface="HSE Sans"/>
                          <a:cs typeface="HSE Sans"/>
                        </a:rPr>
                        <a:t>4</a:t>
                      </a:r>
                    </a:p>
                  </a:txBody>
                  <a:tcPr anchor="ctr">
                    <a:solidFill>
                      <a:srgbClr val="FFFFFF"/>
                    </a:solidFill>
                  </a:tcPr>
                </a:tc>
                <a:tc>
                  <a:txBody>
                    <a:bodyPr/>
                    <a:lstStyle/>
                    <a:p>
                      <a:r>
                        <a:rPr sz="1875" b="0">
                          <a:solidFill>
                            <a:srgbClr val="102D69"/>
                          </a:solidFill>
                          <a:latin typeface="HSE Sans"/>
                          <a:ea typeface="HSE Sans"/>
                          <a:cs typeface="HSE Sans"/>
                        </a:rPr>
                        <a:t>Train</a:t>
                      </a:r>
                    </a:p>
                  </a:txBody>
                  <a:tcPr anchor="ctr">
                    <a:solidFill>
                      <a:srgbClr val="E5EDF9"/>
                    </a:solidFill>
                  </a:tcPr>
                </a:tc>
                <a:tc>
                  <a:txBody>
                    <a:bodyPr/>
                    <a:lstStyle/>
                    <a:p>
                      <a:r>
                        <a:rPr sz="1875" b="0">
                          <a:solidFill>
                            <a:srgbClr val="102D69"/>
                          </a:solidFill>
                          <a:latin typeface="HSE Sans"/>
                          <a:ea typeface="HSE Sans"/>
                          <a:cs typeface="HSE Sans"/>
                        </a:rPr>
                        <a:t>Train</a:t>
                      </a:r>
                    </a:p>
                  </a:txBody>
                  <a:tcPr anchor="ctr">
                    <a:solidFill>
                      <a:srgbClr val="E5EDF9"/>
                    </a:solidFill>
                  </a:tcPr>
                </a:tc>
                <a:tc>
                  <a:txBody>
                    <a:bodyPr/>
                    <a:lstStyle/>
                    <a:p>
                      <a:r>
                        <a:rPr sz="1875" b="0">
                          <a:solidFill>
                            <a:srgbClr val="102D69"/>
                          </a:solidFill>
                          <a:latin typeface="HSE Sans"/>
                          <a:ea typeface="HSE Sans"/>
                          <a:cs typeface="HSE Sans"/>
                        </a:rPr>
                        <a:t>Train</a:t>
                      </a:r>
                    </a:p>
                  </a:txBody>
                  <a:tcPr anchor="ctr">
                    <a:solidFill>
                      <a:srgbClr val="E5EDF9"/>
                    </a:solidFill>
                  </a:tcPr>
                </a:tc>
                <a:tc>
                  <a:txBody>
                    <a:bodyPr/>
                    <a:lstStyle/>
                    <a:p>
                      <a:r>
                        <a:rPr sz="1875" b="0">
                          <a:solidFill>
                            <a:srgbClr val="102D69"/>
                          </a:solidFill>
                          <a:latin typeface="HSE Sans"/>
                          <a:ea typeface="HSE Sans"/>
                          <a:cs typeface="HSE Sans"/>
                        </a:rPr>
                        <a:t>Test</a:t>
                      </a:r>
                    </a:p>
                  </a:txBody>
                  <a:tcPr anchor="ctr">
                    <a:solidFill>
                      <a:srgbClr val="FDE7D9"/>
                    </a:solidFill>
                  </a:tcPr>
                </a:tc>
                <a:tc>
                  <a:txBody>
                    <a:bodyPr/>
                    <a:lstStyle/>
                    <a:p>
                      <a:r>
                        <a:rPr sz="1875" b="0">
                          <a:solidFill>
                            <a:srgbClr val="102D69"/>
                          </a:solidFill>
                          <a:latin typeface="HSE Sans"/>
                          <a:ea typeface="HSE Sans"/>
                          <a:cs typeface="HSE Sans"/>
                        </a:rPr>
                        <a:t>Train</a:t>
                      </a:r>
                    </a:p>
                  </a:txBody>
                  <a:tcPr anchor="ctr">
                    <a:solidFill>
                      <a:srgbClr val="E5EDF9"/>
                    </a:solidFill>
                  </a:tcPr>
                </a:tc>
                <a:extLst>
                  <a:ext uri="{0D108BD9-81ED-4DB2-BD59-A6C34878D82A}">
                    <a16:rowId xmlns:a16="http://schemas.microsoft.com/office/drawing/2014/main" val="10004"/>
                  </a:ext>
                </a:extLst>
              </a:tr>
              <a:tr h="396875">
                <a:tc>
                  <a:txBody>
                    <a:bodyPr/>
                    <a:lstStyle/>
                    <a:p>
                      <a:r>
                        <a:rPr sz="1875" b="0">
                          <a:solidFill>
                            <a:srgbClr val="102D69"/>
                          </a:solidFill>
                          <a:latin typeface="HSE Sans"/>
                          <a:ea typeface="HSE Sans"/>
                          <a:cs typeface="HSE Sans"/>
                        </a:rPr>
                        <a:t>5</a:t>
                      </a:r>
                    </a:p>
                  </a:txBody>
                  <a:tcPr anchor="ctr">
                    <a:solidFill>
                      <a:srgbClr val="EFF4FB"/>
                    </a:solidFill>
                  </a:tcPr>
                </a:tc>
                <a:tc>
                  <a:txBody>
                    <a:bodyPr/>
                    <a:lstStyle/>
                    <a:p>
                      <a:r>
                        <a:rPr sz="1875" b="0">
                          <a:solidFill>
                            <a:srgbClr val="102D69"/>
                          </a:solidFill>
                          <a:latin typeface="HSE Sans"/>
                          <a:ea typeface="HSE Sans"/>
                          <a:cs typeface="HSE Sans"/>
                        </a:rPr>
                        <a:t>Train</a:t>
                      </a:r>
                    </a:p>
                  </a:txBody>
                  <a:tcPr anchor="ctr">
                    <a:solidFill>
                      <a:srgbClr val="E5EDF9"/>
                    </a:solidFill>
                  </a:tcPr>
                </a:tc>
                <a:tc>
                  <a:txBody>
                    <a:bodyPr/>
                    <a:lstStyle/>
                    <a:p>
                      <a:r>
                        <a:rPr sz="1875" b="0">
                          <a:solidFill>
                            <a:srgbClr val="102D69"/>
                          </a:solidFill>
                          <a:latin typeface="HSE Sans"/>
                          <a:ea typeface="HSE Sans"/>
                          <a:cs typeface="HSE Sans"/>
                        </a:rPr>
                        <a:t>Train</a:t>
                      </a:r>
                    </a:p>
                  </a:txBody>
                  <a:tcPr anchor="ctr">
                    <a:solidFill>
                      <a:srgbClr val="E5EDF9"/>
                    </a:solidFill>
                  </a:tcPr>
                </a:tc>
                <a:tc>
                  <a:txBody>
                    <a:bodyPr/>
                    <a:lstStyle/>
                    <a:p>
                      <a:r>
                        <a:rPr sz="1875" b="0">
                          <a:solidFill>
                            <a:srgbClr val="102D69"/>
                          </a:solidFill>
                          <a:latin typeface="HSE Sans"/>
                          <a:ea typeface="HSE Sans"/>
                          <a:cs typeface="HSE Sans"/>
                        </a:rPr>
                        <a:t>Train</a:t>
                      </a:r>
                    </a:p>
                  </a:txBody>
                  <a:tcPr anchor="ctr">
                    <a:solidFill>
                      <a:srgbClr val="E5EDF9"/>
                    </a:solidFill>
                  </a:tcPr>
                </a:tc>
                <a:tc>
                  <a:txBody>
                    <a:bodyPr/>
                    <a:lstStyle/>
                    <a:p>
                      <a:r>
                        <a:rPr sz="1875" b="0">
                          <a:solidFill>
                            <a:srgbClr val="102D69"/>
                          </a:solidFill>
                          <a:latin typeface="HSE Sans"/>
                          <a:ea typeface="HSE Sans"/>
                          <a:cs typeface="HSE Sans"/>
                        </a:rPr>
                        <a:t>Train</a:t>
                      </a:r>
                    </a:p>
                  </a:txBody>
                  <a:tcPr anchor="ctr">
                    <a:solidFill>
                      <a:srgbClr val="E5EDF9"/>
                    </a:solidFill>
                  </a:tcPr>
                </a:tc>
                <a:tc>
                  <a:txBody>
                    <a:bodyPr/>
                    <a:lstStyle/>
                    <a:p>
                      <a:r>
                        <a:rPr sz="1875" b="0">
                          <a:solidFill>
                            <a:srgbClr val="102D69"/>
                          </a:solidFill>
                          <a:latin typeface="HSE Sans"/>
                          <a:ea typeface="HSE Sans"/>
                          <a:cs typeface="HSE Sans"/>
                        </a:rPr>
                        <a:t>Test</a:t>
                      </a:r>
                    </a:p>
                  </a:txBody>
                  <a:tcPr anchor="ctr">
                    <a:solidFill>
                      <a:srgbClr val="FDE7D9"/>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0984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Результаты по фолдам</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1. Валидация и кросс-валидация</a:t>
            </a:r>
          </a:p>
        </p:txBody>
      </p:sp>
      <p:sp>
        <p:nvSpPr>
          <p:cNvPr id="7" name="l03-content-26">
            <a:extLst>
              <a:ext uri="{FF2B5EF4-FFF2-40B4-BE49-F238E27FC236}">
                <a16:creationId xmlns:a16="http://schemas.microsoft.com/office/drawing/2014/main" id="{1B52004E-8D00-4FCE-AC40-B09C470CEE1D}"/>
              </a:ext>
            </a:extLst>
          </p:cNvPr>
          <p:cNvSpPr>
            <a:spLocks noGrp="1"/>
          </p:cNvSpPr>
          <p:nvPr/>
        </p:nvSpPr>
        <p:spPr>
          <a:xfrm>
            <a:off x="590550" y="2238375"/>
            <a:ext cx="11029950" cy="895350"/>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На каждом тестовом фолде считаем одну и ту же метрику.</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Получаем несколько оценок, которые можно сравнить и обобщить.</a:t>
            </a:r>
          </a:p>
        </p:txBody>
      </p:sp>
      <p:graphicFrame>
        <p:nvGraphicFramePr>
          <p:cNvPr id="19" name="Таблица 18"/>
          <p:cNvGraphicFramePr/>
          <p:nvPr/>
        </p:nvGraphicFramePr>
        <p:xfrm>
          <a:off x="590550" y="3390900"/>
          <a:ext cx="11029950" cy="1162050"/>
        </p:xfrm>
        <a:graphic>
          <a:graphicData uri="http://schemas.openxmlformats.org/drawingml/2006/table">
            <a:tbl>
              <a:tblPr firstRow="1"/>
              <a:tblGrid>
                <a:gridCol w="3219450">
                  <a:extLst>
                    <a:ext uri="{9D8B030D-6E8A-4147-A177-3AD203B41FA5}">
                      <a16:colId xmlns:a16="http://schemas.microsoft.com/office/drawing/2014/main" val="20000"/>
                    </a:ext>
                  </a:extLst>
                </a:gridCol>
                <a:gridCol w="1562100">
                  <a:extLst>
                    <a:ext uri="{9D8B030D-6E8A-4147-A177-3AD203B41FA5}">
                      <a16:colId xmlns:a16="http://schemas.microsoft.com/office/drawing/2014/main" val="20001"/>
                    </a:ext>
                  </a:extLst>
                </a:gridCol>
                <a:gridCol w="1562100">
                  <a:extLst>
                    <a:ext uri="{9D8B030D-6E8A-4147-A177-3AD203B41FA5}">
                      <a16:colId xmlns:a16="http://schemas.microsoft.com/office/drawing/2014/main" val="20002"/>
                    </a:ext>
                  </a:extLst>
                </a:gridCol>
                <a:gridCol w="1562100">
                  <a:extLst>
                    <a:ext uri="{9D8B030D-6E8A-4147-A177-3AD203B41FA5}">
                      <a16:colId xmlns:a16="http://schemas.microsoft.com/office/drawing/2014/main" val="20003"/>
                    </a:ext>
                  </a:extLst>
                </a:gridCol>
                <a:gridCol w="1562100">
                  <a:extLst>
                    <a:ext uri="{9D8B030D-6E8A-4147-A177-3AD203B41FA5}">
                      <a16:colId xmlns:a16="http://schemas.microsoft.com/office/drawing/2014/main" val="20004"/>
                    </a:ext>
                  </a:extLst>
                </a:gridCol>
                <a:gridCol w="1562100">
                  <a:extLst>
                    <a:ext uri="{9D8B030D-6E8A-4147-A177-3AD203B41FA5}">
                      <a16:colId xmlns:a16="http://schemas.microsoft.com/office/drawing/2014/main" val="20005"/>
                    </a:ext>
                  </a:extLst>
                </a:gridCol>
              </a:tblGrid>
              <a:tr h="581025">
                <a:tc>
                  <a:txBody>
                    <a:bodyPr/>
                    <a:lstStyle/>
                    <a:p>
                      <a:r>
                        <a:rPr sz="2250" b="1">
                          <a:solidFill>
                            <a:srgbClr val="FFFFFF"/>
                          </a:solidFill>
                          <a:latin typeface="HSE Sans"/>
                          <a:ea typeface="HSE Sans"/>
                          <a:cs typeface="HSE Sans"/>
                        </a:rPr>
                        <a:t>Фолд</a:t>
                      </a:r>
                    </a:p>
                  </a:txBody>
                  <a:tcPr anchor="ctr">
                    <a:solidFill>
                      <a:srgbClr val="102D69"/>
                    </a:solidFill>
                  </a:tcPr>
                </a:tc>
                <a:tc>
                  <a:txBody>
                    <a:bodyPr/>
                    <a:lstStyle/>
                    <a:p>
                      <a:r>
                        <a:rPr sz="2250" b="1">
                          <a:solidFill>
                            <a:srgbClr val="FFFFFF"/>
                          </a:solidFill>
                          <a:latin typeface="HSE Sans"/>
                          <a:ea typeface="HSE Sans"/>
                          <a:cs typeface="HSE Sans"/>
                        </a:rPr>
                        <a:t>1</a:t>
                      </a:r>
                    </a:p>
                  </a:txBody>
                  <a:tcPr anchor="ctr">
                    <a:solidFill>
                      <a:srgbClr val="102D69"/>
                    </a:solidFill>
                  </a:tcPr>
                </a:tc>
                <a:tc>
                  <a:txBody>
                    <a:bodyPr/>
                    <a:lstStyle/>
                    <a:p>
                      <a:r>
                        <a:rPr sz="2250" b="1">
                          <a:solidFill>
                            <a:srgbClr val="FFFFFF"/>
                          </a:solidFill>
                          <a:latin typeface="HSE Sans"/>
                          <a:ea typeface="HSE Sans"/>
                          <a:cs typeface="HSE Sans"/>
                        </a:rPr>
                        <a:t>2</a:t>
                      </a:r>
                    </a:p>
                  </a:txBody>
                  <a:tcPr anchor="ctr">
                    <a:solidFill>
                      <a:srgbClr val="102D69"/>
                    </a:solidFill>
                  </a:tcPr>
                </a:tc>
                <a:tc>
                  <a:txBody>
                    <a:bodyPr/>
                    <a:lstStyle/>
                    <a:p>
                      <a:r>
                        <a:rPr sz="2250" b="1">
                          <a:solidFill>
                            <a:srgbClr val="FFFFFF"/>
                          </a:solidFill>
                          <a:latin typeface="HSE Sans"/>
                          <a:ea typeface="HSE Sans"/>
                          <a:cs typeface="HSE Sans"/>
                        </a:rPr>
                        <a:t>3</a:t>
                      </a:r>
                    </a:p>
                  </a:txBody>
                  <a:tcPr anchor="ctr">
                    <a:solidFill>
                      <a:srgbClr val="102D69"/>
                    </a:solidFill>
                  </a:tcPr>
                </a:tc>
                <a:tc>
                  <a:txBody>
                    <a:bodyPr/>
                    <a:lstStyle/>
                    <a:p>
                      <a:r>
                        <a:rPr sz="2250" b="1">
                          <a:solidFill>
                            <a:srgbClr val="FFFFFF"/>
                          </a:solidFill>
                          <a:latin typeface="HSE Sans"/>
                          <a:ea typeface="HSE Sans"/>
                          <a:cs typeface="HSE Sans"/>
                        </a:rPr>
                        <a:t>4</a:t>
                      </a:r>
                    </a:p>
                  </a:txBody>
                  <a:tcPr anchor="ctr">
                    <a:solidFill>
                      <a:srgbClr val="102D69"/>
                    </a:solidFill>
                  </a:tcPr>
                </a:tc>
                <a:tc>
                  <a:txBody>
                    <a:bodyPr/>
                    <a:lstStyle/>
                    <a:p>
                      <a:r>
                        <a:rPr sz="2250" b="1">
                          <a:solidFill>
                            <a:srgbClr val="FFFFFF"/>
                          </a:solidFill>
                          <a:latin typeface="HSE Sans"/>
                          <a:ea typeface="HSE Sans"/>
                          <a:cs typeface="HSE Sans"/>
                        </a:rPr>
                        <a:t>5</a:t>
                      </a:r>
                    </a:p>
                  </a:txBody>
                  <a:tcPr anchor="ctr">
                    <a:solidFill>
                      <a:srgbClr val="102D69"/>
                    </a:solidFill>
                  </a:tcPr>
                </a:tc>
                <a:extLst>
                  <a:ext uri="{0D108BD9-81ED-4DB2-BD59-A6C34878D82A}">
                    <a16:rowId xmlns:a16="http://schemas.microsoft.com/office/drawing/2014/main" val="10000"/>
                  </a:ext>
                </a:extLst>
              </a:tr>
              <a:tr h="581025">
                <a:tc>
                  <a:txBody>
                    <a:bodyPr/>
                    <a:lstStyle/>
                    <a:p>
                      <a:r>
                        <a:rPr sz="2250" b="0">
                          <a:solidFill>
                            <a:srgbClr val="102D69"/>
                          </a:solidFill>
                          <a:latin typeface="HSE Sans"/>
                          <a:ea typeface="HSE Sans"/>
                          <a:cs typeface="HSE Sans"/>
                        </a:rPr>
                        <a:t>MSE</a:t>
                      </a:r>
                    </a:p>
                  </a:txBody>
                  <a:tcPr anchor="ctr">
                    <a:solidFill>
                      <a:srgbClr val="EFF4FB"/>
                    </a:solidFill>
                  </a:tcPr>
                </a:tc>
                <a:tc>
                  <a:txBody>
                    <a:bodyPr/>
                    <a:lstStyle/>
                    <a:p>
                      <a:r>
                        <a:rPr sz="2250" b="0">
                          <a:solidFill>
                            <a:srgbClr val="102D69"/>
                          </a:solidFill>
                          <a:latin typeface="HSE Sans"/>
                          <a:ea typeface="HSE Sans"/>
                          <a:cs typeface="HSE Sans"/>
                        </a:rPr>
                        <a:t>4</a:t>
                      </a:r>
                    </a:p>
                  </a:txBody>
                  <a:tcPr anchor="ctr">
                    <a:solidFill>
                      <a:srgbClr val="EFF4FB"/>
                    </a:solidFill>
                  </a:tcPr>
                </a:tc>
                <a:tc>
                  <a:txBody>
                    <a:bodyPr/>
                    <a:lstStyle/>
                    <a:p>
                      <a:r>
                        <a:rPr sz="2250" b="0">
                          <a:solidFill>
                            <a:srgbClr val="102D69"/>
                          </a:solidFill>
                          <a:latin typeface="HSE Sans"/>
                          <a:ea typeface="HSE Sans"/>
                          <a:cs typeface="HSE Sans"/>
                        </a:rPr>
                        <a:t>6</a:t>
                      </a:r>
                    </a:p>
                  </a:txBody>
                  <a:tcPr anchor="ctr">
                    <a:solidFill>
                      <a:srgbClr val="EFF4FB"/>
                    </a:solidFill>
                  </a:tcPr>
                </a:tc>
                <a:tc>
                  <a:txBody>
                    <a:bodyPr/>
                    <a:lstStyle/>
                    <a:p>
                      <a:r>
                        <a:rPr sz="2250" b="0">
                          <a:solidFill>
                            <a:srgbClr val="102D69"/>
                          </a:solidFill>
                          <a:latin typeface="HSE Sans"/>
                          <a:ea typeface="HSE Sans"/>
                          <a:cs typeface="HSE Sans"/>
                        </a:rPr>
                        <a:t>5</a:t>
                      </a:r>
                    </a:p>
                  </a:txBody>
                  <a:tcPr anchor="ctr">
                    <a:solidFill>
                      <a:srgbClr val="EFF4FB"/>
                    </a:solidFill>
                  </a:tcPr>
                </a:tc>
                <a:tc>
                  <a:txBody>
                    <a:bodyPr/>
                    <a:lstStyle/>
                    <a:p>
                      <a:r>
                        <a:rPr sz="2250" b="0">
                          <a:solidFill>
                            <a:srgbClr val="102D69"/>
                          </a:solidFill>
                          <a:latin typeface="HSE Sans"/>
                          <a:ea typeface="HSE Sans"/>
                          <a:cs typeface="HSE Sans"/>
                        </a:rPr>
                        <a:t>3</a:t>
                      </a:r>
                    </a:p>
                  </a:txBody>
                  <a:tcPr anchor="ctr">
                    <a:solidFill>
                      <a:srgbClr val="EFF4FB"/>
                    </a:solidFill>
                  </a:tcPr>
                </a:tc>
                <a:tc>
                  <a:txBody>
                    <a:bodyPr/>
                    <a:lstStyle/>
                    <a:p>
                      <a:r>
                        <a:rPr sz="2250" b="0">
                          <a:solidFill>
                            <a:srgbClr val="102D69"/>
                          </a:solidFill>
                          <a:latin typeface="HSE Sans"/>
                          <a:ea typeface="HSE Sans"/>
                          <a:cs typeface="HSE Sans"/>
                        </a:rPr>
                        <a:t>7</a:t>
                      </a:r>
                    </a:p>
                  </a:txBody>
                  <a:tcPr anchor="ctr">
                    <a:solidFill>
                      <a:srgbClr val="EFF4FB"/>
                    </a:solidFill>
                  </a:tcPr>
                </a:tc>
                <a:extLst>
                  <a:ext uri="{0D108BD9-81ED-4DB2-BD59-A6C34878D82A}">
                    <a16:rowId xmlns:a16="http://schemas.microsoft.com/office/drawing/2014/main" val="10001"/>
                  </a:ext>
                </a:extLst>
              </a:tr>
            </a:tbl>
          </a:graphicData>
        </a:graphic>
      </p:graphicFrame>
      <p:sp>
        <p:nvSpPr>
          <p:cNvPr id="9" name="l03-content-27">
            <a:extLst>
              <a:ext uri="{FF2B5EF4-FFF2-40B4-BE49-F238E27FC236}">
                <a16:creationId xmlns:a16="http://schemas.microsoft.com/office/drawing/2014/main" id="{073361D1-1FFE-4CCF-BF80-426B8D1C534D}"/>
              </a:ext>
            </a:extLst>
          </p:cNvPr>
          <p:cNvSpPr>
            <a:spLocks noGrp="1"/>
          </p:cNvSpPr>
          <p:nvPr/>
        </p:nvSpPr>
        <p:spPr>
          <a:xfrm>
            <a:off x="590550" y="4972050"/>
            <a:ext cx="3238500" cy="504825"/>
          </a:xfrm>
          <a:prstGeom prst="rect">
            <a:avLst/>
          </a:prstGeom>
          <a:noFill/>
          <a:ln w="0">
            <a:noFill/>
          </a:ln>
        </p:spPr>
        <p:txBody>
          <a:bodyPr wrap="square" lIns="0" tIns="0" rIns="0" bIns="0" anchor="t">
            <a:noAutofit/>
          </a:bodyPr>
          <a:lstStyle/>
          <a:p>
            <a:pPr algn="l">
              <a:lnSpc>
                <a:spcPct val="112000"/>
              </a:lnSpc>
              <a:buNone/>
              <a:defRPr sz="2400" b="1">
                <a:solidFill>
                  <a:srgbClr val="102D69"/>
                </a:solidFill>
                <a:latin typeface="HSE Sans"/>
                <a:ea typeface="HSE Sans"/>
                <a:cs typeface="HSE Sans"/>
              </a:defRPr>
            </a:pPr>
            <a:r>
              <a:rPr sz="2400" b="1">
                <a:solidFill>
                  <a:srgbClr val="102D69"/>
                </a:solidFill>
                <a:latin typeface="HSE Sans"/>
                <a:ea typeface="HSE Sans"/>
                <a:cs typeface="HSE Sans"/>
              </a:rPr>
              <a:t>Среднее: 5</a:t>
            </a:r>
          </a:p>
        </p:txBody>
      </p:sp>
      <p:sp>
        <p:nvSpPr>
          <p:cNvPr id="10" name="l03-content-28">
            <a:extLst>
              <a:ext uri="{FF2B5EF4-FFF2-40B4-BE49-F238E27FC236}">
                <a16:creationId xmlns:a16="http://schemas.microsoft.com/office/drawing/2014/main" id="{29A2331C-9FF3-43C3-A578-966B4046910D}"/>
              </a:ext>
            </a:extLst>
          </p:cNvPr>
          <p:cNvSpPr>
            <a:spLocks noGrp="1"/>
          </p:cNvSpPr>
          <p:nvPr/>
        </p:nvSpPr>
        <p:spPr>
          <a:xfrm>
            <a:off x="4371975" y="4972050"/>
            <a:ext cx="3238500" cy="504825"/>
          </a:xfrm>
          <a:prstGeom prst="rect">
            <a:avLst/>
          </a:prstGeom>
          <a:noFill/>
          <a:ln w="0">
            <a:noFill/>
          </a:ln>
        </p:spPr>
        <p:txBody>
          <a:bodyPr wrap="square" lIns="0" tIns="0" rIns="0" bIns="0" anchor="t">
            <a:noAutofit/>
          </a:bodyPr>
          <a:lstStyle/>
          <a:p>
            <a:pPr algn="l">
              <a:lnSpc>
                <a:spcPct val="112000"/>
              </a:lnSpc>
              <a:buNone/>
              <a:defRPr sz="2400" b="1">
                <a:solidFill>
                  <a:srgbClr val="102D69"/>
                </a:solidFill>
                <a:latin typeface="HSE Sans"/>
                <a:ea typeface="HSE Sans"/>
                <a:cs typeface="HSE Sans"/>
              </a:defRPr>
            </a:pPr>
            <a:r>
              <a:rPr sz="2400" b="1">
                <a:solidFill>
                  <a:srgbClr val="102D69"/>
                </a:solidFill>
                <a:latin typeface="HSE Sans"/>
                <a:ea typeface="HSE Sans"/>
                <a:cs typeface="HSE Sans"/>
              </a:rPr>
              <a:t>Медиана: 5</a:t>
            </a:r>
          </a:p>
        </p:txBody>
      </p:sp>
      <p:sp>
        <p:nvSpPr>
          <p:cNvPr id="11" name="l03-content-29">
            <a:extLst>
              <a:ext uri="{FF2B5EF4-FFF2-40B4-BE49-F238E27FC236}">
                <a16:creationId xmlns:a16="http://schemas.microsoft.com/office/drawing/2014/main" id="{77CF66B8-EB95-4CB5-B02C-204AAE0138BA}"/>
              </a:ext>
            </a:extLst>
          </p:cNvPr>
          <p:cNvSpPr>
            <a:spLocks noGrp="1"/>
          </p:cNvSpPr>
          <p:nvPr/>
        </p:nvSpPr>
        <p:spPr>
          <a:xfrm>
            <a:off x="7848600" y="4972050"/>
            <a:ext cx="3790950" cy="504825"/>
          </a:xfrm>
          <a:prstGeom prst="rect">
            <a:avLst/>
          </a:prstGeom>
          <a:noFill/>
          <a:ln w="0">
            <a:noFill/>
          </a:ln>
        </p:spPr>
        <p:txBody>
          <a:bodyPr wrap="square" lIns="0" tIns="0" rIns="0" bIns="0" anchor="t">
            <a:noAutofit/>
          </a:bodyPr>
          <a:lstStyle/>
          <a:p>
            <a:pPr algn="l">
              <a:lnSpc>
                <a:spcPct val="112000"/>
              </a:lnSpc>
              <a:buNone/>
              <a:defRPr sz="2250" b="1">
                <a:solidFill>
                  <a:srgbClr val="102D69"/>
                </a:solidFill>
                <a:latin typeface="HSE Sans"/>
                <a:ea typeface="HSE Sans"/>
                <a:cs typeface="HSE Sans"/>
              </a:defRPr>
            </a:pPr>
            <a:r>
              <a:rPr sz="2250" b="1">
                <a:solidFill>
                  <a:srgbClr val="102D69"/>
                </a:solidFill>
                <a:latin typeface="HSE Sans"/>
                <a:ea typeface="HSE Sans"/>
                <a:cs typeface="HSE Sans"/>
              </a:rPr>
              <a:t>Ст. отклонение: 1,41</a:t>
            </a:r>
          </a:p>
        </p:txBody>
      </p:sp>
      <p:sp>
        <p:nvSpPr>
          <p:cNvPr id="12" name="l03-content-30">
            <a:extLst>
              <a:ext uri="{FF2B5EF4-FFF2-40B4-BE49-F238E27FC236}">
                <a16:creationId xmlns:a16="http://schemas.microsoft.com/office/drawing/2014/main" id="{D31C9E30-A674-4A8E-9C95-DFBBB35A38E9}"/>
              </a:ext>
            </a:extLst>
          </p:cNvPr>
          <p:cNvSpPr>
            <a:spLocks noGrp="1"/>
          </p:cNvSpPr>
          <p:nvPr/>
        </p:nvSpPr>
        <p:spPr>
          <a:xfrm>
            <a:off x="590550" y="5629275"/>
            <a:ext cx="11029950" cy="8286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Можно смотреть минимум, максимум и разброс.</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Так видно не только типичное качество, но и зависимость от разбиения.</a:t>
            </a:r>
          </a:p>
        </p:txBody>
      </p:sp>
    </p:spTree>
    <p:extLst>
      <p:ext uri="{BB962C8B-B14F-4D97-AF65-F5344CB8AC3E}">
        <p14:creationId xmlns:p14="http://schemas.microsoft.com/office/powerpoint/2010/main" val="140984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StratifiedKFold: доли классов в каждом фолде</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1. Валидация и кросс-валидация</a:t>
            </a:r>
          </a:p>
        </p:txBody>
      </p:sp>
      <p:sp>
        <p:nvSpPr>
          <p:cNvPr id="7" name="l03-content-31">
            <a:extLst>
              <a:ext uri="{FF2B5EF4-FFF2-40B4-BE49-F238E27FC236}">
                <a16:creationId xmlns:a16="http://schemas.microsoft.com/office/drawing/2014/main" id="{D4373A2E-B953-4493-9001-9383B180975F}"/>
              </a:ext>
            </a:extLst>
          </p:cNvPr>
          <p:cNvSpPr>
            <a:spLocks noGrp="1"/>
          </p:cNvSpPr>
          <p:nvPr/>
        </p:nvSpPr>
        <p:spPr>
          <a:xfrm>
            <a:off x="590550" y="2238375"/>
            <a:ext cx="11029950" cy="84772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В выборке 9 объектов класса А и 3 класса Б: соотношение 3 к 1.</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В каждом тестовом фолде сохраняем его: 3 объекта А и 1 объект Б.</a:t>
            </a:r>
          </a:p>
        </p:txBody>
      </p:sp>
      <p:graphicFrame>
        <p:nvGraphicFramePr>
          <p:cNvPr id="16" name="Таблица 15"/>
          <p:cNvGraphicFramePr/>
          <p:nvPr/>
        </p:nvGraphicFramePr>
        <p:xfrm>
          <a:off x="590550" y="3486150"/>
          <a:ext cx="11029950" cy="2143124"/>
        </p:xfrm>
        <a:graphic>
          <a:graphicData uri="http://schemas.openxmlformats.org/drawingml/2006/table">
            <a:tbl>
              <a:tblPr firstRow="1"/>
              <a:tblGrid>
                <a:gridCol w="1657350">
                  <a:extLst>
                    <a:ext uri="{9D8B030D-6E8A-4147-A177-3AD203B41FA5}">
                      <a16:colId xmlns:a16="http://schemas.microsoft.com/office/drawing/2014/main" val="20000"/>
                    </a:ext>
                  </a:extLst>
                </a:gridCol>
                <a:gridCol w="781050">
                  <a:extLst>
                    <a:ext uri="{9D8B030D-6E8A-4147-A177-3AD203B41FA5}">
                      <a16:colId xmlns:a16="http://schemas.microsoft.com/office/drawing/2014/main" val="20001"/>
                    </a:ext>
                  </a:extLst>
                </a:gridCol>
                <a:gridCol w="781050">
                  <a:extLst>
                    <a:ext uri="{9D8B030D-6E8A-4147-A177-3AD203B41FA5}">
                      <a16:colId xmlns:a16="http://schemas.microsoft.com/office/drawing/2014/main" val="20002"/>
                    </a:ext>
                  </a:extLst>
                </a:gridCol>
                <a:gridCol w="781050">
                  <a:extLst>
                    <a:ext uri="{9D8B030D-6E8A-4147-A177-3AD203B41FA5}">
                      <a16:colId xmlns:a16="http://schemas.microsoft.com/office/drawing/2014/main" val="20003"/>
                    </a:ext>
                  </a:extLst>
                </a:gridCol>
                <a:gridCol w="781050">
                  <a:extLst>
                    <a:ext uri="{9D8B030D-6E8A-4147-A177-3AD203B41FA5}">
                      <a16:colId xmlns:a16="http://schemas.microsoft.com/office/drawing/2014/main" val="20004"/>
                    </a:ext>
                  </a:extLst>
                </a:gridCol>
                <a:gridCol w="781050">
                  <a:extLst>
                    <a:ext uri="{9D8B030D-6E8A-4147-A177-3AD203B41FA5}">
                      <a16:colId xmlns:a16="http://schemas.microsoft.com/office/drawing/2014/main" val="20005"/>
                    </a:ext>
                  </a:extLst>
                </a:gridCol>
                <a:gridCol w="781050">
                  <a:extLst>
                    <a:ext uri="{9D8B030D-6E8A-4147-A177-3AD203B41FA5}">
                      <a16:colId xmlns:a16="http://schemas.microsoft.com/office/drawing/2014/main" val="20006"/>
                    </a:ext>
                  </a:extLst>
                </a:gridCol>
                <a:gridCol w="781050">
                  <a:extLst>
                    <a:ext uri="{9D8B030D-6E8A-4147-A177-3AD203B41FA5}">
                      <a16:colId xmlns:a16="http://schemas.microsoft.com/office/drawing/2014/main" val="20007"/>
                    </a:ext>
                  </a:extLst>
                </a:gridCol>
                <a:gridCol w="781050">
                  <a:extLst>
                    <a:ext uri="{9D8B030D-6E8A-4147-A177-3AD203B41FA5}">
                      <a16:colId xmlns:a16="http://schemas.microsoft.com/office/drawing/2014/main" val="20008"/>
                    </a:ext>
                  </a:extLst>
                </a:gridCol>
                <a:gridCol w="781050">
                  <a:extLst>
                    <a:ext uri="{9D8B030D-6E8A-4147-A177-3AD203B41FA5}">
                      <a16:colId xmlns:a16="http://schemas.microsoft.com/office/drawing/2014/main" val="20009"/>
                    </a:ext>
                  </a:extLst>
                </a:gridCol>
                <a:gridCol w="781050">
                  <a:extLst>
                    <a:ext uri="{9D8B030D-6E8A-4147-A177-3AD203B41FA5}">
                      <a16:colId xmlns:a16="http://schemas.microsoft.com/office/drawing/2014/main" val="20010"/>
                    </a:ext>
                  </a:extLst>
                </a:gridCol>
                <a:gridCol w="781050">
                  <a:extLst>
                    <a:ext uri="{9D8B030D-6E8A-4147-A177-3AD203B41FA5}">
                      <a16:colId xmlns:a16="http://schemas.microsoft.com/office/drawing/2014/main" val="20011"/>
                    </a:ext>
                  </a:extLst>
                </a:gridCol>
                <a:gridCol w="781050">
                  <a:extLst>
                    <a:ext uri="{9D8B030D-6E8A-4147-A177-3AD203B41FA5}">
                      <a16:colId xmlns:a16="http://schemas.microsoft.com/office/drawing/2014/main" val="20012"/>
                    </a:ext>
                  </a:extLst>
                </a:gridCol>
              </a:tblGrid>
              <a:tr h="535781">
                <a:tc>
                  <a:txBody>
                    <a:bodyPr/>
                    <a:lstStyle/>
                    <a:p>
                      <a:r>
                        <a:rPr sz="1575" b="1">
                          <a:solidFill>
                            <a:srgbClr val="FFFFFF"/>
                          </a:solidFill>
                          <a:latin typeface="HSE Sans"/>
                          <a:ea typeface="HSE Sans"/>
                          <a:cs typeface="HSE Sans"/>
                        </a:rPr>
                        <a:t>Класс</a:t>
                      </a:r>
                    </a:p>
                  </a:txBody>
                  <a:tcPr anchor="ctr">
                    <a:solidFill>
                      <a:srgbClr val="102D69"/>
                    </a:solidFill>
                  </a:tcPr>
                </a:tc>
                <a:tc>
                  <a:txBody>
                    <a:bodyPr/>
                    <a:lstStyle/>
                    <a:p>
                      <a:r>
                        <a:rPr sz="1575" b="1">
                          <a:solidFill>
                            <a:srgbClr val="FFFFFF"/>
                          </a:solidFill>
                          <a:latin typeface="HSE Sans"/>
                          <a:ea typeface="HSE Sans"/>
                          <a:cs typeface="HSE Sans"/>
                        </a:rPr>
                        <a:t>А</a:t>
                      </a:r>
                    </a:p>
                  </a:txBody>
                  <a:tcPr anchor="ctr">
                    <a:solidFill>
                      <a:srgbClr val="102D69"/>
                    </a:solidFill>
                  </a:tcPr>
                </a:tc>
                <a:tc>
                  <a:txBody>
                    <a:bodyPr/>
                    <a:lstStyle/>
                    <a:p>
                      <a:r>
                        <a:rPr sz="1575" b="1">
                          <a:solidFill>
                            <a:srgbClr val="FFFFFF"/>
                          </a:solidFill>
                          <a:latin typeface="HSE Sans"/>
                          <a:ea typeface="HSE Sans"/>
                          <a:cs typeface="HSE Sans"/>
                        </a:rPr>
                        <a:t>А</a:t>
                      </a:r>
                    </a:p>
                  </a:txBody>
                  <a:tcPr anchor="ctr">
                    <a:solidFill>
                      <a:srgbClr val="102D69"/>
                    </a:solidFill>
                  </a:tcPr>
                </a:tc>
                <a:tc>
                  <a:txBody>
                    <a:bodyPr/>
                    <a:lstStyle/>
                    <a:p>
                      <a:r>
                        <a:rPr sz="1575" b="1">
                          <a:solidFill>
                            <a:srgbClr val="FFFFFF"/>
                          </a:solidFill>
                          <a:latin typeface="HSE Sans"/>
                          <a:ea typeface="HSE Sans"/>
                          <a:cs typeface="HSE Sans"/>
                        </a:rPr>
                        <a:t>Б</a:t>
                      </a:r>
                    </a:p>
                  </a:txBody>
                  <a:tcPr anchor="ctr">
                    <a:solidFill>
                      <a:srgbClr val="7765A7"/>
                    </a:solidFill>
                  </a:tcPr>
                </a:tc>
                <a:tc>
                  <a:txBody>
                    <a:bodyPr/>
                    <a:lstStyle/>
                    <a:p>
                      <a:r>
                        <a:rPr sz="1575" b="1">
                          <a:solidFill>
                            <a:srgbClr val="FFFFFF"/>
                          </a:solidFill>
                          <a:latin typeface="HSE Sans"/>
                          <a:ea typeface="HSE Sans"/>
                          <a:cs typeface="HSE Sans"/>
                        </a:rPr>
                        <a:t>А</a:t>
                      </a:r>
                    </a:p>
                  </a:txBody>
                  <a:tcPr anchor="ctr">
                    <a:solidFill>
                      <a:srgbClr val="102D69"/>
                    </a:solidFill>
                  </a:tcPr>
                </a:tc>
                <a:tc>
                  <a:txBody>
                    <a:bodyPr/>
                    <a:lstStyle/>
                    <a:p>
                      <a:r>
                        <a:rPr sz="1575" b="1">
                          <a:solidFill>
                            <a:srgbClr val="FFFFFF"/>
                          </a:solidFill>
                          <a:latin typeface="HSE Sans"/>
                          <a:ea typeface="HSE Sans"/>
                          <a:cs typeface="HSE Sans"/>
                        </a:rPr>
                        <a:t>А</a:t>
                      </a:r>
                    </a:p>
                  </a:txBody>
                  <a:tcPr anchor="ctr">
                    <a:solidFill>
                      <a:srgbClr val="102D69"/>
                    </a:solidFill>
                  </a:tcPr>
                </a:tc>
                <a:tc>
                  <a:txBody>
                    <a:bodyPr/>
                    <a:lstStyle/>
                    <a:p>
                      <a:r>
                        <a:rPr sz="1575" b="1">
                          <a:solidFill>
                            <a:srgbClr val="FFFFFF"/>
                          </a:solidFill>
                          <a:latin typeface="HSE Sans"/>
                          <a:ea typeface="HSE Sans"/>
                          <a:cs typeface="HSE Sans"/>
                        </a:rPr>
                        <a:t>А</a:t>
                      </a:r>
                    </a:p>
                  </a:txBody>
                  <a:tcPr anchor="ctr">
                    <a:solidFill>
                      <a:srgbClr val="102D69"/>
                    </a:solidFill>
                  </a:tcPr>
                </a:tc>
                <a:tc>
                  <a:txBody>
                    <a:bodyPr/>
                    <a:lstStyle/>
                    <a:p>
                      <a:r>
                        <a:rPr sz="1575" b="1">
                          <a:solidFill>
                            <a:srgbClr val="FFFFFF"/>
                          </a:solidFill>
                          <a:latin typeface="HSE Sans"/>
                          <a:ea typeface="HSE Sans"/>
                          <a:cs typeface="HSE Sans"/>
                        </a:rPr>
                        <a:t>Б</a:t>
                      </a:r>
                    </a:p>
                  </a:txBody>
                  <a:tcPr anchor="ctr">
                    <a:solidFill>
                      <a:srgbClr val="7765A7"/>
                    </a:solidFill>
                  </a:tcPr>
                </a:tc>
                <a:tc>
                  <a:txBody>
                    <a:bodyPr/>
                    <a:lstStyle/>
                    <a:p>
                      <a:r>
                        <a:rPr sz="1575" b="1">
                          <a:solidFill>
                            <a:srgbClr val="FFFFFF"/>
                          </a:solidFill>
                          <a:latin typeface="HSE Sans"/>
                          <a:ea typeface="HSE Sans"/>
                          <a:cs typeface="HSE Sans"/>
                        </a:rPr>
                        <a:t>А</a:t>
                      </a:r>
                    </a:p>
                  </a:txBody>
                  <a:tcPr anchor="ctr">
                    <a:solidFill>
                      <a:srgbClr val="102D69"/>
                    </a:solidFill>
                  </a:tcPr>
                </a:tc>
                <a:tc>
                  <a:txBody>
                    <a:bodyPr/>
                    <a:lstStyle/>
                    <a:p>
                      <a:r>
                        <a:rPr sz="1575" b="1">
                          <a:solidFill>
                            <a:srgbClr val="FFFFFF"/>
                          </a:solidFill>
                          <a:latin typeface="HSE Sans"/>
                          <a:ea typeface="HSE Sans"/>
                          <a:cs typeface="HSE Sans"/>
                        </a:rPr>
                        <a:t>А</a:t>
                      </a:r>
                    </a:p>
                  </a:txBody>
                  <a:tcPr anchor="ctr">
                    <a:solidFill>
                      <a:srgbClr val="102D69"/>
                    </a:solidFill>
                  </a:tcPr>
                </a:tc>
                <a:tc>
                  <a:txBody>
                    <a:bodyPr/>
                    <a:lstStyle/>
                    <a:p>
                      <a:r>
                        <a:rPr sz="1575" b="1">
                          <a:solidFill>
                            <a:srgbClr val="FFFFFF"/>
                          </a:solidFill>
                          <a:latin typeface="HSE Sans"/>
                          <a:ea typeface="HSE Sans"/>
                          <a:cs typeface="HSE Sans"/>
                        </a:rPr>
                        <a:t>А</a:t>
                      </a:r>
                    </a:p>
                  </a:txBody>
                  <a:tcPr anchor="ctr">
                    <a:solidFill>
                      <a:srgbClr val="102D69"/>
                    </a:solidFill>
                  </a:tcPr>
                </a:tc>
                <a:tc>
                  <a:txBody>
                    <a:bodyPr/>
                    <a:lstStyle/>
                    <a:p>
                      <a:r>
                        <a:rPr sz="1575" b="1">
                          <a:solidFill>
                            <a:srgbClr val="FFFFFF"/>
                          </a:solidFill>
                          <a:latin typeface="HSE Sans"/>
                          <a:ea typeface="HSE Sans"/>
                          <a:cs typeface="HSE Sans"/>
                        </a:rPr>
                        <a:t>Б</a:t>
                      </a:r>
                    </a:p>
                  </a:txBody>
                  <a:tcPr anchor="ctr">
                    <a:solidFill>
                      <a:srgbClr val="7765A7"/>
                    </a:solidFill>
                  </a:tcPr>
                </a:tc>
                <a:tc>
                  <a:txBody>
                    <a:bodyPr/>
                    <a:lstStyle/>
                    <a:p>
                      <a:r>
                        <a:rPr sz="1575" b="1">
                          <a:solidFill>
                            <a:srgbClr val="FFFFFF"/>
                          </a:solidFill>
                          <a:latin typeface="HSE Sans"/>
                          <a:ea typeface="HSE Sans"/>
                          <a:cs typeface="HSE Sans"/>
                        </a:rPr>
                        <a:t>А</a:t>
                      </a:r>
                    </a:p>
                  </a:txBody>
                  <a:tcPr anchor="ctr">
                    <a:solidFill>
                      <a:srgbClr val="102D69"/>
                    </a:solidFill>
                  </a:tcPr>
                </a:tc>
                <a:extLst>
                  <a:ext uri="{0D108BD9-81ED-4DB2-BD59-A6C34878D82A}">
                    <a16:rowId xmlns:a16="http://schemas.microsoft.com/office/drawing/2014/main" val="10000"/>
                  </a:ext>
                </a:extLst>
              </a:tr>
              <a:tr h="535781">
                <a:tc>
                  <a:txBody>
                    <a:bodyPr/>
                    <a:lstStyle/>
                    <a:p>
                      <a:r>
                        <a:rPr sz="1575" b="0">
                          <a:solidFill>
                            <a:srgbClr val="102D69"/>
                          </a:solidFill>
                          <a:latin typeface="HSE Sans"/>
                          <a:ea typeface="HSE Sans"/>
                          <a:cs typeface="HSE Sans"/>
                        </a:rPr>
                        <a:t>Фолд 1</a:t>
                      </a:r>
                    </a:p>
                  </a:txBody>
                  <a:tcPr anchor="ctr">
                    <a:solidFill>
                      <a:srgbClr val="EFF4FB"/>
                    </a:solidFill>
                  </a:tcPr>
                </a:tc>
                <a:tc>
                  <a:txBody>
                    <a:bodyPr/>
                    <a:lstStyle/>
                    <a:p>
                      <a:r>
                        <a:rPr sz="1575" b="0">
                          <a:solidFill>
                            <a:srgbClr val="102D69"/>
                          </a:solidFill>
                          <a:latin typeface="HSE Sans"/>
                          <a:ea typeface="HSE Sans"/>
                          <a:cs typeface="HSE Sans"/>
                        </a:rPr>
                        <a:t>Test</a:t>
                      </a:r>
                    </a:p>
                  </a:txBody>
                  <a:tcPr anchor="ctr">
                    <a:solidFill>
                      <a:srgbClr val="FDE7D9"/>
                    </a:solidFill>
                  </a:tcPr>
                </a:tc>
                <a:tc>
                  <a:txBody>
                    <a:bodyPr/>
                    <a:lstStyle/>
                    <a:p>
                      <a:r>
                        <a:rPr sz="1575" b="0">
                          <a:solidFill>
                            <a:srgbClr val="102D69"/>
                          </a:solidFill>
                          <a:latin typeface="HSE Sans"/>
                          <a:ea typeface="HSE Sans"/>
                          <a:cs typeface="HSE Sans"/>
                        </a:rPr>
                        <a:t>Train</a:t>
                      </a:r>
                    </a:p>
                  </a:txBody>
                  <a:tcPr anchor="ctr">
                    <a:solidFill>
                      <a:srgbClr val="E5EDF9"/>
                    </a:solidFill>
                  </a:tcPr>
                </a:tc>
                <a:tc>
                  <a:txBody>
                    <a:bodyPr/>
                    <a:lstStyle/>
                    <a:p>
                      <a:r>
                        <a:rPr sz="1575" b="0">
                          <a:solidFill>
                            <a:srgbClr val="102D69"/>
                          </a:solidFill>
                          <a:latin typeface="HSE Sans"/>
                          <a:ea typeface="HSE Sans"/>
                          <a:cs typeface="HSE Sans"/>
                        </a:rPr>
                        <a:t>Test</a:t>
                      </a:r>
                    </a:p>
                  </a:txBody>
                  <a:tcPr anchor="ctr">
                    <a:solidFill>
                      <a:srgbClr val="FDE7D9"/>
                    </a:solidFill>
                  </a:tcPr>
                </a:tc>
                <a:tc>
                  <a:txBody>
                    <a:bodyPr/>
                    <a:lstStyle/>
                    <a:p>
                      <a:r>
                        <a:rPr sz="1575" b="0">
                          <a:solidFill>
                            <a:srgbClr val="102D69"/>
                          </a:solidFill>
                          <a:latin typeface="HSE Sans"/>
                          <a:ea typeface="HSE Sans"/>
                          <a:cs typeface="HSE Sans"/>
                        </a:rPr>
                        <a:t>Train</a:t>
                      </a:r>
                    </a:p>
                  </a:txBody>
                  <a:tcPr anchor="ctr">
                    <a:solidFill>
                      <a:srgbClr val="E5EDF9"/>
                    </a:solidFill>
                  </a:tcPr>
                </a:tc>
                <a:tc>
                  <a:txBody>
                    <a:bodyPr/>
                    <a:lstStyle/>
                    <a:p>
                      <a:r>
                        <a:rPr sz="1575" b="0">
                          <a:solidFill>
                            <a:srgbClr val="102D69"/>
                          </a:solidFill>
                          <a:latin typeface="HSE Sans"/>
                          <a:ea typeface="HSE Sans"/>
                          <a:cs typeface="HSE Sans"/>
                        </a:rPr>
                        <a:t>Test</a:t>
                      </a:r>
                    </a:p>
                  </a:txBody>
                  <a:tcPr anchor="ctr">
                    <a:solidFill>
                      <a:srgbClr val="FDE7D9"/>
                    </a:solidFill>
                  </a:tcPr>
                </a:tc>
                <a:tc>
                  <a:txBody>
                    <a:bodyPr/>
                    <a:lstStyle/>
                    <a:p>
                      <a:r>
                        <a:rPr sz="1575" b="0">
                          <a:solidFill>
                            <a:srgbClr val="102D69"/>
                          </a:solidFill>
                          <a:latin typeface="HSE Sans"/>
                          <a:ea typeface="HSE Sans"/>
                          <a:cs typeface="HSE Sans"/>
                        </a:rPr>
                        <a:t>Train</a:t>
                      </a:r>
                    </a:p>
                  </a:txBody>
                  <a:tcPr anchor="ctr">
                    <a:solidFill>
                      <a:srgbClr val="E5EDF9"/>
                    </a:solidFill>
                  </a:tcPr>
                </a:tc>
                <a:tc>
                  <a:txBody>
                    <a:bodyPr/>
                    <a:lstStyle/>
                    <a:p>
                      <a:r>
                        <a:rPr sz="1575" b="0">
                          <a:solidFill>
                            <a:srgbClr val="102D69"/>
                          </a:solidFill>
                          <a:latin typeface="HSE Sans"/>
                          <a:ea typeface="HSE Sans"/>
                          <a:cs typeface="HSE Sans"/>
                        </a:rPr>
                        <a:t>Train</a:t>
                      </a:r>
                    </a:p>
                  </a:txBody>
                  <a:tcPr anchor="ctr">
                    <a:solidFill>
                      <a:srgbClr val="E5EDF9"/>
                    </a:solidFill>
                  </a:tcPr>
                </a:tc>
                <a:tc>
                  <a:txBody>
                    <a:bodyPr/>
                    <a:lstStyle/>
                    <a:p>
                      <a:r>
                        <a:rPr sz="1575" b="0">
                          <a:solidFill>
                            <a:srgbClr val="102D69"/>
                          </a:solidFill>
                          <a:latin typeface="HSE Sans"/>
                          <a:ea typeface="HSE Sans"/>
                          <a:cs typeface="HSE Sans"/>
                        </a:rPr>
                        <a:t>Train</a:t>
                      </a:r>
                    </a:p>
                  </a:txBody>
                  <a:tcPr anchor="ctr">
                    <a:solidFill>
                      <a:srgbClr val="E5EDF9"/>
                    </a:solidFill>
                  </a:tcPr>
                </a:tc>
                <a:tc>
                  <a:txBody>
                    <a:bodyPr/>
                    <a:lstStyle/>
                    <a:p>
                      <a:r>
                        <a:rPr sz="1575" b="0">
                          <a:solidFill>
                            <a:srgbClr val="102D69"/>
                          </a:solidFill>
                          <a:latin typeface="HSE Sans"/>
                          <a:ea typeface="HSE Sans"/>
                          <a:cs typeface="HSE Sans"/>
                        </a:rPr>
                        <a:t>Test</a:t>
                      </a:r>
                    </a:p>
                  </a:txBody>
                  <a:tcPr anchor="ctr">
                    <a:solidFill>
                      <a:srgbClr val="FDE7D9"/>
                    </a:solidFill>
                  </a:tcPr>
                </a:tc>
                <a:tc>
                  <a:txBody>
                    <a:bodyPr/>
                    <a:lstStyle/>
                    <a:p>
                      <a:r>
                        <a:rPr sz="1575" b="0">
                          <a:solidFill>
                            <a:srgbClr val="102D69"/>
                          </a:solidFill>
                          <a:latin typeface="HSE Sans"/>
                          <a:ea typeface="HSE Sans"/>
                          <a:cs typeface="HSE Sans"/>
                        </a:rPr>
                        <a:t>Train</a:t>
                      </a:r>
                    </a:p>
                  </a:txBody>
                  <a:tcPr anchor="ctr">
                    <a:solidFill>
                      <a:srgbClr val="E5EDF9"/>
                    </a:solidFill>
                  </a:tcPr>
                </a:tc>
                <a:tc>
                  <a:txBody>
                    <a:bodyPr/>
                    <a:lstStyle/>
                    <a:p>
                      <a:r>
                        <a:rPr sz="1575" b="0">
                          <a:solidFill>
                            <a:srgbClr val="102D69"/>
                          </a:solidFill>
                          <a:latin typeface="HSE Sans"/>
                          <a:ea typeface="HSE Sans"/>
                          <a:cs typeface="HSE Sans"/>
                        </a:rPr>
                        <a:t>Train</a:t>
                      </a:r>
                    </a:p>
                  </a:txBody>
                  <a:tcPr anchor="ctr">
                    <a:solidFill>
                      <a:srgbClr val="E5EDF9"/>
                    </a:solidFill>
                  </a:tcPr>
                </a:tc>
                <a:tc>
                  <a:txBody>
                    <a:bodyPr/>
                    <a:lstStyle/>
                    <a:p>
                      <a:r>
                        <a:rPr sz="1575" b="0">
                          <a:solidFill>
                            <a:srgbClr val="102D69"/>
                          </a:solidFill>
                          <a:latin typeface="HSE Sans"/>
                          <a:ea typeface="HSE Sans"/>
                          <a:cs typeface="HSE Sans"/>
                        </a:rPr>
                        <a:t>Train</a:t>
                      </a:r>
                    </a:p>
                  </a:txBody>
                  <a:tcPr anchor="ctr">
                    <a:solidFill>
                      <a:srgbClr val="E5EDF9"/>
                    </a:solidFill>
                  </a:tcPr>
                </a:tc>
                <a:extLst>
                  <a:ext uri="{0D108BD9-81ED-4DB2-BD59-A6C34878D82A}">
                    <a16:rowId xmlns:a16="http://schemas.microsoft.com/office/drawing/2014/main" val="10001"/>
                  </a:ext>
                </a:extLst>
              </a:tr>
              <a:tr h="535781">
                <a:tc>
                  <a:txBody>
                    <a:bodyPr/>
                    <a:lstStyle/>
                    <a:p>
                      <a:r>
                        <a:rPr sz="1575" b="0">
                          <a:solidFill>
                            <a:srgbClr val="102D69"/>
                          </a:solidFill>
                          <a:latin typeface="HSE Sans"/>
                          <a:ea typeface="HSE Sans"/>
                          <a:cs typeface="HSE Sans"/>
                        </a:rPr>
                        <a:t>Фолд 2</a:t>
                      </a:r>
                    </a:p>
                  </a:txBody>
                  <a:tcPr anchor="ctr">
                    <a:solidFill>
                      <a:srgbClr val="FFFFFF"/>
                    </a:solidFill>
                  </a:tcPr>
                </a:tc>
                <a:tc>
                  <a:txBody>
                    <a:bodyPr/>
                    <a:lstStyle/>
                    <a:p>
                      <a:r>
                        <a:rPr sz="1575" b="0">
                          <a:solidFill>
                            <a:srgbClr val="102D69"/>
                          </a:solidFill>
                          <a:latin typeface="HSE Sans"/>
                          <a:ea typeface="HSE Sans"/>
                          <a:cs typeface="HSE Sans"/>
                        </a:rPr>
                        <a:t>Train</a:t>
                      </a:r>
                    </a:p>
                  </a:txBody>
                  <a:tcPr anchor="ctr">
                    <a:solidFill>
                      <a:srgbClr val="E5EDF9"/>
                    </a:solidFill>
                  </a:tcPr>
                </a:tc>
                <a:tc>
                  <a:txBody>
                    <a:bodyPr/>
                    <a:lstStyle/>
                    <a:p>
                      <a:r>
                        <a:rPr sz="1575" b="0">
                          <a:solidFill>
                            <a:srgbClr val="102D69"/>
                          </a:solidFill>
                          <a:latin typeface="HSE Sans"/>
                          <a:ea typeface="HSE Sans"/>
                          <a:cs typeface="HSE Sans"/>
                        </a:rPr>
                        <a:t>Test</a:t>
                      </a:r>
                    </a:p>
                  </a:txBody>
                  <a:tcPr anchor="ctr">
                    <a:solidFill>
                      <a:srgbClr val="FDE7D9"/>
                    </a:solidFill>
                  </a:tcPr>
                </a:tc>
                <a:tc>
                  <a:txBody>
                    <a:bodyPr/>
                    <a:lstStyle/>
                    <a:p>
                      <a:r>
                        <a:rPr sz="1575" b="0">
                          <a:solidFill>
                            <a:srgbClr val="102D69"/>
                          </a:solidFill>
                          <a:latin typeface="HSE Sans"/>
                          <a:ea typeface="HSE Sans"/>
                          <a:cs typeface="HSE Sans"/>
                        </a:rPr>
                        <a:t>Train</a:t>
                      </a:r>
                    </a:p>
                  </a:txBody>
                  <a:tcPr anchor="ctr">
                    <a:solidFill>
                      <a:srgbClr val="E5EDF9"/>
                    </a:solidFill>
                  </a:tcPr>
                </a:tc>
                <a:tc>
                  <a:txBody>
                    <a:bodyPr/>
                    <a:lstStyle/>
                    <a:p>
                      <a:r>
                        <a:rPr sz="1575" b="0">
                          <a:solidFill>
                            <a:srgbClr val="102D69"/>
                          </a:solidFill>
                          <a:latin typeface="HSE Sans"/>
                          <a:ea typeface="HSE Sans"/>
                          <a:cs typeface="HSE Sans"/>
                        </a:rPr>
                        <a:t>Train</a:t>
                      </a:r>
                    </a:p>
                  </a:txBody>
                  <a:tcPr anchor="ctr">
                    <a:solidFill>
                      <a:srgbClr val="E5EDF9"/>
                    </a:solidFill>
                  </a:tcPr>
                </a:tc>
                <a:tc>
                  <a:txBody>
                    <a:bodyPr/>
                    <a:lstStyle/>
                    <a:p>
                      <a:r>
                        <a:rPr sz="1575" b="0">
                          <a:solidFill>
                            <a:srgbClr val="102D69"/>
                          </a:solidFill>
                          <a:latin typeface="HSE Sans"/>
                          <a:ea typeface="HSE Sans"/>
                          <a:cs typeface="HSE Sans"/>
                        </a:rPr>
                        <a:t>Train</a:t>
                      </a:r>
                    </a:p>
                  </a:txBody>
                  <a:tcPr anchor="ctr">
                    <a:solidFill>
                      <a:srgbClr val="E5EDF9"/>
                    </a:solidFill>
                  </a:tcPr>
                </a:tc>
                <a:tc>
                  <a:txBody>
                    <a:bodyPr/>
                    <a:lstStyle/>
                    <a:p>
                      <a:r>
                        <a:rPr sz="1575" b="0">
                          <a:solidFill>
                            <a:srgbClr val="102D69"/>
                          </a:solidFill>
                          <a:latin typeface="HSE Sans"/>
                          <a:ea typeface="HSE Sans"/>
                          <a:cs typeface="HSE Sans"/>
                        </a:rPr>
                        <a:t>Test</a:t>
                      </a:r>
                    </a:p>
                  </a:txBody>
                  <a:tcPr anchor="ctr">
                    <a:solidFill>
                      <a:srgbClr val="FDE7D9"/>
                    </a:solidFill>
                  </a:tcPr>
                </a:tc>
                <a:tc>
                  <a:txBody>
                    <a:bodyPr/>
                    <a:lstStyle/>
                    <a:p>
                      <a:r>
                        <a:rPr sz="1575" b="0">
                          <a:solidFill>
                            <a:srgbClr val="102D69"/>
                          </a:solidFill>
                          <a:latin typeface="HSE Sans"/>
                          <a:ea typeface="HSE Sans"/>
                          <a:cs typeface="HSE Sans"/>
                        </a:rPr>
                        <a:t>Test</a:t>
                      </a:r>
                    </a:p>
                  </a:txBody>
                  <a:tcPr anchor="ctr">
                    <a:solidFill>
                      <a:srgbClr val="FDE7D9"/>
                    </a:solidFill>
                  </a:tcPr>
                </a:tc>
                <a:tc>
                  <a:txBody>
                    <a:bodyPr/>
                    <a:lstStyle/>
                    <a:p>
                      <a:r>
                        <a:rPr sz="1575" b="0">
                          <a:solidFill>
                            <a:srgbClr val="102D69"/>
                          </a:solidFill>
                          <a:latin typeface="HSE Sans"/>
                          <a:ea typeface="HSE Sans"/>
                          <a:cs typeface="HSE Sans"/>
                        </a:rPr>
                        <a:t>Train</a:t>
                      </a:r>
                    </a:p>
                  </a:txBody>
                  <a:tcPr anchor="ctr">
                    <a:solidFill>
                      <a:srgbClr val="E5EDF9"/>
                    </a:solidFill>
                  </a:tcPr>
                </a:tc>
                <a:tc>
                  <a:txBody>
                    <a:bodyPr/>
                    <a:lstStyle/>
                    <a:p>
                      <a:r>
                        <a:rPr sz="1575" b="0">
                          <a:solidFill>
                            <a:srgbClr val="102D69"/>
                          </a:solidFill>
                          <a:latin typeface="HSE Sans"/>
                          <a:ea typeface="HSE Sans"/>
                          <a:cs typeface="HSE Sans"/>
                        </a:rPr>
                        <a:t>Train</a:t>
                      </a:r>
                    </a:p>
                  </a:txBody>
                  <a:tcPr anchor="ctr">
                    <a:solidFill>
                      <a:srgbClr val="E5EDF9"/>
                    </a:solidFill>
                  </a:tcPr>
                </a:tc>
                <a:tc>
                  <a:txBody>
                    <a:bodyPr/>
                    <a:lstStyle/>
                    <a:p>
                      <a:r>
                        <a:rPr sz="1575" b="0">
                          <a:solidFill>
                            <a:srgbClr val="102D69"/>
                          </a:solidFill>
                          <a:latin typeface="HSE Sans"/>
                          <a:ea typeface="HSE Sans"/>
                          <a:cs typeface="HSE Sans"/>
                        </a:rPr>
                        <a:t>Test</a:t>
                      </a:r>
                    </a:p>
                  </a:txBody>
                  <a:tcPr anchor="ctr">
                    <a:solidFill>
                      <a:srgbClr val="FDE7D9"/>
                    </a:solidFill>
                  </a:tcPr>
                </a:tc>
                <a:tc>
                  <a:txBody>
                    <a:bodyPr/>
                    <a:lstStyle/>
                    <a:p>
                      <a:r>
                        <a:rPr sz="1575" b="0">
                          <a:solidFill>
                            <a:srgbClr val="102D69"/>
                          </a:solidFill>
                          <a:latin typeface="HSE Sans"/>
                          <a:ea typeface="HSE Sans"/>
                          <a:cs typeface="HSE Sans"/>
                        </a:rPr>
                        <a:t>Train</a:t>
                      </a:r>
                    </a:p>
                  </a:txBody>
                  <a:tcPr anchor="ctr">
                    <a:solidFill>
                      <a:srgbClr val="E5EDF9"/>
                    </a:solidFill>
                  </a:tcPr>
                </a:tc>
                <a:tc>
                  <a:txBody>
                    <a:bodyPr/>
                    <a:lstStyle/>
                    <a:p>
                      <a:r>
                        <a:rPr sz="1575" b="0">
                          <a:solidFill>
                            <a:srgbClr val="102D69"/>
                          </a:solidFill>
                          <a:latin typeface="HSE Sans"/>
                          <a:ea typeface="HSE Sans"/>
                          <a:cs typeface="HSE Sans"/>
                        </a:rPr>
                        <a:t>Train</a:t>
                      </a:r>
                    </a:p>
                  </a:txBody>
                  <a:tcPr anchor="ctr">
                    <a:solidFill>
                      <a:srgbClr val="E5EDF9"/>
                    </a:solidFill>
                  </a:tcPr>
                </a:tc>
                <a:extLst>
                  <a:ext uri="{0D108BD9-81ED-4DB2-BD59-A6C34878D82A}">
                    <a16:rowId xmlns:a16="http://schemas.microsoft.com/office/drawing/2014/main" val="10002"/>
                  </a:ext>
                </a:extLst>
              </a:tr>
              <a:tr h="535781">
                <a:tc>
                  <a:txBody>
                    <a:bodyPr/>
                    <a:lstStyle/>
                    <a:p>
                      <a:r>
                        <a:rPr sz="1575" b="0">
                          <a:solidFill>
                            <a:srgbClr val="102D69"/>
                          </a:solidFill>
                          <a:latin typeface="HSE Sans"/>
                          <a:ea typeface="HSE Sans"/>
                          <a:cs typeface="HSE Sans"/>
                        </a:rPr>
                        <a:t>Фолд 3</a:t>
                      </a:r>
                    </a:p>
                  </a:txBody>
                  <a:tcPr anchor="ctr">
                    <a:solidFill>
                      <a:srgbClr val="EFF4FB"/>
                    </a:solidFill>
                  </a:tcPr>
                </a:tc>
                <a:tc>
                  <a:txBody>
                    <a:bodyPr/>
                    <a:lstStyle/>
                    <a:p>
                      <a:r>
                        <a:rPr sz="1575" b="0">
                          <a:solidFill>
                            <a:srgbClr val="102D69"/>
                          </a:solidFill>
                          <a:latin typeface="HSE Sans"/>
                          <a:ea typeface="HSE Sans"/>
                          <a:cs typeface="HSE Sans"/>
                        </a:rPr>
                        <a:t>Train</a:t>
                      </a:r>
                    </a:p>
                  </a:txBody>
                  <a:tcPr anchor="ctr">
                    <a:solidFill>
                      <a:srgbClr val="E5EDF9"/>
                    </a:solidFill>
                  </a:tcPr>
                </a:tc>
                <a:tc>
                  <a:txBody>
                    <a:bodyPr/>
                    <a:lstStyle/>
                    <a:p>
                      <a:r>
                        <a:rPr sz="1575" b="0">
                          <a:solidFill>
                            <a:srgbClr val="102D69"/>
                          </a:solidFill>
                          <a:latin typeface="HSE Sans"/>
                          <a:ea typeface="HSE Sans"/>
                          <a:cs typeface="HSE Sans"/>
                        </a:rPr>
                        <a:t>Train</a:t>
                      </a:r>
                    </a:p>
                  </a:txBody>
                  <a:tcPr anchor="ctr">
                    <a:solidFill>
                      <a:srgbClr val="E5EDF9"/>
                    </a:solidFill>
                  </a:tcPr>
                </a:tc>
                <a:tc>
                  <a:txBody>
                    <a:bodyPr/>
                    <a:lstStyle/>
                    <a:p>
                      <a:r>
                        <a:rPr sz="1575" b="0">
                          <a:solidFill>
                            <a:srgbClr val="102D69"/>
                          </a:solidFill>
                          <a:latin typeface="HSE Sans"/>
                          <a:ea typeface="HSE Sans"/>
                          <a:cs typeface="HSE Sans"/>
                        </a:rPr>
                        <a:t>Train</a:t>
                      </a:r>
                    </a:p>
                  </a:txBody>
                  <a:tcPr anchor="ctr">
                    <a:solidFill>
                      <a:srgbClr val="E5EDF9"/>
                    </a:solidFill>
                  </a:tcPr>
                </a:tc>
                <a:tc>
                  <a:txBody>
                    <a:bodyPr/>
                    <a:lstStyle/>
                    <a:p>
                      <a:r>
                        <a:rPr sz="1575" b="0">
                          <a:solidFill>
                            <a:srgbClr val="102D69"/>
                          </a:solidFill>
                          <a:latin typeface="HSE Sans"/>
                          <a:ea typeface="HSE Sans"/>
                          <a:cs typeface="HSE Sans"/>
                        </a:rPr>
                        <a:t>Test</a:t>
                      </a:r>
                    </a:p>
                  </a:txBody>
                  <a:tcPr anchor="ctr">
                    <a:solidFill>
                      <a:srgbClr val="FDE7D9"/>
                    </a:solidFill>
                  </a:tcPr>
                </a:tc>
                <a:tc>
                  <a:txBody>
                    <a:bodyPr/>
                    <a:lstStyle/>
                    <a:p>
                      <a:r>
                        <a:rPr sz="1575" b="0">
                          <a:solidFill>
                            <a:srgbClr val="102D69"/>
                          </a:solidFill>
                          <a:latin typeface="HSE Sans"/>
                          <a:ea typeface="HSE Sans"/>
                          <a:cs typeface="HSE Sans"/>
                        </a:rPr>
                        <a:t>Train</a:t>
                      </a:r>
                    </a:p>
                  </a:txBody>
                  <a:tcPr anchor="ctr">
                    <a:solidFill>
                      <a:srgbClr val="E5EDF9"/>
                    </a:solidFill>
                  </a:tcPr>
                </a:tc>
                <a:tc>
                  <a:txBody>
                    <a:bodyPr/>
                    <a:lstStyle/>
                    <a:p>
                      <a:r>
                        <a:rPr sz="1575" b="0">
                          <a:solidFill>
                            <a:srgbClr val="102D69"/>
                          </a:solidFill>
                          <a:latin typeface="HSE Sans"/>
                          <a:ea typeface="HSE Sans"/>
                          <a:cs typeface="HSE Sans"/>
                        </a:rPr>
                        <a:t>Train</a:t>
                      </a:r>
                    </a:p>
                  </a:txBody>
                  <a:tcPr anchor="ctr">
                    <a:solidFill>
                      <a:srgbClr val="E5EDF9"/>
                    </a:solidFill>
                  </a:tcPr>
                </a:tc>
                <a:tc>
                  <a:txBody>
                    <a:bodyPr/>
                    <a:lstStyle/>
                    <a:p>
                      <a:r>
                        <a:rPr sz="1575" b="0">
                          <a:solidFill>
                            <a:srgbClr val="102D69"/>
                          </a:solidFill>
                          <a:latin typeface="HSE Sans"/>
                          <a:ea typeface="HSE Sans"/>
                          <a:cs typeface="HSE Sans"/>
                        </a:rPr>
                        <a:t>Train</a:t>
                      </a:r>
                    </a:p>
                  </a:txBody>
                  <a:tcPr anchor="ctr">
                    <a:solidFill>
                      <a:srgbClr val="E5EDF9"/>
                    </a:solidFill>
                  </a:tcPr>
                </a:tc>
                <a:tc>
                  <a:txBody>
                    <a:bodyPr/>
                    <a:lstStyle/>
                    <a:p>
                      <a:r>
                        <a:rPr sz="1575" b="0">
                          <a:solidFill>
                            <a:srgbClr val="102D69"/>
                          </a:solidFill>
                          <a:latin typeface="HSE Sans"/>
                          <a:ea typeface="HSE Sans"/>
                          <a:cs typeface="HSE Sans"/>
                        </a:rPr>
                        <a:t>Test</a:t>
                      </a:r>
                    </a:p>
                  </a:txBody>
                  <a:tcPr anchor="ctr">
                    <a:solidFill>
                      <a:srgbClr val="FDE7D9"/>
                    </a:solidFill>
                  </a:tcPr>
                </a:tc>
                <a:tc>
                  <a:txBody>
                    <a:bodyPr/>
                    <a:lstStyle/>
                    <a:p>
                      <a:r>
                        <a:rPr sz="1575" b="0">
                          <a:solidFill>
                            <a:srgbClr val="102D69"/>
                          </a:solidFill>
                          <a:latin typeface="HSE Sans"/>
                          <a:ea typeface="HSE Sans"/>
                          <a:cs typeface="HSE Sans"/>
                        </a:rPr>
                        <a:t>Train</a:t>
                      </a:r>
                    </a:p>
                  </a:txBody>
                  <a:tcPr anchor="ctr">
                    <a:solidFill>
                      <a:srgbClr val="E5EDF9"/>
                    </a:solidFill>
                  </a:tcPr>
                </a:tc>
                <a:tc>
                  <a:txBody>
                    <a:bodyPr/>
                    <a:lstStyle/>
                    <a:p>
                      <a:r>
                        <a:rPr sz="1575" b="0">
                          <a:solidFill>
                            <a:srgbClr val="102D69"/>
                          </a:solidFill>
                          <a:latin typeface="HSE Sans"/>
                          <a:ea typeface="HSE Sans"/>
                          <a:cs typeface="HSE Sans"/>
                        </a:rPr>
                        <a:t>Train</a:t>
                      </a:r>
                    </a:p>
                  </a:txBody>
                  <a:tcPr anchor="ctr">
                    <a:solidFill>
                      <a:srgbClr val="E5EDF9"/>
                    </a:solidFill>
                  </a:tcPr>
                </a:tc>
                <a:tc>
                  <a:txBody>
                    <a:bodyPr/>
                    <a:lstStyle/>
                    <a:p>
                      <a:r>
                        <a:rPr sz="1575" b="0">
                          <a:solidFill>
                            <a:srgbClr val="102D69"/>
                          </a:solidFill>
                          <a:latin typeface="HSE Sans"/>
                          <a:ea typeface="HSE Sans"/>
                          <a:cs typeface="HSE Sans"/>
                        </a:rPr>
                        <a:t>Test</a:t>
                      </a:r>
                    </a:p>
                  </a:txBody>
                  <a:tcPr anchor="ctr">
                    <a:solidFill>
                      <a:srgbClr val="FDE7D9"/>
                    </a:solidFill>
                  </a:tcPr>
                </a:tc>
                <a:tc>
                  <a:txBody>
                    <a:bodyPr/>
                    <a:lstStyle/>
                    <a:p>
                      <a:r>
                        <a:rPr sz="1575" b="0">
                          <a:solidFill>
                            <a:srgbClr val="102D69"/>
                          </a:solidFill>
                          <a:latin typeface="HSE Sans"/>
                          <a:ea typeface="HSE Sans"/>
                          <a:cs typeface="HSE Sans"/>
                        </a:rPr>
                        <a:t>Test</a:t>
                      </a:r>
                    </a:p>
                  </a:txBody>
                  <a:tcPr anchor="ctr">
                    <a:solidFill>
                      <a:srgbClr val="FDE7D9"/>
                    </a:solidFill>
                  </a:tcPr>
                </a:tc>
                <a:extLst>
                  <a:ext uri="{0D108BD9-81ED-4DB2-BD59-A6C34878D82A}">
                    <a16:rowId xmlns:a16="http://schemas.microsoft.com/office/drawing/2014/main" val="10003"/>
                  </a:ext>
                </a:extLst>
              </a:tr>
            </a:tbl>
          </a:graphicData>
        </a:graphic>
      </p:graphicFrame>
      <p:sp>
        <p:nvSpPr>
          <p:cNvPr id="9" name="l03-content-32">
            <a:extLst>
              <a:ext uri="{FF2B5EF4-FFF2-40B4-BE49-F238E27FC236}">
                <a16:creationId xmlns:a16="http://schemas.microsoft.com/office/drawing/2014/main" id="{9D25B5F0-0755-404A-B5B1-4B115002964A}"/>
              </a:ext>
            </a:extLst>
          </p:cNvPr>
          <p:cNvSpPr>
            <a:spLocks noGrp="1"/>
          </p:cNvSpPr>
          <p:nvPr/>
        </p:nvSpPr>
        <p:spPr>
          <a:xfrm>
            <a:off x="590550" y="5924550"/>
            <a:ext cx="11029950" cy="65722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Каждый объект один раз попадает в Test.</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На остальных объектах заново обучаем модель.</a:t>
            </a:r>
          </a:p>
        </p:txBody>
      </p:sp>
    </p:spTree>
    <p:extLst>
      <p:ext uri="{BB962C8B-B14F-4D97-AF65-F5344CB8AC3E}">
        <p14:creationId xmlns:p14="http://schemas.microsoft.com/office/powerpoint/2010/main" val="140984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Проверка прогноза на будущих данных</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1. Валидация и кросс-валидация</a:t>
            </a:r>
          </a:p>
        </p:txBody>
      </p:sp>
      <p:sp>
        <p:nvSpPr>
          <p:cNvPr id="7" name="l03-content-33">
            <a:extLst>
              <a:ext uri="{FF2B5EF4-FFF2-40B4-BE49-F238E27FC236}">
                <a16:creationId xmlns:a16="http://schemas.microsoft.com/office/drawing/2014/main" id="{454612A1-AF2D-464F-9B69-80AB90837892}"/>
              </a:ext>
            </a:extLst>
          </p:cNvPr>
          <p:cNvSpPr>
            <a:spLocks noGrp="1"/>
          </p:cNvSpPr>
          <p:nvPr/>
        </p:nvSpPr>
        <p:spPr>
          <a:xfrm>
            <a:off x="590550" y="2228850"/>
            <a:ext cx="11029950" cy="88582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Для временных данных обучаемся на прошлом и проверяемся на будущем.</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Случайное перемешивание нарушит этот порядок.</a:t>
            </a:r>
          </a:p>
        </p:txBody>
      </p:sp>
      <p:graphicFrame>
        <p:nvGraphicFramePr>
          <p:cNvPr id="16" name="Таблица 15"/>
          <p:cNvGraphicFramePr/>
          <p:nvPr/>
        </p:nvGraphicFramePr>
        <p:xfrm>
          <a:off x="590550" y="3419475"/>
          <a:ext cx="11029950" cy="2105024"/>
        </p:xfrm>
        <a:graphic>
          <a:graphicData uri="http://schemas.openxmlformats.org/drawingml/2006/table">
            <a:tbl>
              <a:tblPr firstRow="1"/>
              <a:tblGrid>
                <a:gridCol w="226695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gridCol w="2190750">
                  <a:extLst>
                    <a:ext uri="{9D8B030D-6E8A-4147-A177-3AD203B41FA5}">
                      <a16:colId xmlns:a16="http://schemas.microsoft.com/office/drawing/2014/main" val="20004"/>
                    </a:ext>
                  </a:extLst>
                </a:gridCol>
              </a:tblGrid>
              <a:tr h="526256">
                <a:tc>
                  <a:txBody>
                    <a:bodyPr/>
                    <a:lstStyle/>
                    <a:p>
                      <a:r>
                        <a:rPr sz="2025" b="1">
                          <a:solidFill>
                            <a:srgbClr val="FFFFFF"/>
                          </a:solidFill>
                          <a:latin typeface="HSE Sans"/>
                          <a:ea typeface="HSE Sans"/>
                          <a:cs typeface="HSE Sans"/>
                        </a:rPr>
                        <a:t>Разбиение</a:t>
                      </a:r>
                    </a:p>
                  </a:txBody>
                  <a:tcPr anchor="ctr">
                    <a:solidFill>
                      <a:srgbClr val="102D69"/>
                    </a:solidFill>
                  </a:tcPr>
                </a:tc>
                <a:tc>
                  <a:txBody>
                    <a:bodyPr/>
                    <a:lstStyle/>
                    <a:p>
                      <a:r>
                        <a:rPr sz="2025" b="1">
                          <a:solidFill>
                            <a:srgbClr val="FFFFFF"/>
                          </a:solidFill>
                          <a:latin typeface="HSE Sans"/>
                          <a:ea typeface="HSE Sans"/>
                          <a:cs typeface="HSE Sans"/>
                        </a:rPr>
                        <a:t>Янв.</a:t>
                      </a:r>
                    </a:p>
                  </a:txBody>
                  <a:tcPr anchor="ctr">
                    <a:solidFill>
                      <a:srgbClr val="102D69"/>
                    </a:solidFill>
                  </a:tcPr>
                </a:tc>
                <a:tc>
                  <a:txBody>
                    <a:bodyPr/>
                    <a:lstStyle/>
                    <a:p>
                      <a:r>
                        <a:rPr sz="2025" b="1">
                          <a:solidFill>
                            <a:srgbClr val="FFFFFF"/>
                          </a:solidFill>
                          <a:latin typeface="HSE Sans"/>
                          <a:ea typeface="HSE Sans"/>
                          <a:cs typeface="HSE Sans"/>
                        </a:rPr>
                        <a:t>Фев.</a:t>
                      </a:r>
                    </a:p>
                  </a:txBody>
                  <a:tcPr anchor="ctr">
                    <a:solidFill>
                      <a:srgbClr val="102D69"/>
                    </a:solidFill>
                  </a:tcPr>
                </a:tc>
                <a:tc>
                  <a:txBody>
                    <a:bodyPr/>
                    <a:lstStyle/>
                    <a:p>
                      <a:r>
                        <a:rPr sz="2025" b="1">
                          <a:solidFill>
                            <a:srgbClr val="FFFFFF"/>
                          </a:solidFill>
                          <a:latin typeface="HSE Sans"/>
                          <a:ea typeface="HSE Sans"/>
                          <a:cs typeface="HSE Sans"/>
                        </a:rPr>
                        <a:t>Март</a:t>
                      </a:r>
                    </a:p>
                  </a:txBody>
                  <a:tcPr anchor="ctr">
                    <a:solidFill>
                      <a:srgbClr val="102D69"/>
                    </a:solidFill>
                  </a:tcPr>
                </a:tc>
                <a:tc>
                  <a:txBody>
                    <a:bodyPr/>
                    <a:lstStyle/>
                    <a:p>
                      <a:r>
                        <a:rPr sz="2025" b="1">
                          <a:solidFill>
                            <a:srgbClr val="FFFFFF"/>
                          </a:solidFill>
                          <a:latin typeface="HSE Sans"/>
                          <a:ea typeface="HSE Sans"/>
                          <a:cs typeface="HSE Sans"/>
                        </a:rPr>
                        <a:t>Апр.</a:t>
                      </a:r>
                    </a:p>
                  </a:txBody>
                  <a:tcPr anchor="ctr">
                    <a:solidFill>
                      <a:srgbClr val="102D69"/>
                    </a:solidFill>
                  </a:tcPr>
                </a:tc>
                <a:extLst>
                  <a:ext uri="{0D108BD9-81ED-4DB2-BD59-A6C34878D82A}">
                    <a16:rowId xmlns:a16="http://schemas.microsoft.com/office/drawing/2014/main" val="10000"/>
                  </a:ext>
                </a:extLst>
              </a:tr>
              <a:tr h="526256">
                <a:tc>
                  <a:txBody>
                    <a:bodyPr/>
                    <a:lstStyle/>
                    <a:p>
                      <a:r>
                        <a:rPr sz="2025" b="0">
                          <a:solidFill>
                            <a:srgbClr val="102D69"/>
                          </a:solidFill>
                          <a:latin typeface="HSE Sans"/>
                          <a:ea typeface="HSE Sans"/>
                          <a:cs typeface="HSE Sans"/>
                        </a:rPr>
                        <a:t>1</a:t>
                      </a:r>
                    </a:p>
                  </a:txBody>
                  <a:tcPr anchor="ctr">
                    <a:solidFill>
                      <a:srgbClr val="EFF4FB"/>
                    </a:solidFill>
                  </a:tcPr>
                </a:tc>
                <a:tc>
                  <a:txBody>
                    <a:bodyPr/>
                    <a:lstStyle/>
                    <a:p>
                      <a:r>
                        <a:rPr sz="2025" b="0">
                          <a:solidFill>
                            <a:srgbClr val="102D69"/>
                          </a:solidFill>
                          <a:latin typeface="HSE Sans"/>
                          <a:ea typeface="HSE Sans"/>
                          <a:cs typeface="HSE Sans"/>
                        </a:rPr>
                        <a:t>Train</a:t>
                      </a:r>
                    </a:p>
                  </a:txBody>
                  <a:tcPr anchor="ctr">
                    <a:solidFill>
                      <a:srgbClr val="E5EDF9"/>
                    </a:solidFill>
                  </a:tcPr>
                </a:tc>
                <a:tc>
                  <a:txBody>
                    <a:bodyPr/>
                    <a:lstStyle/>
                    <a:p>
                      <a:r>
                        <a:rPr sz="2025" b="0">
                          <a:solidFill>
                            <a:srgbClr val="102D69"/>
                          </a:solidFill>
                          <a:latin typeface="HSE Sans"/>
                          <a:ea typeface="HSE Sans"/>
                          <a:cs typeface="HSE Sans"/>
                        </a:rPr>
                        <a:t>Test</a:t>
                      </a:r>
                    </a:p>
                  </a:txBody>
                  <a:tcPr anchor="ctr">
                    <a:solidFill>
                      <a:srgbClr val="FDE7D9"/>
                    </a:solidFill>
                  </a:tcPr>
                </a:tc>
                <a:tc>
                  <a:txBody>
                    <a:bodyPr/>
                    <a:lstStyle/>
                    <a:p>
                      <a:endParaRPr/>
                    </a:p>
                  </a:txBody>
                  <a:tcPr anchor="ctr">
                    <a:solidFill>
                      <a:srgbClr val="FFFFFF"/>
                    </a:solidFill>
                  </a:tcPr>
                </a:tc>
                <a:tc>
                  <a:txBody>
                    <a:bodyPr/>
                    <a:lstStyle/>
                    <a:p>
                      <a:endParaRPr/>
                    </a:p>
                  </a:txBody>
                  <a:tcPr anchor="ctr">
                    <a:solidFill>
                      <a:srgbClr val="FFFFFF"/>
                    </a:solidFill>
                  </a:tcPr>
                </a:tc>
                <a:extLst>
                  <a:ext uri="{0D108BD9-81ED-4DB2-BD59-A6C34878D82A}">
                    <a16:rowId xmlns:a16="http://schemas.microsoft.com/office/drawing/2014/main" val="10001"/>
                  </a:ext>
                </a:extLst>
              </a:tr>
              <a:tr h="526256">
                <a:tc>
                  <a:txBody>
                    <a:bodyPr/>
                    <a:lstStyle/>
                    <a:p>
                      <a:r>
                        <a:rPr sz="2025" b="0">
                          <a:solidFill>
                            <a:srgbClr val="102D69"/>
                          </a:solidFill>
                          <a:latin typeface="HSE Sans"/>
                          <a:ea typeface="HSE Sans"/>
                          <a:cs typeface="HSE Sans"/>
                        </a:rPr>
                        <a:t>2</a:t>
                      </a:r>
                    </a:p>
                  </a:txBody>
                  <a:tcPr anchor="ctr">
                    <a:solidFill>
                      <a:srgbClr val="FFFFFF"/>
                    </a:solidFill>
                  </a:tcPr>
                </a:tc>
                <a:tc>
                  <a:txBody>
                    <a:bodyPr/>
                    <a:lstStyle/>
                    <a:p>
                      <a:r>
                        <a:rPr sz="2025" b="0">
                          <a:solidFill>
                            <a:srgbClr val="102D69"/>
                          </a:solidFill>
                          <a:latin typeface="HSE Sans"/>
                          <a:ea typeface="HSE Sans"/>
                          <a:cs typeface="HSE Sans"/>
                        </a:rPr>
                        <a:t>Train</a:t>
                      </a:r>
                    </a:p>
                  </a:txBody>
                  <a:tcPr anchor="ctr">
                    <a:solidFill>
                      <a:srgbClr val="E5EDF9"/>
                    </a:solidFill>
                  </a:tcPr>
                </a:tc>
                <a:tc>
                  <a:txBody>
                    <a:bodyPr/>
                    <a:lstStyle/>
                    <a:p>
                      <a:r>
                        <a:rPr sz="2025" b="0">
                          <a:solidFill>
                            <a:srgbClr val="102D69"/>
                          </a:solidFill>
                          <a:latin typeface="HSE Sans"/>
                          <a:ea typeface="HSE Sans"/>
                          <a:cs typeface="HSE Sans"/>
                        </a:rPr>
                        <a:t>Train</a:t>
                      </a:r>
                    </a:p>
                  </a:txBody>
                  <a:tcPr anchor="ctr">
                    <a:solidFill>
                      <a:srgbClr val="E5EDF9"/>
                    </a:solidFill>
                  </a:tcPr>
                </a:tc>
                <a:tc>
                  <a:txBody>
                    <a:bodyPr/>
                    <a:lstStyle/>
                    <a:p>
                      <a:r>
                        <a:rPr sz="2025" b="0">
                          <a:solidFill>
                            <a:srgbClr val="102D69"/>
                          </a:solidFill>
                          <a:latin typeface="HSE Sans"/>
                          <a:ea typeface="HSE Sans"/>
                          <a:cs typeface="HSE Sans"/>
                        </a:rPr>
                        <a:t>Test</a:t>
                      </a:r>
                    </a:p>
                  </a:txBody>
                  <a:tcPr anchor="ctr">
                    <a:solidFill>
                      <a:srgbClr val="FDE7D9"/>
                    </a:solidFill>
                  </a:tcPr>
                </a:tc>
                <a:tc>
                  <a:txBody>
                    <a:bodyPr/>
                    <a:lstStyle/>
                    <a:p>
                      <a:endParaRPr/>
                    </a:p>
                  </a:txBody>
                  <a:tcPr anchor="ctr">
                    <a:solidFill>
                      <a:srgbClr val="FFFFFF"/>
                    </a:solidFill>
                  </a:tcPr>
                </a:tc>
                <a:extLst>
                  <a:ext uri="{0D108BD9-81ED-4DB2-BD59-A6C34878D82A}">
                    <a16:rowId xmlns:a16="http://schemas.microsoft.com/office/drawing/2014/main" val="10002"/>
                  </a:ext>
                </a:extLst>
              </a:tr>
              <a:tr h="526256">
                <a:tc>
                  <a:txBody>
                    <a:bodyPr/>
                    <a:lstStyle/>
                    <a:p>
                      <a:r>
                        <a:rPr sz="2025" b="0">
                          <a:solidFill>
                            <a:srgbClr val="102D69"/>
                          </a:solidFill>
                          <a:latin typeface="HSE Sans"/>
                          <a:ea typeface="HSE Sans"/>
                          <a:cs typeface="HSE Sans"/>
                        </a:rPr>
                        <a:t>3</a:t>
                      </a:r>
                    </a:p>
                  </a:txBody>
                  <a:tcPr anchor="ctr">
                    <a:solidFill>
                      <a:srgbClr val="EFF4FB"/>
                    </a:solidFill>
                  </a:tcPr>
                </a:tc>
                <a:tc>
                  <a:txBody>
                    <a:bodyPr/>
                    <a:lstStyle/>
                    <a:p>
                      <a:r>
                        <a:rPr sz="2025" b="0">
                          <a:solidFill>
                            <a:srgbClr val="102D69"/>
                          </a:solidFill>
                          <a:latin typeface="HSE Sans"/>
                          <a:ea typeface="HSE Sans"/>
                          <a:cs typeface="HSE Sans"/>
                        </a:rPr>
                        <a:t>Train</a:t>
                      </a:r>
                    </a:p>
                  </a:txBody>
                  <a:tcPr anchor="ctr">
                    <a:solidFill>
                      <a:srgbClr val="E5EDF9"/>
                    </a:solidFill>
                  </a:tcPr>
                </a:tc>
                <a:tc>
                  <a:txBody>
                    <a:bodyPr/>
                    <a:lstStyle/>
                    <a:p>
                      <a:r>
                        <a:rPr sz="2025" b="0">
                          <a:solidFill>
                            <a:srgbClr val="102D69"/>
                          </a:solidFill>
                          <a:latin typeface="HSE Sans"/>
                          <a:ea typeface="HSE Sans"/>
                          <a:cs typeface="HSE Sans"/>
                        </a:rPr>
                        <a:t>Train</a:t>
                      </a:r>
                    </a:p>
                  </a:txBody>
                  <a:tcPr anchor="ctr">
                    <a:solidFill>
                      <a:srgbClr val="E5EDF9"/>
                    </a:solidFill>
                  </a:tcPr>
                </a:tc>
                <a:tc>
                  <a:txBody>
                    <a:bodyPr/>
                    <a:lstStyle/>
                    <a:p>
                      <a:r>
                        <a:rPr sz="2025" b="0">
                          <a:solidFill>
                            <a:srgbClr val="102D69"/>
                          </a:solidFill>
                          <a:latin typeface="HSE Sans"/>
                          <a:ea typeface="HSE Sans"/>
                          <a:cs typeface="HSE Sans"/>
                        </a:rPr>
                        <a:t>Train</a:t>
                      </a:r>
                    </a:p>
                  </a:txBody>
                  <a:tcPr anchor="ctr">
                    <a:solidFill>
                      <a:srgbClr val="E5EDF9"/>
                    </a:solidFill>
                  </a:tcPr>
                </a:tc>
                <a:tc>
                  <a:txBody>
                    <a:bodyPr/>
                    <a:lstStyle/>
                    <a:p>
                      <a:r>
                        <a:rPr sz="2025" b="0">
                          <a:solidFill>
                            <a:srgbClr val="102D69"/>
                          </a:solidFill>
                          <a:latin typeface="HSE Sans"/>
                          <a:ea typeface="HSE Sans"/>
                          <a:cs typeface="HSE Sans"/>
                        </a:rPr>
                        <a:t>Test</a:t>
                      </a:r>
                    </a:p>
                  </a:txBody>
                  <a:tcPr anchor="ctr">
                    <a:solidFill>
                      <a:srgbClr val="FDE7D9"/>
                    </a:solidFill>
                  </a:tcPr>
                </a:tc>
                <a:extLst>
                  <a:ext uri="{0D108BD9-81ED-4DB2-BD59-A6C34878D82A}">
                    <a16:rowId xmlns:a16="http://schemas.microsoft.com/office/drawing/2014/main" val="10003"/>
                  </a:ext>
                </a:extLst>
              </a:tr>
            </a:tbl>
          </a:graphicData>
        </a:graphic>
      </p:graphicFrame>
      <p:sp>
        <p:nvSpPr>
          <p:cNvPr id="9" name="l03-content-34">
            <a:extLst>
              <a:ext uri="{FF2B5EF4-FFF2-40B4-BE49-F238E27FC236}">
                <a16:creationId xmlns:a16="http://schemas.microsoft.com/office/drawing/2014/main" id="{E5C49E0A-DF49-40AB-8D05-2C40836C77E8}"/>
              </a:ext>
            </a:extLst>
          </p:cNvPr>
          <p:cNvSpPr>
            <a:spLocks noGrp="1"/>
          </p:cNvSpPr>
          <p:nvPr/>
        </p:nvSpPr>
        <p:spPr>
          <a:xfrm>
            <a:off x="590550" y="5905500"/>
            <a:ext cx="11029950" cy="628650"/>
          </a:xfrm>
          <a:prstGeom prst="rect">
            <a:avLst/>
          </a:prstGeom>
          <a:noFill/>
          <a:ln w="0">
            <a:noFill/>
          </a:ln>
        </p:spPr>
        <p:txBody>
          <a:bodyPr wrap="square" lIns="0" tIns="0" rIns="0" bIns="0" anchor="t">
            <a:noAutofit/>
          </a:bodyPr>
          <a:lstStyle/>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Май оставляем для финальной проверки после подбора настроек.</a:t>
            </a:r>
          </a:p>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В этой схеме он не участвует ни в одном разбиении.</a:t>
            </a:r>
          </a:p>
        </p:txBody>
      </p:sp>
    </p:spTree>
    <p:extLst>
      <p:ext uri="{BB962C8B-B14F-4D97-AF65-F5344CB8AC3E}">
        <p14:creationId xmlns:p14="http://schemas.microsoft.com/office/powerpoint/2010/main" val="140984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Scaler обучаем на train, применяем ко всем частям</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1. Валидация и кросс-валидация</a:t>
            </a:r>
          </a:p>
        </p:txBody>
      </p:sp>
      <p:sp>
        <p:nvSpPr>
          <p:cNvPr id="7" name="l03-content-35">
            <a:extLst>
              <a:ext uri="{FF2B5EF4-FFF2-40B4-BE49-F238E27FC236}">
                <a16:creationId xmlns:a16="http://schemas.microsoft.com/office/drawing/2014/main" id="{2BE388AF-70A5-4CAE-9311-BE0B954AEF08}"/>
              </a:ext>
            </a:extLst>
          </p:cNvPr>
          <p:cNvSpPr>
            <a:spLocks noGrp="1"/>
          </p:cNvSpPr>
          <p:nvPr/>
        </p:nvSpPr>
        <p:spPr>
          <a:xfrm>
            <a:off x="590550" y="2266950"/>
            <a:ext cx="11029950" cy="94297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StandardScaler и MinMaxScaler запоминают параметры обучающих данных.</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На validation и test используем те же параметры, без нового обучения.</a:t>
            </a:r>
          </a:p>
        </p:txBody>
      </p:sp>
      <p:sp>
        <p:nvSpPr>
          <p:cNvPr id="8" name="l03-content-36">
            <a:extLst>
              <a:ext uri="{FF2B5EF4-FFF2-40B4-BE49-F238E27FC236}">
                <a16:creationId xmlns:a16="http://schemas.microsoft.com/office/drawing/2014/main" id="{A8ED53B9-6353-4E78-8D1F-29DC4E04F684}"/>
              </a:ext>
            </a:extLst>
          </p:cNvPr>
          <p:cNvSpPr>
            <a:spLocks noGrp="1"/>
          </p:cNvSpPr>
          <p:nvPr/>
        </p:nvSpPr>
        <p:spPr>
          <a:xfrm>
            <a:off x="590550" y="3571875"/>
            <a:ext cx="5276850" cy="514350"/>
          </a:xfrm>
          <a:prstGeom prst="rect">
            <a:avLst/>
          </a:prstGeom>
          <a:noFill/>
          <a:ln w="0">
            <a:noFill/>
          </a:ln>
        </p:spPr>
        <p:txBody>
          <a:bodyPr wrap="square" lIns="0" tIns="0" rIns="0" bIns="0" anchor="t">
            <a:noAutofit/>
          </a:bodyPr>
          <a:lstStyle/>
          <a:p>
            <a:pPr algn="l">
              <a:lnSpc>
                <a:spcPct val="112000"/>
              </a:lnSpc>
              <a:buNone/>
              <a:defRPr sz="2325" b="1">
                <a:solidFill>
                  <a:srgbClr val="102D69"/>
                </a:solidFill>
                <a:latin typeface="HSE Sans"/>
                <a:ea typeface="HSE Sans"/>
                <a:cs typeface="HSE Sans"/>
              </a:defRPr>
            </a:pPr>
            <a:r>
              <a:rPr sz="2325" b="1">
                <a:solidFill>
                  <a:srgbClr val="102D69"/>
                </a:solidFill>
                <a:latin typeface="HSE Sans"/>
                <a:ea typeface="HSE Sans"/>
                <a:cs typeface="HSE Sans"/>
              </a:rPr>
              <a:t>Train: fit_transform</a:t>
            </a:r>
          </a:p>
        </p:txBody>
      </p:sp>
      <p:sp>
        <p:nvSpPr>
          <p:cNvPr id="9" name="l03-content-37">
            <a:extLst>
              <a:ext uri="{FF2B5EF4-FFF2-40B4-BE49-F238E27FC236}">
                <a16:creationId xmlns:a16="http://schemas.microsoft.com/office/drawing/2014/main" id="{6E7DA319-52F9-4F88-907E-164D0AF55B8E}"/>
              </a:ext>
            </a:extLst>
          </p:cNvPr>
          <p:cNvSpPr>
            <a:spLocks noGrp="1"/>
          </p:cNvSpPr>
          <p:nvPr/>
        </p:nvSpPr>
        <p:spPr>
          <a:xfrm>
            <a:off x="590550" y="4219575"/>
            <a:ext cx="5276850" cy="90487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Находим параметры преобразования</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и преобразуем обучающие данные.</a:t>
            </a:r>
          </a:p>
        </p:txBody>
      </p:sp>
      <p:sp>
        <p:nvSpPr>
          <p:cNvPr id="10" name="l03-content-38">
            <a:extLst>
              <a:ext uri="{FF2B5EF4-FFF2-40B4-BE49-F238E27FC236}">
                <a16:creationId xmlns:a16="http://schemas.microsoft.com/office/drawing/2014/main" id="{B9E84CAD-C3E1-49C4-9BC8-A76BE66C8788}"/>
              </a:ext>
            </a:extLst>
          </p:cNvPr>
          <p:cNvSpPr>
            <a:spLocks noGrp="1"/>
          </p:cNvSpPr>
          <p:nvPr/>
        </p:nvSpPr>
        <p:spPr>
          <a:xfrm>
            <a:off x="6391275" y="3571875"/>
            <a:ext cx="5219700" cy="514350"/>
          </a:xfrm>
          <a:prstGeom prst="rect">
            <a:avLst/>
          </a:prstGeom>
          <a:noFill/>
          <a:ln w="0">
            <a:noFill/>
          </a:ln>
        </p:spPr>
        <p:txBody>
          <a:bodyPr wrap="square" lIns="0" tIns="0" rIns="0" bIns="0" anchor="t">
            <a:noAutofit/>
          </a:bodyPr>
          <a:lstStyle/>
          <a:p>
            <a:pPr algn="l">
              <a:lnSpc>
                <a:spcPct val="112000"/>
              </a:lnSpc>
              <a:buNone/>
              <a:defRPr sz="2250" b="1">
                <a:solidFill>
                  <a:srgbClr val="102D69"/>
                </a:solidFill>
                <a:latin typeface="HSE Sans"/>
                <a:ea typeface="HSE Sans"/>
                <a:cs typeface="HSE Sans"/>
              </a:defRPr>
            </a:pPr>
            <a:r>
              <a:rPr sz="2250" b="1">
                <a:solidFill>
                  <a:srgbClr val="102D69"/>
                </a:solidFill>
                <a:latin typeface="HSE Sans"/>
                <a:ea typeface="HSE Sans"/>
                <a:cs typeface="HSE Sans"/>
              </a:rPr>
              <a:t>Validation и test: transform</a:t>
            </a:r>
          </a:p>
        </p:txBody>
      </p:sp>
      <p:sp>
        <p:nvSpPr>
          <p:cNvPr id="11" name="l03-content-39">
            <a:extLst>
              <a:ext uri="{FF2B5EF4-FFF2-40B4-BE49-F238E27FC236}">
                <a16:creationId xmlns:a16="http://schemas.microsoft.com/office/drawing/2014/main" id="{F5A4D21C-2059-4E59-B8DB-66066D75D1A7}"/>
              </a:ext>
            </a:extLst>
          </p:cNvPr>
          <p:cNvSpPr>
            <a:spLocks noGrp="1"/>
          </p:cNvSpPr>
          <p:nvPr/>
        </p:nvSpPr>
        <p:spPr>
          <a:xfrm>
            <a:off x="6391275" y="4219575"/>
            <a:ext cx="5219700" cy="90487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Только применяем преобразование.</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Параметры остаются прежними.</a:t>
            </a:r>
          </a:p>
        </p:txBody>
      </p:sp>
      <p:sp>
        <p:nvSpPr>
          <p:cNvPr id="12" name="l03-content-40">
            <a:extLst>
              <a:ext uri="{FF2B5EF4-FFF2-40B4-BE49-F238E27FC236}">
                <a16:creationId xmlns:a16="http://schemas.microsoft.com/office/drawing/2014/main" id="{9B84B78C-9252-4072-9068-10233860F228}"/>
              </a:ext>
            </a:extLst>
          </p:cNvPr>
          <p:cNvSpPr>
            <a:spLocks noGrp="1"/>
          </p:cNvSpPr>
          <p:nvPr/>
        </p:nvSpPr>
        <p:spPr>
          <a:xfrm>
            <a:off x="590550" y="5391150"/>
            <a:ext cx="11029950" cy="111442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scaler = StandardScaler()</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X_train = scaler.fit_transform(X_train)</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X_test = scaler.transform(X_test)</a:t>
            </a:r>
          </a:p>
        </p:txBody>
      </p:sp>
    </p:spTree>
    <p:extLst>
      <p:ext uri="{BB962C8B-B14F-4D97-AF65-F5344CB8AC3E}">
        <p14:creationId xmlns:p14="http://schemas.microsoft.com/office/powerpoint/2010/main" val="140984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Регуляризация линейной модели</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2. Регуляризация линейной модели</a:t>
            </a:r>
          </a:p>
        </p:txBody>
      </p:sp>
      <p:sp>
        <p:nvSpPr>
          <p:cNvPr id="7" name="l03-content-41">
            <a:extLst>
              <a:ext uri="{FF2B5EF4-FFF2-40B4-BE49-F238E27FC236}">
                <a16:creationId xmlns:a16="http://schemas.microsoft.com/office/drawing/2014/main" id="{462D7C40-577F-450D-84E7-05BE3DB5AF53}"/>
              </a:ext>
            </a:extLst>
          </p:cNvPr>
          <p:cNvSpPr>
            <a:spLocks noGrp="1"/>
          </p:cNvSpPr>
          <p:nvPr/>
        </p:nvSpPr>
        <p:spPr>
          <a:xfrm>
            <a:off x="590550" y="2714625"/>
            <a:ext cx="1428750" cy="1047750"/>
          </a:xfrm>
          <a:prstGeom prst="rect">
            <a:avLst/>
          </a:prstGeom>
          <a:noFill/>
          <a:ln w="0">
            <a:noFill/>
          </a:ln>
        </p:spPr>
        <p:txBody>
          <a:bodyPr wrap="square" lIns="0" tIns="0" rIns="0" bIns="0" anchor="t">
            <a:noAutofit/>
          </a:bodyPr>
          <a:lstStyle/>
          <a:p>
            <a:pPr algn="l">
              <a:lnSpc>
                <a:spcPct val="112000"/>
              </a:lnSpc>
              <a:buNone/>
              <a:defRPr sz="5400" b="1">
                <a:solidFill>
                  <a:srgbClr val="234A9B"/>
                </a:solidFill>
                <a:latin typeface="HSE Sans"/>
                <a:ea typeface="HSE Sans"/>
                <a:cs typeface="HSE Sans"/>
              </a:defRPr>
            </a:pPr>
            <a:r>
              <a:rPr sz="5400" b="1">
                <a:solidFill>
                  <a:srgbClr val="234A9B"/>
                </a:solidFill>
                <a:latin typeface="HSE Sans"/>
                <a:ea typeface="HSE Sans"/>
                <a:cs typeface="HSE Sans"/>
              </a:rPr>
              <a:t>02</a:t>
            </a:r>
          </a:p>
        </p:txBody>
      </p:sp>
      <p:sp>
        <p:nvSpPr>
          <p:cNvPr id="8" name="l03-content-42">
            <a:extLst>
              <a:ext uri="{FF2B5EF4-FFF2-40B4-BE49-F238E27FC236}">
                <a16:creationId xmlns:a16="http://schemas.microsoft.com/office/drawing/2014/main" id="{91B58B1E-0A5F-4149-BBE3-57A56B88B324}"/>
              </a:ext>
            </a:extLst>
          </p:cNvPr>
          <p:cNvSpPr>
            <a:spLocks noGrp="1"/>
          </p:cNvSpPr>
          <p:nvPr/>
        </p:nvSpPr>
        <p:spPr>
          <a:xfrm>
            <a:off x="2333625" y="2781300"/>
            <a:ext cx="9048750" cy="2190750"/>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Штраф за большие веса</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Ridge, Lasso и геометрия ограничений</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Выбор силы регуляризации</a:t>
            </a:r>
          </a:p>
        </p:txBody>
      </p:sp>
    </p:spTree>
    <p:extLst>
      <p:ext uri="{BB962C8B-B14F-4D97-AF65-F5344CB8AC3E}">
        <p14:creationId xmlns:p14="http://schemas.microsoft.com/office/powerpoint/2010/main" val="140984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Большой вес усиливает погрешность признака</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2. Регуляризация линейной модели</a:t>
            </a:r>
          </a:p>
        </p:txBody>
      </p:sp>
      <p:sp>
        <p:nvSpPr>
          <p:cNvPr id="7" name="l03-content-43">
            <a:extLst>
              <a:ext uri="{FF2B5EF4-FFF2-40B4-BE49-F238E27FC236}">
                <a16:creationId xmlns:a16="http://schemas.microsoft.com/office/drawing/2014/main" id="{107D5F07-744B-407C-B097-3BA4AD03CBF8}"/>
              </a:ext>
            </a:extLst>
          </p:cNvPr>
          <p:cNvSpPr>
            <a:spLocks noGrp="1"/>
          </p:cNvSpPr>
          <p:nvPr/>
        </p:nvSpPr>
        <p:spPr>
          <a:xfrm>
            <a:off x="590550" y="2257425"/>
            <a:ext cx="11029950" cy="962025"/>
          </a:xfrm>
          <a:prstGeom prst="rect">
            <a:avLst/>
          </a:prstGeom>
          <a:noFill/>
          <a:ln w="0">
            <a:noFill/>
          </a:ln>
        </p:spPr>
        <p:txBody>
          <a:bodyPr wrap="square" lIns="0" tIns="0" rIns="0" bIns="0" anchor="t">
            <a:noAutofit/>
          </a:bodyPr>
          <a:lstStyle/>
          <a:p>
            <a:pPr algn="l">
              <a:lnSpc>
                <a:spcPct val="112000"/>
              </a:lnSpc>
              <a:buNone/>
              <a:defRPr sz="2250" b="0">
                <a:solidFill>
                  <a:srgbClr val="102D69"/>
                </a:solidFill>
                <a:latin typeface="HSE Sans"/>
                <a:ea typeface="HSE Sans"/>
                <a:cs typeface="HSE Sans"/>
              </a:defRPr>
            </a:pPr>
            <a:r>
              <a:rPr sz="2250" b="0">
                <a:solidFill>
                  <a:srgbClr val="102D69"/>
                </a:solidFill>
                <a:latin typeface="HSE Sans"/>
                <a:ea typeface="HSE Sans"/>
                <a:cs typeface="HSE Sans"/>
              </a:rPr>
              <a:t>Две модели при x = 1 дают один и тот же прогноз: 1.</a:t>
            </a:r>
          </a:p>
          <a:p>
            <a:pPr algn="l">
              <a:lnSpc>
                <a:spcPct val="112000"/>
              </a:lnSpc>
              <a:buNone/>
              <a:defRPr sz="2250" b="0">
                <a:solidFill>
                  <a:srgbClr val="102D69"/>
                </a:solidFill>
                <a:latin typeface="HSE Sans"/>
                <a:ea typeface="HSE Sans"/>
                <a:cs typeface="HSE Sans"/>
              </a:defRPr>
            </a:pPr>
            <a:r>
              <a:rPr sz="2250" b="0">
                <a:solidFill>
                  <a:srgbClr val="102D69"/>
                </a:solidFill>
                <a:latin typeface="HSE Sans"/>
                <a:ea typeface="HSE Sans"/>
                <a:cs typeface="HSE Sans"/>
              </a:rPr>
              <a:t>При измерении ошиблись на 0,1 и передали модели x = 1,1.</a:t>
            </a:r>
          </a:p>
        </p:txBody>
      </p:sp>
      <p:sp>
        <p:nvSpPr>
          <p:cNvPr id="8" name="l03-content-44">
            <a:extLst>
              <a:ext uri="{FF2B5EF4-FFF2-40B4-BE49-F238E27FC236}">
                <a16:creationId xmlns:a16="http://schemas.microsoft.com/office/drawing/2014/main" id="{A36895C7-CDC1-44EA-95FA-3BE60B28A9B3}"/>
              </a:ext>
            </a:extLst>
          </p:cNvPr>
          <p:cNvSpPr>
            <a:spLocks noGrp="1"/>
          </p:cNvSpPr>
          <p:nvPr/>
        </p:nvSpPr>
        <p:spPr>
          <a:xfrm>
            <a:off x="590550" y="3638550"/>
            <a:ext cx="5257800" cy="485775"/>
          </a:xfrm>
          <a:prstGeom prst="rect">
            <a:avLst/>
          </a:prstGeom>
          <a:noFill/>
          <a:ln w="0">
            <a:noFill/>
          </a:ln>
        </p:spPr>
        <p:txBody>
          <a:bodyPr wrap="square" lIns="0" tIns="0" rIns="0" bIns="0" anchor="t">
            <a:noAutofit/>
          </a:bodyPr>
          <a:lstStyle/>
          <a:p>
            <a:pPr algn="l">
              <a:lnSpc>
                <a:spcPct val="112000"/>
              </a:lnSpc>
              <a:buNone/>
              <a:defRPr sz="2325" b="1">
                <a:solidFill>
                  <a:srgbClr val="102D69"/>
                </a:solidFill>
                <a:latin typeface="HSE Sans"/>
                <a:ea typeface="HSE Sans"/>
                <a:cs typeface="HSE Sans"/>
              </a:defRPr>
            </a:pPr>
            <a:r>
              <a:rPr sz="2325" b="1">
                <a:solidFill>
                  <a:srgbClr val="102D69"/>
                </a:solidFill>
                <a:latin typeface="HSE Sans"/>
                <a:ea typeface="HSE Sans"/>
                <a:cs typeface="HSE Sans"/>
              </a:rPr>
              <a:t>Вес равен 10</a:t>
            </a:r>
          </a:p>
        </p:txBody>
      </p:sp>
      <mc:AlternateContent xmlns:mc="http://schemas.openxmlformats.org/markup-compatibility/2006">
        <mc:Choice xmlns:a14="http://schemas.microsoft.com/office/drawing/2010/main" Requires="a14">
          <p:sp>
            <p:nvSpPr>
              <p:cNvPr id="9" name="l03-content-45">
                <a:extLst>
                  <a:ext uri="{FF2B5EF4-FFF2-40B4-BE49-F238E27FC236}">
                    <a16:creationId xmlns:a16="http://schemas.microsoft.com/office/drawing/2014/main" id="{D36FA6BF-41D8-4654-9CA9-9AE077C7AFB6}"/>
                  </a:ext>
                </a:extLst>
              </p:cNvPr>
              <p:cNvSpPr>
                <a:spLocks noGrp="1"/>
              </p:cNvSpPr>
              <p:nvPr/>
            </p:nvSpPr>
            <p:spPr>
              <a:xfrm>
                <a:off x="590550" y="4276725"/>
                <a:ext cx="5257800" cy="714375"/>
              </a:xfrm>
              <a:prstGeom prst="rect">
                <a:avLst/>
              </a:prstGeom>
              <a:noFill/>
              <a:ln w="0">
                <a:noFill/>
              </a:ln>
            </p:spPr>
            <p:txBody>
              <a:bodyPr wrap="square" lIns="0" tIns="0" rIns="0" bIns="0" anchor="t">
                <a:noAutofit/>
              </a:bodyPr>
              <a:lstStyle/>
              <a:p>
                <a:pPr algn="ctr">
                  <a:defRPr sz="2850"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𝑎</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)=10</m:t>
                      </m:r>
                      <m:r>
                        <a:rPr>
                          <a:latin typeface="Cambria Math" panose="02040503050406030204" pitchFamily="18" charset="0"/>
                        </a:rPr>
                        <m:t>𝑥</m:t>
                      </m:r>
                      <m:r>
                        <a:rPr>
                          <a:latin typeface="Cambria Math" panose="02040503050406030204" pitchFamily="18" charset="0"/>
                        </a:rPr>
                        <m:t>−9</m:t>
                      </m:r>
                    </m:oMath>
                  </m:oMathPara>
                </a14:m>
                <a:endParaRPr/>
              </a:p>
            </p:txBody>
          </p:sp>
        </mc:Choice>
        <mc:Fallback>
          <p:sp>
            <p:nvSpPr>
              <p:cNvPr id="9" name="l03-content-45">
                <a:extLst>
                  <a:ext uri="{FF2B5EF4-FFF2-40B4-BE49-F238E27FC236}">
                    <a16:creationId xmlns:a16="http://schemas.microsoft.com/office/drawing/2014/main" id="{D36FA6BF-41D8-4654-9CA9-9AE077C7AFB6}"/>
                  </a:ext>
                </a:extLst>
              </p:cNvPr>
              <p:cNvSpPr>
                <a:spLocks noGrp="1" noRot="1" noChangeAspect="1" noMove="1" noResize="1" noEditPoints="1" noAdjustHandles="1" noChangeArrowheads="1" noChangeShapeType="1" noTextEdit="1"/>
              </p:cNvSpPr>
              <p:nvPr/>
            </p:nvSpPr>
            <p:spPr>
              <a:xfrm>
                <a:off x="590550" y="4276725"/>
                <a:ext cx="5257800" cy="714375"/>
              </a:xfrm>
              <a:prstGeom prst="rect">
                <a:avLst/>
              </a:prstGeom>
              <a:blipFill>
                <a:blip r:embed="rId3"/>
                <a:stretch>
                  <a:fillRect/>
                </a:stretch>
              </a:blipFill>
              <a:ln w="0">
                <a:noFill/>
              </a:ln>
            </p:spPr>
            <p:txBody>
              <a:bodyPr/>
              <a:lstStyle/>
              <a:p>
                <a:r>
                  <a:rPr lang="ru-RU">
                    <a:noFill/>
                  </a:rPr>
                  <a:t> </a:t>
                </a:r>
              </a:p>
            </p:txBody>
          </p:sp>
        </mc:Fallback>
      </mc:AlternateContent>
      <p:sp>
        <p:nvSpPr>
          <p:cNvPr id="10" name="l03-content-46">
            <a:extLst>
              <a:ext uri="{FF2B5EF4-FFF2-40B4-BE49-F238E27FC236}">
                <a16:creationId xmlns:a16="http://schemas.microsoft.com/office/drawing/2014/main" id="{556F6BBB-AE16-485E-9F94-1B1319DA4020}"/>
              </a:ext>
            </a:extLst>
          </p:cNvPr>
          <p:cNvSpPr>
            <a:spLocks noGrp="1"/>
          </p:cNvSpPr>
          <p:nvPr/>
        </p:nvSpPr>
        <p:spPr>
          <a:xfrm>
            <a:off x="590550" y="5219700"/>
            <a:ext cx="5257800" cy="100965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Новый прогноз: 10 · 1,1 − 9 = 2.</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Прогноз изменился на 1.</a:t>
            </a:r>
          </a:p>
        </p:txBody>
      </p:sp>
      <p:sp>
        <p:nvSpPr>
          <p:cNvPr id="11" name="l03-content-47">
            <a:extLst>
              <a:ext uri="{FF2B5EF4-FFF2-40B4-BE49-F238E27FC236}">
                <a16:creationId xmlns:a16="http://schemas.microsoft.com/office/drawing/2014/main" id="{A9C41413-D11C-4777-8FE4-BD106E7FCAAB}"/>
              </a:ext>
            </a:extLst>
          </p:cNvPr>
          <p:cNvSpPr>
            <a:spLocks noGrp="1"/>
          </p:cNvSpPr>
          <p:nvPr/>
        </p:nvSpPr>
        <p:spPr>
          <a:xfrm>
            <a:off x="6400800" y="3638550"/>
            <a:ext cx="5219700" cy="485775"/>
          </a:xfrm>
          <a:prstGeom prst="rect">
            <a:avLst/>
          </a:prstGeom>
          <a:noFill/>
          <a:ln w="0">
            <a:noFill/>
          </a:ln>
        </p:spPr>
        <p:txBody>
          <a:bodyPr wrap="square" lIns="0" tIns="0" rIns="0" bIns="0" anchor="t">
            <a:noAutofit/>
          </a:bodyPr>
          <a:lstStyle/>
          <a:p>
            <a:pPr algn="l">
              <a:lnSpc>
                <a:spcPct val="112000"/>
              </a:lnSpc>
              <a:buNone/>
              <a:defRPr sz="2325" b="1">
                <a:solidFill>
                  <a:srgbClr val="102D69"/>
                </a:solidFill>
                <a:latin typeface="HSE Sans"/>
                <a:ea typeface="HSE Sans"/>
                <a:cs typeface="HSE Sans"/>
              </a:defRPr>
            </a:pPr>
            <a:r>
              <a:rPr sz="2325" b="1">
                <a:solidFill>
                  <a:srgbClr val="102D69"/>
                </a:solidFill>
                <a:latin typeface="HSE Sans"/>
                <a:ea typeface="HSE Sans"/>
                <a:cs typeface="HSE Sans"/>
              </a:rPr>
              <a:t>Вес равен 1</a:t>
            </a:r>
          </a:p>
        </p:txBody>
      </p:sp>
      <mc:AlternateContent xmlns:mc="http://schemas.openxmlformats.org/markup-compatibility/2006">
        <mc:Choice xmlns:a14="http://schemas.microsoft.com/office/drawing/2010/main" Requires="a14">
          <p:sp>
            <p:nvSpPr>
              <p:cNvPr id="12" name="l03-content-48">
                <a:extLst>
                  <a:ext uri="{FF2B5EF4-FFF2-40B4-BE49-F238E27FC236}">
                    <a16:creationId xmlns:a16="http://schemas.microsoft.com/office/drawing/2014/main" id="{B9F1A4A0-DEAC-41F4-8721-7204EE3D93F4}"/>
                  </a:ext>
                </a:extLst>
              </p:cNvPr>
              <p:cNvSpPr>
                <a:spLocks noGrp="1"/>
              </p:cNvSpPr>
              <p:nvPr/>
            </p:nvSpPr>
            <p:spPr>
              <a:xfrm>
                <a:off x="6400800" y="4276725"/>
                <a:ext cx="5219700" cy="714375"/>
              </a:xfrm>
              <a:prstGeom prst="rect">
                <a:avLst/>
              </a:prstGeom>
              <a:noFill/>
              <a:ln w="0">
                <a:noFill/>
              </a:ln>
            </p:spPr>
            <p:txBody>
              <a:bodyPr wrap="square" lIns="0" tIns="0" rIns="0" bIns="0" anchor="t">
                <a:noAutofit/>
              </a:bodyPr>
              <a:lstStyle/>
              <a:p>
                <a:pPr algn="ctr">
                  <a:defRPr sz="2850"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𝑏</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𝑥</m:t>
                      </m:r>
                    </m:oMath>
                  </m:oMathPara>
                </a14:m>
                <a:endParaRPr/>
              </a:p>
            </p:txBody>
          </p:sp>
        </mc:Choice>
        <mc:Fallback>
          <p:sp>
            <p:nvSpPr>
              <p:cNvPr id="12" name="l03-content-48">
                <a:extLst>
                  <a:ext uri="{FF2B5EF4-FFF2-40B4-BE49-F238E27FC236}">
                    <a16:creationId xmlns:a16="http://schemas.microsoft.com/office/drawing/2014/main" id="{B9F1A4A0-DEAC-41F4-8721-7204EE3D93F4}"/>
                  </a:ext>
                </a:extLst>
              </p:cNvPr>
              <p:cNvSpPr>
                <a:spLocks noGrp="1" noRot="1" noChangeAspect="1" noMove="1" noResize="1" noEditPoints="1" noAdjustHandles="1" noChangeArrowheads="1" noChangeShapeType="1" noTextEdit="1"/>
              </p:cNvSpPr>
              <p:nvPr/>
            </p:nvSpPr>
            <p:spPr>
              <a:xfrm>
                <a:off x="6400800" y="4276725"/>
                <a:ext cx="5219700" cy="714375"/>
              </a:xfrm>
              <a:prstGeom prst="rect">
                <a:avLst/>
              </a:prstGeom>
              <a:blipFill>
                <a:blip r:embed="rId4"/>
                <a:stretch>
                  <a:fillRect/>
                </a:stretch>
              </a:blipFill>
              <a:ln w="0">
                <a:noFill/>
              </a:ln>
            </p:spPr>
            <p:txBody>
              <a:bodyPr/>
              <a:lstStyle/>
              <a:p>
                <a:r>
                  <a:rPr lang="ru-RU">
                    <a:noFill/>
                  </a:rPr>
                  <a:t> </a:t>
                </a:r>
              </a:p>
            </p:txBody>
          </p:sp>
        </mc:Fallback>
      </mc:AlternateContent>
      <p:sp>
        <p:nvSpPr>
          <p:cNvPr id="13" name="l03-content-49">
            <a:extLst>
              <a:ext uri="{FF2B5EF4-FFF2-40B4-BE49-F238E27FC236}">
                <a16:creationId xmlns:a16="http://schemas.microsoft.com/office/drawing/2014/main" id="{3912E21F-30AB-40AE-B1E1-9E463EE88D5C}"/>
              </a:ext>
            </a:extLst>
          </p:cNvPr>
          <p:cNvSpPr>
            <a:spLocks noGrp="1"/>
          </p:cNvSpPr>
          <p:nvPr/>
        </p:nvSpPr>
        <p:spPr>
          <a:xfrm>
            <a:off x="6400800" y="5219700"/>
            <a:ext cx="5219700" cy="100965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Новый прогноз: 1,1.</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Прогноз изменился только на 0,1.</a:t>
            </a:r>
          </a:p>
        </p:txBody>
      </p:sp>
    </p:spTree>
    <p:extLst>
      <p:ext uri="{BB962C8B-B14F-4D97-AF65-F5344CB8AC3E}">
        <p14:creationId xmlns:p14="http://schemas.microsoft.com/office/powerpoint/2010/main" val="140984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Регуляризация: ошибка плюс штраф</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2. Регуляризация линейной модели</a:t>
            </a:r>
          </a:p>
        </p:txBody>
      </p:sp>
      <p:sp>
        <p:nvSpPr>
          <p:cNvPr id="7" name="l03-content-50">
            <a:extLst>
              <a:ext uri="{FF2B5EF4-FFF2-40B4-BE49-F238E27FC236}">
                <a16:creationId xmlns:a16="http://schemas.microsoft.com/office/drawing/2014/main" id="{D5CC6A91-8745-41C0-BDF3-88E0077F235D}"/>
              </a:ext>
            </a:extLst>
          </p:cNvPr>
          <p:cNvSpPr>
            <a:spLocks noGrp="1"/>
          </p:cNvSpPr>
          <p:nvPr/>
        </p:nvSpPr>
        <p:spPr>
          <a:xfrm>
            <a:off x="590550" y="2333625"/>
            <a:ext cx="11029950" cy="981075"/>
          </a:xfrm>
          <a:prstGeom prst="rect">
            <a:avLst/>
          </a:prstGeom>
          <a:noFill/>
          <a:ln w="0">
            <a:noFill/>
          </a:ln>
        </p:spPr>
        <p:txBody>
          <a:bodyPr wrap="square" lIns="0" tIns="0" rIns="0" bIns="0" anchor="t">
            <a:noAutofit/>
          </a:bodyPr>
          <a:lstStyle/>
          <a:p>
            <a:pPr algn="l">
              <a:lnSpc>
                <a:spcPct val="112000"/>
              </a:lnSpc>
              <a:buNone/>
              <a:defRPr sz="2325" b="0">
                <a:solidFill>
                  <a:srgbClr val="102D69"/>
                </a:solidFill>
                <a:latin typeface="HSE Sans"/>
                <a:ea typeface="HSE Sans"/>
                <a:cs typeface="HSE Sans"/>
              </a:defRPr>
            </a:pPr>
            <a:r>
              <a:rPr sz="2325" b="0">
                <a:solidFill>
                  <a:srgbClr val="102D69"/>
                </a:solidFill>
                <a:latin typeface="HSE Sans"/>
                <a:ea typeface="HSE Sans"/>
                <a:cs typeface="HSE Sans"/>
              </a:rPr>
              <a:t>Теперь хотим одновременно хорошо предсказывать ответы</a:t>
            </a:r>
          </a:p>
          <a:p>
            <a:pPr algn="l">
              <a:lnSpc>
                <a:spcPct val="112000"/>
              </a:lnSpc>
              <a:buNone/>
              <a:defRPr sz="2325" b="0">
                <a:solidFill>
                  <a:srgbClr val="102D69"/>
                </a:solidFill>
                <a:latin typeface="HSE Sans"/>
                <a:ea typeface="HSE Sans"/>
                <a:cs typeface="HSE Sans"/>
              </a:defRPr>
            </a:pPr>
            <a:r>
              <a:rPr sz="2325" b="0">
                <a:solidFill>
                  <a:srgbClr val="102D69"/>
                </a:solidFill>
                <a:latin typeface="HSE Sans"/>
                <a:ea typeface="HSE Sans"/>
                <a:cs typeface="HSE Sans"/>
              </a:rPr>
              <a:t>и не делать веса слишком большими.</a:t>
            </a:r>
          </a:p>
        </p:txBody>
      </p:sp>
      <mc:AlternateContent xmlns:mc="http://schemas.openxmlformats.org/markup-compatibility/2006">
        <mc:Choice xmlns:a14="http://schemas.microsoft.com/office/drawing/2010/main" Requires="a14">
          <p:sp>
            <p:nvSpPr>
              <p:cNvPr id="8" name="l03-content-51">
                <a:extLst>
                  <a:ext uri="{FF2B5EF4-FFF2-40B4-BE49-F238E27FC236}">
                    <a16:creationId xmlns:a16="http://schemas.microsoft.com/office/drawing/2014/main" id="{DD687AA7-74BC-4A91-8F6F-C29F4DEE7D1B}"/>
                  </a:ext>
                </a:extLst>
              </p:cNvPr>
              <p:cNvSpPr>
                <a:spLocks noGrp="1"/>
              </p:cNvSpPr>
              <p:nvPr/>
            </p:nvSpPr>
            <p:spPr>
              <a:xfrm>
                <a:off x="590550" y="3648075"/>
                <a:ext cx="11029950" cy="1047750"/>
              </a:xfrm>
              <a:prstGeom prst="rect">
                <a:avLst/>
              </a:prstGeom>
              <a:noFill/>
              <a:ln w="0">
                <a:noFill/>
              </a:ln>
            </p:spPr>
            <p:txBody>
              <a:bodyPr wrap="square" lIns="0" tIns="0" rIns="0" bIns="0" anchor="t">
                <a:noAutofit/>
              </a:bodyPr>
              <a:lstStyle/>
              <a:p>
                <a:pPr algn="ctr">
                  <a:defRPr sz="3225" b="0">
                    <a:solidFill>
                      <a:srgbClr val="102D69"/>
                    </a:solidFill>
                    <a:latin typeface="Cambria Math"/>
                    <a:ea typeface="Cambria Math"/>
                    <a:cs typeface="Cambria Math"/>
                  </a:defRPr>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𝐽</m:t>
                          </m:r>
                        </m:e>
                        <m:sub>
                          <m:r>
                            <a:rPr>
                              <a:latin typeface="Cambria Math" panose="02040503050406030204" pitchFamily="18" charset="0"/>
                            </a:rPr>
                            <m:t>𝜆</m:t>
                          </m:r>
                        </m:sub>
                      </m:sSub>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r>
                        <a:rPr>
                          <a:latin typeface="Cambria Math" panose="02040503050406030204" pitchFamily="18" charset="0"/>
                        </a:rPr>
                        <m:t>𝑄</m:t>
                      </m:r>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r>
                        <a:rPr>
                          <a:latin typeface="Cambria Math" panose="02040503050406030204" pitchFamily="18" charset="0"/>
                        </a:rPr>
                        <m:t>𝜆</m:t>
                      </m:r>
                      <m:r>
                        <a:rPr>
                          <a:latin typeface="Cambria Math" panose="02040503050406030204" pitchFamily="18" charset="0"/>
                        </a:rPr>
                        <m:t>𝑅</m:t>
                      </m:r>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𝑚𝑖𝑛</m:t>
                          </m:r>
                        </m:e>
                        <m:sub>
                          <m:r>
                            <a:rPr>
                              <a:latin typeface="Cambria Math" panose="02040503050406030204" pitchFamily="18" charset="0"/>
                            </a:rPr>
                            <m:t>𝑤</m:t>
                          </m:r>
                        </m:sub>
                      </m:sSub>
                    </m:oMath>
                  </m:oMathPara>
                </a14:m>
                <a:endParaRPr/>
              </a:p>
            </p:txBody>
          </p:sp>
        </mc:Choice>
        <mc:Fallback>
          <p:sp>
            <p:nvSpPr>
              <p:cNvPr id="8" name="l03-content-51">
                <a:extLst>
                  <a:ext uri="{FF2B5EF4-FFF2-40B4-BE49-F238E27FC236}">
                    <a16:creationId xmlns:a16="http://schemas.microsoft.com/office/drawing/2014/main" id="{DD687AA7-74BC-4A91-8F6F-C29F4DEE7D1B}"/>
                  </a:ext>
                </a:extLst>
              </p:cNvPr>
              <p:cNvSpPr>
                <a:spLocks noGrp="1" noRot="1" noChangeAspect="1" noMove="1" noResize="1" noEditPoints="1" noAdjustHandles="1" noChangeArrowheads="1" noChangeShapeType="1" noTextEdit="1"/>
              </p:cNvSpPr>
              <p:nvPr/>
            </p:nvSpPr>
            <p:spPr>
              <a:xfrm>
                <a:off x="590550" y="3648075"/>
                <a:ext cx="11029950" cy="1047750"/>
              </a:xfrm>
              <a:prstGeom prst="rect">
                <a:avLst/>
              </a:prstGeom>
              <a:blipFill>
                <a:blip r:embed="rId3"/>
                <a:stretch>
                  <a:fillRect t="-1205"/>
                </a:stretch>
              </a:blipFill>
              <a:ln w="0">
                <a:noFill/>
              </a:ln>
            </p:spPr>
            <p:txBody>
              <a:bodyPr/>
              <a:lstStyle/>
              <a:p>
                <a:r>
                  <a:rPr lang="ru-RU">
                    <a:noFill/>
                  </a:rPr>
                  <a:t> </a:t>
                </a:r>
              </a:p>
            </p:txBody>
          </p:sp>
        </mc:Fallback>
      </mc:AlternateContent>
      <p:sp>
        <p:nvSpPr>
          <p:cNvPr id="9" name="l03-content-52">
            <a:extLst>
              <a:ext uri="{FF2B5EF4-FFF2-40B4-BE49-F238E27FC236}">
                <a16:creationId xmlns:a16="http://schemas.microsoft.com/office/drawing/2014/main" id="{8E07409B-7202-4520-8C31-EA4F30181229}"/>
              </a:ext>
            </a:extLst>
          </p:cNvPr>
          <p:cNvSpPr>
            <a:spLocks noGrp="1"/>
          </p:cNvSpPr>
          <p:nvPr/>
        </p:nvSpPr>
        <p:spPr>
          <a:xfrm>
            <a:off x="1000125" y="5257800"/>
            <a:ext cx="4762500" cy="542925"/>
          </a:xfrm>
          <a:prstGeom prst="rect">
            <a:avLst/>
          </a:prstGeom>
          <a:noFill/>
          <a:ln w="0">
            <a:noFill/>
          </a:ln>
        </p:spPr>
        <p:txBody>
          <a:bodyPr wrap="square" lIns="0" tIns="0" rIns="0" bIns="0" anchor="t">
            <a:noAutofit/>
          </a:bodyPr>
          <a:lstStyle/>
          <a:p>
            <a:pPr algn="l">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Q(w): ошибка прогнозов</a:t>
            </a:r>
          </a:p>
        </p:txBody>
      </p:sp>
      <p:sp>
        <p:nvSpPr>
          <p:cNvPr id="10" name="l03-content-53">
            <a:extLst>
              <a:ext uri="{FF2B5EF4-FFF2-40B4-BE49-F238E27FC236}">
                <a16:creationId xmlns:a16="http://schemas.microsoft.com/office/drawing/2014/main" id="{F907F784-1C56-4822-92A9-D259FB9549E8}"/>
              </a:ext>
            </a:extLst>
          </p:cNvPr>
          <p:cNvSpPr>
            <a:spLocks noGrp="1"/>
          </p:cNvSpPr>
          <p:nvPr/>
        </p:nvSpPr>
        <p:spPr>
          <a:xfrm>
            <a:off x="6286500" y="5257800"/>
            <a:ext cx="5143500" cy="542925"/>
          </a:xfrm>
          <a:prstGeom prst="rect">
            <a:avLst/>
          </a:prstGeom>
          <a:noFill/>
          <a:ln w="0">
            <a:noFill/>
          </a:ln>
        </p:spPr>
        <p:txBody>
          <a:bodyPr wrap="square" lIns="0" tIns="0" rIns="0" bIns="0" anchor="t">
            <a:noAutofit/>
          </a:bodyPr>
          <a:lstStyle/>
          <a:p>
            <a:pPr algn="l">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R(w): штраф за величину весов</a:t>
            </a:r>
          </a:p>
        </p:txBody>
      </p:sp>
      <p:sp>
        <p:nvSpPr>
          <p:cNvPr id="11" name="l03-content-54">
            <a:extLst>
              <a:ext uri="{FF2B5EF4-FFF2-40B4-BE49-F238E27FC236}">
                <a16:creationId xmlns:a16="http://schemas.microsoft.com/office/drawing/2014/main" id="{A927CCE9-DC4F-418B-8B2E-242A0AF51EAB}"/>
              </a:ext>
            </a:extLst>
          </p:cNvPr>
          <p:cNvSpPr>
            <a:spLocks noGrp="1"/>
          </p:cNvSpPr>
          <p:nvPr/>
        </p:nvSpPr>
        <p:spPr>
          <a:xfrm>
            <a:off x="590550" y="5981700"/>
            <a:ext cx="11029950" cy="552450"/>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λ ≥ 0 задаёт силу штрафа. При λ = 0 получаем обычный МНК.</a:t>
            </a:r>
          </a:p>
        </p:txBody>
      </p:sp>
    </p:spTree>
    <p:extLst>
      <p:ext uri="{BB962C8B-B14F-4D97-AF65-F5344CB8AC3E}">
        <p14:creationId xmlns:p14="http://schemas.microsoft.com/office/powerpoint/2010/main" val="140984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Перед регуляризацией масштабируем признаки</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2. Регуляризация линейной модели</a:t>
            </a:r>
          </a:p>
        </p:txBody>
      </p:sp>
      <p:sp>
        <p:nvSpPr>
          <p:cNvPr id="7" name="l03-content-55">
            <a:extLst>
              <a:ext uri="{FF2B5EF4-FFF2-40B4-BE49-F238E27FC236}">
                <a16:creationId xmlns:a16="http://schemas.microsoft.com/office/drawing/2014/main" id="{95A24439-DE0D-4B8A-8643-90198E3D892A}"/>
              </a:ext>
            </a:extLst>
          </p:cNvPr>
          <p:cNvSpPr>
            <a:spLocks noGrp="1"/>
          </p:cNvSpPr>
          <p:nvPr/>
        </p:nvSpPr>
        <p:spPr>
          <a:xfrm>
            <a:off x="590550" y="2247900"/>
            <a:ext cx="11029950" cy="1000125"/>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Одинаковое расстояние можно записать в метрах или километрах.</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Вес изменится в 1000 раз, хотя прогноз останется тем же.</a:t>
            </a:r>
          </a:p>
        </p:txBody>
      </p:sp>
      <p:sp>
        <p:nvSpPr>
          <p:cNvPr id="8" name="l03-content-56">
            <a:extLst>
              <a:ext uri="{FF2B5EF4-FFF2-40B4-BE49-F238E27FC236}">
                <a16:creationId xmlns:a16="http://schemas.microsoft.com/office/drawing/2014/main" id="{2F38D9B9-3AC5-428C-B977-7A3D659AD9A9}"/>
              </a:ext>
            </a:extLst>
          </p:cNvPr>
          <p:cNvSpPr>
            <a:spLocks noGrp="1"/>
          </p:cNvSpPr>
          <p:nvPr/>
        </p:nvSpPr>
        <p:spPr>
          <a:xfrm>
            <a:off x="590550" y="3495675"/>
            <a:ext cx="11029950" cy="971550"/>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Штраф зависит от численного значения веса. Поэтому признаки</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приводим к сопоставимому масштабу до обучения модели.</a:t>
            </a:r>
          </a:p>
        </p:txBody>
      </p:sp>
      <p:sp>
        <p:nvSpPr>
          <p:cNvPr id="9" name="l03-content-57">
            <a:extLst>
              <a:ext uri="{FF2B5EF4-FFF2-40B4-BE49-F238E27FC236}">
                <a16:creationId xmlns:a16="http://schemas.microsoft.com/office/drawing/2014/main" id="{CEB3E57B-3F5A-4F25-A00A-D60FF71173E3}"/>
              </a:ext>
            </a:extLst>
          </p:cNvPr>
          <p:cNvSpPr>
            <a:spLocks noGrp="1"/>
          </p:cNvSpPr>
          <p:nvPr/>
        </p:nvSpPr>
        <p:spPr>
          <a:xfrm>
            <a:off x="590550" y="4991100"/>
            <a:ext cx="5200650" cy="476250"/>
          </a:xfrm>
          <a:prstGeom prst="rect">
            <a:avLst/>
          </a:prstGeom>
          <a:noFill/>
          <a:ln w="0">
            <a:noFill/>
          </a:ln>
        </p:spPr>
        <p:txBody>
          <a:bodyPr wrap="square" lIns="0" tIns="0" rIns="0" bIns="0" anchor="t">
            <a:noAutofit/>
          </a:bodyPr>
          <a:lstStyle/>
          <a:p>
            <a:pPr algn="l">
              <a:lnSpc>
                <a:spcPct val="112000"/>
              </a:lnSpc>
              <a:buNone/>
              <a:defRPr sz="2325" b="1">
                <a:solidFill>
                  <a:srgbClr val="102D69"/>
                </a:solidFill>
                <a:latin typeface="HSE Sans"/>
                <a:ea typeface="HSE Sans"/>
                <a:cs typeface="HSE Sans"/>
              </a:defRPr>
            </a:pPr>
            <a:r>
              <a:rPr sz="2325" b="1">
                <a:solidFill>
                  <a:srgbClr val="102D69"/>
                </a:solidFill>
                <a:latin typeface="HSE Sans"/>
                <a:ea typeface="HSE Sans"/>
                <a:cs typeface="HSE Sans"/>
              </a:rPr>
              <a:t>StandardScaler</a:t>
            </a:r>
          </a:p>
        </p:txBody>
      </p:sp>
      <p:sp>
        <p:nvSpPr>
          <p:cNvPr id="10" name="l03-content-58">
            <a:extLst>
              <a:ext uri="{FF2B5EF4-FFF2-40B4-BE49-F238E27FC236}">
                <a16:creationId xmlns:a16="http://schemas.microsoft.com/office/drawing/2014/main" id="{3FDA7CBC-3F85-4F35-8417-38D97A0C359A}"/>
              </a:ext>
            </a:extLst>
          </p:cNvPr>
          <p:cNvSpPr>
            <a:spLocks noGrp="1"/>
          </p:cNvSpPr>
          <p:nvPr/>
        </p:nvSpPr>
        <p:spPr>
          <a:xfrm>
            <a:off x="590550" y="5600700"/>
            <a:ext cx="5200650" cy="84772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Вычитает среднее и делит</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на стандартное отклонение.</a:t>
            </a:r>
          </a:p>
        </p:txBody>
      </p:sp>
      <p:sp>
        <p:nvSpPr>
          <p:cNvPr id="11" name="l03-content-59">
            <a:extLst>
              <a:ext uri="{FF2B5EF4-FFF2-40B4-BE49-F238E27FC236}">
                <a16:creationId xmlns:a16="http://schemas.microsoft.com/office/drawing/2014/main" id="{3250FF89-1ACD-4585-9257-868E0672BC18}"/>
              </a:ext>
            </a:extLst>
          </p:cNvPr>
          <p:cNvSpPr>
            <a:spLocks noGrp="1"/>
          </p:cNvSpPr>
          <p:nvPr/>
        </p:nvSpPr>
        <p:spPr>
          <a:xfrm>
            <a:off x="6400800" y="4991100"/>
            <a:ext cx="5219700" cy="476250"/>
          </a:xfrm>
          <a:prstGeom prst="rect">
            <a:avLst/>
          </a:prstGeom>
          <a:noFill/>
          <a:ln w="0">
            <a:noFill/>
          </a:ln>
        </p:spPr>
        <p:txBody>
          <a:bodyPr wrap="square" lIns="0" tIns="0" rIns="0" bIns="0" anchor="t">
            <a:noAutofit/>
          </a:bodyPr>
          <a:lstStyle/>
          <a:p>
            <a:pPr algn="l">
              <a:lnSpc>
                <a:spcPct val="112000"/>
              </a:lnSpc>
              <a:buNone/>
              <a:defRPr sz="2325" b="1">
                <a:solidFill>
                  <a:srgbClr val="102D69"/>
                </a:solidFill>
                <a:latin typeface="HSE Sans"/>
                <a:ea typeface="HSE Sans"/>
                <a:cs typeface="HSE Sans"/>
              </a:defRPr>
            </a:pPr>
            <a:r>
              <a:rPr sz="2325" b="1">
                <a:solidFill>
                  <a:srgbClr val="102D69"/>
                </a:solidFill>
                <a:latin typeface="HSE Sans"/>
                <a:ea typeface="HSE Sans"/>
                <a:cs typeface="HSE Sans"/>
              </a:rPr>
              <a:t>MinMaxScaler</a:t>
            </a:r>
          </a:p>
        </p:txBody>
      </p:sp>
      <p:sp>
        <p:nvSpPr>
          <p:cNvPr id="12" name="l03-content-60">
            <a:extLst>
              <a:ext uri="{FF2B5EF4-FFF2-40B4-BE49-F238E27FC236}">
                <a16:creationId xmlns:a16="http://schemas.microsoft.com/office/drawing/2014/main" id="{CE82238D-1759-4C1C-988F-BD690FF62290}"/>
              </a:ext>
            </a:extLst>
          </p:cNvPr>
          <p:cNvSpPr>
            <a:spLocks noGrp="1"/>
          </p:cNvSpPr>
          <p:nvPr/>
        </p:nvSpPr>
        <p:spPr>
          <a:xfrm>
            <a:off x="6400800" y="5600700"/>
            <a:ext cx="5219700" cy="84772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Приводит обучающие значения</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к заданному диапазону, обычно [0, 1].</a:t>
            </a:r>
          </a:p>
        </p:txBody>
      </p:sp>
    </p:spTree>
    <p:extLst>
      <p:ext uri="{BB962C8B-B14F-4D97-AF65-F5344CB8AC3E}">
        <p14:creationId xmlns:p14="http://schemas.microsoft.com/office/powerpoint/2010/main" val="140984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Три вида регуляризации линейной модели</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2. Регуляризация линейной модели</a:t>
            </a:r>
          </a:p>
        </p:txBody>
      </p:sp>
      <p:sp>
        <p:nvSpPr>
          <p:cNvPr id="7" name="l03-content-61">
            <a:extLst>
              <a:ext uri="{FF2B5EF4-FFF2-40B4-BE49-F238E27FC236}">
                <a16:creationId xmlns:a16="http://schemas.microsoft.com/office/drawing/2014/main" id="{63C46258-3A74-42C3-8A51-8A48FFD3E968}"/>
              </a:ext>
            </a:extLst>
          </p:cNvPr>
          <p:cNvSpPr>
            <a:spLocks noGrp="1"/>
          </p:cNvSpPr>
          <p:nvPr/>
        </p:nvSpPr>
        <p:spPr>
          <a:xfrm>
            <a:off x="590550" y="2266950"/>
            <a:ext cx="11029950" cy="666750"/>
          </a:xfrm>
          <a:prstGeom prst="rect">
            <a:avLst/>
          </a:prstGeom>
          <a:noFill/>
          <a:ln w="0">
            <a:noFill/>
          </a:ln>
        </p:spPr>
        <p:txBody>
          <a:bodyPr wrap="square" lIns="0" tIns="0" rIns="0" bIns="0" anchor="t">
            <a:noAutofit/>
          </a:bodyPr>
          <a:lstStyle/>
          <a:p>
            <a:pPr algn="l">
              <a:lnSpc>
                <a:spcPct val="112000"/>
              </a:lnSpc>
              <a:buNone/>
              <a:defRPr sz="2250" b="0">
                <a:solidFill>
                  <a:srgbClr val="102D69"/>
                </a:solidFill>
                <a:latin typeface="HSE Sans"/>
                <a:ea typeface="HSE Sans"/>
                <a:cs typeface="HSE Sans"/>
              </a:defRPr>
            </a:pPr>
            <a:r>
              <a:rPr sz="2250" b="0">
                <a:solidFill>
                  <a:srgbClr val="102D69"/>
                </a:solidFill>
                <a:latin typeface="HSE Sans"/>
                <a:ea typeface="HSE Sans"/>
                <a:cs typeface="HSE Sans"/>
              </a:rPr>
              <a:t>К одной и той же ошибке Q(w) добавляем разные штрафы.</a:t>
            </a:r>
          </a:p>
        </p:txBody>
      </p:sp>
      <p:sp>
        <p:nvSpPr>
          <p:cNvPr id="8" name="l03-content-62">
            <a:extLst>
              <a:ext uri="{FF2B5EF4-FFF2-40B4-BE49-F238E27FC236}">
                <a16:creationId xmlns:a16="http://schemas.microsoft.com/office/drawing/2014/main" id="{1AF5CE8D-EBD5-43F0-987C-653CAFB23D29}"/>
              </a:ext>
            </a:extLst>
          </p:cNvPr>
          <p:cNvSpPr>
            <a:spLocks noGrp="1"/>
          </p:cNvSpPr>
          <p:nvPr/>
        </p:nvSpPr>
        <p:spPr>
          <a:xfrm>
            <a:off x="590550" y="3276600"/>
            <a:ext cx="2695575" cy="571500"/>
          </a:xfrm>
          <a:prstGeom prst="rect">
            <a:avLst/>
          </a:prstGeom>
          <a:noFill/>
          <a:ln w="0">
            <a:noFill/>
          </a:ln>
        </p:spPr>
        <p:txBody>
          <a:bodyPr wrap="square" lIns="0" tIns="0" rIns="0" bIns="0" anchor="t">
            <a:noAutofit/>
          </a:bodyPr>
          <a:lstStyle/>
          <a:p>
            <a:pPr algn="l">
              <a:lnSpc>
                <a:spcPct val="112000"/>
              </a:lnSpc>
              <a:buNone/>
              <a:defRPr sz="2550" b="1">
                <a:solidFill>
                  <a:srgbClr val="102D69"/>
                </a:solidFill>
                <a:latin typeface="HSE Sans"/>
                <a:ea typeface="HSE Sans"/>
                <a:cs typeface="HSE Sans"/>
              </a:defRPr>
            </a:pPr>
            <a:r>
              <a:rPr sz="2550" b="1">
                <a:solidFill>
                  <a:srgbClr val="102D69"/>
                </a:solidFill>
                <a:latin typeface="HSE Sans"/>
                <a:ea typeface="HSE Sans"/>
                <a:cs typeface="HSE Sans"/>
              </a:rPr>
              <a:t>Ridge</a:t>
            </a:r>
          </a:p>
        </p:txBody>
      </p:sp>
      <mc:AlternateContent xmlns:mc="http://schemas.openxmlformats.org/markup-compatibility/2006">
        <mc:Choice xmlns:a14="http://schemas.microsoft.com/office/drawing/2010/main" Requires="a14">
          <p:sp>
            <p:nvSpPr>
              <p:cNvPr id="9" name="l03-content-63">
                <a:extLst>
                  <a:ext uri="{FF2B5EF4-FFF2-40B4-BE49-F238E27FC236}">
                    <a16:creationId xmlns:a16="http://schemas.microsoft.com/office/drawing/2014/main" id="{B5827C36-00A1-47AC-AEAE-B6B0FA98C09E}"/>
                  </a:ext>
                </a:extLst>
              </p:cNvPr>
              <p:cNvSpPr>
                <a:spLocks noGrp="1"/>
              </p:cNvSpPr>
              <p:nvPr/>
            </p:nvSpPr>
            <p:spPr>
              <a:xfrm>
                <a:off x="3400425" y="3133725"/>
                <a:ext cx="8181975" cy="914400"/>
              </a:xfrm>
              <a:prstGeom prst="rect">
                <a:avLst/>
              </a:prstGeom>
              <a:noFill/>
              <a:ln w="0">
                <a:noFill/>
              </a:ln>
            </p:spPr>
            <p:txBody>
              <a:bodyPr wrap="square" lIns="0" tIns="0" rIns="0" bIns="0" anchor="t">
                <a:noAutofit/>
              </a:bodyPr>
              <a:lstStyle/>
              <a:p>
                <a:pPr algn="ctr">
                  <a:defRPr sz="2550"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𝑄</m:t>
                      </m:r>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r>
                        <a:rPr>
                          <a:latin typeface="Cambria Math" panose="02040503050406030204" pitchFamily="18" charset="0"/>
                        </a:rPr>
                        <m:t>𝜆</m:t>
                      </m:r>
                      <m:nary>
                        <m:naryPr>
                          <m:chr m:val="∑"/>
                          <m:limLoc m:val="subSup"/>
                          <m:ctrlPr>
                            <a:rPr>
                              <a:latin typeface="Cambria Math" panose="02040503050406030204" pitchFamily="18" charset="0"/>
                            </a:rPr>
                          </m:ctrlPr>
                        </m:naryPr>
                        <m:sub>
                          <m:r>
                            <a:rPr>
                              <a:latin typeface="Cambria Math" panose="02040503050406030204" pitchFamily="18" charset="0"/>
                            </a:rPr>
                            <m:t>𝑗</m:t>
                          </m:r>
                          <m:r>
                            <a:rPr>
                              <a:latin typeface="Cambria Math" panose="02040503050406030204" pitchFamily="18" charset="0"/>
                            </a:rPr>
                            <m:t>=1</m:t>
                          </m:r>
                        </m:sub>
                        <m:sup>
                          <m:r>
                            <a:rPr>
                              <a:latin typeface="Cambria Math" panose="02040503050406030204" pitchFamily="18" charset="0"/>
                            </a:rPr>
                            <m:t>𝑑</m:t>
                          </m:r>
                        </m:sup>
                        <m:e>
                          <m:sSubSup>
                            <m:sSubSupPr>
                              <m:ctrlPr>
                                <a:rPr>
                                  <a:latin typeface="Cambria Math" panose="02040503050406030204" pitchFamily="18" charset="0"/>
                                </a:rPr>
                              </m:ctrlPr>
                            </m:sSubSupPr>
                            <m:e>
                              <m:r>
                                <a:rPr>
                                  <a:latin typeface="Cambria Math" panose="02040503050406030204" pitchFamily="18" charset="0"/>
                                </a:rPr>
                                <m:t>𝑤</m:t>
                              </m:r>
                            </m:e>
                            <m:sub>
                              <m:r>
                                <a:rPr>
                                  <a:latin typeface="Cambria Math" panose="02040503050406030204" pitchFamily="18" charset="0"/>
                                </a:rPr>
                                <m:t>𝑗</m:t>
                              </m:r>
                            </m:sub>
                            <m:sup>
                              <m:r>
                                <a:rPr>
                                  <a:latin typeface="Cambria Math" panose="02040503050406030204" pitchFamily="18" charset="0"/>
                                </a:rPr>
                                <m:t>2</m:t>
                              </m:r>
                            </m:sup>
                          </m:sSubSup>
                        </m:e>
                      </m:nary>
                    </m:oMath>
                  </m:oMathPara>
                </a14:m>
                <a:endParaRPr/>
              </a:p>
            </p:txBody>
          </p:sp>
        </mc:Choice>
        <mc:Fallback>
          <p:sp>
            <p:nvSpPr>
              <p:cNvPr id="9" name="l03-content-63">
                <a:extLst>
                  <a:ext uri="{FF2B5EF4-FFF2-40B4-BE49-F238E27FC236}">
                    <a16:creationId xmlns:a16="http://schemas.microsoft.com/office/drawing/2014/main" id="{B5827C36-00A1-47AC-AEAE-B6B0FA98C09E}"/>
                  </a:ext>
                </a:extLst>
              </p:cNvPr>
              <p:cNvSpPr>
                <a:spLocks noGrp="1" noRot="1" noChangeAspect="1" noMove="1" noResize="1" noEditPoints="1" noAdjustHandles="1" noChangeArrowheads="1" noChangeShapeType="1" noTextEdit="1"/>
              </p:cNvSpPr>
              <p:nvPr/>
            </p:nvSpPr>
            <p:spPr>
              <a:xfrm>
                <a:off x="3400425" y="3133725"/>
                <a:ext cx="8181975" cy="914400"/>
              </a:xfrm>
              <a:prstGeom prst="rect">
                <a:avLst/>
              </a:prstGeom>
              <a:blipFill>
                <a:blip r:embed="rId3"/>
                <a:stretch>
                  <a:fillRect t="-157534" b="-223288"/>
                </a:stretch>
              </a:blipFill>
              <a:ln w="0">
                <a:noFill/>
              </a:ln>
            </p:spPr>
            <p:txBody>
              <a:bodyPr/>
              <a:lstStyle/>
              <a:p>
                <a:r>
                  <a:rPr lang="ru-RU">
                    <a:noFill/>
                  </a:rPr>
                  <a:t> </a:t>
                </a:r>
              </a:p>
            </p:txBody>
          </p:sp>
        </mc:Fallback>
      </mc:AlternateContent>
      <p:sp>
        <p:nvSpPr>
          <p:cNvPr id="10" name="l03-content-64">
            <a:extLst>
              <a:ext uri="{FF2B5EF4-FFF2-40B4-BE49-F238E27FC236}">
                <a16:creationId xmlns:a16="http://schemas.microsoft.com/office/drawing/2014/main" id="{CF46D2FA-6C63-4319-AE5E-BD2659A82411}"/>
              </a:ext>
            </a:extLst>
          </p:cNvPr>
          <p:cNvSpPr>
            <a:spLocks noGrp="1"/>
          </p:cNvSpPr>
          <p:nvPr/>
        </p:nvSpPr>
        <p:spPr>
          <a:xfrm>
            <a:off x="590550" y="4371975"/>
            <a:ext cx="2695575" cy="571500"/>
          </a:xfrm>
          <a:prstGeom prst="rect">
            <a:avLst/>
          </a:prstGeom>
          <a:noFill/>
          <a:ln w="0">
            <a:noFill/>
          </a:ln>
        </p:spPr>
        <p:txBody>
          <a:bodyPr wrap="square" lIns="0" tIns="0" rIns="0" bIns="0" anchor="t">
            <a:noAutofit/>
          </a:bodyPr>
          <a:lstStyle/>
          <a:p>
            <a:pPr algn="l">
              <a:lnSpc>
                <a:spcPct val="112000"/>
              </a:lnSpc>
              <a:buNone/>
              <a:defRPr sz="2550" b="1">
                <a:solidFill>
                  <a:srgbClr val="102D69"/>
                </a:solidFill>
                <a:latin typeface="HSE Sans"/>
                <a:ea typeface="HSE Sans"/>
                <a:cs typeface="HSE Sans"/>
              </a:defRPr>
            </a:pPr>
            <a:r>
              <a:rPr sz="2550" b="1">
                <a:solidFill>
                  <a:srgbClr val="102D69"/>
                </a:solidFill>
                <a:latin typeface="HSE Sans"/>
                <a:ea typeface="HSE Sans"/>
                <a:cs typeface="HSE Sans"/>
              </a:rPr>
              <a:t>Lasso</a:t>
            </a:r>
          </a:p>
        </p:txBody>
      </p:sp>
      <mc:AlternateContent xmlns:mc="http://schemas.openxmlformats.org/markup-compatibility/2006">
        <mc:Choice xmlns:a14="http://schemas.microsoft.com/office/drawing/2010/main" Requires="a14">
          <p:sp>
            <p:nvSpPr>
              <p:cNvPr id="11" name="l03-content-65">
                <a:extLst>
                  <a:ext uri="{FF2B5EF4-FFF2-40B4-BE49-F238E27FC236}">
                    <a16:creationId xmlns:a16="http://schemas.microsoft.com/office/drawing/2014/main" id="{EC9AF0A6-8BA0-4A57-B1F5-4AAD78193ED1}"/>
                  </a:ext>
                </a:extLst>
              </p:cNvPr>
              <p:cNvSpPr>
                <a:spLocks noGrp="1"/>
              </p:cNvSpPr>
              <p:nvPr/>
            </p:nvSpPr>
            <p:spPr>
              <a:xfrm>
                <a:off x="3400425" y="4229100"/>
                <a:ext cx="8181975" cy="914400"/>
              </a:xfrm>
              <a:prstGeom prst="rect">
                <a:avLst/>
              </a:prstGeom>
              <a:noFill/>
              <a:ln w="0">
                <a:noFill/>
              </a:ln>
            </p:spPr>
            <p:txBody>
              <a:bodyPr wrap="square" lIns="0" tIns="0" rIns="0" bIns="0" anchor="t">
                <a:noAutofit/>
              </a:bodyPr>
              <a:lstStyle/>
              <a:p>
                <a:pPr algn="ctr">
                  <a:defRPr sz="2550"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𝑄</m:t>
                      </m:r>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r>
                        <a:rPr>
                          <a:latin typeface="Cambria Math" panose="02040503050406030204" pitchFamily="18" charset="0"/>
                        </a:rPr>
                        <m:t>𝜆</m:t>
                      </m:r>
                      <m:nary>
                        <m:naryPr>
                          <m:chr m:val="∑"/>
                          <m:limLoc m:val="subSup"/>
                          <m:ctrlPr>
                            <a:rPr>
                              <a:latin typeface="Cambria Math" panose="02040503050406030204" pitchFamily="18" charset="0"/>
                            </a:rPr>
                          </m:ctrlPr>
                        </m:naryPr>
                        <m:sub>
                          <m:r>
                            <a:rPr>
                              <a:latin typeface="Cambria Math" panose="02040503050406030204" pitchFamily="18" charset="0"/>
                            </a:rPr>
                            <m:t>𝑗</m:t>
                          </m:r>
                          <m:r>
                            <a:rPr>
                              <a:latin typeface="Cambria Math" panose="02040503050406030204" pitchFamily="18" charset="0"/>
                            </a:rPr>
                            <m:t>=1</m:t>
                          </m:r>
                        </m:sub>
                        <m:sup>
                          <m:r>
                            <a:rPr>
                              <a:latin typeface="Cambria Math" panose="02040503050406030204" pitchFamily="18" charset="0"/>
                            </a:rPr>
                            <m:t>𝑑</m:t>
                          </m:r>
                        </m:sup>
                        <m:e>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𝑗</m:t>
                              </m:r>
                            </m:sub>
                          </m:sSub>
                          <m:r>
                            <a:rPr>
                              <a:latin typeface="Cambria Math" panose="02040503050406030204" pitchFamily="18" charset="0"/>
                            </a:rPr>
                            <m:t>|</m:t>
                          </m:r>
                        </m:e>
                      </m:nary>
                    </m:oMath>
                  </m:oMathPara>
                </a14:m>
                <a:endParaRPr/>
              </a:p>
            </p:txBody>
          </p:sp>
        </mc:Choice>
        <mc:Fallback>
          <p:sp>
            <p:nvSpPr>
              <p:cNvPr id="11" name="l03-content-65">
                <a:extLst>
                  <a:ext uri="{FF2B5EF4-FFF2-40B4-BE49-F238E27FC236}">
                    <a16:creationId xmlns:a16="http://schemas.microsoft.com/office/drawing/2014/main" id="{EC9AF0A6-8BA0-4A57-B1F5-4AAD78193ED1}"/>
                  </a:ext>
                </a:extLst>
              </p:cNvPr>
              <p:cNvSpPr>
                <a:spLocks noGrp="1" noRot="1" noChangeAspect="1" noMove="1" noResize="1" noEditPoints="1" noAdjustHandles="1" noChangeArrowheads="1" noChangeShapeType="1" noTextEdit="1"/>
              </p:cNvSpPr>
              <p:nvPr/>
            </p:nvSpPr>
            <p:spPr>
              <a:xfrm>
                <a:off x="3400425" y="4229100"/>
                <a:ext cx="8181975" cy="914400"/>
              </a:xfrm>
              <a:prstGeom prst="rect">
                <a:avLst/>
              </a:prstGeom>
              <a:blipFill>
                <a:blip r:embed="rId4"/>
                <a:stretch>
                  <a:fillRect t="-158904" b="-223288"/>
                </a:stretch>
              </a:blipFill>
              <a:ln w="0">
                <a:noFill/>
              </a:ln>
            </p:spPr>
            <p:txBody>
              <a:bodyPr/>
              <a:lstStyle/>
              <a:p>
                <a:r>
                  <a:rPr lang="ru-RU">
                    <a:noFill/>
                  </a:rPr>
                  <a:t> </a:t>
                </a:r>
              </a:p>
            </p:txBody>
          </p:sp>
        </mc:Fallback>
      </mc:AlternateContent>
      <p:sp>
        <p:nvSpPr>
          <p:cNvPr id="12" name="l03-content-66">
            <a:extLst>
              <a:ext uri="{FF2B5EF4-FFF2-40B4-BE49-F238E27FC236}">
                <a16:creationId xmlns:a16="http://schemas.microsoft.com/office/drawing/2014/main" id="{FB29966F-AEED-4276-8088-3646F81AD037}"/>
              </a:ext>
            </a:extLst>
          </p:cNvPr>
          <p:cNvSpPr>
            <a:spLocks noGrp="1"/>
          </p:cNvSpPr>
          <p:nvPr/>
        </p:nvSpPr>
        <p:spPr>
          <a:xfrm>
            <a:off x="590550" y="5467350"/>
            <a:ext cx="2695575" cy="571500"/>
          </a:xfrm>
          <a:prstGeom prst="rect">
            <a:avLst/>
          </a:prstGeom>
          <a:noFill/>
          <a:ln w="0">
            <a:noFill/>
          </a:ln>
        </p:spPr>
        <p:txBody>
          <a:bodyPr wrap="square" lIns="0" tIns="0" rIns="0" bIns="0" anchor="t">
            <a:noAutofit/>
          </a:bodyPr>
          <a:lstStyle/>
          <a:p>
            <a:pPr algn="l">
              <a:lnSpc>
                <a:spcPct val="112000"/>
              </a:lnSpc>
              <a:buNone/>
              <a:defRPr sz="2550" b="1">
                <a:solidFill>
                  <a:srgbClr val="102D69"/>
                </a:solidFill>
                <a:latin typeface="HSE Sans"/>
                <a:ea typeface="HSE Sans"/>
                <a:cs typeface="HSE Sans"/>
              </a:defRPr>
            </a:pPr>
            <a:r>
              <a:rPr sz="2550" b="1">
                <a:solidFill>
                  <a:srgbClr val="102D69"/>
                </a:solidFill>
                <a:latin typeface="HSE Sans"/>
                <a:ea typeface="HSE Sans"/>
                <a:cs typeface="HSE Sans"/>
              </a:rPr>
              <a:t>Elastic Net</a:t>
            </a:r>
          </a:p>
        </p:txBody>
      </p:sp>
      <mc:AlternateContent xmlns:mc="http://schemas.openxmlformats.org/markup-compatibility/2006">
        <mc:Choice xmlns:a14="http://schemas.microsoft.com/office/drawing/2010/main" Requires="a14">
          <p:sp>
            <p:nvSpPr>
              <p:cNvPr id="13" name="l03-content-67">
                <a:extLst>
                  <a:ext uri="{FF2B5EF4-FFF2-40B4-BE49-F238E27FC236}">
                    <a16:creationId xmlns:a16="http://schemas.microsoft.com/office/drawing/2014/main" id="{24272ED0-C6D3-417F-ACE3-59CA2ED90B56}"/>
                  </a:ext>
                </a:extLst>
              </p:cNvPr>
              <p:cNvSpPr>
                <a:spLocks noGrp="1"/>
              </p:cNvSpPr>
              <p:nvPr/>
            </p:nvSpPr>
            <p:spPr>
              <a:xfrm>
                <a:off x="3400425" y="5324475"/>
                <a:ext cx="8181975" cy="914400"/>
              </a:xfrm>
              <a:prstGeom prst="rect">
                <a:avLst/>
              </a:prstGeom>
              <a:noFill/>
              <a:ln w="0">
                <a:noFill/>
              </a:ln>
            </p:spPr>
            <p:txBody>
              <a:bodyPr wrap="square" lIns="0" tIns="0" rIns="0" bIns="0" anchor="t">
                <a:noAutofit/>
              </a:bodyPr>
              <a:lstStyle/>
              <a:p>
                <a:pPr algn="ctr">
                  <a:defRPr sz="2550"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𝑄</m:t>
                      </m:r>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𝜆</m:t>
                          </m:r>
                        </m:e>
                        <m:sub>
                          <m:r>
                            <a:rPr>
                              <a:latin typeface="Cambria Math" panose="02040503050406030204" pitchFamily="18" charset="0"/>
                            </a:rPr>
                            <m:t>1</m:t>
                          </m:r>
                        </m:sub>
                      </m:sSub>
                      <m:nary>
                        <m:naryPr>
                          <m:chr m:val="∑"/>
                          <m:limLoc m:val="subSup"/>
                          <m:ctrlPr>
                            <a:rPr>
                              <a:latin typeface="Cambria Math" panose="02040503050406030204" pitchFamily="18" charset="0"/>
                            </a:rPr>
                          </m:ctrlPr>
                        </m:naryPr>
                        <m:sub>
                          <m:r>
                            <a:rPr>
                              <a:latin typeface="Cambria Math" panose="02040503050406030204" pitchFamily="18" charset="0"/>
                            </a:rPr>
                            <m:t>𝑗</m:t>
                          </m:r>
                          <m:r>
                            <a:rPr>
                              <a:latin typeface="Cambria Math" panose="02040503050406030204" pitchFamily="18" charset="0"/>
                            </a:rPr>
                            <m:t>=1</m:t>
                          </m:r>
                        </m:sub>
                        <m:sup>
                          <m:r>
                            <a:rPr>
                              <a:latin typeface="Cambria Math" panose="02040503050406030204" pitchFamily="18" charset="0"/>
                            </a:rPr>
                            <m:t>𝑑</m:t>
                          </m:r>
                        </m:sup>
                        <m:e>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𝑗</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𝜆</m:t>
                              </m:r>
                            </m:e>
                            <m:sub>
                              <m:r>
                                <a:rPr>
                                  <a:latin typeface="Cambria Math" panose="02040503050406030204" pitchFamily="18" charset="0"/>
                                </a:rPr>
                                <m:t>2</m:t>
                              </m:r>
                            </m:sub>
                          </m:sSub>
                          <m:nary>
                            <m:naryPr>
                              <m:chr m:val="∑"/>
                              <m:limLoc m:val="subSup"/>
                              <m:ctrlPr>
                                <a:rPr>
                                  <a:latin typeface="Cambria Math" panose="02040503050406030204" pitchFamily="18" charset="0"/>
                                </a:rPr>
                              </m:ctrlPr>
                            </m:naryPr>
                            <m:sub>
                              <m:r>
                                <a:rPr>
                                  <a:latin typeface="Cambria Math" panose="02040503050406030204" pitchFamily="18" charset="0"/>
                                </a:rPr>
                                <m:t>𝑗</m:t>
                              </m:r>
                              <m:r>
                                <a:rPr>
                                  <a:latin typeface="Cambria Math" panose="02040503050406030204" pitchFamily="18" charset="0"/>
                                </a:rPr>
                                <m:t>=1</m:t>
                              </m:r>
                            </m:sub>
                            <m:sup>
                              <m:r>
                                <a:rPr>
                                  <a:latin typeface="Cambria Math" panose="02040503050406030204" pitchFamily="18" charset="0"/>
                                </a:rPr>
                                <m:t>𝑑</m:t>
                              </m:r>
                            </m:sup>
                            <m:e>
                              <m:sSubSup>
                                <m:sSubSupPr>
                                  <m:ctrlPr>
                                    <a:rPr>
                                      <a:latin typeface="Cambria Math" panose="02040503050406030204" pitchFamily="18" charset="0"/>
                                    </a:rPr>
                                  </m:ctrlPr>
                                </m:sSubSupPr>
                                <m:e>
                                  <m:r>
                                    <a:rPr>
                                      <a:latin typeface="Cambria Math" panose="02040503050406030204" pitchFamily="18" charset="0"/>
                                    </a:rPr>
                                    <m:t>𝑤</m:t>
                                  </m:r>
                                </m:e>
                                <m:sub>
                                  <m:r>
                                    <a:rPr>
                                      <a:latin typeface="Cambria Math" panose="02040503050406030204" pitchFamily="18" charset="0"/>
                                    </a:rPr>
                                    <m:t>𝑗</m:t>
                                  </m:r>
                                </m:sub>
                                <m:sup>
                                  <m:r>
                                    <a:rPr>
                                      <a:latin typeface="Cambria Math" panose="02040503050406030204" pitchFamily="18" charset="0"/>
                                    </a:rPr>
                                    <m:t>2</m:t>
                                  </m:r>
                                </m:sup>
                              </m:sSubSup>
                            </m:e>
                          </m:nary>
                        </m:e>
                      </m:nary>
                    </m:oMath>
                  </m:oMathPara>
                </a14:m>
                <a:endParaRPr/>
              </a:p>
            </p:txBody>
          </p:sp>
        </mc:Choice>
        <mc:Fallback>
          <p:sp>
            <p:nvSpPr>
              <p:cNvPr id="13" name="l03-content-67">
                <a:extLst>
                  <a:ext uri="{FF2B5EF4-FFF2-40B4-BE49-F238E27FC236}">
                    <a16:creationId xmlns:a16="http://schemas.microsoft.com/office/drawing/2014/main" id="{24272ED0-C6D3-417F-ACE3-59CA2ED90B56}"/>
                  </a:ext>
                </a:extLst>
              </p:cNvPr>
              <p:cNvSpPr>
                <a:spLocks noGrp="1" noRot="1" noChangeAspect="1" noMove="1" noResize="1" noEditPoints="1" noAdjustHandles="1" noChangeArrowheads="1" noChangeShapeType="1" noTextEdit="1"/>
              </p:cNvSpPr>
              <p:nvPr/>
            </p:nvSpPr>
            <p:spPr>
              <a:xfrm>
                <a:off x="3400425" y="5324475"/>
                <a:ext cx="8181975" cy="914400"/>
              </a:xfrm>
              <a:prstGeom prst="rect">
                <a:avLst/>
              </a:prstGeom>
              <a:blipFill>
                <a:blip r:embed="rId5"/>
                <a:stretch>
                  <a:fillRect t="-158904" b="-223288"/>
                </a:stretch>
              </a:blipFill>
              <a:ln w="0">
                <a:noFill/>
              </a:ln>
            </p:spPr>
            <p:txBody>
              <a:bodyPr/>
              <a:lstStyle/>
              <a:p>
                <a:r>
                  <a:rPr lang="ru-RU">
                    <a:noFill/>
                  </a:rPr>
                  <a:t> </a:t>
                </a:r>
              </a:p>
            </p:txBody>
          </p:sp>
        </mc:Fallback>
      </mc:AlternateContent>
    </p:spTree>
    <p:extLst>
      <p:ext uri="{BB962C8B-B14F-4D97-AF65-F5344CB8AC3E}">
        <p14:creationId xmlns:p14="http://schemas.microsoft.com/office/powerpoint/2010/main" val="140984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Ridge: сумма квадратов весов</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2. Регуляризация линейной модели</a:t>
            </a:r>
          </a:p>
        </p:txBody>
      </p:sp>
      <mc:AlternateContent xmlns:mc="http://schemas.openxmlformats.org/markup-compatibility/2006">
        <mc:Choice xmlns:a14="http://schemas.microsoft.com/office/drawing/2010/main" Requires="a14">
          <p:sp>
            <p:nvSpPr>
              <p:cNvPr id="7" name="l03-content-68">
                <a:extLst>
                  <a:ext uri="{FF2B5EF4-FFF2-40B4-BE49-F238E27FC236}">
                    <a16:creationId xmlns:a16="http://schemas.microsoft.com/office/drawing/2014/main" id="{6EBA1D61-EDF5-4871-8B6D-7D9EB058D600}"/>
                  </a:ext>
                </a:extLst>
              </p:cNvPr>
              <p:cNvSpPr>
                <a:spLocks noGrp="1"/>
              </p:cNvSpPr>
              <p:nvPr/>
            </p:nvSpPr>
            <p:spPr>
              <a:xfrm>
                <a:off x="590550" y="2295525"/>
                <a:ext cx="11029950" cy="990600"/>
              </a:xfrm>
              <a:prstGeom prst="rect">
                <a:avLst/>
              </a:prstGeom>
              <a:noFill/>
              <a:ln w="0">
                <a:noFill/>
              </a:ln>
            </p:spPr>
            <p:txBody>
              <a:bodyPr wrap="square" lIns="0" tIns="0" rIns="0" bIns="0" anchor="t">
                <a:noAutofit/>
              </a:bodyPr>
              <a:lstStyle/>
              <a:p>
                <a:pPr algn="ctr">
                  <a:defRPr sz="2850" b="0">
                    <a:solidFill>
                      <a:srgbClr val="102D69"/>
                    </a:solidFill>
                    <a:latin typeface="Cambria Math"/>
                    <a:ea typeface="Cambria Math"/>
                    <a:cs typeface="Cambria Math"/>
                  </a:defRPr>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𝐽</m:t>
                          </m:r>
                        </m:e>
                        <m:sub>
                          <m:r>
                            <a:rPr>
                              <a:latin typeface="Cambria Math" panose="02040503050406030204" pitchFamily="18" charset="0"/>
                            </a:rPr>
                            <m:t>𝜆</m:t>
                          </m:r>
                        </m:sub>
                      </m:sSub>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r>
                        <a:rPr>
                          <a:latin typeface="Cambria Math" panose="02040503050406030204" pitchFamily="18" charset="0"/>
                        </a:rPr>
                        <m:t>𝑄</m:t>
                      </m:r>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r>
                        <a:rPr>
                          <a:latin typeface="Cambria Math" panose="02040503050406030204" pitchFamily="18" charset="0"/>
                        </a:rPr>
                        <m:t>𝜆</m:t>
                      </m:r>
                      <m:nary>
                        <m:naryPr>
                          <m:chr m:val="∑"/>
                          <m:limLoc m:val="subSup"/>
                          <m:ctrlPr>
                            <a:rPr>
                              <a:latin typeface="Cambria Math" panose="02040503050406030204" pitchFamily="18" charset="0"/>
                            </a:rPr>
                          </m:ctrlPr>
                        </m:naryPr>
                        <m:sub>
                          <m:r>
                            <a:rPr>
                              <a:latin typeface="Cambria Math" panose="02040503050406030204" pitchFamily="18" charset="0"/>
                            </a:rPr>
                            <m:t>𝑗</m:t>
                          </m:r>
                          <m:r>
                            <a:rPr>
                              <a:latin typeface="Cambria Math" panose="02040503050406030204" pitchFamily="18" charset="0"/>
                            </a:rPr>
                            <m:t>=1</m:t>
                          </m:r>
                        </m:sub>
                        <m:sup>
                          <m:r>
                            <a:rPr>
                              <a:latin typeface="Cambria Math" panose="02040503050406030204" pitchFamily="18" charset="0"/>
                            </a:rPr>
                            <m:t>𝑑</m:t>
                          </m:r>
                        </m:sup>
                        <m:e>
                          <m:sSubSup>
                            <m:sSubSupPr>
                              <m:ctrlPr>
                                <a:rPr>
                                  <a:latin typeface="Cambria Math" panose="02040503050406030204" pitchFamily="18" charset="0"/>
                                </a:rPr>
                              </m:ctrlPr>
                            </m:sSubSupPr>
                            <m:e>
                              <m:r>
                                <a:rPr>
                                  <a:latin typeface="Cambria Math" panose="02040503050406030204" pitchFamily="18" charset="0"/>
                                </a:rPr>
                                <m:t>𝑤</m:t>
                              </m:r>
                            </m:e>
                            <m:sub>
                              <m:r>
                                <a:rPr>
                                  <a:latin typeface="Cambria Math" panose="02040503050406030204" pitchFamily="18" charset="0"/>
                                </a:rPr>
                                <m:t>𝑗</m:t>
                              </m:r>
                            </m:sub>
                            <m:sup>
                              <m:r>
                                <a:rPr>
                                  <a:latin typeface="Cambria Math" panose="02040503050406030204" pitchFamily="18" charset="0"/>
                                </a:rPr>
                                <m:t>2</m:t>
                              </m:r>
                            </m:sup>
                          </m:sSubSup>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𝑚𝑖𝑛</m:t>
                              </m:r>
                            </m:e>
                            <m:sub>
                              <m:r>
                                <a:rPr>
                                  <a:latin typeface="Cambria Math" panose="02040503050406030204" pitchFamily="18" charset="0"/>
                                </a:rPr>
                                <m:t>𝑤</m:t>
                              </m:r>
                            </m:sub>
                          </m:sSub>
                        </m:e>
                      </m:nary>
                    </m:oMath>
                  </m:oMathPara>
                </a14:m>
                <a:endParaRPr/>
              </a:p>
            </p:txBody>
          </p:sp>
        </mc:Choice>
        <mc:Fallback>
          <p:sp>
            <p:nvSpPr>
              <p:cNvPr id="7" name="l03-content-68">
                <a:extLst>
                  <a:ext uri="{FF2B5EF4-FFF2-40B4-BE49-F238E27FC236}">
                    <a16:creationId xmlns:a16="http://schemas.microsoft.com/office/drawing/2014/main" id="{6EBA1D61-EDF5-4871-8B6D-7D9EB058D600}"/>
                  </a:ext>
                </a:extLst>
              </p:cNvPr>
              <p:cNvSpPr>
                <a:spLocks noGrp="1" noRot="1" noChangeAspect="1" noMove="1" noResize="1" noEditPoints="1" noAdjustHandles="1" noChangeArrowheads="1" noChangeShapeType="1" noTextEdit="1"/>
              </p:cNvSpPr>
              <p:nvPr/>
            </p:nvSpPr>
            <p:spPr>
              <a:xfrm>
                <a:off x="590550" y="2295525"/>
                <a:ext cx="11029950" cy="990600"/>
              </a:xfrm>
              <a:prstGeom prst="rect">
                <a:avLst/>
              </a:prstGeom>
              <a:blipFill>
                <a:blip r:embed="rId3"/>
                <a:stretch>
                  <a:fillRect t="-151899" b="-220253"/>
                </a:stretch>
              </a:blipFill>
              <a:ln w="0">
                <a:noFill/>
              </a:ln>
            </p:spPr>
            <p:txBody>
              <a:bodyPr/>
              <a:lstStyle/>
              <a:p>
                <a:r>
                  <a:rPr lang="ru-RU">
                    <a:noFill/>
                  </a:rPr>
                  <a:t> </a:t>
                </a:r>
              </a:p>
            </p:txBody>
          </p:sp>
        </mc:Fallback>
      </mc:AlternateContent>
      <p:sp>
        <p:nvSpPr>
          <p:cNvPr id="8" name="l03-content-69">
            <a:extLst>
              <a:ext uri="{FF2B5EF4-FFF2-40B4-BE49-F238E27FC236}">
                <a16:creationId xmlns:a16="http://schemas.microsoft.com/office/drawing/2014/main" id="{A9EEB492-3FDD-4B00-B6F9-B8DB84F5EE49}"/>
              </a:ext>
            </a:extLst>
          </p:cNvPr>
          <p:cNvSpPr>
            <a:spLocks noGrp="1"/>
          </p:cNvSpPr>
          <p:nvPr/>
        </p:nvSpPr>
        <p:spPr>
          <a:xfrm>
            <a:off x="590550" y="3790950"/>
            <a:ext cx="11029950" cy="1000125"/>
          </a:xfrm>
          <a:prstGeom prst="rect">
            <a:avLst/>
          </a:prstGeom>
          <a:noFill/>
          <a:ln w="0">
            <a:noFill/>
          </a:ln>
        </p:spPr>
        <p:txBody>
          <a:bodyPr wrap="square" lIns="0" tIns="0" rIns="0" bIns="0" anchor="t">
            <a:noAutofit/>
          </a:bodyPr>
          <a:lstStyle/>
          <a:p>
            <a:pPr algn="l">
              <a:lnSpc>
                <a:spcPct val="112000"/>
              </a:lnSpc>
              <a:buNone/>
              <a:defRPr sz="2250" b="0">
                <a:solidFill>
                  <a:srgbClr val="102D69"/>
                </a:solidFill>
                <a:latin typeface="HSE Sans"/>
                <a:ea typeface="HSE Sans"/>
                <a:cs typeface="HSE Sans"/>
              </a:defRPr>
            </a:pPr>
            <a:r>
              <a:rPr sz="2250" b="0">
                <a:solidFill>
                  <a:srgbClr val="102D69"/>
                </a:solidFill>
                <a:latin typeface="HSE Sans"/>
                <a:ea typeface="HSE Sans"/>
                <a:cs typeface="HSE Sans"/>
              </a:rPr>
              <a:t>Ridge добавляет к ошибке сумму квадратов весов.</a:t>
            </a:r>
          </a:p>
          <a:p>
            <a:pPr algn="l">
              <a:lnSpc>
                <a:spcPct val="112000"/>
              </a:lnSpc>
              <a:buNone/>
              <a:defRPr sz="2250" b="0">
                <a:solidFill>
                  <a:srgbClr val="102D69"/>
                </a:solidFill>
                <a:latin typeface="HSE Sans"/>
                <a:ea typeface="HSE Sans"/>
                <a:cs typeface="HSE Sans"/>
              </a:defRPr>
            </a:pPr>
            <a:r>
              <a:rPr sz="2250" b="0">
                <a:solidFill>
                  <a:srgbClr val="102D69"/>
                </a:solidFill>
                <a:latin typeface="HSE Sans"/>
                <a:ea typeface="HSE Sans"/>
                <a:cs typeface="HSE Sans"/>
              </a:rPr>
              <a:t>Чем больше λ, тем сильнее модель штрафуется за большие веса.</a:t>
            </a:r>
          </a:p>
        </p:txBody>
      </p:sp>
      <p:sp>
        <p:nvSpPr>
          <p:cNvPr id="9" name="l03-content-70">
            <a:extLst>
              <a:ext uri="{FF2B5EF4-FFF2-40B4-BE49-F238E27FC236}">
                <a16:creationId xmlns:a16="http://schemas.microsoft.com/office/drawing/2014/main" id="{319AAAF2-6EA0-445F-8BD9-4FE819B879E3}"/>
              </a:ext>
            </a:extLst>
          </p:cNvPr>
          <p:cNvSpPr>
            <a:spLocks noGrp="1"/>
          </p:cNvSpPr>
          <p:nvPr/>
        </p:nvSpPr>
        <p:spPr>
          <a:xfrm>
            <a:off x="590550" y="5286375"/>
            <a:ext cx="11029950" cy="105727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Свободный член w₀ обычно не штрафуем.</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Он задаёт общий уровень ответа.</a:t>
            </a:r>
          </a:p>
        </p:txBody>
      </p:sp>
    </p:spTree>
    <p:extLst>
      <p:ext uri="{BB962C8B-B14F-4D97-AF65-F5344CB8AC3E}">
        <p14:creationId xmlns:p14="http://schemas.microsoft.com/office/powerpoint/2010/main" val="1409846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Геометрия Ridge: круг допустимых весов</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2. Регуляризация линейной модели</a:t>
            </a:r>
          </a:p>
        </p:txBody>
      </p:sp>
      <p:pic>
        <p:nvPicPr>
          <p:cNvPr id="16" name="Рисунок 15"/>
          <p:cNvPicPr>
            <a:picLocks noChangeAspect="1"/>
          </p:cNvPicPr>
          <p:nvPr/>
        </p:nvPicPr>
        <p:blipFill>
          <a:blip r:embed="rId3"/>
          <a:stretch/>
        </p:blipFill>
        <p:spPr>
          <a:xfrm>
            <a:off x="954469" y="2390775"/>
            <a:ext cx="3844162" cy="3629025"/>
          </a:xfrm>
          <a:prstGeom prst="rect">
            <a:avLst/>
          </a:prstGeom>
        </p:spPr>
      </p:pic>
      <p:sp>
        <p:nvSpPr>
          <p:cNvPr id="8" name="l03-content-71">
            <a:extLst>
              <a:ext uri="{FF2B5EF4-FFF2-40B4-BE49-F238E27FC236}">
                <a16:creationId xmlns:a16="http://schemas.microsoft.com/office/drawing/2014/main" id="{2EF378E6-0C4B-4D17-9863-B4070EA5B8F3}"/>
              </a:ext>
            </a:extLst>
          </p:cNvPr>
          <p:cNvSpPr>
            <a:spLocks noGrp="1"/>
          </p:cNvSpPr>
          <p:nvPr/>
        </p:nvSpPr>
        <p:spPr>
          <a:xfrm>
            <a:off x="5867400" y="2362200"/>
            <a:ext cx="5638800" cy="111442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Оси показывают два веса w₁ и w₂.</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Каждая кривая соединяет точки</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с одинаковой ошибкой Q.</a:t>
            </a:r>
          </a:p>
        </p:txBody>
      </p:sp>
      <mc:AlternateContent xmlns:mc="http://schemas.openxmlformats.org/markup-compatibility/2006">
        <mc:Choice xmlns:a14="http://schemas.microsoft.com/office/drawing/2010/main" Requires="a14">
          <p:sp>
            <p:nvSpPr>
              <p:cNvPr id="9" name="l03-content-72">
                <a:extLst>
                  <a:ext uri="{FF2B5EF4-FFF2-40B4-BE49-F238E27FC236}">
                    <a16:creationId xmlns:a16="http://schemas.microsoft.com/office/drawing/2014/main" id="{364F022D-D019-4222-812D-4A1A003D318D}"/>
                  </a:ext>
                </a:extLst>
              </p:cNvPr>
              <p:cNvSpPr>
                <a:spLocks noGrp="1"/>
              </p:cNvSpPr>
              <p:nvPr/>
            </p:nvSpPr>
            <p:spPr>
              <a:xfrm>
                <a:off x="5895975" y="3638550"/>
                <a:ext cx="5486400" cy="800100"/>
              </a:xfrm>
              <a:prstGeom prst="rect">
                <a:avLst/>
              </a:prstGeom>
              <a:noFill/>
              <a:ln w="0">
                <a:noFill/>
              </a:ln>
            </p:spPr>
            <p:txBody>
              <a:bodyPr wrap="square" lIns="0" tIns="0" rIns="0" bIns="0" anchor="t">
                <a:noAutofit/>
              </a:bodyPr>
              <a:lstStyle/>
              <a:p>
                <a:pPr algn="ctr">
                  <a:defRPr sz="2850" b="0">
                    <a:solidFill>
                      <a:srgbClr val="102D69"/>
                    </a:solidFill>
                    <a:latin typeface="Cambria Math"/>
                    <a:ea typeface="Cambria Math"/>
                    <a:cs typeface="Cambria Math"/>
                  </a:defRPr>
                </a:pPr>
                <a14:m>
                  <m:oMathPara xmlns:m="http://schemas.openxmlformats.org/officeDocument/2006/math">
                    <m:oMath>
                      <m:sSubSup>
                        <m:sSubSupPr>
                          <m:ctrlPr>
                            <a:rPr>
                              <a:latin typeface="Cambria Math" panose="02040503050406030204" pitchFamily="18" charset="0"/>
                            </a:rPr>
                          </m:ctrlPr>
                        </m:sSubSupPr>
                        <m:e>
                          <m:r>
                            <a:rPr>
                              <a:latin typeface="Cambria Math" panose="02040503050406030204" pitchFamily="18" charset="0"/>
                            </a:rPr>
                            <m:t>𝑤</m:t>
                          </m:r>
                        </m:e>
                        <m:sub>
                          <m:r>
                            <a:rPr>
                              <a:latin typeface="Cambria Math" panose="02040503050406030204" pitchFamily="18" charset="0"/>
                            </a:rPr>
                            <m:t>1</m:t>
                          </m:r>
                        </m:sub>
                        <m:sup>
                          <m:r>
                            <a:rPr>
                              <a:latin typeface="Cambria Math" panose="02040503050406030204" pitchFamily="18" charset="0"/>
                            </a:rPr>
                            <m:t>2</m:t>
                          </m:r>
                        </m:sup>
                      </m:sSubSup>
                      <m:r>
                        <a:rPr>
                          <a:latin typeface="Cambria Math" panose="02040503050406030204" pitchFamily="18" charset="0"/>
                        </a:rPr>
                        <m:t>+</m:t>
                      </m:r>
                      <m:sSubSup>
                        <m:sSubSupPr>
                          <m:ctrlPr>
                            <a:rPr>
                              <a:latin typeface="Cambria Math" panose="02040503050406030204" pitchFamily="18" charset="0"/>
                            </a:rPr>
                          </m:ctrlPr>
                        </m:sSubSupPr>
                        <m:e>
                          <m:r>
                            <a:rPr>
                              <a:latin typeface="Cambria Math" panose="02040503050406030204" pitchFamily="18" charset="0"/>
                            </a:rPr>
                            <m:t>𝑤</m:t>
                          </m:r>
                        </m:e>
                        <m:sub>
                          <m:r>
                            <a:rPr>
                              <a:latin typeface="Cambria Math" panose="02040503050406030204" pitchFamily="18" charset="0"/>
                            </a:rPr>
                            <m:t>2</m:t>
                          </m:r>
                        </m:sub>
                        <m:sup>
                          <m:r>
                            <a:rPr>
                              <a:latin typeface="Cambria Math" panose="02040503050406030204" pitchFamily="18" charset="0"/>
                            </a:rPr>
                            <m:t>2</m:t>
                          </m:r>
                        </m:sup>
                      </m:sSubSup>
                      <m:r>
                        <a:rPr>
                          <a:latin typeface="Cambria Math" panose="02040503050406030204" pitchFamily="18" charset="0"/>
                        </a:rPr>
                        <m:t>≤</m:t>
                      </m:r>
                      <m:r>
                        <a:rPr>
                          <a:latin typeface="Cambria Math" panose="02040503050406030204" pitchFamily="18" charset="0"/>
                        </a:rPr>
                        <m:t>𝑠</m:t>
                      </m:r>
                    </m:oMath>
                  </m:oMathPara>
                </a14:m>
                <a:endParaRPr/>
              </a:p>
            </p:txBody>
          </p:sp>
        </mc:Choice>
        <mc:Fallback>
          <p:sp>
            <p:nvSpPr>
              <p:cNvPr id="9" name="l03-content-72">
                <a:extLst>
                  <a:ext uri="{FF2B5EF4-FFF2-40B4-BE49-F238E27FC236}">
                    <a16:creationId xmlns:a16="http://schemas.microsoft.com/office/drawing/2014/main" id="{364F022D-D019-4222-812D-4A1A003D318D}"/>
                  </a:ext>
                </a:extLst>
              </p:cNvPr>
              <p:cNvSpPr>
                <a:spLocks noGrp="1" noRot="1" noChangeAspect="1" noMove="1" noResize="1" noEditPoints="1" noAdjustHandles="1" noChangeArrowheads="1" noChangeShapeType="1" noTextEdit="1"/>
              </p:cNvSpPr>
              <p:nvPr/>
            </p:nvSpPr>
            <p:spPr>
              <a:xfrm>
                <a:off x="5895975" y="3638550"/>
                <a:ext cx="5486400" cy="800100"/>
              </a:xfrm>
              <a:prstGeom prst="rect">
                <a:avLst/>
              </a:prstGeom>
              <a:blipFill>
                <a:blip r:embed="rId4"/>
                <a:stretch>
                  <a:fillRect/>
                </a:stretch>
              </a:blipFill>
              <a:ln w="0">
                <a:noFill/>
              </a:ln>
            </p:spPr>
            <p:txBody>
              <a:bodyPr/>
              <a:lstStyle/>
              <a:p>
                <a:r>
                  <a:rPr lang="ru-RU">
                    <a:noFill/>
                  </a:rPr>
                  <a:t> </a:t>
                </a:r>
              </a:p>
            </p:txBody>
          </p:sp>
        </mc:Fallback>
      </mc:AlternateContent>
      <p:sp>
        <p:nvSpPr>
          <p:cNvPr id="10" name="l03-content-73">
            <a:extLst>
              <a:ext uri="{FF2B5EF4-FFF2-40B4-BE49-F238E27FC236}">
                <a16:creationId xmlns:a16="http://schemas.microsoft.com/office/drawing/2014/main" id="{B3496226-1ADB-4A1F-84EB-0998E706FE30}"/>
              </a:ext>
            </a:extLst>
          </p:cNvPr>
          <p:cNvSpPr>
            <a:spLocks noGrp="1"/>
          </p:cNvSpPr>
          <p:nvPr/>
        </p:nvSpPr>
        <p:spPr>
          <a:xfrm>
            <a:off x="5867400" y="4705350"/>
            <a:ext cx="5638800" cy="130492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Ограничиваем суммарную величину весов.</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Ищем наименьшую ошибку внутри круга.</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Белая точка показывает решение.</a:t>
            </a:r>
          </a:p>
        </p:txBody>
      </p:sp>
    </p:spTree>
    <p:extLst>
      <p:ext uri="{BB962C8B-B14F-4D97-AF65-F5344CB8AC3E}">
        <p14:creationId xmlns:p14="http://schemas.microsoft.com/office/powerpoint/2010/main" val="140984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У Ridge есть аналитическое решение</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2. Регуляризация линейной модели</a:t>
            </a:r>
          </a:p>
        </p:txBody>
      </p:sp>
      <p:sp>
        <p:nvSpPr>
          <p:cNvPr id="7" name="l03-content-74">
            <a:extLst>
              <a:ext uri="{FF2B5EF4-FFF2-40B4-BE49-F238E27FC236}">
                <a16:creationId xmlns:a16="http://schemas.microsoft.com/office/drawing/2014/main" id="{8EDB3641-8EF4-43E2-A034-E7B6B9F1E4E3}"/>
              </a:ext>
            </a:extLst>
          </p:cNvPr>
          <p:cNvSpPr>
            <a:spLocks noGrp="1"/>
          </p:cNvSpPr>
          <p:nvPr/>
        </p:nvSpPr>
        <p:spPr>
          <a:xfrm>
            <a:off x="590550" y="2266950"/>
            <a:ext cx="11029950" cy="933450"/>
          </a:xfrm>
          <a:prstGeom prst="rect">
            <a:avLst/>
          </a:prstGeom>
          <a:noFill/>
          <a:ln w="0">
            <a:noFill/>
          </a:ln>
        </p:spPr>
        <p:txBody>
          <a:bodyPr wrap="square" lIns="0" tIns="0" rIns="0" bIns="0" anchor="t">
            <a:noAutofit/>
          </a:bodyPr>
          <a:lstStyle/>
          <a:p>
            <a:pPr algn="l">
              <a:lnSpc>
                <a:spcPct val="112000"/>
              </a:lnSpc>
              <a:buNone/>
              <a:defRPr sz="2250" b="0">
                <a:solidFill>
                  <a:srgbClr val="102D69"/>
                </a:solidFill>
                <a:latin typeface="HSE Sans"/>
                <a:ea typeface="HSE Sans"/>
                <a:cs typeface="HSE Sans"/>
              </a:defRPr>
            </a:pPr>
            <a:r>
              <a:rPr sz="2250" b="0">
                <a:solidFill>
                  <a:srgbClr val="102D69"/>
                </a:solidFill>
                <a:latin typeface="HSE Sans"/>
                <a:ea typeface="HSE Sans"/>
                <a:cs typeface="HSE Sans"/>
              </a:rPr>
              <a:t>Для квадратичной ошибки веса Ridge можно найти из системы</a:t>
            </a:r>
          </a:p>
          <a:p>
            <a:pPr algn="l">
              <a:lnSpc>
                <a:spcPct val="112000"/>
              </a:lnSpc>
              <a:buNone/>
              <a:defRPr sz="2250" b="0">
                <a:solidFill>
                  <a:srgbClr val="102D69"/>
                </a:solidFill>
                <a:latin typeface="HSE Sans"/>
                <a:ea typeface="HSE Sans"/>
                <a:cs typeface="HSE Sans"/>
              </a:defRPr>
            </a:pPr>
            <a:r>
              <a:rPr sz="2250" b="0">
                <a:solidFill>
                  <a:srgbClr val="102D69"/>
                </a:solidFill>
                <a:latin typeface="HSE Sans"/>
                <a:ea typeface="HSE Sans"/>
                <a:cs typeface="HSE Sans"/>
              </a:rPr>
              <a:t>линейных уравнений, как и в обычном МНК.</a:t>
            </a:r>
          </a:p>
        </p:txBody>
      </p:sp>
      <mc:AlternateContent xmlns:mc="http://schemas.openxmlformats.org/markup-compatibility/2006">
        <mc:Choice xmlns:a14="http://schemas.microsoft.com/office/drawing/2010/main" Requires="a14">
          <p:sp>
            <p:nvSpPr>
              <p:cNvPr id="8" name="l03-content-75">
                <a:extLst>
                  <a:ext uri="{FF2B5EF4-FFF2-40B4-BE49-F238E27FC236}">
                    <a16:creationId xmlns:a16="http://schemas.microsoft.com/office/drawing/2014/main" id="{3785690C-CE77-4AC9-BE4E-5B4B2BC613BC}"/>
                  </a:ext>
                </a:extLst>
              </p:cNvPr>
              <p:cNvSpPr>
                <a:spLocks noGrp="1"/>
              </p:cNvSpPr>
              <p:nvPr/>
            </p:nvSpPr>
            <p:spPr>
              <a:xfrm>
                <a:off x="590550" y="3429000"/>
                <a:ext cx="11029950" cy="857250"/>
              </a:xfrm>
              <a:prstGeom prst="rect">
                <a:avLst/>
              </a:prstGeom>
              <a:noFill/>
              <a:ln w="0">
                <a:noFill/>
              </a:ln>
            </p:spPr>
            <p:txBody>
              <a:bodyPr wrap="square" lIns="0" tIns="0" rIns="0" bIns="0" anchor="t">
                <a:noAutofit/>
              </a:bodyPr>
              <a:lstStyle/>
              <a:p>
                <a:pPr algn="ctr">
                  <a:defRPr sz="2925"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𝐴</m:t>
                          </m:r>
                        </m:e>
                        <m:sup>
                          <m:r>
                            <a:rPr>
                              <a:latin typeface="Cambria Math" panose="02040503050406030204" pitchFamily="18" charset="0"/>
                            </a:rPr>
                            <m:t>𝑇</m:t>
                          </m:r>
                        </m:sup>
                      </m:sSup>
                      <m:r>
                        <a:rPr>
                          <a:latin typeface="Cambria Math" panose="02040503050406030204" pitchFamily="18" charset="0"/>
                        </a:rPr>
                        <m:t>𝐴</m:t>
                      </m:r>
                      <m:r>
                        <a:rPr>
                          <a:latin typeface="Cambria Math" panose="02040503050406030204" pitchFamily="18" charset="0"/>
                        </a:rPr>
                        <m:t>+</m:t>
                      </m:r>
                      <m:r>
                        <m:rPr>
                          <m:sty m:val="p"/>
                        </m:rPr>
                        <a:rPr>
                          <a:latin typeface="Cambria Math" panose="02040503050406030204" pitchFamily="18" charset="0"/>
                        </a:rPr>
                        <m:t>ℓ</m:t>
                      </m:r>
                      <m:r>
                        <a:rPr>
                          <a:latin typeface="Cambria Math" panose="02040503050406030204" pitchFamily="18" charset="0"/>
                        </a:rPr>
                        <m:t>𝜆</m:t>
                      </m:r>
                      <m:r>
                        <a:rPr>
                          <a:latin typeface="Cambria Math" panose="02040503050406030204" pitchFamily="18" charset="0"/>
                        </a:rPr>
                        <m:t>𝐷</m:t>
                      </m:r>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𝐴</m:t>
                          </m:r>
                        </m:e>
                        <m:sup>
                          <m:r>
                            <a:rPr>
                              <a:latin typeface="Cambria Math" panose="02040503050406030204" pitchFamily="18" charset="0"/>
                            </a:rPr>
                            <m:t>𝑇</m:t>
                          </m:r>
                        </m:sup>
                      </m:sSup>
                      <m:r>
                        <a:rPr>
                          <a:latin typeface="Cambria Math" panose="02040503050406030204" pitchFamily="18" charset="0"/>
                        </a:rPr>
                        <m:t>𝑦</m:t>
                      </m:r>
                    </m:oMath>
                  </m:oMathPara>
                </a14:m>
                <a:endParaRPr/>
              </a:p>
            </p:txBody>
          </p:sp>
        </mc:Choice>
        <mc:Fallback>
          <p:sp>
            <p:nvSpPr>
              <p:cNvPr id="8" name="l03-content-75">
                <a:extLst>
                  <a:ext uri="{FF2B5EF4-FFF2-40B4-BE49-F238E27FC236}">
                    <a16:creationId xmlns:a16="http://schemas.microsoft.com/office/drawing/2014/main" id="{3785690C-CE77-4AC9-BE4E-5B4B2BC613BC}"/>
                  </a:ext>
                </a:extLst>
              </p:cNvPr>
              <p:cNvSpPr>
                <a:spLocks noGrp="1" noRot="1" noChangeAspect="1" noMove="1" noResize="1" noEditPoints="1" noAdjustHandles="1" noChangeArrowheads="1" noChangeShapeType="1" noTextEdit="1"/>
              </p:cNvSpPr>
              <p:nvPr/>
            </p:nvSpPr>
            <p:spPr>
              <a:xfrm>
                <a:off x="590550" y="3429000"/>
                <a:ext cx="11029950" cy="857250"/>
              </a:xfrm>
              <a:prstGeom prst="rect">
                <a:avLst/>
              </a:prstGeom>
              <a:blipFill>
                <a:blip r:embed="rId3"/>
                <a:stretch>
                  <a:fillRect t="-1471"/>
                </a:stretch>
              </a:blipFill>
              <a:ln w="0">
                <a:noFill/>
              </a:ln>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9" name="l03-content-76">
                <a:extLst>
                  <a:ext uri="{FF2B5EF4-FFF2-40B4-BE49-F238E27FC236}">
                    <a16:creationId xmlns:a16="http://schemas.microsoft.com/office/drawing/2014/main" id="{859EA0FE-1BE5-46EB-B050-D78180007682}"/>
                  </a:ext>
                </a:extLst>
              </p:cNvPr>
              <p:cNvSpPr>
                <a:spLocks noGrp="1"/>
              </p:cNvSpPr>
              <p:nvPr/>
            </p:nvSpPr>
            <p:spPr>
              <a:xfrm>
                <a:off x="590550" y="4543425"/>
                <a:ext cx="11029950" cy="876300"/>
              </a:xfrm>
              <a:prstGeom prst="rect">
                <a:avLst/>
              </a:prstGeom>
              <a:noFill/>
              <a:ln w="0">
                <a:noFill/>
              </a:ln>
            </p:spPr>
            <p:txBody>
              <a:bodyPr wrap="square" lIns="0" tIns="0" rIns="0" bIns="0" anchor="t">
                <a:noAutofit/>
              </a:bodyPr>
              <a:lstStyle/>
              <a:p>
                <a:pPr algn="ctr">
                  <a:defRPr sz="2850" b="0">
                    <a:solidFill>
                      <a:srgbClr val="102D69"/>
                    </a:solidFill>
                    <a:latin typeface="Cambria Math"/>
                    <a:ea typeface="Cambria Math"/>
                    <a:cs typeface="Cambria Math"/>
                  </a:defRPr>
                </a:pPr>
                <a14:m>
                  <m:oMathPara xmlns:m="http://schemas.openxmlformats.org/officeDocument/2006/math">
                    <m:oMath>
                      <m:sSubSup>
                        <m:sSubSupPr>
                          <m:ctrlPr>
                            <a:rPr>
                              <a:latin typeface="Cambria Math" panose="02040503050406030204" pitchFamily="18" charset="0"/>
                            </a:rPr>
                          </m:ctrlPr>
                        </m:sSubSupPr>
                        <m:e>
                          <m:r>
                            <a:rPr>
                              <a:latin typeface="Cambria Math" panose="02040503050406030204" pitchFamily="18" charset="0"/>
                            </a:rPr>
                            <m:t>𝑤</m:t>
                          </m:r>
                        </m:e>
                        <m:sub>
                          <m:r>
                            <a:rPr>
                              <a:latin typeface="Cambria Math" panose="02040503050406030204" pitchFamily="18" charset="0"/>
                            </a:rPr>
                            <m:t>𝜆</m:t>
                          </m:r>
                        </m:sub>
                        <m:sup>
                          <m:r>
                            <a:rPr>
                              <a:latin typeface="Cambria Math" panose="02040503050406030204" pitchFamily="18" charset="0"/>
                            </a:rPr>
                            <m:t>∗</m:t>
                          </m:r>
                        </m:sup>
                      </m:sSub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𝐴</m:t>
                          </m:r>
                        </m:e>
                        <m:sup>
                          <m:r>
                            <a:rPr>
                              <a:latin typeface="Cambria Math" panose="02040503050406030204" pitchFamily="18" charset="0"/>
                            </a:rPr>
                            <m:t>𝑇</m:t>
                          </m:r>
                        </m:sup>
                      </m:sSup>
                      <m:r>
                        <a:rPr>
                          <a:latin typeface="Cambria Math" panose="02040503050406030204" pitchFamily="18" charset="0"/>
                        </a:rPr>
                        <m:t>𝐴</m:t>
                      </m:r>
                      <m:r>
                        <a:rPr>
                          <a:latin typeface="Cambria Math" panose="02040503050406030204" pitchFamily="18" charset="0"/>
                        </a:rPr>
                        <m:t>+</m:t>
                      </m:r>
                      <m:r>
                        <m:rPr>
                          <m:sty m:val="p"/>
                        </m:rPr>
                        <a:rPr>
                          <a:latin typeface="Cambria Math" panose="02040503050406030204" pitchFamily="18" charset="0"/>
                        </a:rPr>
                        <m:t>ℓ</m:t>
                      </m:r>
                      <m:r>
                        <a:rPr>
                          <a:latin typeface="Cambria Math" panose="02040503050406030204" pitchFamily="18" charset="0"/>
                        </a:rPr>
                        <m:t>𝜆</m:t>
                      </m:r>
                      <m:r>
                        <a:rPr>
                          <a:latin typeface="Cambria Math" panose="02040503050406030204" pitchFamily="18" charset="0"/>
                        </a:rPr>
                        <m:t>𝐷</m:t>
                      </m:r>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−1</m:t>
                          </m:r>
                        </m:sup>
                      </m:sSup>
                      <m:sSup>
                        <m:sSupPr>
                          <m:ctrlPr>
                            <a:rPr>
                              <a:latin typeface="Cambria Math" panose="02040503050406030204" pitchFamily="18" charset="0"/>
                            </a:rPr>
                          </m:ctrlPr>
                        </m:sSupPr>
                        <m:e>
                          <m:r>
                            <a:rPr>
                              <a:latin typeface="Cambria Math" panose="02040503050406030204" pitchFamily="18" charset="0"/>
                            </a:rPr>
                            <m:t>𝐴</m:t>
                          </m:r>
                        </m:e>
                        <m:sup>
                          <m:r>
                            <a:rPr>
                              <a:latin typeface="Cambria Math" panose="02040503050406030204" pitchFamily="18" charset="0"/>
                            </a:rPr>
                            <m:t>𝑇</m:t>
                          </m:r>
                        </m:sup>
                      </m:sSup>
                      <m:r>
                        <a:rPr>
                          <a:latin typeface="Cambria Math" panose="02040503050406030204" pitchFamily="18" charset="0"/>
                        </a:rPr>
                        <m:t>𝑦</m:t>
                      </m:r>
                    </m:oMath>
                  </m:oMathPara>
                </a14:m>
                <a:endParaRPr/>
              </a:p>
            </p:txBody>
          </p:sp>
        </mc:Choice>
        <mc:Fallback>
          <p:sp>
            <p:nvSpPr>
              <p:cNvPr id="9" name="l03-content-76">
                <a:extLst>
                  <a:ext uri="{FF2B5EF4-FFF2-40B4-BE49-F238E27FC236}">
                    <a16:creationId xmlns:a16="http://schemas.microsoft.com/office/drawing/2014/main" id="{859EA0FE-1BE5-46EB-B050-D78180007682}"/>
                  </a:ext>
                </a:extLst>
              </p:cNvPr>
              <p:cNvSpPr>
                <a:spLocks noGrp="1" noRot="1" noChangeAspect="1" noMove="1" noResize="1" noEditPoints="1" noAdjustHandles="1" noChangeArrowheads="1" noChangeShapeType="1" noTextEdit="1"/>
              </p:cNvSpPr>
              <p:nvPr/>
            </p:nvSpPr>
            <p:spPr>
              <a:xfrm>
                <a:off x="590550" y="4543425"/>
                <a:ext cx="11029950" cy="876300"/>
              </a:xfrm>
              <a:prstGeom prst="rect">
                <a:avLst/>
              </a:prstGeom>
              <a:blipFill>
                <a:blip r:embed="rId4"/>
                <a:stretch>
                  <a:fillRect/>
                </a:stretch>
              </a:blipFill>
              <a:ln w="0">
                <a:noFill/>
              </a:ln>
            </p:spPr>
            <p:txBody>
              <a:bodyPr/>
              <a:lstStyle/>
              <a:p>
                <a:r>
                  <a:rPr lang="ru-RU">
                    <a:noFill/>
                  </a:rPr>
                  <a:t> </a:t>
                </a:r>
              </a:p>
            </p:txBody>
          </p:sp>
        </mc:Fallback>
      </mc:AlternateContent>
      <p:sp>
        <p:nvSpPr>
          <p:cNvPr id="10" name="l03-content-77">
            <a:extLst>
              <a:ext uri="{FF2B5EF4-FFF2-40B4-BE49-F238E27FC236}">
                <a16:creationId xmlns:a16="http://schemas.microsoft.com/office/drawing/2014/main" id="{2F037AA8-88D0-45EA-9BD2-20B342C1763D}"/>
              </a:ext>
            </a:extLst>
          </p:cNvPr>
          <p:cNvSpPr>
            <a:spLocks noGrp="1"/>
          </p:cNvSpPr>
          <p:nvPr/>
        </p:nvSpPr>
        <p:spPr>
          <a:xfrm>
            <a:off x="590550" y="5657850"/>
            <a:ext cx="11029950" cy="781050"/>
          </a:xfrm>
          <a:prstGeom prst="rect">
            <a:avLst/>
          </a:prstGeom>
          <a:noFill/>
          <a:ln w="0">
            <a:noFill/>
          </a:ln>
        </p:spPr>
        <p:txBody>
          <a:bodyPr wrap="square" lIns="0" tIns="0" rIns="0" bIns="0" anchor="t">
            <a:noAutofit/>
          </a:bodyPr>
          <a:lstStyle/>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D = diag(0, 1, …, 1): свободный член не штрафуем.</a:t>
            </a:r>
          </a:p>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При λ &gt; 0 решение существует и единственно даже при зависимых признаках.</a:t>
            </a:r>
          </a:p>
        </p:txBody>
      </p:sp>
    </p:spTree>
    <p:extLst>
      <p:ext uri="{BB962C8B-B14F-4D97-AF65-F5344CB8AC3E}">
        <p14:creationId xmlns:p14="http://schemas.microsoft.com/office/powerpoint/2010/main" val="1409846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Lasso: штраф за модули коэффициентов</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2. Регуляризация линейной модели</a:t>
            </a:r>
          </a:p>
        </p:txBody>
      </p:sp>
      <mc:AlternateContent xmlns:mc="http://schemas.openxmlformats.org/markup-compatibility/2006">
        <mc:Choice xmlns:a14="http://schemas.microsoft.com/office/drawing/2010/main" Requires="a14">
          <p:sp>
            <p:nvSpPr>
              <p:cNvPr id="7" name="l03-content-78">
                <a:extLst>
                  <a:ext uri="{FF2B5EF4-FFF2-40B4-BE49-F238E27FC236}">
                    <a16:creationId xmlns:a16="http://schemas.microsoft.com/office/drawing/2014/main" id="{991AC0DD-8610-429C-BCDA-96CCFFF19F53}"/>
                  </a:ext>
                </a:extLst>
              </p:cNvPr>
              <p:cNvSpPr>
                <a:spLocks noGrp="1"/>
              </p:cNvSpPr>
              <p:nvPr/>
            </p:nvSpPr>
            <p:spPr>
              <a:xfrm>
                <a:off x="590550" y="2647950"/>
                <a:ext cx="11029950" cy="1190625"/>
              </a:xfrm>
              <a:prstGeom prst="rect">
                <a:avLst/>
              </a:prstGeom>
              <a:noFill/>
              <a:ln w="0">
                <a:noFill/>
              </a:ln>
            </p:spPr>
            <p:txBody>
              <a:bodyPr wrap="square" lIns="0" tIns="0" rIns="0" bIns="0" anchor="t">
                <a:noAutofit/>
              </a:bodyPr>
              <a:lstStyle/>
              <a:p>
                <a:pPr algn="ctr">
                  <a:defRPr sz="3000" b="0">
                    <a:solidFill>
                      <a:srgbClr val="102D69"/>
                    </a:solidFill>
                    <a:latin typeface="Cambria Math"/>
                    <a:ea typeface="Cambria Math"/>
                    <a:cs typeface="Cambria Math"/>
                  </a:defRPr>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𝐽</m:t>
                          </m:r>
                        </m:e>
                        <m:sub>
                          <m:r>
                            <a:rPr>
                              <a:latin typeface="Cambria Math" panose="02040503050406030204" pitchFamily="18" charset="0"/>
                            </a:rPr>
                            <m:t>𝜆</m:t>
                          </m:r>
                        </m:sub>
                      </m:sSub>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r>
                        <a:rPr>
                          <a:latin typeface="Cambria Math" panose="02040503050406030204" pitchFamily="18" charset="0"/>
                        </a:rPr>
                        <m:t>𝑄</m:t>
                      </m:r>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r>
                        <a:rPr>
                          <a:latin typeface="Cambria Math" panose="02040503050406030204" pitchFamily="18" charset="0"/>
                        </a:rPr>
                        <m:t>𝜆</m:t>
                      </m:r>
                      <m:nary>
                        <m:naryPr>
                          <m:chr m:val="∑"/>
                          <m:limLoc m:val="subSup"/>
                          <m:ctrlPr>
                            <a:rPr>
                              <a:latin typeface="Cambria Math" panose="02040503050406030204" pitchFamily="18" charset="0"/>
                            </a:rPr>
                          </m:ctrlPr>
                        </m:naryPr>
                        <m:sub>
                          <m:r>
                            <a:rPr>
                              <a:latin typeface="Cambria Math" panose="02040503050406030204" pitchFamily="18" charset="0"/>
                            </a:rPr>
                            <m:t>𝑗</m:t>
                          </m:r>
                          <m:r>
                            <a:rPr>
                              <a:latin typeface="Cambria Math" panose="02040503050406030204" pitchFamily="18" charset="0"/>
                            </a:rPr>
                            <m:t>=1</m:t>
                          </m:r>
                        </m:sub>
                        <m:sup>
                          <m:r>
                            <a:rPr>
                              <a:latin typeface="Cambria Math" panose="02040503050406030204" pitchFamily="18" charset="0"/>
                            </a:rPr>
                            <m:t>𝑑</m:t>
                          </m:r>
                        </m:sup>
                        <m:e>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𝑗</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𝑚𝑖𝑛</m:t>
                              </m:r>
                            </m:e>
                            <m:sub>
                              <m:r>
                                <a:rPr>
                                  <a:latin typeface="Cambria Math" panose="02040503050406030204" pitchFamily="18" charset="0"/>
                                </a:rPr>
                                <m:t>𝑤</m:t>
                              </m:r>
                            </m:sub>
                          </m:sSub>
                        </m:e>
                      </m:nary>
                    </m:oMath>
                  </m:oMathPara>
                </a14:m>
                <a:endParaRPr/>
              </a:p>
            </p:txBody>
          </p:sp>
        </mc:Choice>
        <mc:Fallback>
          <p:sp>
            <p:nvSpPr>
              <p:cNvPr id="7" name="l03-content-78">
                <a:extLst>
                  <a:ext uri="{FF2B5EF4-FFF2-40B4-BE49-F238E27FC236}">
                    <a16:creationId xmlns:a16="http://schemas.microsoft.com/office/drawing/2014/main" id="{991AC0DD-8610-429C-BCDA-96CCFFF19F53}"/>
                  </a:ext>
                </a:extLst>
              </p:cNvPr>
              <p:cNvSpPr>
                <a:spLocks noGrp="1" noRot="1" noChangeAspect="1" noMove="1" noResize="1" noEditPoints="1" noAdjustHandles="1" noChangeArrowheads="1" noChangeShapeType="1" noTextEdit="1"/>
              </p:cNvSpPr>
              <p:nvPr/>
            </p:nvSpPr>
            <p:spPr>
              <a:xfrm>
                <a:off x="590550" y="2647950"/>
                <a:ext cx="11029950" cy="1190625"/>
              </a:xfrm>
              <a:prstGeom prst="rect">
                <a:avLst/>
              </a:prstGeom>
              <a:blipFill>
                <a:blip r:embed="rId3"/>
                <a:stretch>
                  <a:fillRect t="-136842" b="-184211"/>
                </a:stretch>
              </a:blipFill>
              <a:ln w="0">
                <a:noFill/>
              </a:ln>
            </p:spPr>
            <p:txBody>
              <a:bodyPr/>
              <a:lstStyle/>
              <a:p>
                <a:r>
                  <a:rPr lang="ru-RU">
                    <a:noFill/>
                  </a:rPr>
                  <a:t> </a:t>
                </a:r>
              </a:p>
            </p:txBody>
          </p:sp>
        </mc:Fallback>
      </mc:AlternateContent>
      <p:sp>
        <p:nvSpPr>
          <p:cNvPr id="8" name="l03-content-79">
            <a:extLst>
              <a:ext uri="{FF2B5EF4-FFF2-40B4-BE49-F238E27FC236}">
                <a16:creationId xmlns:a16="http://schemas.microsoft.com/office/drawing/2014/main" id="{AA8E4A39-FAB5-48F1-9649-2857C668E267}"/>
              </a:ext>
            </a:extLst>
          </p:cNvPr>
          <p:cNvSpPr>
            <a:spLocks noGrp="1"/>
          </p:cNvSpPr>
          <p:nvPr/>
        </p:nvSpPr>
        <p:spPr>
          <a:xfrm>
            <a:off x="590550" y="4267200"/>
            <a:ext cx="11029950" cy="704850"/>
          </a:xfrm>
          <a:prstGeom prst="rect">
            <a:avLst/>
          </a:prstGeom>
          <a:noFill/>
          <a:ln w="0">
            <a:noFill/>
          </a:ln>
        </p:spPr>
        <p:txBody>
          <a:bodyPr wrap="square" lIns="0" tIns="0" rIns="0" bIns="0" anchor="t">
            <a:noAutofit/>
          </a:bodyPr>
          <a:lstStyle/>
          <a:p>
            <a:pPr algn="l">
              <a:lnSpc>
                <a:spcPct val="112000"/>
              </a:lnSpc>
              <a:buNone/>
              <a:defRPr sz="2400" b="0">
                <a:solidFill>
                  <a:srgbClr val="102D69"/>
                </a:solidFill>
                <a:latin typeface="HSE Sans"/>
                <a:ea typeface="HSE Sans"/>
                <a:cs typeface="HSE Sans"/>
              </a:defRPr>
            </a:pPr>
            <a:r>
              <a:rPr sz="2400" b="0">
                <a:solidFill>
                  <a:srgbClr val="102D69"/>
                </a:solidFill>
                <a:latin typeface="HSE Sans"/>
                <a:ea typeface="HSE Sans"/>
                <a:cs typeface="HSE Sans"/>
              </a:rPr>
              <a:t>Вместо квадратов складываем модули весов.</a:t>
            </a:r>
          </a:p>
        </p:txBody>
      </p:sp>
      <p:sp>
        <p:nvSpPr>
          <p:cNvPr id="9" name="l03-content-80">
            <a:extLst>
              <a:ext uri="{FF2B5EF4-FFF2-40B4-BE49-F238E27FC236}">
                <a16:creationId xmlns:a16="http://schemas.microsoft.com/office/drawing/2014/main" id="{7762B5C3-CDD9-4610-A29E-FB0F478A32A4}"/>
              </a:ext>
            </a:extLst>
          </p:cNvPr>
          <p:cNvSpPr>
            <a:spLocks noGrp="1"/>
          </p:cNvSpPr>
          <p:nvPr/>
        </p:nvSpPr>
        <p:spPr>
          <a:xfrm>
            <a:off x="590550" y="5362575"/>
            <a:ext cx="11029950" cy="1009650"/>
          </a:xfrm>
          <a:prstGeom prst="rect">
            <a:avLst/>
          </a:prstGeom>
          <a:noFill/>
          <a:ln w="0">
            <a:noFill/>
          </a:ln>
        </p:spPr>
        <p:txBody>
          <a:bodyPr wrap="square" lIns="0" tIns="0" rIns="0" bIns="0" anchor="t">
            <a:noAutofit/>
          </a:bodyPr>
          <a:lstStyle/>
          <a:p>
            <a:pPr algn="l">
              <a:lnSpc>
                <a:spcPct val="112000"/>
              </a:lnSpc>
              <a:buNone/>
              <a:defRPr sz="2250" b="0">
                <a:solidFill>
                  <a:srgbClr val="102D69"/>
                </a:solidFill>
                <a:latin typeface="HSE Sans"/>
                <a:ea typeface="HSE Sans"/>
                <a:cs typeface="HSE Sans"/>
              </a:defRPr>
            </a:pPr>
            <a:r>
              <a:rPr sz="2250" b="0">
                <a:solidFill>
                  <a:srgbClr val="102D69"/>
                </a:solidFill>
                <a:latin typeface="HSE Sans"/>
                <a:ea typeface="HSE Sans"/>
                <a:cs typeface="HSE Sans"/>
              </a:rPr>
              <a:t>Lasso может сделать часть весов ровно нулевыми.</a:t>
            </a:r>
          </a:p>
          <a:p>
            <a:pPr algn="l">
              <a:lnSpc>
                <a:spcPct val="112000"/>
              </a:lnSpc>
              <a:buNone/>
              <a:defRPr sz="2250" b="0">
                <a:solidFill>
                  <a:srgbClr val="102D69"/>
                </a:solidFill>
                <a:latin typeface="HSE Sans"/>
                <a:ea typeface="HSE Sans"/>
                <a:cs typeface="HSE Sans"/>
              </a:defRPr>
            </a:pPr>
            <a:r>
              <a:rPr sz="2250" b="0">
                <a:solidFill>
                  <a:srgbClr val="102D69"/>
                </a:solidFill>
                <a:latin typeface="HSE Sans"/>
                <a:ea typeface="HSE Sans"/>
                <a:cs typeface="HSE Sans"/>
              </a:rPr>
              <a:t>Какие именно веса обнулятся, зависит от данных и силы штрафа λ.</a:t>
            </a:r>
          </a:p>
        </p:txBody>
      </p:sp>
    </p:spTree>
    <p:extLst>
      <p:ext uri="{BB962C8B-B14F-4D97-AF65-F5344CB8AC3E}">
        <p14:creationId xmlns:p14="http://schemas.microsoft.com/office/powerpoint/2010/main" val="1409846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Почему Lasso зануляет веса</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2. Регуляризация линейной модели</a:t>
            </a:r>
          </a:p>
        </p:txBody>
      </p:sp>
      <p:pic>
        <p:nvPicPr>
          <p:cNvPr id="15" name="Рисунок 14"/>
          <p:cNvPicPr>
            <a:picLocks noChangeAspect="1"/>
          </p:cNvPicPr>
          <p:nvPr/>
        </p:nvPicPr>
        <p:blipFill>
          <a:blip r:embed="rId3"/>
          <a:stretch/>
        </p:blipFill>
        <p:spPr>
          <a:xfrm>
            <a:off x="962961" y="2390775"/>
            <a:ext cx="3827178" cy="3629025"/>
          </a:xfrm>
          <a:prstGeom prst="rect">
            <a:avLst/>
          </a:prstGeom>
        </p:spPr>
      </p:pic>
      <mc:AlternateContent xmlns:mc="http://schemas.openxmlformats.org/markup-compatibility/2006">
        <mc:Choice xmlns:a14="http://schemas.microsoft.com/office/drawing/2010/main" Requires="a14">
          <p:sp>
            <p:nvSpPr>
              <p:cNvPr id="8" name="l03-content-81">
                <a:extLst>
                  <a:ext uri="{FF2B5EF4-FFF2-40B4-BE49-F238E27FC236}">
                    <a16:creationId xmlns:a16="http://schemas.microsoft.com/office/drawing/2014/main" id="{6C2F870D-5DC8-47D1-A078-1AA8D3F0E4D6}"/>
                  </a:ext>
                </a:extLst>
              </p:cNvPr>
              <p:cNvSpPr>
                <a:spLocks noGrp="1"/>
              </p:cNvSpPr>
              <p:nvPr/>
            </p:nvSpPr>
            <p:spPr>
              <a:xfrm>
                <a:off x="5886450" y="2505075"/>
                <a:ext cx="5619750" cy="895350"/>
              </a:xfrm>
              <a:prstGeom prst="rect">
                <a:avLst/>
              </a:prstGeom>
              <a:noFill/>
              <a:ln w="0">
                <a:noFill/>
              </a:ln>
            </p:spPr>
            <p:txBody>
              <a:bodyPr wrap="square" lIns="0" tIns="0" rIns="0" bIns="0" anchor="t">
                <a:noAutofit/>
              </a:bodyPr>
              <a:lstStyle/>
              <a:p>
                <a:pPr algn="ctr">
                  <a:defRPr sz="3000"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1</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2</m:t>
                          </m:r>
                        </m:sub>
                      </m:sSub>
                      <m:r>
                        <a:rPr>
                          <a:latin typeface="Cambria Math" panose="02040503050406030204" pitchFamily="18" charset="0"/>
                        </a:rPr>
                        <m:t>|≤</m:t>
                      </m:r>
                      <m:r>
                        <a:rPr>
                          <a:latin typeface="Cambria Math" panose="02040503050406030204" pitchFamily="18" charset="0"/>
                        </a:rPr>
                        <m:t>𝑠</m:t>
                      </m:r>
                    </m:oMath>
                  </m:oMathPara>
                </a14:m>
                <a:endParaRPr/>
              </a:p>
            </p:txBody>
          </p:sp>
        </mc:Choice>
        <mc:Fallback>
          <p:sp>
            <p:nvSpPr>
              <p:cNvPr id="8" name="l03-content-81">
                <a:extLst>
                  <a:ext uri="{FF2B5EF4-FFF2-40B4-BE49-F238E27FC236}">
                    <a16:creationId xmlns:a16="http://schemas.microsoft.com/office/drawing/2014/main" id="{6C2F870D-5DC8-47D1-A078-1AA8D3F0E4D6}"/>
                  </a:ext>
                </a:extLst>
              </p:cNvPr>
              <p:cNvSpPr>
                <a:spLocks noGrp="1" noRot="1" noChangeAspect="1" noMove="1" noResize="1" noEditPoints="1" noAdjustHandles="1" noChangeArrowheads="1" noChangeShapeType="1" noTextEdit="1"/>
              </p:cNvSpPr>
              <p:nvPr/>
            </p:nvSpPr>
            <p:spPr>
              <a:xfrm>
                <a:off x="5886450" y="2505075"/>
                <a:ext cx="5619750" cy="895350"/>
              </a:xfrm>
              <a:prstGeom prst="rect">
                <a:avLst/>
              </a:prstGeom>
              <a:blipFill>
                <a:blip r:embed="rId4"/>
                <a:stretch>
                  <a:fillRect/>
                </a:stretch>
              </a:blipFill>
              <a:ln w="0">
                <a:noFill/>
              </a:ln>
            </p:spPr>
            <p:txBody>
              <a:bodyPr/>
              <a:lstStyle/>
              <a:p>
                <a:r>
                  <a:rPr lang="ru-RU">
                    <a:noFill/>
                  </a:rPr>
                  <a:t> </a:t>
                </a:r>
              </a:p>
            </p:txBody>
          </p:sp>
        </mc:Fallback>
      </mc:AlternateContent>
      <p:sp>
        <p:nvSpPr>
          <p:cNvPr id="9" name="l03-content-82">
            <a:extLst>
              <a:ext uri="{FF2B5EF4-FFF2-40B4-BE49-F238E27FC236}">
                <a16:creationId xmlns:a16="http://schemas.microsoft.com/office/drawing/2014/main" id="{337A5323-D6DA-4E7E-9704-FF1F30EFE047}"/>
              </a:ext>
            </a:extLst>
          </p:cNvPr>
          <p:cNvSpPr>
            <a:spLocks noGrp="1"/>
          </p:cNvSpPr>
          <p:nvPr/>
        </p:nvSpPr>
        <p:spPr>
          <a:xfrm>
            <a:off x="5857875" y="4000500"/>
            <a:ext cx="5686425" cy="1581150"/>
          </a:xfrm>
          <a:prstGeom prst="rect">
            <a:avLst/>
          </a:prstGeom>
          <a:noFill/>
          <a:ln w="0">
            <a:noFill/>
          </a:ln>
        </p:spPr>
        <p:txBody>
          <a:bodyPr wrap="square" lIns="0" tIns="0" rIns="0" bIns="0" anchor="t">
            <a:noAutofit/>
          </a:bodyPr>
          <a:lstStyle/>
          <a:p>
            <a:pPr algn="l">
              <a:lnSpc>
                <a:spcPct val="112000"/>
              </a:lnSpc>
              <a:buNone/>
              <a:defRPr sz="2250" b="0">
                <a:solidFill>
                  <a:srgbClr val="102D69"/>
                </a:solidFill>
                <a:latin typeface="HSE Sans"/>
                <a:ea typeface="HSE Sans"/>
                <a:cs typeface="HSE Sans"/>
              </a:defRPr>
            </a:pPr>
            <a:r>
              <a:rPr sz="2250" b="0">
                <a:solidFill>
                  <a:srgbClr val="102D69"/>
                </a:solidFill>
                <a:latin typeface="HSE Sans"/>
                <a:ea typeface="HSE Sans"/>
                <a:cs typeface="HSE Sans"/>
              </a:rPr>
              <a:t>Линия уровня ошибки может</a:t>
            </a:r>
          </a:p>
          <a:p>
            <a:pPr algn="l">
              <a:lnSpc>
                <a:spcPct val="112000"/>
              </a:lnSpc>
              <a:buNone/>
              <a:defRPr sz="2250" b="0">
                <a:solidFill>
                  <a:srgbClr val="102D69"/>
                </a:solidFill>
                <a:latin typeface="HSE Sans"/>
                <a:ea typeface="HSE Sans"/>
                <a:cs typeface="HSE Sans"/>
              </a:defRPr>
            </a:pPr>
            <a:r>
              <a:rPr sz="2250" b="0">
                <a:solidFill>
                  <a:srgbClr val="102D69"/>
                </a:solidFill>
                <a:latin typeface="HSE Sans"/>
                <a:ea typeface="HSE Sans"/>
                <a:cs typeface="HSE Sans"/>
              </a:rPr>
              <a:t>коснуться ромба в его вершине.</a:t>
            </a:r>
          </a:p>
          <a:p>
            <a:pPr algn="l">
              <a:lnSpc>
                <a:spcPct val="112000"/>
              </a:lnSpc>
              <a:buNone/>
              <a:defRPr sz="2250" b="0">
                <a:solidFill>
                  <a:srgbClr val="102D69"/>
                </a:solidFill>
                <a:latin typeface="HSE Sans"/>
                <a:ea typeface="HSE Sans"/>
                <a:cs typeface="HSE Sans"/>
              </a:defRPr>
            </a:pPr>
            <a:r>
              <a:rPr sz="2250" b="0">
                <a:solidFill>
                  <a:srgbClr val="102D69"/>
                </a:solidFill>
                <a:latin typeface="HSE Sans"/>
                <a:ea typeface="HSE Sans"/>
                <a:cs typeface="HSE Sans"/>
              </a:rPr>
              <a:t>В этой точке один из весов равен нулю.</a:t>
            </a:r>
          </a:p>
        </p:txBody>
      </p:sp>
    </p:spTree>
    <p:extLst>
      <p:ext uri="{BB962C8B-B14F-4D97-AF65-F5344CB8AC3E}">
        <p14:creationId xmlns:p14="http://schemas.microsoft.com/office/powerpoint/2010/main" val="1409846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Elastic Net объединяет два штрафа</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2. Регуляризация линейной модели</a:t>
            </a:r>
          </a:p>
        </p:txBody>
      </p:sp>
      <mc:AlternateContent xmlns:mc="http://schemas.openxmlformats.org/markup-compatibility/2006">
        <mc:Choice xmlns:a14="http://schemas.microsoft.com/office/drawing/2010/main" Requires="a14">
          <p:sp>
            <p:nvSpPr>
              <p:cNvPr id="7" name="l03-content-83">
                <a:extLst>
                  <a:ext uri="{FF2B5EF4-FFF2-40B4-BE49-F238E27FC236}">
                    <a16:creationId xmlns:a16="http://schemas.microsoft.com/office/drawing/2014/main" id="{05FBE266-B8E2-432A-8E44-A54E8130CCE3}"/>
                  </a:ext>
                </a:extLst>
              </p:cNvPr>
              <p:cNvSpPr>
                <a:spLocks noGrp="1"/>
              </p:cNvSpPr>
              <p:nvPr/>
            </p:nvSpPr>
            <p:spPr>
              <a:xfrm>
                <a:off x="590550" y="2276475"/>
                <a:ext cx="11029950" cy="1000125"/>
              </a:xfrm>
              <a:prstGeom prst="rect">
                <a:avLst/>
              </a:prstGeom>
              <a:noFill/>
              <a:ln w="0">
                <a:noFill/>
              </a:ln>
            </p:spPr>
            <p:txBody>
              <a:bodyPr wrap="square" lIns="0" tIns="0" rIns="0" bIns="0" anchor="t">
                <a:noAutofit/>
              </a:bodyPr>
              <a:lstStyle/>
              <a:p>
                <a:pPr algn="ctr">
                  <a:defRPr sz="2625"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𝐽</m:t>
                      </m:r>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r>
                        <a:rPr>
                          <a:latin typeface="Cambria Math" panose="02040503050406030204" pitchFamily="18" charset="0"/>
                        </a:rPr>
                        <m:t>𝑄</m:t>
                      </m:r>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𝜆</m:t>
                          </m:r>
                        </m:e>
                        <m:sub>
                          <m:r>
                            <a:rPr>
                              <a:latin typeface="Cambria Math" panose="02040503050406030204" pitchFamily="18" charset="0"/>
                            </a:rPr>
                            <m:t>1</m:t>
                          </m:r>
                        </m:sub>
                      </m:sSub>
                      <m:nary>
                        <m:naryPr>
                          <m:chr m:val="∑"/>
                          <m:limLoc m:val="subSup"/>
                          <m:ctrlPr>
                            <a:rPr>
                              <a:latin typeface="Cambria Math" panose="02040503050406030204" pitchFamily="18" charset="0"/>
                            </a:rPr>
                          </m:ctrlPr>
                        </m:naryPr>
                        <m:sub>
                          <m:r>
                            <a:rPr>
                              <a:latin typeface="Cambria Math" panose="02040503050406030204" pitchFamily="18" charset="0"/>
                            </a:rPr>
                            <m:t>𝑗</m:t>
                          </m:r>
                          <m:r>
                            <a:rPr>
                              <a:latin typeface="Cambria Math" panose="02040503050406030204" pitchFamily="18" charset="0"/>
                            </a:rPr>
                            <m:t>=1</m:t>
                          </m:r>
                        </m:sub>
                        <m:sup>
                          <m:r>
                            <a:rPr>
                              <a:latin typeface="Cambria Math" panose="02040503050406030204" pitchFamily="18" charset="0"/>
                            </a:rPr>
                            <m:t>𝑑</m:t>
                          </m:r>
                        </m:sup>
                        <m:e>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𝑗</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𝜆</m:t>
                              </m:r>
                            </m:e>
                            <m:sub>
                              <m:r>
                                <a:rPr>
                                  <a:latin typeface="Cambria Math" panose="02040503050406030204" pitchFamily="18" charset="0"/>
                                </a:rPr>
                                <m:t>2</m:t>
                              </m:r>
                            </m:sub>
                          </m:sSub>
                          <m:nary>
                            <m:naryPr>
                              <m:chr m:val="∑"/>
                              <m:limLoc m:val="subSup"/>
                              <m:ctrlPr>
                                <a:rPr>
                                  <a:latin typeface="Cambria Math" panose="02040503050406030204" pitchFamily="18" charset="0"/>
                                </a:rPr>
                              </m:ctrlPr>
                            </m:naryPr>
                            <m:sub>
                              <m:r>
                                <a:rPr>
                                  <a:latin typeface="Cambria Math" panose="02040503050406030204" pitchFamily="18" charset="0"/>
                                </a:rPr>
                                <m:t>𝑗</m:t>
                              </m:r>
                              <m:r>
                                <a:rPr>
                                  <a:latin typeface="Cambria Math" panose="02040503050406030204" pitchFamily="18" charset="0"/>
                                </a:rPr>
                                <m:t>=1</m:t>
                              </m:r>
                            </m:sub>
                            <m:sup>
                              <m:r>
                                <a:rPr>
                                  <a:latin typeface="Cambria Math" panose="02040503050406030204" pitchFamily="18" charset="0"/>
                                </a:rPr>
                                <m:t>𝑑</m:t>
                              </m:r>
                            </m:sup>
                            <m:e>
                              <m:sSubSup>
                                <m:sSubSupPr>
                                  <m:ctrlPr>
                                    <a:rPr>
                                      <a:latin typeface="Cambria Math" panose="02040503050406030204" pitchFamily="18" charset="0"/>
                                    </a:rPr>
                                  </m:ctrlPr>
                                </m:sSubSupPr>
                                <m:e>
                                  <m:r>
                                    <a:rPr>
                                      <a:latin typeface="Cambria Math" panose="02040503050406030204" pitchFamily="18" charset="0"/>
                                    </a:rPr>
                                    <m:t>𝑤</m:t>
                                  </m:r>
                                </m:e>
                                <m:sub>
                                  <m:r>
                                    <a:rPr>
                                      <a:latin typeface="Cambria Math" panose="02040503050406030204" pitchFamily="18" charset="0"/>
                                    </a:rPr>
                                    <m:t>𝑗</m:t>
                                  </m:r>
                                </m:sub>
                                <m:sup>
                                  <m:r>
                                    <a:rPr>
                                      <a:latin typeface="Cambria Math" panose="02040503050406030204" pitchFamily="18" charset="0"/>
                                    </a:rPr>
                                    <m:t>2</m:t>
                                  </m:r>
                                </m:sup>
                              </m:sSubSup>
                            </m:e>
                          </m:nary>
                        </m:e>
                      </m:nary>
                    </m:oMath>
                  </m:oMathPara>
                </a14:m>
                <a:endParaRPr/>
              </a:p>
            </p:txBody>
          </p:sp>
        </mc:Choice>
        <mc:Fallback>
          <p:sp>
            <p:nvSpPr>
              <p:cNvPr id="7" name="l03-content-83">
                <a:extLst>
                  <a:ext uri="{FF2B5EF4-FFF2-40B4-BE49-F238E27FC236}">
                    <a16:creationId xmlns:a16="http://schemas.microsoft.com/office/drawing/2014/main" id="{05FBE266-B8E2-432A-8E44-A54E8130CCE3}"/>
                  </a:ext>
                </a:extLst>
              </p:cNvPr>
              <p:cNvSpPr>
                <a:spLocks noGrp="1" noRot="1" noChangeAspect="1" noMove="1" noResize="1" noEditPoints="1" noAdjustHandles="1" noChangeArrowheads="1" noChangeShapeType="1" noTextEdit="1"/>
              </p:cNvSpPr>
              <p:nvPr/>
            </p:nvSpPr>
            <p:spPr>
              <a:xfrm>
                <a:off x="590550" y="2276475"/>
                <a:ext cx="11029950" cy="1000125"/>
              </a:xfrm>
              <a:prstGeom prst="rect">
                <a:avLst/>
              </a:prstGeom>
              <a:blipFill>
                <a:blip r:embed="rId3"/>
                <a:stretch>
                  <a:fillRect t="-143750" b="-196250"/>
                </a:stretch>
              </a:blipFill>
              <a:ln w="0">
                <a:noFill/>
              </a:ln>
            </p:spPr>
            <p:txBody>
              <a:bodyPr/>
              <a:lstStyle/>
              <a:p>
                <a:r>
                  <a:rPr lang="ru-RU">
                    <a:noFill/>
                  </a:rPr>
                  <a:t> </a:t>
                </a:r>
              </a:p>
            </p:txBody>
          </p:sp>
        </mc:Fallback>
      </mc:AlternateContent>
      <p:pic>
        <p:nvPicPr>
          <p:cNvPr id="17" name="Рисунок 16"/>
          <p:cNvPicPr>
            <a:picLocks noChangeAspect="1"/>
          </p:cNvPicPr>
          <p:nvPr/>
        </p:nvPicPr>
        <p:blipFill>
          <a:blip r:embed="rId4"/>
          <a:stretch/>
        </p:blipFill>
        <p:spPr>
          <a:xfrm>
            <a:off x="1210386" y="3524250"/>
            <a:ext cx="2779878" cy="2733675"/>
          </a:xfrm>
          <a:prstGeom prst="rect">
            <a:avLst/>
          </a:prstGeom>
        </p:spPr>
      </p:pic>
      <p:sp>
        <p:nvSpPr>
          <p:cNvPr id="9" name="l03-content-84">
            <a:extLst>
              <a:ext uri="{FF2B5EF4-FFF2-40B4-BE49-F238E27FC236}">
                <a16:creationId xmlns:a16="http://schemas.microsoft.com/office/drawing/2014/main" id="{BB0A3FA8-E8CB-4DD0-BCB1-8DD41512E4EA}"/>
              </a:ext>
            </a:extLst>
          </p:cNvPr>
          <p:cNvSpPr>
            <a:spLocks noGrp="1"/>
          </p:cNvSpPr>
          <p:nvPr/>
        </p:nvSpPr>
        <p:spPr>
          <a:xfrm>
            <a:off x="5219700" y="3724275"/>
            <a:ext cx="6276975" cy="1381125"/>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L1-часть позволяет занулять веса.</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L2-часть сжимает веса и помогает</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при сильно связанных признаках.</a:t>
            </a:r>
          </a:p>
        </p:txBody>
      </p:sp>
      <p:sp>
        <p:nvSpPr>
          <p:cNvPr id="10" name="l03-content-85">
            <a:extLst>
              <a:ext uri="{FF2B5EF4-FFF2-40B4-BE49-F238E27FC236}">
                <a16:creationId xmlns:a16="http://schemas.microsoft.com/office/drawing/2014/main" id="{C0386D36-BABC-4F07-BE00-596B97836B8A}"/>
              </a:ext>
            </a:extLst>
          </p:cNvPr>
          <p:cNvSpPr>
            <a:spLocks noGrp="1"/>
          </p:cNvSpPr>
          <p:nvPr/>
        </p:nvSpPr>
        <p:spPr>
          <a:xfrm>
            <a:off x="5219700" y="5524500"/>
            <a:ext cx="6276975" cy="590550"/>
          </a:xfrm>
          <a:prstGeom prst="rect">
            <a:avLst/>
          </a:prstGeom>
          <a:noFill/>
          <a:ln w="0">
            <a:noFill/>
          </a:ln>
        </p:spPr>
        <p:txBody>
          <a:bodyPr wrap="square" lIns="0" tIns="0" rIns="0" bIns="0" anchor="t">
            <a:noAutofit/>
          </a:bodyPr>
          <a:lstStyle/>
          <a:p>
            <a:pPr algn="l">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λ₁ и λ₂ выбираем по валидации.</a:t>
            </a:r>
          </a:p>
        </p:txBody>
      </p:sp>
    </p:spTree>
    <p:extLst>
      <p:ext uri="{BB962C8B-B14F-4D97-AF65-F5344CB8AC3E}">
        <p14:creationId xmlns:p14="http://schemas.microsoft.com/office/powerpoint/2010/main" val="1409846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Как сила регуляризации влияет на веса</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2. Регуляризация линейной модели</a:t>
            </a:r>
          </a:p>
        </p:txBody>
      </p:sp>
      <p:sp>
        <p:nvSpPr>
          <p:cNvPr id="7" name="l03-content-86">
            <a:extLst>
              <a:ext uri="{FF2B5EF4-FFF2-40B4-BE49-F238E27FC236}">
                <a16:creationId xmlns:a16="http://schemas.microsoft.com/office/drawing/2014/main" id="{1B2B08A8-BA34-48A4-8C5D-147A1382AC63}"/>
              </a:ext>
            </a:extLst>
          </p:cNvPr>
          <p:cNvSpPr>
            <a:spLocks noGrp="1"/>
          </p:cNvSpPr>
          <p:nvPr/>
        </p:nvSpPr>
        <p:spPr>
          <a:xfrm>
            <a:off x="590550" y="2276475"/>
            <a:ext cx="5267325" cy="457200"/>
          </a:xfrm>
          <a:prstGeom prst="rect">
            <a:avLst/>
          </a:prstGeom>
          <a:noFill/>
          <a:ln w="0">
            <a:noFill/>
          </a:ln>
        </p:spPr>
        <p:txBody>
          <a:bodyPr wrap="square" lIns="0" tIns="0" rIns="0" bIns="0" anchor="t">
            <a:noAutofit/>
          </a:bodyPr>
          <a:lstStyle/>
          <a:p>
            <a:pPr algn="l">
              <a:lnSpc>
                <a:spcPct val="112000"/>
              </a:lnSpc>
              <a:buNone/>
              <a:defRPr sz="2400" b="1">
                <a:solidFill>
                  <a:srgbClr val="102D69"/>
                </a:solidFill>
                <a:latin typeface="HSE Sans"/>
                <a:ea typeface="HSE Sans"/>
                <a:cs typeface="HSE Sans"/>
              </a:defRPr>
            </a:pPr>
            <a:r>
              <a:rPr sz="2400" b="1">
                <a:solidFill>
                  <a:srgbClr val="102D69"/>
                </a:solidFill>
                <a:latin typeface="HSE Sans"/>
                <a:ea typeface="HSE Sans"/>
                <a:cs typeface="HSE Sans"/>
              </a:rPr>
              <a:t>Ridge</a:t>
            </a:r>
          </a:p>
        </p:txBody>
      </p:sp>
      <p:sp>
        <p:nvSpPr>
          <p:cNvPr id="8" name="l03-content-87">
            <a:extLst>
              <a:ext uri="{FF2B5EF4-FFF2-40B4-BE49-F238E27FC236}">
                <a16:creationId xmlns:a16="http://schemas.microsoft.com/office/drawing/2014/main" id="{291A4FBC-08E4-4D60-A67F-F60FAE869D9B}"/>
              </a:ext>
            </a:extLst>
          </p:cNvPr>
          <p:cNvSpPr>
            <a:spLocks noGrp="1"/>
          </p:cNvSpPr>
          <p:nvPr/>
        </p:nvSpPr>
        <p:spPr>
          <a:xfrm>
            <a:off x="6362700" y="2276475"/>
            <a:ext cx="5267325" cy="457200"/>
          </a:xfrm>
          <a:prstGeom prst="rect">
            <a:avLst/>
          </a:prstGeom>
          <a:noFill/>
          <a:ln w="0">
            <a:noFill/>
          </a:ln>
        </p:spPr>
        <p:txBody>
          <a:bodyPr wrap="square" lIns="0" tIns="0" rIns="0" bIns="0" anchor="t">
            <a:noAutofit/>
          </a:bodyPr>
          <a:lstStyle/>
          <a:p>
            <a:pPr algn="l">
              <a:lnSpc>
                <a:spcPct val="112000"/>
              </a:lnSpc>
              <a:buNone/>
              <a:defRPr sz="2400" b="1">
                <a:solidFill>
                  <a:srgbClr val="102D69"/>
                </a:solidFill>
                <a:latin typeface="HSE Sans"/>
                <a:ea typeface="HSE Sans"/>
                <a:cs typeface="HSE Sans"/>
              </a:defRPr>
            </a:pPr>
            <a:r>
              <a:rPr sz="2400" b="1">
                <a:solidFill>
                  <a:srgbClr val="102D69"/>
                </a:solidFill>
                <a:latin typeface="HSE Sans"/>
                <a:ea typeface="HSE Sans"/>
                <a:cs typeface="HSE Sans"/>
              </a:rPr>
              <a:t>Lasso</a:t>
            </a:r>
          </a:p>
        </p:txBody>
      </p:sp>
      <p:pic>
        <p:nvPicPr>
          <p:cNvPr id="21" name="Рисунок 20"/>
          <p:cNvPicPr>
            <a:picLocks noChangeAspect="1"/>
          </p:cNvPicPr>
          <p:nvPr/>
        </p:nvPicPr>
        <p:blipFill>
          <a:blip r:embed="rId3"/>
          <a:stretch/>
        </p:blipFill>
        <p:spPr>
          <a:xfrm>
            <a:off x="590550" y="3136466"/>
            <a:ext cx="5267325" cy="2547218"/>
          </a:xfrm>
          <a:prstGeom prst="rect">
            <a:avLst/>
          </a:prstGeom>
        </p:spPr>
      </p:pic>
      <p:pic>
        <p:nvPicPr>
          <p:cNvPr id="22" name="Рисунок 21"/>
          <p:cNvPicPr>
            <a:picLocks noChangeAspect="1"/>
          </p:cNvPicPr>
          <p:nvPr/>
        </p:nvPicPr>
        <p:blipFill>
          <a:blip r:embed="rId4"/>
          <a:stretch/>
        </p:blipFill>
        <p:spPr>
          <a:xfrm>
            <a:off x="6362700" y="3171861"/>
            <a:ext cx="5267325" cy="2476429"/>
          </a:xfrm>
          <a:prstGeom prst="rect">
            <a:avLst/>
          </a:prstGeom>
        </p:spPr>
      </p:pic>
      <p:sp>
        <p:nvSpPr>
          <p:cNvPr id="11" name="l03-content-88">
            <a:extLst>
              <a:ext uri="{FF2B5EF4-FFF2-40B4-BE49-F238E27FC236}">
                <a16:creationId xmlns:a16="http://schemas.microsoft.com/office/drawing/2014/main" id="{9F9656D1-7DCE-403D-8DEB-4CFD0C196F48}"/>
              </a:ext>
            </a:extLst>
          </p:cNvPr>
          <p:cNvSpPr>
            <a:spLocks noGrp="1"/>
          </p:cNvSpPr>
          <p:nvPr/>
        </p:nvSpPr>
        <p:spPr>
          <a:xfrm>
            <a:off x="590550" y="5886450"/>
            <a:ext cx="5267325" cy="523875"/>
          </a:xfrm>
          <a:prstGeom prst="rect">
            <a:avLst/>
          </a:prstGeom>
          <a:noFill/>
          <a:ln w="0">
            <a:noFill/>
          </a:ln>
        </p:spPr>
        <p:txBody>
          <a:bodyPr wrap="square" lIns="0" tIns="0" rIns="0" bIns="0" anchor="t">
            <a:noAutofit/>
          </a:bodyPr>
          <a:lstStyle/>
          <a:p>
            <a:pPr algn="l">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Веса сжимаются к нулю.</a:t>
            </a:r>
          </a:p>
        </p:txBody>
      </p:sp>
      <p:sp>
        <p:nvSpPr>
          <p:cNvPr id="12" name="l03-content-89">
            <a:extLst>
              <a:ext uri="{FF2B5EF4-FFF2-40B4-BE49-F238E27FC236}">
                <a16:creationId xmlns:a16="http://schemas.microsoft.com/office/drawing/2014/main" id="{2F2E316E-5B48-4AA0-8F65-01E2C6461548}"/>
              </a:ext>
            </a:extLst>
          </p:cNvPr>
          <p:cNvSpPr>
            <a:spLocks noGrp="1"/>
          </p:cNvSpPr>
          <p:nvPr/>
        </p:nvSpPr>
        <p:spPr>
          <a:xfrm>
            <a:off x="6362700" y="5886450"/>
            <a:ext cx="5267325" cy="523875"/>
          </a:xfrm>
          <a:prstGeom prst="rect">
            <a:avLst/>
          </a:prstGeom>
          <a:noFill/>
          <a:ln w="0">
            <a:noFill/>
          </a:ln>
        </p:spPr>
        <p:txBody>
          <a:bodyPr wrap="square" lIns="0" tIns="0" rIns="0" bIns="0" anchor="t">
            <a:noAutofit/>
          </a:bodyPr>
          <a:lstStyle/>
          <a:p>
            <a:pPr algn="l">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Часть весов обнуляется.</a:t>
            </a:r>
          </a:p>
        </p:txBody>
      </p:sp>
      <p:sp>
        <p:nvSpPr>
          <p:cNvPr id="13" name="l03-content-90">
            <a:extLst>
              <a:ext uri="{FF2B5EF4-FFF2-40B4-BE49-F238E27FC236}">
                <a16:creationId xmlns:a16="http://schemas.microsoft.com/office/drawing/2014/main" id="{768D7584-F4A8-48AA-B257-00D7CD21191E}"/>
              </a:ext>
            </a:extLst>
          </p:cNvPr>
          <p:cNvSpPr>
            <a:spLocks noGrp="1"/>
          </p:cNvSpPr>
          <p:nvPr/>
        </p:nvSpPr>
        <p:spPr>
          <a:xfrm>
            <a:off x="590550" y="2695575"/>
            <a:ext cx="11029950" cy="419100"/>
          </a:xfrm>
          <a:prstGeom prst="rect">
            <a:avLst/>
          </a:prstGeom>
          <a:noFill/>
          <a:ln w="0">
            <a:noFill/>
          </a:ln>
        </p:spPr>
        <p:txBody>
          <a:bodyPr wrap="square" lIns="0" tIns="0" rIns="0" bIns="0" anchor="t">
            <a:noAutofit/>
          </a:bodyPr>
          <a:lstStyle/>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Каждая линия показывает один вес. Вправо растёт сила штрафа α.</a:t>
            </a:r>
          </a:p>
        </p:txBody>
      </p:sp>
    </p:spTree>
    <p:extLst>
      <p:ext uri="{BB962C8B-B14F-4D97-AF65-F5344CB8AC3E}">
        <p14:creationId xmlns:p14="http://schemas.microsoft.com/office/powerpoint/2010/main" val="1409846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Градиентный спуск</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3. Градиентный спуск</a:t>
            </a:r>
          </a:p>
        </p:txBody>
      </p:sp>
      <p:sp>
        <p:nvSpPr>
          <p:cNvPr id="7" name="l03-content-91">
            <a:extLst>
              <a:ext uri="{FF2B5EF4-FFF2-40B4-BE49-F238E27FC236}">
                <a16:creationId xmlns:a16="http://schemas.microsoft.com/office/drawing/2014/main" id="{023ABDD8-7321-49E3-96EF-24BBC9FCE1D6}"/>
              </a:ext>
            </a:extLst>
          </p:cNvPr>
          <p:cNvSpPr>
            <a:spLocks noGrp="1"/>
          </p:cNvSpPr>
          <p:nvPr/>
        </p:nvSpPr>
        <p:spPr>
          <a:xfrm>
            <a:off x="590550" y="2714625"/>
            <a:ext cx="1428750" cy="1047750"/>
          </a:xfrm>
          <a:prstGeom prst="rect">
            <a:avLst/>
          </a:prstGeom>
          <a:noFill/>
          <a:ln w="0">
            <a:noFill/>
          </a:ln>
        </p:spPr>
        <p:txBody>
          <a:bodyPr wrap="square" lIns="0" tIns="0" rIns="0" bIns="0" anchor="t">
            <a:noAutofit/>
          </a:bodyPr>
          <a:lstStyle/>
          <a:p>
            <a:pPr algn="l">
              <a:lnSpc>
                <a:spcPct val="112000"/>
              </a:lnSpc>
              <a:buNone/>
              <a:defRPr sz="5400" b="1">
                <a:solidFill>
                  <a:srgbClr val="234A9B"/>
                </a:solidFill>
                <a:latin typeface="HSE Sans"/>
                <a:ea typeface="HSE Sans"/>
                <a:cs typeface="HSE Sans"/>
              </a:defRPr>
            </a:pPr>
            <a:r>
              <a:rPr sz="5400" b="1">
                <a:solidFill>
                  <a:srgbClr val="234A9B"/>
                </a:solidFill>
                <a:latin typeface="HSE Sans"/>
                <a:ea typeface="HSE Sans"/>
                <a:cs typeface="HSE Sans"/>
              </a:rPr>
              <a:t>03</a:t>
            </a:r>
          </a:p>
        </p:txBody>
      </p:sp>
      <p:sp>
        <p:nvSpPr>
          <p:cNvPr id="8" name="l03-content-92">
            <a:extLst>
              <a:ext uri="{FF2B5EF4-FFF2-40B4-BE49-F238E27FC236}">
                <a16:creationId xmlns:a16="http://schemas.microsoft.com/office/drawing/2014/main" id="{FB1BA07A-0A8A-460F-BCC6-F189F13EA320}"/>
              </a:ext>
            </a:extLst>
          </p:cNvPr>
          <p:cNvSpPr>
            <a:spLocks noGrp="1"/>
          </p:cNvSpPr>
          <p:nvPr/>
        </p:nvSpPr>
        <p:spPr>
          <a:xfrm>
            <a:off x="2333625" y="2781300"/>
            <a:ext cx="9048750" cy="2190750"/>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Направление уменьшения ошибки</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Пример на пяти доставках</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Длина шага и масштаб признаков</a:t>
            </a:r>
          </a:p>
        </p:txBody>
      </p:sp>
    </p:spTree>
    <p:extLst>
      <p:ext uri="{BB962C8B-B14F-4D97-AF65-F5344CB8AC3E}">
        <p14:creationId xmlns:p14="http://schemas.microsoft.com/office/powerpoint/2010/main" val="1409846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Аналитическое решение: что мешает его использовать</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3. Градиентный спуск</a:t>
            </a:r>
          </a:p>
        </p:txBody>
      </p:sp>
      <mc:AlternateContent xmlns:mc="http://schemas.openxmlformats.org/markup-compatibility/2006">
        <mc:Choice xmlns:a14="http://schemas.microsoft.com/office/drawing/2010/main" Requires="a14">
          <p:sp>
            <p:nvSpPr>
              <p:cNvPr id="7" name="l03-content-93">
                <a:extLst>
                  <a:ext uri="{FF2B5EF4-FFF2-40B4-BE49-F238E27FC236}">
                    <a16:creationId xmlns:a16="http://schemas.microsoft.com/office/drawing/2014/main" id="{7E8D9E94-A6CB-4510-927C-F171010BAB96}"/>
                  </a:ext>
                </a:extLst>
              </p:cNvPr>
              <p:cNvSpPr>
                <a:spLocks noGrp="1"/>
              </p:cNvSpPr>
              <p:nvPr/>
            </p:nvSpPr>
            <p:spPr>
              <a:xfrm>
                <a:off x="590550" y="2419350"/>
                <a:ext cx="11029950" cy="1009650"/>
              </a:xfrm>
              <a:prstGeom prst="rect">
                <a:avLst/>
              </a:prstGeom>
              <a:noFill/>
              <a:ln w="0">
                <a:noFill/>
              </a:ln>
            </p:spPr>
            <p:txBody>
              <a:bodyPr wrap="square" lIns="0" tIns="0" rIns="0" bIns="0" anchor="t">
                <a:noAutofit/>
              </a:bodyPr>
              <a:lstStyle/>
              <a:p>
                <a:pPr algn="ctr">
                  <a:defRPr sz="3075" b="0">
                    <a:solidFill>
                      <a:srgbClr val="102D69"/>
                    </a:solidFill>
                    <a:latin typeface="Cambria Math"/>
                    <a:ea typeface="Cambria Math"/>
                    <a:cs typeface="Cambria Math"/>
                  </a:defRPr>
                </a:pPr>
                <a14:m>
                  <m:oMathPara xmlns:m="http://schemas.openxmlformats.org/officeDocument/2006/math">
                    <m:oMath>
                      <m:sSup>
                        <m:sSupPr>
                          <m:ctrlPr>
                            <a:rPr>
                              <a:latin typeface="Cambria Math" panose="02040503050406030204" pitchFamily="18" charset="0"/>
                            </a:rPr>
                          </m:ctrlPr>
                        </m:sSupPr>
                        <m:e>
                          <m:r>
                            <a:rPr>
                              <a:latin typeface="Cambria Math" panose="02040503050406030204" pitchFamily="18" charset="0"/>
                            </a:rPr>
                            <m:t>𝑤</m:t>
                          </m:r>
                        </m:e>
                        <m:sup>
                          <m:r>
                            <a:rPr>
                              <a:latin typeface="Cambria Math" panose="02040503050406030204" pitchFamily="18" charset="0"/>
                            </a:rPr>
                            <m:t>∗</m:t>
                          </m:r>
                        </m:sup>
                      </m:s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𝐴</m:t>
                          </m:r>
                        </m:e>
                        <m:sup>
                          <m:r>
                            <a:rPr>
                              <a:latin typeface="Cambria Math" panose="02040503050406030204" pitchFamily="18" charset="0"/>
                            </a:rPr>
                            <m:t>𝑇</m:t>
                          </m:r>
                        </m:sup>
                      </m:sSup>
                      <m:r>
                        <a:rPr>
                          <a:latin typeface="Cambria Math" panose="02040503050406030204" pitchFamily="18" charset="0"/>
                        </a:rPr>
                        <m:t>𝐴</m:t>
                      </m:r>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−1</m:t>
                          </m:r>
                        </m:sup>
                      </m:sSup>
                      <m:sSup>
                        <m:sSupPr>
                          <m:ctrlPr>
                            <a:rPr>
                              <a:latin typeface="Cambria Math" panose="02040503050406030204" pitchFamily="18" charset="0"/>
                            </a:rPr>
                          </m:ctrlPr>
                        </m:sSupPr>
                        <m:e>
                          <m:r>
                            <a:rPr>
                              <a:latin typeface="Cambria Math" panose="02040503050406030204" pitchFamily="18" charset="0"/>
                            </a:rPr>
                            <m:t>𝐴</m:t>
                          </m:r>
                        </m:e>
                        <m:sup>
                          <m:r>
                            <a:rPr>
                              <a:latin typeface="Cambria Math" panose="02040503050406030204" pitchFamily="18" charset="0"/>
                            </a:rPr>
                            <m:t>𝑇</m:t>
                          </m:r>
                        </m:sup>
                      </m:sSup>
                      <m:r>
                        <a:rPr>
                          <a:latin typeface="Cambria Math" panose="02040503050406030204" pitchFamily="18" charset="0"/>
                        </a:rPr>
                        <m:t>𝑦</m:t>
                      </m:r>
                    </m:oMath>
                  </m:oMathPara>
                </a14:m>
                <a:endParaRPr/>
              </a:p>
            </p:txBody>
          </p:sp>
        </mc:Choice>
        <mc:Fallback>
          <p:sp>
            <p:nvSpPr>
              <p:cNvPr id="7" name="l03-content-93">
                <a:extLst>
                  <a:ext uri="{FF2B5EF4-FFF2-40B4-BE49-F238E27FC236}">
                    <a16:creationId xmlns:a16="http://schemas.microsoft.com/office/drawing/2014/main" id="{7E8D9E94-A6CB-4510-927C-F171010BAB96}"/>
                  </a:ext>
                </a:extLst>
              </p:cNvPr>
              <p:cNvSpPr>
                <a:spLocks noGrp="1" noRot="1" noChangeAspect="1" noMove="1" noResize="1" noEditPoints="1" noAdjustHandles="1" noChangeArrowheads="1" noChangeShapeType="1" noTextEdit="1"/>
              </p:cNvSpPr>
              <p:nvPr/>
            </p:nvSpPr>
            <p:spPr>
              <a:xfrm>
                <a:off x="590550" y="2419350"/>
                <a:ext cx="11029950" cy="1009650"/>
              </a:xfrm>
              <a:prstGeom prst="rect">
                <a:avLst/>
              </a:prstGeom>
              <a:blipFill>
                <a:blip r:embed="rId3"/>
                <a:stretch>
                  <a:fillRect/>
                </a:stretch>
              </a:blipFill>
              <a:ln w="0">
                <a:noFill/>
              </a:ln>
            </p:spPr>
            <p:txBody>
              <a:bodyPr/>
              <a:lstStyle/>
              <a:p>
                <a:r>
                  <a:rPr lang="ru-RU">
                    <a:noFill/>
                  </a:rPr>
                  <a:t> </a:t>
                </a:r>
              </a:p>
            </p:txBody>
          </p:sp>
        </mc:Fallback>
      </mc:AlternateContent>
      <p:sp>
        <p:nvSpPr>
          <p:cNvPr id="8" name="l03-content-94">
            <a:extLst>
              <a:ext uri="{FF2B5EF4-FFF2-40B4-BE49-F238E27FC236}">
                <a16:creationId xmlns:a16="http://schemas.microsoft.com/office/drawing/2014/main" id="{3910918A-FD32-40F6-9B25-9C25D8AD0D3F}"/>
              </a:ext>
            </a:extLst>
          </p:cNvPr>
          <p:cNvSpPr>
            <a:spLocks noGrp="1"/>
          </p:cNvSpPr>
          <p:nvPr/>
        </p:nvSpPr>
        <p:spPr>
          <a:xfrm>
            <a:off x="590550" y="3676650"/>
            <a:ext cx="11029950" cy="876300"/>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A содержит признаки объектов. В прошлой лекции мы получили</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эту формулу для весов МНК.</a:t>
            </a:r>
          </a:p>
        </p:txBody>
      </p:sp>
      <p:sp>
        <p:nvSpPr>
          <p:cNvPr id="9" name="l03-content-95">
            <a:extLst>
              <a:ext uri="{FF2B5EF4-FFF2-40B4-BE49-F238E27FC236}">
                <a16:creationId xmlns:a16="http://schemas.microsoft.com/office/drawing/2014/main" id="{938EDFFA-9D7A-400F-A491-E5F90045E613}"/>
              </a:ext>
            </a:extLst>
          </p:cNvPr>
          <p:cNvSpPr>
            <a:spLocks noGrp="1"/>
          </p:cNvSpPr>
          <p:nvPr/>
        </p:nvSpPr>
        <p:spPr>
          <a:xfrm>
            <a:off x="590550" y="4800600"/>
            <a:ext cx="619125" cy="523875"/>
          </a:xfrm>
          <a:prstGeom prst="rect">
            <a:avLst/>
          </a:prstGeom>
          <a:noFill/>
          <a:ln w="0">
            <a:noFill/>
          </a:ln>
        </p:spPr>
        <p:txBody>
          <a:bodyPr wrap="square" lIns="0" tIns="0" rIns="0" bIns="0" anchor="t">
            <a:noAutofit/>
          </a:bodyPr>
          <a:lstStyle/>
          <a:p>
            <a:pPr algn="l">
              <a:lnSpc>
                <a:spcPct val="112000"/>
              </a:lnSpc>
              <a:buNone/>
              <a:defRPr sz="2325" b="1">
                <a:solidFill>
                  <a:srgbClr val="234A9B"/>
                </a:solidFill>
                <a:latin typeface="HSE Sans"/>
                <a:ea typeface="HSE Sans"/>
                <a:cs typeface="HSE Sans"/>
              </a:defRPr>
            </a:pPr>
            <a:r>
              <a:rPr sz="2325" b="1">
                <a:solidFill>
                  <a:srgbClr val="234A9B"/>
                </a:solidFill>
                <a:latin typeface="HSE Sans"/>
                <a:ea typeface="HSE Sans"/>
                <a:cs typeface="HSE Sans"/>
              </a:rPr>
              <a:t>1</a:t>
            </a:r>
          </a:p>
        </p:txBody>
      </p:sp>
      <p:sp>
        <p:nvSpPr>
          <p:cNvPr id="10" name="l03-content-96">
            <a:extLst>
              <a:ext uri="{FF2B5EF4-FFF2-40B4-BE49-F238E27FC236}">
                <a16:creationId xmlns:a16="http://schemas.microsoft.com/office/drawing/2014/main" id="{968D4461-1B71-4A07-989E-25AB05FC1094}"/>
              </a:ext>
            </a:extLst>
          </p:cNvPr>
          <p:cNvSpPr>
            <a:spLocks noGrp="1"/>
          </p:cNvSpPr>
          <p:nvPr/>
        </p:nvSpPr>
        <p:spPr>
          <a:xfrm>
            <a:off x="1381125" y="4800600"/>
            <a:ext cx="10048875" cy="457200"/>
          </a:xfrm>
          <a:prstGeom prst="rect">
            <a:avLst/>
          </a:prstGeom>
          <a:noFill/>
          <a:ln w="0">
            <a:noFill/>
          </a:ln>
        </p:spPr>
        <p:txBody>
          <a:bodyPr wrap="square" lIns="0" tIns="0" rIns="0" bIns="0" anchor="t">
            <a:noAutofit/>
          </a:bodyPr>
          <a:lstStyle/>
          <a:p>
            <a:pPr algn="l">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Много признаков</a:t>
            </a:r>
          </a:p>
        </p:txBody>
      </p:sp>
      <p:sp>
        <p:nvSpPr>
          <p:cNvPr id="11" name="l03-content-97">
            <a:extLst>
              <a:ext uri="{FF2B5EF4-FFF2-40B4-BE49-F238E27FC236}">
                <a16:creationId xmlns:a16="http://schemas.microsoft.com/office/drawing/2014/main" id="{7D682C4C-35AB-44B3-BA71-766FE9681838}"/>
              </a:ext>
            </a:extLst>
          </p:cNvPr>
          <p:cNvSpPr>
            <a:spLocks noGrp="1"/>
          </p:cNvSpPr>
          <p:nvPr/>
        </p:nvSpPr>
        <p:spPr>
          <a:xfrm>
            <a:off x="1381125" y="5276850"/>
            <a:ext cx="10048875" cy="666750"/>
          </a:xfrm>
          <a:prstGeom prst="rect">
            <a:avLst/>
          </a:prstGeom>
          <a:noFill/>
          <a:ln w="0">
            <a:noFill/>
          </a:ln>
        </p:spPr>
        <p:txBody>
          <a:bodyPr wrap="square" lIns="0" tIns="0" rIns="0" bIns="0" anchor="t">
            <a:noAutofit/>
          </a:bodyPr>
          <a:lstStyle/>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Матрица AᵀA растёт. На её хранение и решение системы нужны память и время.</a:t>
            </a:r>
          </a:p>
        </p:txBody>
      </p:sp>
      <p:sp>
        <p:nvSpPr>
          <p:cNvPr id="12" name="l03-content-98">
            <a:extLst>
              <a:ext uri="{FF2B5EF4-FFF2-40B4-BE49-F238E27FC236}">
                <a16:creationId xmlns:a16="http://schemas.microsoft.com/office/drawing/2014/main" id="{23BA8E42-8E92-4FA6-8ACF-B9E56644EB06}"/>
              </a:ext>
            </a:extLst>
          </p:cNvPr>
          <p:cNvSpPr>
            <a:spLocks noGrp="1"/>
          </p:cNvSpPr>
          <p:nvPr/>
        </p:nvSpPr>
        <p:spPr>
          <a:xfrm>
            <a:off x="590550" y="5705475"/>
            <a:ext cx="619125" cy="523875"/>
          </a:xfrm>
          <a:prstGeom prst="rect">
            <a:avLst/>
          </a:prstGeom>
          <a:noFill/>
          <a:ln w="0">
            <a:noFill/>
          </a:ln>
        </p:spPr>
        <p:txBody>
          <a:bodyPr wrap="square" lIns="0" tIns="0" rIns="0" bIns="0" anchor="t">
            <a:noAutofit/>
          </a:bodyPr>
          <a:lstStyle/>
          <a:p>
            <a:pPr algn="l">
              <a:lnSpc>
                <a:spcPct val="112000"/>
              </a:lnSpc>
              <a:buNone/>
              <a:defRPr sz="2325" b="1">
                <a:solidFill>
                  <a:srgbClr val="234A9B"/>
                </a:solidFill>
                <a:latin typeface="HSE Sans"/>
                <a:ea typeface="HSE Sans"/>
                <a:cs typeface="HSE Sans"/>
              </a:defRPr>
            </a:pPr>
            <a:r>
              <a:rPr sz="2325" b="1">
                <a:solidFill>
                  <a:srgbClr val="234A9B"/>
                </a:solidFill>
                <a:latin typeface="HSE Sans"/>
                <a:ea typeface="HSE Sans"/>
                <a:cs typeface="HSE Sans"/>
              </a:rPr>
              <a:t>2</a:t>
            </a:r>
          </a:p>
        </p:txBody>
      </p:sp>
      <p:sp>
        <p:nvSpPr>
          <p:cNvPr id="13" name="l03-content-99">
            <a:extLst>
              <a:ext uri="{FF2B5EF4-FFF2-40B4-BE49-F238E27FC236}">
                <a16:creationId xmlns:a16="http://schemas.microsoft.com/office/drawing/2014/main" id="{9C8FBAA5-7B9E-4DED-95DA-F1C4E777D1F3}"/>
              </a:ext>
            </a:extLst>
          </p:cNvPr>
          <p:cNvSpPr>
            <a:spLocks noGrp="1"/>
          </p:cNvSpPr>
          <p:nvPr/>
        </p:nvSpPr>
        <p:spPr>
          <a:xfrm>
            <a:off x="1381125" y="5705475"/>
            <a:ext cx="10048875" cy="457200"/>
          </a:xfrm>
          <a:prstGeom prst="rect">
            <a:avLst/>
          </a:prstGeom>
          <a:noFill/>
          <a:ln w="0">
            <a:noFill/>
          </a:ln>
        </p:spPr>
        <p:txBody>
          <a:bodyPr wrap="square" lIns="0" tIns="0" rIns="0" bIns="0" anchor="t">
            <a:noAutofit/>
          </a:bodyPr>
          <a:lstStyle/>
          <a:p>
            <a:pPr algn="l">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Зависимые признаки</a:t>
            </a:r>
          </a:p>
        </p:txBody>
      </p:sp>
      <p:sp>
        <p:nvSpPr>
          <p:cNvPr id="14" name="l03-content-100">
            <a:extLst>
              <a:ext uri="{FF2B5EF4-FFF2-40B4-BE49-F238E27FC236}">
                <a16:creationId xmlns:a16="http://schemas.microsoft.com/office/drawing/2014/main" id="{E0116730-A134-475C-A56E-6AB800777276}"/>
              </a:ext>
            </a:extLst>
          </p:cNvPr>
          <p:cNvSpPr>
            <a:spLocks noGrp="1"/>
          </p:cNvSpPr>
          <p:nvPr/>
        </p:nvSpPr>
        <p:spPr>
          <a:xfrm>
            <a:off x="1381125" y="6181725"/>
            <a:ext cx="10048875" cy="666750"/>
          </a:xfrm>
          <a:prstGeom prst="rect">
            <a:avLst/>
          </a:prstGeom>
          <a:noFill/>
          <a:ln w="0">
            <a:noFill/>
          </a:ln>
        </p:spPr>
        <p:txBody>
          <a:bodyPr wrap="square" lIns="0" tIns="0" rIns="0" bIns="0" anchor="t">
            <a:noAutofit/>
          </a:bodyPr>
          <a:lstStyle/>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Если один столбец выражается через другие, обратной матрицы нет.</a:t>
            </a:r>
          </a:p>
        </p:txBody>
      </p:sp>
    </p:spTree>
    <p:extLst>
      <p:ext uri="{BB962C8B-B14F-4D97-AF65-F5344CB8AC3E}">
        <p14:creationId xmlns:p14="http://schemas.microsoft.com/office/powerpoint/2010/main" val="1409846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Градиент показывает направление роста</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3. Градиентный спуск</a:t>
            </a:r>
          </a:p>
        </p:txBody>
      </p:sp>
      <p:pic>
        <p:nvPicPr>
          <p:cNvPr id="16" name="Рисунок 15"/>
          <p:cNvPicPr>
            <a:picLocks noChangeAspect="1"/>
          </p:cNvPicPr>
          <p:nvPr/>
        </p:nvPicPr>
        <p:blipFill>
          <a:blip r:embed="rId3"/>
          <a:stretch/>
        </p:blipFill>
        <p:spPr>
          <a:xfrm>
            <a:off x="1087330" y="2324100"/>
            <a:ext cx="4054689" cy="3695700"/>
          </a:xfrm>
          <a:prstGeom prst="rect">
            <a:avLst/>
          </a:prstGeom>
        </p:spPr>
      </p:pic>
      <p:sp>
        <p:nvSpPr>
          <p:cNvPr id="8" name="l03-content-101">
            <a:extLst>
              <a:ext uri="{FF2B5EF4-FFF2-40B4-BE49-F238E27FC236}">
                <a16:creationId xmlns:a16="http://schemas.microsoft.com/office/drawing/2014/main" id="{41D4EF00-4A1B-436F-B1BE-216B1C490E45}"/>
              </a:ext>
            </a:extLst>
          </p:cNvPr>
          <p:cNvSpPr>
            <a:spLocks noGrp="1"/>
          </p:cNvSpPr>
          <p:nvPr/>
        </p:nvSpPr>
        <p:spPr>
          <a:xfrm>
            <a:off x="6286500" y="2352675"/>
            <a:ext cx="5276850" cy="904875"/>
          </a:xfrm>
          <a:prstGeom prst="rect">
            <a:avLst/>
          </a:prstGeom>
          <a:noFill/>
          <a:ln w="0">
            <a:noFill/>
          </a:ln>
        </p:spPr>
        <p:txBody>
          <a:bodyPr wrap="square" lIns="0" tIns="0" rIns="0" bIns="0" anchor="t">
            <a:noAutofit/>
          </a:bodyPr>
          <a:lstStyle/>
          <a:p>
            <a:pPr algn="l">
              <a:lnSpc>
                <a:spcPct val="112000"/>
              </a:lnSpc>
              <a:buNone/>
              <a:defRPr sz="2250" b="0">
                <a:solidFill>
                  <a:srgbClr val="102D69"/>
                </a:solidFill>
                <a:latin typeface="HSE Sans"/>
                <a:ea typeface="HSE Sans"/>
                <a:cs typeface="HSE Sans"/>
              </a:defRPr>
            </a:pPr>
            <a:r>
              <a:rPr sz="2250" b="0">
                <a:solidFill>
                  <a:srgbClr val="102D69"/>
                </a:solidFill>
                <a:latin typeface="HSE Sans"/>
                <a:ea typeface="HSE Sans"/>
                <a:cs typeface="HSE Sans"/>
              </a:rPr>
              <a:t>Высота поверхности показывает</a:t>
            </a:r>
          </a:p>
          <a:p>
            <a:pPr algn="l">
              <a:lnSpc>
                <a:spcPct val="112000"/>
              </a:lnSpc>
              <a:buNone/>
              <a:defRPr sz="2250" b="0">
                <a:solidFill>
                  <a:srgbClr val="102D69"/>
                </a:solidFill>
                <a:latin typeface="HSE Sans"/>
                <a:ea typeface="HSE Sans"/>
                <a:cs typeface="HSE Sans"/>
              </a:defRPr>
            </a:pPr>
            <a:r>
              <a:rPr sz="2250" b="0">
                <a:solidFill>
                  <a:srgbClr val="102D69"/>
                </a:solidFill>
                <a:latin typeface="HSE Sans"/>
                <a:ea typeface="HSE Sans"/>
                <a:cs typeface="HSE Sans"/>
              </a:rPr>
              <a:t>значение функции ошибки.</a:t>
            </a:r>
          </a:p>
        </p:txBody>
      </p:sp>
      <p:sp>
        <p:nvSpPr>
          <p:cNvPr id="9" name="l03-content-102">
            <a:extLst>
              <a:ext uri="{FF2B5EF4-FFF2-40B4-BE49-F238E27FC236}">
                <a16:creationId xmlns:a16="http://schemas.microsoft.com/office/drawing/2014/main" id="{FC156B4A-7342-46DD-A490-87832416DFF8}"/>
              </a:ext>
            </a:extLst>
          </p:cNvPr>
          <p:cNvSpPr>
            <a:spLocks noGrp="1"/>
          </p:cNvSpPr>
          <p:nvPr/>
        </p:nvSpPr>
        <p:spPr>
          <a:xfrm>
            <a:off x="6286500" y="3676650"/>
            <a:ext cx="5276850" cy="1390650"/>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Градиент ∇Q направлен</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в сторону быстрейшего роста.</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На рисунке это оранжевые стрелки.</a:t>
            </a:r>
          </a:p>
        </p:txBody>
      </p:sp>
      <p:sp>
        <p:nvSpPr>
          <p:cNvPr id="10" name="l03-content-103">
            <a:extLst>
              <a:ext uri="{FF2B5EF4-FFF2-40B4-BE49-F238E27FC236}">
                <a16:creationId xmlns:a16="http://schemas.microsoft.com/office/drawing/2014/main" id="{B1324945-1E59-4EE1-8440-15C2D6B80A1E}"/>
              </a:ext>
            </a:extLst>
          </p:cNvPr>
          <p:cNvSpPr>
            <a:spLocks noGrp="1"/>
          </p:cNvSpPr>
          <p:nvPr/>
        </p:nvSpPr>
        <p:spPr>
          <a:xfrm>
            <a:off x="6286500" y="5457825"/>
            <a:ext cx="5276850" cy="914400"/>
          </a:xfrm>
          <a:prstGeom prst="rect">
            <a:avLst/>
          </a:prstGeom>
          <a:noFill/>
          <a:ln w="0">
            <a:noFill/>
          </a:ln>
        </p:spPr>
        <p:txBody>
          <a:bodyPr wrap="square" lIns="0" tIns="0" rIns="0" bIns="0" anchor="t">
            <a:noAutofit/>
          </a:bodyPr>
          <a:lstStyle/>
          <a:p>
            <a:pPr algn="l">
              <a:lnSpc>
                <a:spcPct val="112000"/>
              </a:lnSpc>
              <a:buNone/>
              <a:defRPr sz="2250" b="1">
                <a:solidFill>
                  <a:srgbClr val="102D69"/>
                </a:solidFill>
                <a:latin typeface="HSE Sans"/>
                <a:ea typeface="HSE Sans"/>
                <a:cs typeface="HSE Sans"/>
              </a:defRPr>
            </a:pPr>
            <a:r>
              <a:rPr sz="2250" b="1">
                <a:solidFill>
                  <a:srgbClr val="102D69"/>
                </a:solidFill>
                <a:latin typeface="HSE Sans"/>
                <a:ea typeface="HSE Sans"/>
                <a:cs typeface="HSE Sans"/>
              </a:rPr>
              <a:t>Чтобы уменьшать ошибку,</a:t>
            </a:r>
          </a:p>
          <a:p>
            <a:pPr algn="l">
              <a:lnSpc>
                <a:spcPct val="112000"/>
              </a:lnSpc>
              <a:buNone/>
              <a:defRPr sz="2250" b="1">
                <a:solidFill>
                  <a:srgbClr val="102D69"/>
                </a:solidFill>
                <a:latin typeface="HSE Sans"/>
                <a:ea typeface="HSE Sans"/>
                <a:cs typeface="HSE Sans"/>
              </a:defRPr>
            </a:pPr>
            <a:r>
              <a:rPr sz="2250" b="1">
                <a:solidFill>
                  <a:srgbClr val="102D69"/>
                </a:solidFill>
                <a:latin typeface="HSE Sans"/>
                <a:ea typeface="HSE Sans"/>
                <a:cs typeface="HSE Sans"/>
              </a:rPr>
              <a:t>делаем шаг против градиента.</a:t>
            </a:r>
          </a:p>
        </p:txBody>
      </p:sp>
    </p:spTree>
    <p:extLst>
      <p:ext uri="{BB962C8B-B14F-4D97-AF65-F5344CB8AC3E}">
        <p14:creationId xmlns:p14="http://schemas.microsoft.com/office/powerpoint/2010/main" val="1409846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Производные по всем весам</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3. Градиентный спуск</a:t>
            </a:r>
          </a:p>
        </p:txBody>
      </p:sp>
      <p:sp>
        <p:nvSpPr>
          <p:cNvPr id="7" name="l03-content-104">
            <a:extLst>
              <a:ext uri="{FF2B5EF4-FFF2-40B4-BE49-F238E27FC236}">
                <a16:creationId xmlns:a16="http://schemas.microsoft.com/office/drawing/2014/main" id="{A78969DA-75FF-4F27-8F38-AFC54117217A}"/>
              </a:ext>
            </a:extLst>
          </p:cNvPr>
          <p:cNvSpPr>
            <a:spLocks noGrp="1"/>
          </p:cNvSpPr>
          <p:nvPr/>
        </p:nvSpPr>
        <p:spPr>
          <a:xfrm>
            <a:off x="590550" y="2286000"/>
            <a:ext cx="11029950" cy="104775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Градиент объединяет производные по отдельным весам в один вектор.</a:t>
            </a:r>
          </a:p>
        </p:txBody>
      </p:sp>
      <mc:AlternateContent xmlns:mc="http://schemas.openxmlformats.org/markup-compatibility/2006">
        <mc:Choice xmlns:a14="http://schemas.microsoft.com/office/drawing/2010/main" Requires="a14">
          <p:sp>
            <p:nvSpPr>
              <p:cNvPr id="8" name="l03-content-105">
                <a:extLst>
                  <a:ext uri="{FF2B5EF4-FFF2-40B4-BE49-F238E27FC236}">
                    <a16:creationId xmlns:a16="http://schemas.microsoft.com/office/drawing/2014/main" id="{502501B3-DE91-43CF-AD16-E44A385ECE0E}"/>
                  </a:ext>
                </a:extLst>
              </p:cNvPr>
              <p:cNvSpPr>
                <a:spLocks noGrp="1"/>
              </p:cNvSpPr>
              <p:nvPr/>
            </p:nvSpPr>
            <p:spPr>
              <a:xfrm>
                <a:off x="590550" y="3333750"/>
                <a:ext cx="11029950" cy="1000125"/>
              </a:xfrm>
              <a:prstGeom prst="rect">
                <a:avLst/>
              </a:prstGeom>
              <a:noFill/>
              <a:ln w="0">
                <a:noFill/>
              </a:ln>
            </p:spPr>
            <p:txBody>
              <a:bodyPr wrap="square" lIns="0" tIns="0" rIns="0" bIns="0" anchor="t">
                <a:noAutofit/>
              </a:bodyPr>
              <a:lstStyle/>
              <a:p>
                <a:pPr algn="ctr">
                  <a:defRPr sz="2925"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m:t>
                      </m:r>
                      <m:r>
                        <a:rPr>
                          <a:latin typeface="Cambria Math" panose="02040503050406030204" pitchFamily="18" charset="0"/>
                        </a:rPr>
                        <m:t>𝑄</m:t>
                      </m:r>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m:t>
                          </m:r>
                          <m:r>
                            <a:rPr>
                              <a:latin typeface="Cambria Math" panose="02040503050406030204" pitchFamily="18" charset="0"/>
                            </a:rPr>
                            <m:t>𝑄</m:t>
                          </m:r>
                        </m:num>
                        <m:den>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0</m:t>
                              </m:r>
                            </m:sub>
                          </m:sSub>
                        </m:den>
                      </m:f>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m:t>
                          </m:r>
                          <m:r>
                            <a:rPr>
                              <a:latin typeface="Cambria Math" panose="02040503050406030204" pitchFamily="18" charset="0"/>
                            </a:rPr>
                            <m:t>𝑄</m:t>
                          </m:r>
                        </m:num>
                        <m:den>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𝑑</m:t>
                              </m:r>
                            </m:sub>
                          </m:sSub>
                        </m:den>
                      </m:f>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𝑇</m:t>
                          </m:r>
                        </m:sup>
                      </m:sSup>
                    </m:oMath>
                  </m:oMathPara>
                </a14:m>
                <a:endParaRPr/>
              </a:p>
            </p:txBody>
          </p:sp>
        </mc:Choice>
        <mc:Fallback>
          <p:sp>
            <p:nvSpPr>
              <p:cNvPr id="8" name="l03-content-105">
                <a:extLst>
                  <a:ext uri="{FF2B5EF4-FFF2-40B4-BE49-F238E27FC236}">
                    <a16:creationId xmlns:a16="http://schemas.microsoft.com/office/drawing/2014/main" id="{502501B3-DE91-43CF-AD16-E44A385ECE0E}"/>
                  </a:ext>
                </a:extLst>
              </p:cNvPr>
              <p:cNvSpPr>
                <a:spLocks noGrp="1" noRot="1" noChangeAspect="1" noMove="1" noResize="1" noEditPoints="1" noAdjustHandles="1" noChangeArrowheads="1" noChangeShapeType="1" noTextEdit="1"/>
              </p:cNvSpPr>
              <p:nvPr/>
            </p:nvSpPr>
            <p:spPr>
              <a:xfrm>
                <a:off x="590550" y="3333750"/>
                <a:ext cx="11029950" cy="1000125"/>
              </a:xfrm>
              <a:prstGeom prst="rect">
                <a:avLst/>
              </a:prstGeom>
              <a:blipFill>
                <a:blip r:embed="rId3"/>
                <a:stretch>
                  <a:fillRect t="-2500" b="-2500"/>
                </a:stretch>
              </a:blipFill>
              <a:ln w="0">
                <a:noFill/>
              </a:ln>
            </p:spPr>
            <p:txBody>
              <a:bodyPr/>
              <a:lstStyle/>
              <a:p>
                <a:r>
                  <a:rPr lang="ru-RU">
                    <a:noFill/>
                  </a:rPr>
                  <a:t> </a:t>
                </a:r>
              </a:p>
            </p:txBody>
          </p:sp>
        </mc:Fallback>
      </mc:AlternateContent>
      <p:sp>
        <p:nvSpPr>
          <p:cNvPr id="9" name="l03-content-106">
            <a:extLst>
              <a:ext uri="{FF2B5EF4-FFF2-40B4-BE49-F238E27FC236}">
                <a16:creationId xmlns:a16="http://schemas.microsoft.com/office/drawing/2014/main" id="{46657B44-9636-4964-9890-741901FEF757}"/>
              </a:ext>
            </a:extLst>
          </p:cNvPr>
          <p:cNvSpPr>
            <a:spLocks noGrp="1"/>
          </p:cNvSpPr>
          <p:nvPr/>
        </p:nvSpPr>
        <p:spPr>
          <a:xfrm>
            <a:off x="590550" y="4772025"/>
            <a:ext cx="11029950" cy="628650"/>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Для квадратичной ошибки производную уже нашли в прошлой лекции: </a:t>
            </a:r>
          </a:p>
        </p:txBody>
      </p:sp>
      <mc:AlternateContent xmlns:mc="http://schemas.openxmlformats.org/markup-compatibility/2006">
        <mc:Choice xmlns:a14="http://schemas.microsoft.com/office/drawing/2010/main" Requires="a14">
          <p:sp>
            <p:nvSpPr>
              <p:cNvPr id="10" name="l03-content-107">
                <a:extLst>
                  <a:ext uri="{FF2B5EF4-FFF2-40B4-BE49-F238E27FC236}">
                    <a16:creationId xmlns:a16="http://schemas.microsoft.com/office/drawing/2014/main" id="{D9C55254-A97B-4621-948B-0CCF4AD85B62}"/>
                  </a:ext>
                </a:extLst>
              </p:cNvPr>
              <p:cNvSpPr>
                <a:spLocks noGrp="1"/>
              </p:cNvSpPr>
              <p:nvPr/>
            </p:nvSpPr>
            <p:spPr>
              <a:xfrm>
                <a:off x="590550" y="5562600"/>
                <a:ext cx="11029950" cy="838200"/>
              </a:xfrm>
              <a:prstGeom prst="rect">
                <a:avLst/>
              </a:prstGeom>
              <a:noFill/>
              <a:ln w="0">
                <a:noFill/>
              </a:ln>
            </p:spPr>
            <p:txBody>
              <a:bodyPr wrap="square" lIns="0" tIns="0" rIns="0" bIns="0" anchor="t">
                <a:noAutofit/>
              </a:bodyPr>
              <a:lstStyle/>
              <a:p>
                <a:pPr algn="ctr">
                  <a:defRPr sz="3075"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m:t>
                      </m:r>
                      <m:r>
                        <a:rPr>
                          <a:latin typeface="Cambria Math" panose="02040503050406030204" pitchFamily="18" charset="0"/>
                        </a:rPr>
                        <m:t>𝑄</m:t>
                      </m:r>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2</m:t>
                          </m:r>
                        </m:num>
                        <m:den>
                          <m:r>
                            <m:rPr>
                              <m:sty m:val="p"/>
                            </m:rPr>
                            <a:rPr>
                              <a:latin typeface="Cambria Math" panose="02040503050406030204" pitchFamily="18" charset="0"/>
                            </a:rPr>
                            <m:t>ℓ</m:t>
                          </m:r>
                        </m:den>
                      </m:f>
                      <m:sSup>
                        <m:sSupPr>
                          <m:ctrlPr>
                            <a:rPr>
                              <a:latin typeface="Cambria Math" panose="02040503050406030204" pitchFamily="18" charset="0"/>
                            </a:rPr>
                          </m:ctrlPr>
                        </m:sSupPr>
                        <m:e>
                          <m:r>
                            <a:rPr>
                              <a:latin typeface="Cambria Math" panose="02040503050406030204" pitchFamily="18" charset="0"/>
                            </a:rPr>
                            <m:t>𝐴</m:t>
                          </m:r>
                        </m:e>
                        <m:sup>
                          <m:r>
                            <a:rPr>
                              <a:latin typeface="Cambria Math" panose="02040503050406030204" pitchFamily="18" charset="0"/>
                            </a:rPr>
                            <m:t>𝑇</m:t>
                          </m:r>
                        </m:sup>
                      </m:sSup>
                      <m:r>
                        <a:rPr>
                          <a:latin typeface="Cambria Math" panose="02040503050406030204" pitchFamily="18" charset="0"/>
                        </a:rPr>
                        <m:t>(</m:t>
                      </m:r>
                      <m:r>
                        <a:rPr>
                          <a:latin typeface="Cambria Math" panose="02040503050406030204" pitchFamily="18" charset="0"/>
                        </a:rPr>
                        <m:t>𝐴𝑤</m:t>
                      </m:r>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m:t>
                      </m:r>
                    </m:oMath>
                  </m:oMathPara>
                </a14:m>
                <a:endParaRPr/>
              </a:p>
            </p:txBody>
          </p:sp>
        </mc:Choice>
        <mc:Fallback>
          <p:sp>
            <p:nvSpPr>
              <p:cNvPr id="10" name="l03-content-107">
                <a:extLst>
                  <a:ext uri="{FF2B5EF4-FFF2-40B4-BE49-F238E27FC236}">
                    <a16:creationId xmlns:a16="http://schemas.microsoft.com/office/drawing/2014/main" id="{D9C55254-A97B-4621-948B-0CCF4AD85B62}"/>
                  </a:ext>
                </a:extLst>
              </p:cNvPr>
              <p:cNvSpPr>
                <a:spLocks noGrp="1" noRot="1" noChangeAspect="1" noMove="1" noResize="1" noEditPoints="1" noAdjustHandles="1" noChangeArrowheads="1" noChangeShapeType="1" noTextEdit="1"/>
              </p:cNvSpPr>
              <p:nvPr/>
            </p:nvSpPr>
            <p:spPr>
              <a:xfrm>
                <a:off x="590550" y="5562600"/>
                <a:ext cx="11029950" cy="838200"/>
              </a:xfrm>
              <a:prstGeom prst="rect">
                <a:avLst/>
              </a:prstGeom>
              <a:blipFill>
                <a:blip r:embed="rId4"/>
                <a:stretch>
                  <a:fillRect b="-22388"/>
                </a:stretch>
              </a:blipFill>
              <a:ln w="0">
                <a:noFill/>
              </a:ln>
            </p:spPr>
            <p:txBody>
              <a:bodyPr/>
              <a:lstStyle/>
              <a:p>
                <a:r>
                  <a:rPr lang="ru-RU">
                    <a:noFill/>
                  </a:rPr>
                  <a:t> </a:t>
                </a:r>
              </a:p>
            </p:txBody>
          </p:sp>
        </mc:Fallback>
      </mc:AlternateContent>
    </p:spTree>
    <p:extLst>
      <p:ext uri="{BB962C8B-B14F-4D97-AF65-F5344CB8AC3E}">
        <p14:creationId xmlns:p14="http://schemas.microsoft.com/office/powerpoint/2010/main" val="1409846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Шаг в направлении антиградиента</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3. Градиентный спуск</a:t>
            </a:r>
          </a:p>
        </p:txBody>
      </p:sp>
      <p:sp>
        <p:nvSpPr>
          <p:cNvPr id="7" name="l03-content-108">
            <a:extLst>
              <a:ext uri="{FF2B5EF4-FFF2-40B4-BE49-F238E27FC236}">
                <a16:creationId xmlns:a16="http://schemas.microsoft.com/office/drawing/2014/main" id="{3EE2E226-C19C-49CF-8C24-93DD50558606}"/>
              </a:ext>
            </a:extLst>
          </p:cNvPr>
          <p:cNvSpPr>
            <a:spLocks noGrp="1"/>
          </p:cNvSpPr>
          <p:nvPr/>
        </p:nvSpPr>
        <p:spPr>
          <a:xfrm>
            <a:off x="590550" y="2257425"/>
            <a:ext cx="11029950" cy="923925"/>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Пусть J обозначает критерий Q или Q + λR.</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В каждой новой точке снова вычисляем градиент.</a:t>
            </a:r>
          </a:p>
        </p:txBody>
      </p:sp>
      <mc:AlternateContent xmlns:mc="http://schemas.openxmlformats.org/markup-compatibility/2006">
        <mc:Choice xmlns:a14="http://schemas.microsoft.com/office/drawing/2010/main" Requires="a14">
          <p:sp>
            <p:nvSpPr>
              <p:cNvPr id="8" name="l03-content-109">
                <a:extLst>
                  <a:ext uri="{FF2B5EF4-FFF2-40B4-BE49-F238E27FC236}">
                    <a16:creationId xmlns:a16="http://schemas.microsoft.com/office/drawing/2014/main" id="{54282EE5-DEBF-4EFE-8FF4-2C279BF3F3A0}"/>
                  </a:ext>
                </a:extLst>
              </p:cNvPr>
              <p:cNvSpPr>
                <a:spLocks noGrp="1"/>
              </p:cNvSpPr>
              <p:nvPr/>
            </p:nvSpPr>
            <p:spPr>
              <a:xfrm>
                <a:off x="590550" y="3505200"/>
                <a:ext cx="11029950" cy="1009650"/>
              </a:xfrm>
              <a:prstGeom prst="rect">
                <a:avLst/>
              </a:prstGeom>
              <a:noFill/>
              <a:ln w="0">
                <a:noFill/>
              </a:ln>
            </p:spPr>
            <p:txBody>
              <a:bodyPr wrap="square" lIns="0" tIns="0" rIns="0" bIns="0" anchor="t">
                <a:noAutofit/>
              </a:bodyPr>
              <a:lstStyle/>
              <a:p>
                <a:pPr algn="ctr">
                  <a:defRPr sz="3150" b="0">
                    <a:solidFill>
                      <a:srgbClr val="102D69"/>
                    </a:solidFill>
                    <a:latin typeface="Cambria Math"/>
                    <a:ea typeface="Cambria Math"/>
                    <a:cs typeface="Cambria Math"/>
                  </a:defRPr>
                </a:pPr>
                <a14:m>
                  <m:oMathPara xmlns:m="http://schemas.openxmlformats.org/officeDocument/2006/math">
                    <m:oMath>
                      <m:sSup>
                        <m:sSupPr>
                          <m:ctrlPr>
                            <a:rPr>
                              <a:latin typeface="Cambria Math" panose="02040503050406030204" pitchFamily="18" charset="0"/>
                            </a:rPr>
                          </m:ctrlPr>
                        </m:sSupPr>
                        <m:e>
                          <m:r>
                            <a:rPr>
                              <a:latin typeface="Cambria Math" panose="02040503050406030204" pitchFamily="18" charset="0"/>
                            </a:rPr>
                            <m:t>𝑤</m:t>
                          </m:r>
                        </m:e>
                        <m:sup>
                          <m:r>
                            <a:rPr>
                              <a:latin typeface="Cambria Math" panose="02040503050406030204" pitchFamily="18" charset="0"/>
                            </a:rPr>
                            <m:t>(</m:t>
                          </m:r>
                          <m:r>
                            <a:rPr>
                              <a:latin typeface="Cambria Math" panose="02040503050406030204" pitchFamily="18" charset="0"/>
                            </a:rPr>
                            <m:t>𝑘</m:t>
                          </m:r>
                          <m:r>
                            <a:rPr>
                              <a:latin typeface="Cambria Math" panose="02040503050406030204" pitchFamily="18" charset="0"/>
                            </a:rPr>
                            <m:t>+1)</m:t>
                          </m:r>
                        </m:sup>
                      </m:s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𝑤</m:t>
                          </m:r>
                        </m:e>
                        <m:sup>
                          <m:r>
                            <a:rPr>
                              <a:latin typeface="Cambria Math" panose="02040503050406030204" pitchFamily="18" charset="0"/>
                            </a:rPr>
                            <m:t>(</m:t>
                          </m:r>
                          <m:r>
                            <a:rPr>
                              <a:latin typeface="Cambria Math" panose="02040503050406030204" pitchFamily="18" charset="0"/>
                            </a:rPr>
                            <m:t>𝑘</m:t>
                          </m:r>
                          <m:r>
                            <a:rPr>
                              <a:latin typeface="Cambria Math" panose="02040503050406030204" pitchFamily="18" charset="0"/>
                            </a:rPr>
                            <m:t>)</m:t>
                          </m:r>
                        </m:sup>
                      </m:sSup>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𝜂</m:t>
                          </m:r>
                        </m:e>
                        <m:sub>
                          <m:r>
                            <a:rPr>
                              <a:latin typeface="Cambria Math" panose="02040503050406030204" pitchFamily="18" charset="0"/>
                            </a:rPr>
                            <m:t>𝑘</m:t>
                          </m:r>
                        </m:sub>
                      </m:sSub>
                      <m:r>
                        <a:rPr>
                          <a:latin typeface="Cambria Math" panose="02040503050406030204" pitchFamily="18" charset="0"/>
                        </a:rPr>
                        <m:t>𝛻</m:t>
                      </m:r>
                      <m:r>
                        <a:rPr>
                          <a:latin typeface="Cambria Math" panose="02040503050406030204" pitchFamily="18" charset="0"/>
                        </a:rPr>
                        <m:t>𝐽</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𝑤</m:t>
                          </m:r>
                        </m:e>
                        <m:sup>
                          <m:r>
                            <a:rPr>
                              <a:latin typeface="Cambria Math" panose="02040503050406030204" pitchFamily="18" charset="0"/>
                            </a:rPr>
                            <m:t>(</m:t>
                          </m:r>
                          <m:r>
                            <a:rPr>
                              <a:latin typeface="Cambria Math" panose="02040503050406030204" pitchFamily="18" charset="0"/>
                            </a:rPr>
                            <m:t>𝑘</m:t>
                          </m:r>
                          <m:r>
                            <a:rPr>
                              <a:latin typeface="Cambria Math" panose="02040503050406030204" pitchFamily="18" charset="0"/>
                            </a:rPr>
                            <m:t>)</m:t>
                          </m:r>
                        </m:sup>
                      </m:sSup>
                      <m:r>
                        <a:rPr>
                          <a:latin typeface="Cambria Math" panose="02040503050406030204" pitchFamily="18" charset="0"/>
                        </a:rPr>
                        <m:t>)</m:t>
                      </m:r>
                    </m:oMath>
                  </m:oMathPara>
                </a14:m>
                <a:endParaRPr/>
              </a:p>
            </p:txBody>
          </p:sp>
        </mc:Choice>
        <mc:Fallback>
          <p:sp>
            <p:nvSpPr>
              <p:cNvPr id="8" name="l03-content-109">
                <a:extLst>
                  <a:ext uri="{FF2B5EF4-FFF2-40B4-BE49-F238E27FC236}">
                    <a16:creationId xmlns:a16="http://schemas.microsoft.com/office/drawing/2014/main" id="{54282EE5-DEBF-4EFE-8FF4-2C279BF3F3A0}"/>
                  </a:ext>
                </a:extLst>
              </p:cNvPr>
              <p:cNvSpPr>
                <a:spLocks noGrp="1" noRot="1" noChangeAspect="1" noMove="1" noResize="1" noEditPoints="1" noAdjustHandles="1" noChangeArrowheads="1" noChangeShapeType="1" noTextEdit="1"/>
              </p:cNvSpPr>
              <p:nvPr/>
            </p:nvSpPr>
            <p:spPr>
              <a:xfrm>
                <a:off x="590550" y="3505200"/>
                <a:ext cx="11029950" cy="1009650"/>
              </a:xfrm>
              <a:prstGeom prst="rect">
                <a:avLst/>
              </a:prstGeom>
              <a:blipFill>
                <a:blip r:embed="rId3"/>
                <a:stretch>
                  <a:fillRect t="-5000"/>
                </a:stretch>
              </a:blipFill>
              <a:ln w="0">
                <a:noFill/>
              </a:ln>
            </p:spPr>
            <p:txBody>
              <a:bodyPr/>
              <a:lstStyle/>
              <a:p>
                <a:r>
                  <a:rPr lang="ru-RU">
                    <a:noFill/>
                  </a:rPr>
                  <a:t> </a:t>
                </a:r>
              </a:p>
            </p:txBody>
          </p:sp>
        </mc:Fallback>
      </mc:AlternateContent>
      <p:sp>
        <p:nvSpPr>
          <p:cNvPr id="9" name="l03-content-110">
            <a:extLst>
              <a:ext uri="{FF2B5EF4-FFF2-40B4-BE49-F238E27FC236}">
                <a16:creationId xmlns:a16="http://schemas.microsoft.com/office/drawing/2014/main" id="{044957DE-AAAD-4B9D-9C9C-DEFD1BBBE177}"/>
              </a:ext>
            </a:extLst>
          </p:cNvPr>
          <p:cNvSpPr>
            <a:spLocks noGrp="1"/>
          </p:cNvSpPr>
          <p:nvPr/>
        </p:nvSpPr>
        <p:spPr>
          <a:xfrm>
            <a:off x="590550" y="5210175"/>
            <a:ext cx="11029950" cy="1085850"/>
          </a:xfrm>
          <a:prstGeom prst="rect">
            <a:avLst/>
          </a:prstGeom>
          <a:noFill/>
          <a:ln w="0">
            <a:noFill/>
          </a:ln>
        </p:spPr>
        <p:txBody>
          <a:bodyPr wrap="square" lIns="0" tIns="0" rIns="0" bIns="0" anchor="t">
            <a:noAutofit/>
          </a:bodyPr>
          <a:lstStyle/>
          <a:p>
            <a:pPr algn="l">
              <a:lnSpc>
                <a:spcPct val="112000"/>
              </a:lnSpc>
              <a:buNone/>
              <a:defRPr sz="2250" b="0">
                <a:solidFill>
                  <a:srgbClr val="102D69"/>
                </a:solidFill>
                <a:latin typeface="HSE Sans"/>
                <a:ea typeface="HSE Sans"/>
                <a:cs typeface="HSE Sans"/>
              </a:defRPr>
            </a:pPr>
            <a:r>
              <a:rPr sz="2250" b="0">
                <a:solidFill>
                  <a:srgbClr val="102D69"/>
                </a:solidFill>
                <a:latin typeface="HSE Sans"/>
                <a:ea typeface="HSE Sans"/>
                <a:cs typeface="HSE Sans"/>
              </a:rPr>
              <a:t>ηₖ &gt; 0 задаёт длину шага, или learning rate.</a:t>
            </a:r>
          </a:p>
          <a:p>
            <a:pPr algn="l">
              <a:lnSpc>
                <a:spcPct val="112000"/>
              </a:lnSpc>
              <a:buNone/>
              <a:defRPr sz="2250" b="0">
                <a:solidFill>
                  <a:srgbClr val="102D69"/>
                </a:solidFill>
                <a:latin typeface="HSE Sans"/>
                <a:ea typeface="HSE Sans"/>
                <a:cs typeface="HSE Sans"/>
              </a:defRPr>
            </a:pPr>
            <a:r>
              <a:rPr sz="2250" b="0">
                <a:solidFill>
                  <a:srgbClr val="102D69"/>
                </a:solidFill>
                <a:latin typeface="HSE Sans"/>
                <a:ea typeface="HSE Sans"/>
                <a:cs typeface="HSE Sans"/>
              </a:rPr>
              <a:t>При достаточно малом шаге значение J уменьшается.</a:t>
            </a:r>
          </a:p>
        </p:txBody>
      </p:sp>
    </p:spTree>
    <p:extLst>
      <p:ext uri="{BB962C8B-B14F-4D97-AF65-F5344CB8AC3E}">
        <p14:creationId xmlns:p14="http://schemas.microsoft.com/office/powerpoint/2010/main" val="1409846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Один вес на знакомой выборке</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3. Градиентный спуск</a:t>
            </a:r>
          </a:p>
        </p:txBody>
      </p:sp>
      <p:sp>
        <p:nvSpPr>
          <p:cNvPr id="7" name="l03-content-111">
            <a:extLst>
              <a:ext uri="{FF2B5EF4-FFF2-40B4-BE49-F238E27FC236}">
                <a16:creationId xmlns:a16="http://schemas.microsoft.com/office/drawing/2014/main" id="{AC1DE271-F496-4B69-8A88-9E4AE19B6AAE}"/>
              </a:ext>
            </a:extLst>
          </p:cNvPr>
          <p:cNvSpPr>
            <a:spLocks noGrp="1"/>
          </p:cNvSpPr>
          <p:nvPr/>
        </p:nvSpPr>
        <p:spPr>
          <a:xfrm>
            <a:off x="590550" y="2228850"/>
            <a:ext cx="11029950" cy="90487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Возьмём те же пять доставок и центрируем расстояние: z = x − 3.</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Зафиксируем среднее время 25 и будем обучать только наклон w.</a:t>
            </a:r>
          </a:p>
        </p:txBody>
      </p:sp>
      <p:graphicFrame>
        <p:nvGraphicFramePr>
          <p:cNvPr id="17" name="Таблица 16"/>
          <p:cNvGraphicFramePr/>
          <p:nvPr/>
        </p:nvGraphicFramePr>
        <p:xfrm>
          <a:off x="590550" y="3476625"/>
          <a:ext cx="11029950" cy="1038226"/>
        </p:xfrm>
        <a:graphic>
          <a:graphicData uri="http://schemas.openxmlformats.org/drawingml/2006/table">
            <a:tbl>
              <a:tblPr firstRow="1"/>
              <a:tblGrid>
                <a:gridCol w="3219450">
                  <a:extLst>
                    <a:ext uri="{9D8B030D-6E8A-4147-A177-3AD203B41FA5}">
                      <a16:colId xmlns:a16="http://schemas.microsoft.com/office/drawing/2014/main" val="20000"/>
                    </a:ext>
                  </a:extLst>
                </a:gridCol>
                <a:gridCol w="1562100">
                  <a:extLst>
                    <a:ext uri="{9D8B030D-6E8A-4147-A177-3AD203B41FA5}">
                      <a16:colId xmlns:a16="http://schemas.microsoft.com/office/drawing/2014/main" val="20001"/>
                    </a:ext>
                  </a:extLst>
                </a:gridCol>
                <a:gridCol w="1562100">
                  <a:extLst>
                    <a:ext uri="{9D8B030D-6E8A-4147-A177-3AD203B41FA5}">
                      <a16:colId xmlns:a16="http://schemas.microsoft.com/office/drawing/2014/main" val="20002"/>
                    </a:ext>
                  </a:extLst>
                </a:gridCol>
                <a:gridCol w="1562100">
                  <a:extLst>
                    <a:ext uri="{9D8B030D-6E8A-4147-A177-3AD203B41FA5}">
                      <a16:colId xmlns:a16="http://schemas.microsoft.com/office/drawing/2014/main" val="20003"/>
                    </a:ext>
                  </a:extLst>
                </a:gridCol>
                <a:gridCol w="1562100">
                  <a:extLst>
                    <a:ext uri="{9D8B030D-6E8A-4147-A177-3AD203B41FA5}">
                      <a16:colId xmlns:a16="http://schemas.microsoft.com/office/drawing/2014/main" val="20004"/>
                    </a:ext>
                  </a:extLst>
                </a:gridCol>
                <a:gridCol w="1562100">
                  <a:extLst>
                    <a:ext uri="{9D8B030D-6E8A-4147-A177-3AD203B41FA5}">
                      <a16:colId xmlns:a16="http://schemas.microsoft.com/office/drawing/2014/main" val="20005"/>
                    </a:ext>
                  </a:extLst>
                </a:gridCol>
              </a:tblGrid>
              <a:tr h="519113">
                <a:tc>
                  <a:txBody>
                    <a:bodyPr/>
                    <a:lstStyle/>
                    <a:p>
                      <a:r>
                        <a:rPr sz="2025" b="1">
                          <a:solidFill>
                            <a:srgbClr val="FFFFFF"/>
                          </a:solidFill>
                          <a:latin typeface="HSE Sans"/>
                          <a:ea typeface="HSE Sans"/>
                          <a:cs typeface="HSE Sans"/>
                        </a:rPr>
                        <a:t>z, км</a:t>
                      </a:r>
                    </a:p>
                  </a:txBody>
                  <a:tcPr anchor="ctr">
                    <a:solidFill>
                      <a:srgbClr val="102D69"/>
                    </a:solidFill>
                  </a:tcPr>
                </a:tc>
                <a:tc>
                  <a:txBody>
                    <a:bodyPr/>
                    <a:lstStyle/>
                    <a:p>
                      <a:r>
                        <a:rPr sz="2025" b="1">
                          <a:solidFill>
                            <a:srgbClr val="FFFFFF"/>
                          </a:solidFill>
                          <a:latin typeface="HSE Sans"/>
                          <a:ea typeface="HSE Sans"/>
                          <a:cs typeface="HSE Sans"/>
                        </a:rPr>
                        <a:t>−2</a:t>
                      </a:r>
                    </a:p>
                  </a:txBody>
                  <a:tcPr anchor="ctr">
                    <a:solidFill>
                      <a:srgbClr val="102D69"/>
                    </a:solidFill>
                  </a:tcPr>
                </a:tc>
                <a:tc>
                  <a:txBody>
                    <a:bodyPr/>
                    <a:lstStyle/>
                    <a:p>
                      <a:r>
                        <a:rPr sz="2025" b="1">
                          <a:solidFill>
                            <a:srgbClr val="FFFFFF"/>
                          </a:solidFill>
                          <a:latin typeface="HSE Sans"/>
                          <a:ea typeface="HSE Sans"/>
                          <a:cs typeface="HSE Sans"/>
                        </a:rPr>
                        <a:t>−1</a:t>
                      </a:r>
                    </a:p>
                  </a:txBody>
                  <a:tcPr anchor="ctr">
                    <a:solidFill>
                      <a:srgbClr val="102D69"/>
                    </a:solidFill>
                  </a:tcPr>
                </a:tc>
                <a:tc>
                  <a:txBody>
                    <a:bodyPr/>
                    <a:lstStyle/>
                    <a:p>
                      <a:r>
                        <a:rPr sz="2025" b="1">
                          <a:solidFill>
                            <a:srgbClr val="FFFFFF"/>
                          </a:solidFill>
                          <a:latin typeface="HSE Sans"/>
                          <a:ea typeface="HSE Sans"/>
                          <a:cs typeface="HSE Sans"/>
                        </a:rPr>
                        <a:t>0</a:t>
                      </a:r>
                    </a:p>
                  </a:txBody>
                  <a:tcPr anchor="ctr">
                    <a:solidFill>
                      <a:srgbClr val="102D69"/>
                    </a:solidFill>
                  </a:tcPr>
                </a:tc>
                <a:tc>
                  <a:txBody>
                    <a:bodyPr/>
                    <a:lstStyle/>
                    <a:p>
                      <a:r>
                        <a:rPr sz="2025" b="1">
                          <a:solidFill>
                            <a:srgbClr val="FFFFFF"/>
                          </a:solidFill>
                          <a:latin typeface="HSE Sans"/>
                          <a:ea typeface="HSE Sans"/>
                          <a:cs typeface="HSE Sans"/>
                        </a:rPr>
                        <a:t>1</a:t>
                      </a:r>
                    </a:p>
                  </a:txBody>
                  <a:tcPr anchor="ctr">
                    <a:solidFill>
                      <a:srgbClr val="102D69"/>
                    </a:solidFill>
                  </a:tcPr>
                </a:tc>
                <a:tc>
                  <a:txBody>
                    <a:bodyPr/>
                    <a:lstStyle/>
                    <a:p>
                      <a:r>
                        <a:rPr sz="2025" b="1">
                          <a:solidFill>
                            <a:srgbClr val="FFFFFF"/>
                          </a:solidFill>
                          <a:latin typeface="HSE Sans"/>
                          <a:ea typeface="HSE Sans"/>
                          <a:cs typeface="HSE Sans"/>
                        </a:rPr>
                        <a:t>2</a:t>
                      </a:r>
                    </a:p>
                  </a:txBody>
                  <a:tcPr anchor="ctr">
                    <a:solidFill>
                      <a:srgbClr val="102D69"/>
                    </a:solidFill>
                  </a:tcPr>
                </a:tc>
                <a:extLst>
                  <a:ext uri="{0D108BD9-81ED-4DB2-BD59-A6C34878D82A}">
                    <a16:rowId xmlns:a16="http://schemas.microsoft.com/office/drawing/2014/main" val="10000"/>
                  </a:ext>
                </a:extLst>
              </a:tr>
              <a:tr h="519113">
                <a:tc>
                  <a:txBody>
                    <a:bodyPr/>
                    <a:lstStyle/>
                    <a:p>
                      <a:r>
                        <a:rPr sz="2025" b="0">
                          <a:solidFill>
                            <a:srgbClr val="102D69"/>
                          </a:solidFill>
                          <a:latin typeface="HSE Sans"/>
                          <a:ea typeface="HSE Sans"/>
                          <a:cs typeface="HSE Sans"/>
                        </a:rPr>
                        <a:t>y, мин</a:t>
                      </a:r>
                    </a:p>
                  </a:txBody>
                  <a:tcPr anchor="ctr">
                    <a:solidFill>
                      <a:srgbClr val="EFF4FB"/>
                    </a:solidFill>
                  </a:tcPr>
                </a:tc>
                <a:tc>
                  <a:txBody>
                    <a:bodyPr/>
                    <a:lstStyle/>
                    <a:p>
                      <a:r>
                        <a:rPr sz="2025" b="0">
                          <a:solidFill>
                            <a:srgbClr val="102D69"/>
                          </a:solidFill>
                          <a:latin typeface="HSE Sans"/>
                          <a:ea typeface="HSE Sans"/>
                          <a:cs typeface="HSE Sans"/>
                        </a:rPr>
                        <a:t>18</a:t>
                      </a:r>
                    </a:p>
                  </a:txBody>
                  <a:tcPr anchor="ctr">
                    <a:solidFill>
                      <a:srgbClr val="EFF4FB"/>
                    </a:solidFill>
                  </a:tcPr>
                </a:tc>
                <a:tc>
                  <a:txBody>
                    <a:bodyPr/>
                    <a:lstStyle/>
                    <a:p>
                      <a:r>
                        <a:rPr sz="2025" b="0">
                          <a:solidFill>
                            <a:srgbClr val="102D69"/>
                          </a:solidFill>
                          <a:latin typeface="HSE Sans"/>
                          <a:ea typeface="HSE Sans"/>
                          <a:cs typeface="HSE Sans"/>
                        </a:rPr>
                        <a:t>20</a:t>
                      </a:r>
                    </a:p>
                  </a:txBody>
                  <a:tcPr anchor="ctr">
                    <a:solidFill>
                      <a:srgbClr val="EFF4FB"/>
                    </a:solidFill>
                  </a:tcPr>
                </a:tc>
                <a:tc>
                  <a:txBody>
                    <a:bodyPr/>
                    <a:lstStyle/>
                    <a:p>
                      <a:r>
                        <a:rPr sz="2025" b="0">
                          <a:solidFill>
                            <a:srgbClr val="102D69"/>
                          </a:solidFill>
                          <a:latin typeface="HSE Sans"/>
                          <a:ea typeface="HSE Sans"/>
                          <a:cs typeface="HSE Sans"/>
                        </a:rPr>
                        <a:t>25</a:t>
                      </a:r>
                    </a:p>
                  </a:txBody>
                  <a:tcPr anchor="ctr">
                    <a:solidFill>
                      <a:srgbClr val="EFF4FB"/>
                    </a:solidFill>
                  </a:tcPr>
                </a:tc>
                <a:tc>
                  <a:txBody>
                    <a:bodyPr/>
                    <a:lstStyle/>
                    <a:p>
                      <a:r>
                        <a:rPr sz="2025" b="0">
                          <a:solidFill>
                            <a:srgbClr val="102D69"/>
                          </a:solidFill>
                          <a:latin typeface="HSE Sans"/>
                          <a:ea typeface="HSE Sans"/>
                          <a:cs typeface="HSE Sans"/>
                        </a:rPr>
                        <a:t>29</a:t>
                      </a:r>
                    </a:p>
                  </a:txBody>
                  <a:tcPr anchor="ctr">
                    <a:solidFill>
                      <a:srgbClr val="EFF4FB"/>
                    </a:solidFill>
                  </a:tcPr>
                </a:tc>
                <a:tc>
                  <a:txBody>
                    <a:bodyPr/>
                    <a:lstStyle/>
                    <a:p>
                      <a:r>
                        <a:rPr sz="2025" b="0">
                          <a:solidFill>
                            <a:srgbClr val="102D69"/>
                          </a:solidFill>
                          <a:latin typeface="HSE Sans"/>
                          <a:ea typeface="HSE Sans"/>
                          <a:cs typeface="HSE Sans"/>
                        </a:rPr>
                        <a:t>33</a:t>
                      </a:r>
                    </a:p>
                  </a:txBody>
                  <a:tcPr anchor="ctr">
                    <a:solidFill>
                      <a:srgbClr val="EFF4FB"/>
                    </a:solidFill>
                  </a:tcPr>
                </a:tc>
                <a:extLst>
                  <a:ext uri="{0D108BD9-81ED-4DB2-BD59-A6C34878D82A}">
                    <a16:rowId xmlns:a16="http://schemas.microsoft.com/office/drawing/2014/main" val="10001"/>
                  </a:ext>
                </a:extLst>
              </a:tr>
            </a:tbl>
          </a:graphicData>
        </a:graphic>
      </p:graphicFrame>
      <mc:AlternateContent xmlns:mc="http://schemas.openxmlformats.org/markup-compatibility/2006">
        <mc:Choice xmlns:a14="http://schemas.microsoft.com/office/drawing/2010/main" Requires="a14">
          <p:sp>
            <p:nvSpPr>
              <p:cNvPr id="9" name="l03-content-112">
                <a:extLst>
                  <a:ext uri="{FF2B5EF4-FFF2-40B4-BE49-F238E27FC236}">
                    <a16:creationId xmlns:a16="http://schemas.microsoft.com/office/drawing/2014/main" id="{F2739CA9-992F-4FA0-96A3-606143E6E7B6}"/>
                  </a:ext>
                </a:extLst>
              </p:cNvPr>
              <p:cNvSpPr>
                <a:spLocks noGrp="1"/>
              </p:cNvSpPr>
              <p:nvPr/>
            </p:nvSpPr>
            <p:spPr>
              <a:xfrm>
                <a:off x="590550" y="4819650"/>
                <a:ext cx="11029950" cy="742950"/>
              </a:xfrm>
              <a:prstGeom prst="rect">
                <a:avLst/>
              </a:prstGeom>
              <a:noFill/>
              <a:ln w="0">
                <a:noFill/>
              </a:ln>
            </p:spPr>
            <p:txBody>
              <a:bodyPr wrap="square" lIns="0" tIns="0" rIns="0" bIns="0" anchor="t">
                <a:noAutofit/>
              </a:bodyPr>
              <a:lstStyle/>
              <a:p>
                <a:pPr algn="ctr">
                  <a:defRPr sz="2925" b="0">
                    <a:solidFill>
                      <a:srgbClr val="102D69"/>
                    </a:solidFill>
                    <a:latin typeface="Cambria Math"/>
                    <a:ea typeface="Cambria Math"/>
                    <a:cs typeface="Cambria Math"/>
                  </a:defRPr>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𝑎</m:t>
                          </m:r>
                        </m:e>
                        <m:sub>
                          <m:r>
                            <a:rPr>
                              <a:latin typeface="Cambria Math" panose="02040503050406030204" pitchFamily="18" charset="0"/>
                            </a:rPr>
                            <m:t>𝑤</m:t>
                          </m:r>
                        </m:sub>
                      </m:sSub>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)=25+</m:t>
                      </m:r>
                      <m:r>
                        <a:rPr>
                          <a:latin typeface="Cambria Math" panose="02040503050406030204" pitchFamily="18" charset="0"/>
                        </a:rPr>
                        <m:t>𝑤</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−3)</m:t>
                      </m:r>
                    </m:oMath>
                  </m:oMathPara>
                </a14:m>
                <a:endParaRPr/>
              </a:p>
            </p:txBody>
          </p:sp>
        </mc:Choice>
        <mc:Fallback>
          <p:sp>
            <p:nvSpPr>
              <p:cNvPr id="9" name="l03-content-112">
                <a:extLst>
                  <a:ext uri="{FF2B5EF4-FFF2-40B4-BE49-F238E27FC236}">
                    <a16:creationId xmlns:a16="http://schemas.microsoft.com/office/drawing/2014/main" id="{F2739CA9-992F-4FA0-96A3-606143E6E7B6}"/>
                  </a:ext>
                </a:extLst>
              </p:cNvPr>
              <p:cNvSpPr>
                <a:spLocks noGrp="1" noRot="1" noChangeAspect="1" noMove="1" noResize="1" noEditPoints="1" noAdjustHandles="1" noChangeArrowheads="1" noChangeShapeType="1" noTextEdit="1"/>
              </p:cNvSpPr>
              <p:nvPr/>
            </p:nvSpPr>
            <p:spPr>
              <a:xfrm>
                <a:off x="590550" y="4819650"/>
                <a:ext cx="11029950" cy="742950"/>
              </a:xfrm>
              <a:prstGeom prst="rect">
                <a:avLst/>
              </a:prstGeom>
              <a:blipFill>
                <a:blip r:embed="rId3"/>
                <a:stretch>
                  <a:fillRect t="-1667"/>
                </a:stretch>
              </a:blipFill>
              <a:ln w="0">
                <a:noFill/>
              </a:ln>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0" name="l03-content-113">
                <a:extLst>
                  <a:ext uri="{FF2B5EF4-FFF2-40B4-BE49-F238E27FC236}">
                    <a16:creationId xmlns:a16="http://schemas.microsoft.com/office/drawing/2014/main" id="{15A81CB5-C70B-4109-BB0C-687583C461AC}"/>
                  </a:ext>
                </a:extLst>
              </p:cNvPr>
              <p:cNvSpPr>
                <a:spLocks noGrp="1"/>
              </p:cNvSpPr>
              <p:nvPr/>
            </p:nvSpPr>
            <p:spPr>
              <a:xfrm>
                <a:off x="590550" y="5772150"/>
                <a:ext cx="11029950" cy="800100"/>
              </a:xfrm>
              <a:prstGeom prst="rect">
                <a:avLst/>
              </a:prstGeom>
              <a:noFill/>
              <a:ln w="0">
                <a:noFill/>
              </a:ln>
            </p:spPr>
            <p:txBody>
              <a:bodyPr wrap="square" lIns="0" tIns="0" rIns="0" bIns="0" anchor="t">
                <a:noAutofit/>
              </a:bodyPr>
              <a:lstStyle/>
              <a:p>
                <a:pPr algn="ctr">
                  <a:defRPr sz="2550"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𝑄</m:t>
                      </m:r>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)=0.38+2(</m:t>
                      </m:r>
                      <m:r>
                        <a:rPr>
                          <a:latin typeface="Cambria Math" panose="02040503050406030204" pitchFamily="18" charset="0"/>
                        </a:rPr>
                        <m:t>𝑤</m:t>
                      </m:r>
                      <m:r>
                        <a:rPr>
                          <a:latin typeface="Cambria Math" panose="02040503050406030204" pitchFamily="18" charset="0"/>
                        </a:rPr>
                        <m:t>−3.9</m:t>
                      </m:r>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r>
                        <a:rPr>
                          <a:latin typeface="Cambria Math" panose="02040503050406030204" pitchFamily="18" charset="0"/>
                        </a:rPr>
                        <m:t>,</m:t>
                      </m:r>
                      <m:r>
                        <a:rPr>
                          <a:latin typeface="Cambria Math" panose="02040503050406030204" pitchFamily="18" charset="0"/>
                        </a:rPr>
                        <m:t>𝑄</m:t>
                      </m:r>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)=4(</m:t>
                      </m:r>
                      <m:r>
                        <a:rPr>
                          <a:latin typeface="Cambria Math" panose="02040503050406030204" pitchFamily="18" charset="0"/>
                        </a:rPr>
                        <m:t>𝑤</m:t>
                      </m:r>
                      <m:r>
                        <a:rPr>
                          <a:latin typeface="Cambria Math" panose="02040503050406030204" pitchFamily="18" charset="0"/>
                        </a:rPr>
                        <m:t>−3.9)</m:t>
                      </m:r>
                    </m:oMath>
                  </m:oMathPara>
                </a14:m>
                <a:endParaRPr/>
              </a:p>
            </p:txBody>
          </p:sp>
        </mc:Choice>
        <mc:Fallback>
          <p:sp>
            <p:nvSpPr>
              <p:cNvPr id="10" name="l03-content-113">
                <a:extLst>
                  <a:ext uri="{FF2B5EF4-FFF2-40B4-BE49-F238E27FC236}">
                    <a16:creationId xmlns:a16="http://schemas.microsoft.com/office/drawing/2014/main" id="{15A81CB5-C70B-4109-BB0C-687583C461AC}"/>
                  </a:ext>
                </a:extLst>
              </p:cNvPr>
              <p:cNvSpPr>
                <a:spLocks noGrp="1" noRot="1" noChangeAspect="1" noMove="1" noResize="1" noEditPoints="1" noAdjustHandles="1" noChangeArrowheads="1" noChangeShapeType="1" noTextEdit="1"/>
              </p:cNvSpPr>
              <p:nvPr/>
            </p:nvSpPr>
            <p:spPr>
              <a:xfrm>
                <a:off x="590550" y="5772150"/>
                <a:ext cx="11029950" cy="800100"/>
              </a:xfrm>
              <a:prstGeom prst="rect">
                <a:avLst/>
              </a:prstGeom>
              <a:blipFill>
                <a:blip r:embed="rId4"/>
                <a:stretch>
                  <a:fillRect t="-3125"/>
                </a:stretch>
              </a:blipFill>
              <a:ln w="0">
                <a:noFill/>
              </a:ln>
            </p:spPr>
            <p:txBody>
              <a:bodyPr/>
              <a:lstStyle/>
              <a:p>
                <a:r>
                  <a:rPr lang="ru-RU">
                    <a:noFill/>
                  </a:rPr>
                  <a:t> </a:t>
                </a:r>
              </a:p>
            </p:txBody>
          </p:sp>
        </mc:Fallback>
      </mc:AlternateContent>
    </p:spTree>
    <p:extLst>
      <p:ext uri="{BB962C8B-B14F-4D97-AF65-F5344CB8AC3E}">
        <p14:creationId xmlns:p14="http://schemas.microsoft.com/office/powerpoint/2010/main" val="1409846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Первые шаги градиентного спуска</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3. Градиентный спуск</a:t>
            </a:r>
          </a:p>
        </p:txBody>
      </p:sp>
      <p:sp>
        <p:nvSpPr>
          <p:cNvPr id="7" name="l03-content-114">
            <a:extLst>
              <a:ext uri="{FF2B5EF4-FFF2-40B4-BE49-F238E27FC236}">
                <a16:creationId xmlns:a16="http://schemas.microsoft.com/office/drawing/2014/main" id="{3BBB36FF-B9F9-4D34-9CD3-13FAE7E6E3AF}"/>
              </a:ext>
            </a:extLst>
          </p:cNvPr>
          <p:cNvSpPr>
            <a:spLocks noGrp="1"/>
          </p:cNvSpPr>
          <p:nvPr/>
        </p:nvSpPr>
        <p:spPr>
          <a:xfrm>
            <a:off x="590550" y="2228850"/>
            <a:ext cx="11029950" cy="92392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Положим w⁽⁰⁾ = 0 и η = 0,1. Первый градиент равен −15,6.</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Поэтому w⁽¹⁾ = 0 − 0,1 · (−15,6) = 1,56.</a:t>
            </a:r>
          </a:p>
        </p:txBody>
      </p:sp>
      <p:sp>
        <p:nvSpPr>
          <p:cNvPr id="8" name="l03-content-115">
            <a:extLst>
              <a:ext uri="{FF2B5EF4-FFF2-40B4-BE49-F238E27FC236}">
                <a16:creationId xmlns:a16="http://schemas.microsoft.com/office/drawing/2014/main" id="{E3C6DB09-427A-43F0-BABA-4A4CC4938364}"/>
              </a:ext>
            </a:extLst>
          </p:cNvPr>
          <p:cNvSpPr>
            <a:spLocks noGrp="1"/>
          </p:cNvSpPr>
          <p:nvPr/>
        </p:nvSpPr>
        <p:spPr>
          <a:xfrm>
            <a:off x="590550" y="3190875"/>
            <a:ext cx="11029950" cy="523875"/>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Оптимум: w* = 3,9 и Q(w*) = 0,38.</a:t>
            </a:r>
          </a:p>
        </p:txBody>
      </p:sp>
      <p:graphicFrame>
        <p:nvGraphicFramePr>
          <p:cNvPr id="17" name="Таблица 16"/>
          <p:cNvGraphicFramePr/>
          <p:nvPr/>
        </p:nvGraphicFramePr>
        <p:xfrm>
          <a:off x="590550" y="3933825"/>
          <a:ext cx="11029950" cy="2390778"/>
        </p:xfrm>
        <a:graphic>
          <a:graphicData uri="http://schemas.openxmlformats.org/drawingml/2006/table">
            <a:tbl>
              <a:tblPr firstRow="1"/>
              <a:tblGrid>
                <a:gridCol w="2238375">
                  <a:extLst>
                    <a:ext uri="{9D8B030D-6E8A-4147-A177-3AD203B41FA5}">
                      <a16:colId xmlns:a16="http://schemas.microsoft.com/office/drawing/2014/main" val="20000"/>
                    </a:ext>
                  </a:extLst>
                </a:gridCol>
                <a:gridCol w="2886075">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gridCol w="2952750">
                  <a:extLst>
                    <a:ext uri="{9D8B030D-6E8A-4147-A177-3AD203B41FA5}">
                      <a16:colId xmlns:a16="http://schemas.microsoft.com/office/drawing/2014/main" val="20003"/>
                    </a:ext>
                  </a:extLst>
                </a:gridCol>
              </a:tblGrid>
              <a:tr h="398463">
                <a:tc>
                  <a:txBody>
                    <a:bodyPr/>
                    <a:lstStyle/>
                    <a:p>
                      <a:r>
                        <a:rPr sz="1950" b="1">
                          <a:solidFill>
                            <a:srgbClr val="FFFFFF"/>
                          </a:solidFill>
                          <a:latin typeface="HSE Sans"/>
                          <a:ea typeface="HSE Sans"/>
                          <a:cs typeface="HSE Sans"/>
                        </a:rPr>
                        <a:t>Итерация k</a:t>
                      </a:r>
                    </a:p>
                  </a:txBody>
                  <a:tcPr anchor="ctr">
                    <a:solidFill>
                      <a:srgbClr val="102D69"/>
                    </a:solidFill>
                  </a:tcPr>
                </a:tc>
                <a:tc>
                  <a:txBody>
                    <a:bodyPr/>
                    <a:lstStyle/>
                    <a:p>
                      <a:r>
                        <a:rPr sz="1950" b="1">
                          <a:solidFill>
                            <a:srgbClr val="FFFFFF"/>
                          </a:solidFill>
                          <a:latin typeface="HSE Sans"/>
                          <a:ea typeface="HSE Sans"/>
                          <a:cs typeface="HSE Sans"/>
                        </a:rPr>
                        <a:t>Наклон w⁽ᵏ⁾</a:t>
                      </a:r>
                    </a:p>
                  </a:txBody>
                  <a:tcPr anchor="ctr">
                    <a:solidFill>
                      <a:srgbClr val="102D69"/>
                    </a:solidFill>
                  </a:tcPr>
                </a:tc>
                <a:tc>
                  <a:txBody>
                    <a:bodyPr/>
                    <a:lstStyle/>
                    <a:p>
                      <a:r>
                        <a:rPr sz="1950" b="1">
                          <a:solidFill>
                            <a:srgbClr val="FFFFFF"/>
                          </a:solidFill>
                          <a:latin typeface="HSE Sans"/>
                          <a:ea typeface="HSE Sans"/>
                          <a:cs typeface="HSE Sans"/>
                        </a:rPr>
                        <a:t>Градиент Q′</a:t>
                      </a:r>
                    </a:p>
                  </a:txBody>
                  <a:tcPr anchor="ctr">
                    <a:solidFill>
                      <a:srgbClr val="102D69"/>
                    </a:solidFill>
                  </a:tcPr>
                </a:tc>
                <a:tc>
                  <a:txBody>
                    <a:bodyPr/>
                    <a:lstStyle/>
                    <a:p>
                      <a:r>
                        <a:rPr sz="1950" b="1">
                          <a:solidFill>
                            <a:srgbClr val="FFFFFF"/>
                          </a:solidFill>
                          <a:latin typeface="HSE Sans"/>
                          <a:ea typeface="HSE Sans"/>
                          <a:cs typeface="HSE Sans"/>
                        </a:rPr>
                        <a:t>MSE, мин²</a:t>
                      </a:r>
                    </a:p>
                  </a:txBody>
                  <a:tcPr anchor="ctr">
                    <a:solidFill>
                      <a:srgbClr val="102D69"/>
                    </a:solidFill>
                  </a:tcPr>
                </a:tc>
                <a:extLst>
                  <a:ext uri="{0D108BD9-81ED-4DB2-BD59-A6C34878D82A}">
                    <a16:rowId xmlns:a16="http://schemas.microsoft.com/office/drawing/2014/main" val="10000"/>
                  </a:ext>
                </a:extLst>
              </a:tr>
              <a:tr h="398463">
                <a:tc>
                  <a:txBody>
                    <a:bodyPr/>
                    <a:lstStyle/>
                    <a:p>
                      <a:r>
                        <a:rPr sz="1950" b="0">
                          <a:solidFill>
                            <a:srgbClr val="102D69"/>
                          </a:solidFill>
                          <a:latin typeface="HSE Sans"/>
                          <a:ea typeface="HSE Sans"/>
                          <a:cs typeface="HSE Sans"/>
                        </a:rPr>
                        <a:t>0</a:t>
                      </a:r>
                    </a:p>
                  </a:txBody>
                  <a:tcPr anchor="ctr">
                    <a:solidFill>
                      <a:srgbClr val="EFF4FB"/>
                    </a:solidFill>
                  </a:tcPr>
                </a:tc>
                <a:tc>
                  <a:txBody>
                    <a:bodyPr/>
                    <a:lstStyle/>
                    <a:p>
                      <a:r>
                        <a:rPr sz="1950" b="0">
                          <a:solidFill>
                            <a:srgbClr val="102D69"/>
                          </a:solidFill>
                          <a:latin typeface="HSE Sans"/>
                          <a:ea typeface="HSE Sans"/>
                          <a:cs typeface="HSE Sans"/>
                        </a:rPr>
                        <a:t>0,000</a:t>
                      </a:r>
                    </a:p>
                  </a:txBody>
                  <a:tcPr anchor="ctr">
                    <a:solidFill>
                      <a:srgbClr val="EFF4FB"/>
                    </a:solidFill>
                  </a:tcPr>
                </a:tc>
                <a:tc>
                  <a:txBody>
                    <a:bodyPr/>
                    <a:lstStyle/>
                    <a:p>
                      <a:r>
                        <a:rPr sz="1950" b="0">
                          <a:solidFill>
                            <a:srgbClr val="102D69"/>
                          </a:solidFill>
                          <a:latin typeface="HSE Sans"/>
                          <a:ea typeface="HSE Sans"/>
                          <a:cs typeface="HSE Sans"/>
                        </a:rPr>
                        <a:t>-15,600</a:t>
                      </a:r>
                    </a:p>
                  </a:txBody>
                  <a:tcPr anchor="ctr">
                    <a:solidFill>
                      <a:srgbClr val="EFF4FB"/>
                    </a:solidFill>
                  </a:tcPr>
                </a:tc>
                <a:tc>
                  <a:txBody>
                    <a:bodyPr/>
                    <a:lstStyle/>
                    <a:p>
                      <a:r>
                        <a:rPr sz="1950" b="0">
                          <a:solidFill>
                            <a:srgbClr val="102D69"/>
                          </a:solidFill>
                          <a:latin typeface="HSE Sans"/>
                          <a:ea typeface="HSE Sans"/>
                          <a:cs typeface="HSE Sans"/>
                        </a:rPr>
                        <a:t>30,800</a:t>
                      </a:r>
                    </a:p>
                  </a:txBody>
                  <a:tcPr anchor="ctr">
                    <a:solidFill>
                      <a:srgbClr val="EFF4FB"/>
                    </a:solidFill>
                  </a:tcPr>
                </a:tc>
                <a:extLst>
                  <a:ext uri="{0D108BD9-81ED-4DB2-BD59-A6C34878D82A}">
                    <a16:rowId xmlns:a16="http://schemas.microsoft.com/office/drawing/2014/main" val="10001"/>
                  </a:ext>
                </a:extLst>
              </a:tr>
              <a:tr h="398463">
                <a:tc>
                  <a:txBody>
                    <a:bodyPr/>
                    <a:lstStyle/>
                    <a:p>
                      <a:r>
                        <a:rPr sz="1950" b="0">
                          <a:solidFill>
                            <a:srgbClr val="102D69"/>
                          </a:solidFill>
                          <a:latin typeface="HSE Sans"/>
                          <a:ea typeface="HSE Sans"/>
                          <a:cs typeface="HSE Sans"/>
                        </a:rPr>
                        <a:t>1</a:t>
                      </a:r>
                    </a:p>
                  </a:txBody>
                  <a:tcPr anchor="ctr">
                    <a:solidFill>
                      <a:srgbClr val="FFFFFF"/>
                    </a:solidFill>
                  </a:tcPr>
                </a:tc>
                <a:tc>
                  <a:txBody>
                    <a:bodyPr/>
                    <a:lstStyle/>
                    <a:p>
                      <a:r>
                        <a:rPr sz="1950" b="0">
                          <a:solidFill>
                            <a:srgbClr val="102D69"/>
                          </a:solidFill>
                          <a:latin typeface="HSE Sans"/>
                          <a:ea typeface="HSE Sans"/>
                          <a:cs typeface="HSE Sans"/>
                        </a:rPr>
                        <a:t>1,560</a:t>
                      </a:r>
                    </a:p>
                  </a:txBody>
                  <a:tcPr anchor="ctr">
                    <a:solidFill>
                      <a:srgbClr val="FFFFFF"/>
                    </a:solidFill>
                  </a:tcPr>
                </a:tc>
                <a:tc>
                  <a:txBody>
                    <a:bodyPr/>
                    <a:lstStyle/>
                    <a:p>
                      <a:r>
                        <a:rPr sz="1950" b="0">
                          <a:solidFill>
                            <a:srgbClr val="102D69"/>
                          </a:solidFill>
                          <a:latin typeface="HSE Sans"/>
                          <a:ea typeface="HSE Sans"/>
                          <a:cs typeface="HSE Sans"/>
                        </a:rPr>
                        <a:t>-9,360</a:t>
                      </a:r>
                    </a:p>
                  </a:txBody>
                  <a:tcPr anchor="ctr">
                    <a:solidFill>
                      <a:srgbClr val="FFFFFF"/>
                    </a:solidFill>
                  </a:tcPr>
                </a:tc>
                <a:tc>
                  <a:txBody>
                    <a:bodyPr/>
                    <a:lstStyle/>
                    <a:p>
                      <a:r>
                        <a:rPr sz="1950" b="0">
                          <a:solidFill>
                            <a:srgbClr val="102D69"/>
                          </a:solidFill>
                          <a:latin typeface="HSE Sans"/>
                          <a:ea typeface="HSE Sans"/>
                          <a:cs typeface="HSE Sans"/>
                        </a:rPr>
                        <a:t>11,331</a:t>
                      </a:r>
                    </a:p>
                  </a:txBody>
                  <a:tcPr anchor="ctr">
                    <a:solidFill>
                      <a:srgbClr val="FFFFFF"/>
                    </a:solidFill>
                  </a:tcPr>
                </a:tc>
                <a:extLst>
                  <a:ext uri="{0D108BD9-81ED-4DB2-BD59-A6C34878D82A}">
                    <a16:rowId xmlns:a16="http://schemas.microsoft.com/office/drawing/2014/main" val="10002"/>
                  </a:ext>
                </a:extLst>
              </a:tr>
              <a:tr h="398463">
                <a:tc>
                  <a:txBody>
                    <a:bodyPr/>
                    <a:lstStyle/>
                    <a:p>
                      <a:r>
                        <a:rPr sz="1950" b="0">
                          <a:solidFill>
                            <a:srgbClr val="102D69"/>
                          </a:solidFill>
                          <a:latin typeface="HSE Sans"/>
                          <a:ea typeface="HSE Sans"/>
                          <a:cs typeface="HSE Sans"/>
                        </a:rPr>
                        <a:t>2</a:t>
                      </a:r>
                    </a:p>
                  </a:txBody>
                  <a:tcPr anchor="ctr">
                    <a:solidFill>
                      <a:srgbClr val="EFF4FB"/>
                    </a:solidFill>
                  </a:tcPr>
                </a:tc>
                <a:tc>
                  <a:txBody>
                    <a:bodyPr/>
                    <a:lstStyle/>
                    <a:p>
                      <a:r>
                        <a:rPr sz="1950" b="0">
                          <a:solidFill>
                            <a:srgbClr val="102D69"/>
                          </a:solidFill>
                          <a:latin typeface="HSE Sans"/>
                          <a:ea typeface="HSE Sans"/>
                          <a:cs typeface="HSE Sans"/>
                        </a:rPr>
                        <a:t>2,496</a:t>
                      </a:r>
                    </a:p>
                  </a:txBody>
                  <a:tcPr anchor="ctr">
                    <a:solidFill>
                      <a:srgbClr val="EFF4FB"/>
                    </a:solidFill>
                  </a:tcPr>
                </a:tc>
                <a:tc>
                  <a:txBody>
                    <a:bodyPr/>
                    <a:lstStyle/>
                    <a:p>
                      <a:r>
                        <a:rPr sz="1950" b="0">
                          <a:solidFill>
                            <a:srgbClr val="102D69"/>
                          </a:solidFill>
                          <a:latin typeface="HSE Sans"/>
                          <a:ea typeface="HSE Sans"/>
                          <a:cs typeface="HSE Sans"/>
                        </a:rPr>
                        <a:t>-5,616</a:t>
                      </a:r>
                    </a:p>
                  </a:txBody>
                  <a:tcPr anchor="ctr">
                    <a:solidFill>
                      <a:srgbClr val="EFF4FB"/>
                    </a:solidFill>
                  </a:tcPr>
                </a:tc>
                <a:tc>
                  <a:txBody>
                    <a:bodyPr/>
                    <a:lstStyle/>
                    <a:p>
                      <a:r>
                        <a:rPr sz="1950" b="0">
                          <a:solidFill>
                            <a:srgbClr val="102D69"/>
                          </a:solidFill>
                          <a:latin typeface="HSE Sans"/>
                          <a:ea typeface="HSE Sans"/>
                          <a:cs typeface="HSE Sans"/>
                        </a:rPr>
                        <a:t>4,322</a:t>
                      </a:r>
                    </a:p>
                  </a:txBody>
                  <a:tcPr anchor="ctr">
                    <a:solidFill>
                      <a:srgbClr val="EFF4FB"/>
                    </a:solidFill>
                  </a:tcPr>
                </a:tc>
                <a:extLst>
                  <a:ext uri="{0D108BD9-81ED-4DB2-BD59-A6C34878D82A}">
                    <a16:rowId xmlns:a16="http://schemas.microsoft.com/office/drawing/2014/main" val="10003"/>
                  </a:ext>
                </a:extLst>
              </a:tr>
              <a:tr h="398463">
                <a:tc>
                  <a:txBody>
                    <a:bodyPr/>
                    <a:lstStyle/>
                    <a:p>
                      <a:r>
                        <a:rPr sz="1950" b="0">
                          <a:solidFill>
                            <a:srgbClr val="102D69"/>
                          </a:solidFill>
                          <a:latin typeface="HSE Sans"/>
                          <a:ea typeface="HSE Sans"/>
                          <a:cs typeface="HSE Sans"/>
                        </a:rPr>
                        <a:t>3</a:t>
                      </a:r>
                    </a:p>
                  </a:txBody>
                  <a:tcPr anchor="ctr">
                    <a:solidFill>
                      <a:srgbClr val="FFFFFF"/>
                    </a:solidFill>
                  </a:tcPr>
                </a:tc>
                <a:tc>
                  <a:txBody>
                    <a:bodyPr/>
                    <a:lstStyle/>
                    <a:p>
                      <a:r>
                        <a:rPr sz="1950" b="0">
                          <a:solidFill>
                            <a:srgbClr val="102D69"/>
                          </a:solidFill>
                          <a:latin typeface="HSE Sans"/>
                          <a:ea typeface="HSE Sans"/>
                          <a:cs typeface="HSE Sans"/>
                        </a:rPr>
                        <a:t>3,058</a:t>
                      </a:r>
                    </a:p>
                  </a:txBody>
                  <a:tcPr anchor="ctr">
                    <a:solidFill>
                      <a:srgbClr val="FFFFFF"/>
                    </a:solidFill>
                  </a:tcPr>
                </a:tc>
                <a:tc>
                  <a:txBody>
                    <a:bodyPr/>
                    <a:lstStyle/>
                    <a:p>
                      <a:r>
                        <a:rPr sz="1950" b="0">
                          <a:solidFill>
                            <a:srgbClr val="102D69"/>
                          </a:solidFill>
                          <a:latin typeface="HSE Sans"/>
                          <a:ea typeface="HSE Sans"/>
                          <a:cs typeface="HSE Sans"/>
                        </a:rPr>
                        <a:t>-3,370</a:t>
                      </a:r>
                    </a:p>
                  </a:txBody>
                  <a:tcPr anchor="ctr">
                    <a:solidFill>
                      <a:srgbClr val="FFFFFF"/>
                    </a:solidFill>
                  </a:tcPr>
                </a:tc>
                <a:tc>
                  <a:txBody>
                    <a:bodyPr/>
                    <a:lstStyle/>
                    <a:p>
                      <a:r>
                        <a:rPr sz="1950" b="0">
                          <a:solidFill>
                            <a:srgbClr val="102D69"/>
                          </a:solidFill>
                          <a:latin typeface="HSE Sans"/>
                          <a:ea typeface="HSE Sans"/>
                          <a:cs typeface="HSE Sans"/>
                        </a:rPr>
                        <a:t>1,799</a:t>
                      </a:r>
                    </a:p>
                  </a:txBody>
                  <a:tcPr anchor="ctr">
                    <a:solidFill>
                      <a:srgbClr val="FFFFFF"/>
                    </a:solidFill>
                  </a:tcPr>
                </a:tc>
                <a:extLst>
                  <a:ext uri="{0D108BD9-81ED-4DB2-BD59-A6C34878D82A}">
                    <a16:rowId xmlns:a16="http://schemas.microsoft.com/office/drawing/2014/main" val="10004"/>
                  </a:ext>
                </a:extLst>
              </a:tr>
              <a:tr h="398463">
                <a:tc>
                  <a:txBody>
                    <a:bodyPr/>
                    <a:lstStyle/>
                    <a:p>
                      <a:r>
                        <a:rPr sz="1950" b="0">
                          <a:solidFill>
                            <a:srgbClr val="102D69"/>
                          </a:solidFill>
                          <a:latin typeface="HSE Sans"/>
                          <a:ea typeface="HSE Sans"/>
                          <a:cs typeface="HSE Sans"/>
                        </a:rPr>
                        <a:t>4</a:t>
                      </a:r>
                    </a:p>
                  </a:txBody>
                  <a:tcPr anchor="ctr">
                    <a:solidFill>
                      <a:srgbClr val="EFF4FB"/>
                    </a:solidFill>
                  </a:tcPr>
                </a:tc>
                <a:tc>
                  <a:txBody>
                    <a:bodyPr/>
                    <a:lstStyle/>
                    <a:p>
                      <a:r>
                        <a:rPr sz="1950" b="0">
                          <a:solidFill>
                            <a:srgbClr val="102D69"/>
                          </a:solidFill>
                          <a:latin typeface="HSE Sans"/>
                          <a:ea typeface="HSE Sans"/>
                          <a:cs typeface="HSE Sans"/>
                        </a:rPr>
                        <a:t>3,395</a:t>
                      </a:r>
                    </a:p>
                  </a:txBody>
                  <a:tcPr anchor="ctr">
                    <a:solidFill>
                      <a:srgbClr val="EFF4FB"/>
                    </a:solidFill>
                  </a:tcPr>
                </a:tc>
                <a:tc>
                  <a:txBody>
                    <a:bodyPr/>
                    <a:lstStyle/>
                    <a:p>
                      <a:r>
                        <a:rPr sz="1950" b="0">
                          <a:solidFill>
                            <a:srgbClr val="102D69"/>
                          </a:solidFill>
                          <a:latin typeface="HSE Sans"/>
                          <a:ea typeface="HSE Sans"/>
                          <a:cs typeface="HSE Sans"/>
                        </a:rPr>
                        <a:t>-2,022</a:t>
                      </a:r>
                    </a:p>
                  </a:txBody>
                  <a:tcPr anchor="ctr">
                    <a:solidFill>
                      <a:srgbClr val="EFF4FB"/>
                    </a:solidFill>
                  </a:tcPr>
                </a:tc>
                <a:tc>
                  <a:txBody>
                    <a:bodyPr/>
                    <a:lstStyle/>
                    <a:p>
                      <a:r>
                        <a:rPr sz="1950" b="0">
                          <a:solidFill>
                            <a:srgbClr val="102D69"/>
                          </a:solidFill>
                          <a:latin typeface="HSE Sans"/>
                          <a:ea typeface="HSE Sans"/>
                          <a:cs typeface="HSE Sans"/>
                        </a:rPr>
                        <a:t>0,891</a:t>
                      </a:r>
                    </a:p>
                  </a:txBody>
                  <a:tcPr anchor="ctr">
                    <a:solidFill>
                      <a:srgbClr val="EFF4FB"/>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09846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Движение к минимуму</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3. Градиентный спуск</a:t>
            </a:r>
          </a:p>
        </p:txBody>
      </p:sp>
      <p:pic>
        <p:nvPicPr>
          <p:cNvPr id="16" name="Рисунок 15"/>
          <p:cNvPicPr>
            <a:picLocks noChangeAspect="1"/>
          </p:cNvPicPr>
          <p:nvPr/>
        </p:nvPicPr>
        <p:blipFill>
          <a:blip r:embed="rId3"/>
          <a:stretch/>
        </p:blipFill>
        <p:spPr>
          <a:xfrm>
            <a:off x="1145915" y="2381250"/>
            <a:ext cx="5909196" cy="3714750"/>
          </a:xfrm>
          <a:prstGeom prst="rect">
            <a:avLst/>
          </a:prstGeom>
        </p:spPr>
      </p:pic>
      <p:sp>
        <p:nvSpPr>
          <p:cNvPr id="8" name="l03-content-116">
            <a:extLst>
              <a:ext uri="{FF2B5EF4-FFF2-40B4-BE49-F238E27FC236}">
                <a16:creationId xmlns:a16="http://schemas.microsoft.com/office/drawing/2014/main" id="{3F53CEF9-A15A-43F2-85D4-22DA1682DF77}"/>
              </a:ext>
            </a:extLst>
          </p:cNvPr>
          <p:cNvSpPr>
            <a:spLocks noGrp="1"/>
          </p:cNvSpPr>
          <p:nvPr/>
        </p:nvSpPr>
        <p:spPr>
          <a:xfrm>
            <a:off x="7877175" y="2600325"/>
            <a:ext cx="3667125" cy="123825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Красные точки показывают</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последовательные положения</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веса.</a:t>
            </a:r>
          </a:p>
        </p:txBody>
      </p:sp>
      <p:sp>
        <p:nvSpPr>
          <p:cNvPr id="9" name="l03-content-117">
            <a:extLst>
              <a:ext uri="{FF2B5EF4-FFF2-40B4-BE49-F238E27FC236}">
                <a16:creationId xmlns:a16="http://schemas.microsoft.com/office/drawing/2014/main" id="{F6DBBB41-FA25-4897-A432-B41757797669}"/>
              </a:ext>
            </a:extLst>
          </p:cNvPr>
          <p:cNvSpPr>
            <a:spLocks noGrp="1"/>
          </p:cNvSpPr>
          <p:nvPr/>
        </p:nvSpPr>
        <p:spPr>
          <a:xfrm>
            <a:off x="7877175" y="4362450"/>
            <a:ext cx="3667125" cy="159067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Производная отрицательна.</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Увеличиваем вес и движемся</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к минимуму, отмеченному</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зелёным.</a:t>
            </a:r>
          </a:p>
        </p:txBody>
      </p:sp>
      <p:sp>
        <p:nvSpPr>
          <p:cNvPr id="10" name="l03-content-118">
            <a:extLst>
              <a:ext uri="{FF2B5EF4-FFF2-40B4-BE49-F238E27FC236}">
                <a16:creationId xmlns:a16="http://schemas.microsoft.com/office/drawing/2014/main" id="{E92979D1-08DF-4880-A1BB-CB0CB886536F}"/>
              </a:ext>
            </a:extLst>
          </p:cNvPr>
          <p:cNvSpPr>
            <a:spLocks noGrp="1"/>
          </p:cNvSpPr>
          <p:nvPr/>
        </p:nvSpPr>
        <p:spPr>
          <a:xfrm>
            <a:off x="590550" y="6162675"/>
            <a:ext cx="11029950" cy="4857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Для квадратичной ошибки МНК график по одному весу является параболой.</a:t>
            </a:r>
          </a:p>
        </p:txBody>
      </p:sp>
    </p:spTree>
    <p:extLst>
      <p:ext uri="{BB962C8B-B14F-4D97-AF65-F5344CB8AC3E}">
        <p14:creationId xmlns:p14="http://schemas.microsoft.com/office/powerpoint/2010/main" val="1409846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Слишком большой шаг</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3. Градиентный спуск</a:t>
            </a:r>
          </a:p>
        </p:txBody>
      </p:sp>
      <p:pic>
        <p:nvPicPr>
          <p:cNvPr id="15" name="Рисунок 14"/>
          <p:cNvPicPr>
            <a:picLocks noChangeAspect="1"/>
          </p:cNvPicPr>
          <p:nvPr/>
        </p:nvPicPr>
        <p:blipFill>
          <a:blip r:embed="rId3"/>
          <a:stretch/>
        </p:blipFill>
        <p:spPr>
          <a:xfrm>
            <a:off x="590550" y="2796382"/>
            <a:ext cx="7296150" cy="3008311"/>
          </a:xfrm>
          <a:prstGeom prst="rect">
            <a:avLst/>
          </a:prstGeom>
        </p:spPr>
      </p:pic>
      <p:sp>
        <p:nvSpPr>
          <p:cNvPr id="8" name="l03-content-119">
            <a:extLst>
              <a:ext uri="{FF2B5EF4-FFF2-40B4-BE49-F238E27FC236}">
                <a16:creationId xmlns:a16="http://schemas.microsoft.com/office/drawing/2014/main" id="{3E4E9C04-93C1-43DA-9282-969EAA35E5CA}"/>
              </a:ext>
            </a:extLst>
          </p:cNvPr>
          <p:cNvSpPr>
            <a:spLocks noGrp="1"/>
          </p:cNvSpPr>
          <p:nvPr/>
        </p:nvSpPr>
        <p:spPr>
          <a:xfrm>
            <a:off x="8143875" y="2743200"/>
            <a:ext cx="3400425" cy="109537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При большом η можно</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перескочить через минимум.</a:t>
            </a:r>
          </a:p>
        </p:txBody>
      </p:sp>
      <p:sp>
        <p:nvSpPr>
          <p:cNvPr id="9" name="l03-content-120">
            <a:extLst>
              <a:ext uri="{FF2B5EF4-FFF2-40B4-BE49-F238E27FC236}">
                <a16:creationId xmlns:a16="http://schemas.microsoft.com/office/drawing/2014/main" id="{8AB4E9DC-8D7D-4BC9-807D-6A9F79636E87}"/>
              </a:ext>
            </a:extLst>
          </p:cNvPr>
          <p:cNvSpPr>
            <a:spLocks noGrp="1"/>
          </p:cNvSpPr>
          <p:nvPr/>
        </p:nvSpPr>
        <p:spPr>
          <a:xfrm>
            <a:off x="8143875" y="4229100"/>
            <a:ext cx="3400425" cy="149542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В новой точке производная</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меняет знак. Следующий</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шаг ведёт в другую сторону.</a:t>
            </a:r>
          </a:p>
        </p:txBody>
      </p:sp>
    </p:spTree>
    <p:extLst>
      <p:ext uri="{BB962C8B-B14F-4D97-AF65-F5344CB8AC3E}">
        <p14:creationId xmlns:p14="http://schemas.microsoft.com/office/powerpoint/2010/main" val="1409846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Масштабирование помогает оптимизации</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3. Градиентный спуск</a:t>
            </a:r>
          </a:p>
        </p:txBody>
      </p:sp>
      <p:graphicFrame>
        <p:nvGraphicFramePr>
          <p:cNvPr id="17" name="Chart"/>
          <p:cNvGraphicFramePr/>
          <p:nvPr/>
        </p:nvGraphicFramePr>
        <p:xfrm>
          <a:off x="1352550" y="2667000"/>
          <a:ext cx="3333750" cy="3228975"/>
        </p:xfrm>
        <a:graphic>
          <a:graphicData uri="http://schemas.openxmlformats.org/drawingml/2006/chart">
            <c:chart xmlns:c="http://schemas.openxmlformats.org/drawingml/2006/chart" xmlns:r="http://schemas.openxmlformats.org/officeDocument/2006/relationships" r:id="rId3"/>
          </a:graphicData>
        </a:graphic>
      </p:graphicFrame>
      <p:sp>
        <p:nvSpPr>
          <p:cNvPr id="8" name="l03-content-121">
            <a:extLst>
              <a:ext uri="{FF2B5EF4-FFF2-40B4-BE49-F238E27FC236}">
                <a16:creationId xmlns:a16="http://schemas.microsoft.com/office/drawing/2014/main" id="{85DCF773-8300-4C62-BAC7-52BEE6E20325}"/>
              </a:ext>
            </a:extLst>
          </p:cNvPr>
          <p:cNvSpPr>
            <a:spLocks noGrp="1"/>
          </p:cNvSpPr>
          <p:nvPr/>
        </p:nvSpPr>
        <p:spPr>
          <a:xfrm>
            <a:off x="590550" y="2314575"/>
            <a:ext cx="5286375" cy="457200"/>
          </a:xfrm>
          <a:prstGeom prst="rect">
            <a:avLst/>
          </a:prstGeom>
          <a:noFill/>
          <a:ln w="0">
            <a:noFill/>
          </a:ln>
        </p:spPr>
        <p:txBody>
          <a:bodyPr wrap="square" lIns="0" tIns="0" rIns="0" bIns="0" anchor="t">
            <a:noAutofit/>
          </a:bodyPr>
          <a:lstStyle/>
          <a:p>
            <a:pPr algn="l">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Разный масштаб</a:t>
            </a:r>
          </a:p>
        </p:txBody>
      </p:sp>
      <p:graphicFrame>
        <p:nvGraphicFramePr>
          <p:cNvPr id="19" name="Chart"/>
          <p:cNvGraphicFramePr/>
          <p:nvPr/>
        </p:nvGraphicFramePr>
        <p:xfrm>
          <a:off x="7115175" y="2667000"/>
          <a:ext cx="3333750" cy="3228975"/>
        </p:xfrm>
        <a:graphic>
          <a:graphicData uri="http://schemas.openxmlformats.org/drawingml/2006/chart">
            <c:chart xmlns:c="http://schemas.openxmlformats.org/drawingml/2006/chart" xmlns:r="http://schemas.openxmlformats.org/officeDocument/2006/relationships" r:id="rId4"/>
          </a:graphicData>
        </a:graphic>
      </p:graphicFrame>
      <p:sp>
        <p:nvSpPr>
          <p:cNvPr id="10" name="l03-content-122">
            <a:extLst>
              <a:ext uri="{FF2B5EF4-FFF2-40B4-BE49-F238E27FC236}">
                <a16:creationId xmlns:a16="http://schemas.microsoft.com/office/drawing/2014/main" id="{0E77B8C2-A797-4E36-BCC3-BD1370F2CFE1}"/>
              </a:ext>
            </a:extLst>
          </p:cNvPr>
          <p:cNvSpPr>
            <a:spLocks noGrp="1"/>
          </p:cNvSpPr>
          <p:nvPr/>
        </p:nvSpPr>
        <p:spPr>
          <a:xfrm>
            <a:off x="6353175" y="2314575"/>
            <a:ext cx="5286375" cy="457200"/>
          </a:xfrm>
          <a:prstGeom prst="rect">
            <a:avLst/>
          </a:prstGeom>
          <a:noFill/>
          <a:ln w="0">
            <a:noFill/>
          </a:ln>
        </p:spPr>
        <p:txBody>
          <a:bodyPr wrap="square" lIns="0" tIns="0" rIns="0" bIns="0" anchor="t">
            <a:noAutofit/>
          </a:bodyPr>
          <a:lstStyle/>
          <a:p>
            <a:pPr algn="l">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После масштабирования</a:t>
            </a:r>
          </a:p>
        </p:txBody>
      </p:sp>
      <p:sp>
        <p:nvSpPr>
          <p:cNvPr id="11" name="l03-content-123">
            <a:extLst>
              <a:ext uri="{FF2B5EF4-FFF2-40B4-BE49-F238E27FC236}">
                <a16:creationId xmlns:a16="http://schemas.microsoft.com/office/drawing/2014/main" id="{A4AE71A5-04F5-44CA-BC0C-CAFBBD34F377}"/>
              </a:ext>
            </a:extLst>
          </p:cNvPr>
          <p:cNvSpPr>
            <a:spLocks noGrp="1"/>
          </p:cNvSpPr>
          <p:nvPr/>
        </p:nvSpPr>
        <p:spPr>
          <a:xfrm>
            <a:off x="590550" y="5943600"/>
            <a:ext cx="11029950" cy="666750"/>
          </a:xfrm>
          <a:prstGeom prst="rect">
            <a:avLst/>
          </a:prstGeom>
          <a:noFill/>
          <a:ln w="0">
            <a:noFill/>
          </a:ln>
        </p:spPr>
        <p:txBody>
          <a:bodyPr wrap="square" lIns="0" tIns="0" rIns="0" bIns="0" anchor="t">
            <a:noAutofit/>
          </a:bodyPr>
          <a:lstStyle/>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Слева приходится уменьшать общий шаг из-за узкой «долины».</a:t>
            </a:r>
          </a:p>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Справа можно взять больший шаг и быстрее приблизиться к минимуму.</a:t>
            </a:r>
          </a:p>
        </p:txBody>
      </p:sp>
    </p:spTree>
    <p:extLst>
      <p:ext uri="{BB962C8B-B14F-4D97-AF65-F5344CB8AC3E}">
        <p14:creationId xmlns:p14="http://schemas.microsoft.com/office/powerpoint/2010/main" val="1409846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Остановка и проверка сходимости</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3. Градиентный спуск</a:t>
            </a:r>
          </a:p>
        </p:txBody>
      </p:sp>
      <p:graphicFrame>
        <p:nvGraphicFramePr>
          <p:cNvPr id="14" name="Таблица 13"/>
          <p:cNvGraphicFramePr/>
          <p:nvPr/>
        </p:nvGraphicFramePr>
        <p:xfrm>
          <a:off x="590550" y="2324100"/>
          <a:ext cx="11029950" cy="2828925"/>
        </p:xfrm>
        <a:graphic>
          <a:graphicData uri="http://schemas.openxmlformats.org/drawingml/2006/table">
            <a:tbl>
              <a:tblPr firstRow="1"/>
              <a:tblGrid>
                <a:gridCol w="4733925">
                  <a:extLst>
                    <a:ext uri="{9D8B030D-6E8A-4147-A177-3AD203B41FA5}">
                      <a16:colId xmlns:a16="http://schemas.microsoft.com/office/drawing/2014/main" val="20000"/>
                    </a:ext>
                  </a:extLst>
                </a:gridCol>
                <a:gridCol w="6296025">
                  <a:extLst>
                    <a:ext uri="{9D8B030D-6E8A-4147-A177-3AD203B41FA5}">
                      <a16:colId xmlns:a16="http://schemas.microsoft.com/office/drawing/2014/main" val="20001"/>
                    </a:ext>
                  </a:extLst>
                </a:gridCol>
              </a:tblGrid>
              <a:tr h="565785">
                <a:tc>
                  <a:txBody>
                    <a:bodyPr/>
                    <a:lstStyle/>
                    <a:p>
                      <a:r>
                        <a:rPr sz="1950" b="1">
                          <a:solidFill>
                            <a:srgbClr val="FFFFFF"/>
                          </a:solidFill>
                          <a:latin typeface="HSE Sans"/>
                          <a:ea typeface="HSE Sans"/>
                          <a:cs typeface="HSE Sans"/>
                        </a:rPr>
                        <a:t>Критерий остановки</a:t>
                      </a:r>
                    </a:p>
                  </a:txBody>
                  <a:tcPr anchor="ctr">
                    <a:solidFill>
                      <a:srgbClr val="102D69"/>
                    </a:solidFill>
                  </a:tcPr>
                </a:tc>
                <a:tc>
                  <a:txBody>
                    <a:bodyPr/>
                    <a:lstStyle/>
                    <a:p>
                      <a:r>
                        <a:rPr sz="1950" b="1">
                          <a:solidFill>
                            <a:srgbClr val="FFFFFF"/>
                          </a:solidFill>
                          <a:latin typeface="HSE Sans"/>
                          <a:ea typeface="HSE Sans"/>
                          <a:cs typeface="HSE Sans"/>
                        </a:rPr>
                        <a:t>Что проверяем</a:t>
                      </a:r>
                    </a:p>
                  </a:txBody>
                  <a:tcPr anchor="ctr">
                    <a:solidFill>
                      <a:srgbClr val="102D69"/>
                    </a:solidFill>
                  </a:tcPr>
                </a:tc>
                <a:extLst>
                  <a:ext uri="{0D108BD9-81ED-4DB2-BD59-A6C34878D82A}">
                    <a16:rowId xmlns:a16="http://schemas.microsoft.com/office/drawing/2014/main" val="10000"/>
                  </a:ext>
                </a:extLst>
              </a:tr>
              <a:tr h="565785">
                <a:tc>
                  <a:txBody>
                    <a:bodyPr/>
                    <a:lstStyle/>
                    <a:p>
                      <a:r>
                        <a:rPr sz="1950" b="0">
                          <a:solidFill>
                            <a:srgbClr val="102D69"/>
                          </a:solidFill>
                          <a:latin typeface="HSE Sans"/>
                          <a:ea typeface="HSE Sans"/>
                          <a:cs typeface="HSE Sans"/>
                        </a:rPr>
                        <a:t>Малый градиент</a:t>
                      </a:r>
                    </a:p>
                  </a:txBody>
                  <a:tcPr anchor="ctr">
                    <a:solidFill>
                      <a:srgbClr val="EFF4FB"/>
                    </a:solidFill>
                  </a:tcPr>
                </a:tc>
                <a:tc>
                  <a:txBody>
                    <a:bodyPr/>
                    <a:lstStyle/>
                    <a:p>
                      <a:r>
                        <a:rPr sz="1950" b="0">
                          <a:solidFill>
                            <a:srgbClr val="102D69"/>
                          </a:solidFill>
                          <a:latin typeface="HSE Sans"/>
                          <a:ea typeface="HSE Sans"/>
                          <a:cs typeface="HSE Sans"/>
                        </a:rPr>
                        <a:t>Насколько близки к стационарной точке</a:t>
                      </a:r>
                    </a:p>
                  </a:txBody>
                  <a:tcPr anchor="ctr">
                    <a:solidFill>
                      <a:srgbClr val="EFF4FB"/>
                    </a:solidFill>
                  </a:tcPr>
                </a:tc>
                <a:extLst>
                  <a:ext uri="{0D108BD9-81ED-4DB2-BD59-A6C34878D82A}">
                    <a16:rowId xmlns:a16="http://schemas.microsoft.com/office/drawing/2014/main" val="10001"/>
                  </a:ext>
                </a:extLst>
              </a:tr>
              <a:tr h="565785">
                <a:tc>
                  <a:txBody>
                    <a:bodyPr/>
                    <a:lstStyle/>
                    <a:p>
                      <a:r>
                        <a:rPr sz="1950" b="0">
                          <a:solidFill>
                            <a:srgbClr val="102D69"/>
                          </a:solidFill>
                          <a:latin typeface="HSE Sans"/>
                          <a:ea typeface="HSE Sans"/>
                          <a:cs typeface="HSE Sans"/>
                        </a:rPr>
                        <a:t>Малое изменение весов или J</a:t>
                      </a:r>
                    </a:p>
                  </a:txBody>
                  <a:tcPr anchor="ctr">
                    <a:solidFill>
                      <a:srgbClr val="FFFFFF"/>
                    </a:solidFill>
                  </a:tcPr>
                </a:tc>
                <a:tc>
                  <a:txBody>
                    <a:bodyPr/>
                    <a:lstStyle/>
                    <a:p>
                      <a:r>
                        <a:rPr sz="1950" b="0">
                          <a:solidFill>
                            <a:srgbClr val="102D69"/>
                          </a:solidFill>
                          <a:latin typeface="HSE Sans"/>
                          <a:ea typeface="HSE Sans"/>
                          <a:cs typeface="HSE Sans"/>
                        </a:rPr>
                        <a:t>Есть ли заметный прогресс между итерациями</a:t>
                      </a:r>
                    </a:p>
                  </a:txBody>
                  <a:tcPr anchor="ctr">
                    <a:solidFill>
                      <a:srgbClr val="FFFFFF"/>
                    </a:solidFill>
                  </a:tcPr>
                </a:tc>
                <a:extLst>
                  <a:ext uri="{0D108BD9-81ED-4DB2-BD59-A6C34878D82A}">
                    <a16:rowId xmlns:a16="http://schemas.microsoft.com/office/drawing/2014/main" val="10002"/>
                  </a:ext>
                </a:extLst>
              </a:tr>
              <a:tr h="565785">
                <a:tc>
                  <a:txBody>
                    <a:bodyPr/>
                    <a:lstStyle/>
                    <a:p>
                      <a:r>
                        <a:rPr sz="1950" b="0">
                          <a:solidFill>
                            <a:srgbClr val="102D69"/>
                          </a:solidFill>
                          <a:latin typeface="HSE Sans"/>
                          <a:ea typeface="HSE Sans"/>
                          <a:cs typeface="HSE Sans"/>
                        </a:rPr>
                        <a:t>Лимит итераций</a:t>
                      </a:r>
                    </a:p>
                  </a:txBody>
                  <a:tcPr anchor="ctr">
                    <a:solidFill>
                      <a:srgbClr val="EFF4FB"/>
                    </a:solidFill>
                  </a:tcPr>
                </a:tc>
                <a:tc>
                  <a:txBody>
                    <a:bodyPr/>
                    <a:lstStyle/>
                    <a:p>
                      <a:r>
                        <a:rPr sz="1950" b="0">
                          <a:solidFill>
                            <a:srgbClr val="102D69"/>
                          </a:solidFill>
                          <a:latin typeface="HSE Sans"/>
                          <a:ea typeface="HSE Sans"/>
                          <a:cs typeface="HSE Sans"/>
                        </a:rPr>
                        <a:t>Не исчерпан ли вычислительный бюджет</a:t>
                      </a:r>
                    </a:p>
                  </a:txBody>
                  <a:tcPr anchor="ctr">
                    <a:solidFill>
                      <a:srgbClr val="EFF4FB"/>
                    </a:solidFill>
                  </a:tcPr>
                </a:tc>
                <a:extLst>
                  <a:ext uri="{0D108BD9-81ED-4DB2-BD59-A6C34878D82A}">
                    <a16:rowId xmlns:a16="http://schemas.microsoft.com/office/drawing/2014/main" val="10003"/>
                  </a:ext>
                </a:extLst>
              </a:tr>
              <a:tr h="565785">
                <a:tc>
                  <a:txBody>
                    <a:bodyPr/>
                    <a:lstStyle/>
                    <a:p>
                      <a:r>
                        <a:rPr sz="1950" b="0">
                          <a:solidFill>
                            <a:srgbClr val="102D69"/>
                          </a:solidFill>
                          <a:latin typeface="HSE Sans"/>
                          <a:ea typeface="HSE Sans"/>
                          <a:cs typeface="HSE Sans"/>
                        </a:rPr>
                        <a:t>Ранняя остановка по валидации</a:t>
                      </a:r>
                    </a:p>
                  </a:txBody>
                  <a:tcPr anchor="ctr">
                    <a:solidFill>
                      <a:srgbClr val="FFFFFF"/>
                    </a:solidFill>
                  </a:tcPr>
                </a:tc>
                <a:tc>
                  <a:txBody>
                    <a:bodyPr/>
                    <a:lstStyle/>
                    <a:p>
                      <a:r>
                        <a:rPr sz="1950" b="0">
                          <a:solidFill>
                            <a:srgbClr val="102D69"/>
                          </a:solidFill>
                          <a:latin typeface="HSE Sans"/>
                          <a:ea typeface="HSE Sans"/>
                          <a:cs typeface="HSE Sans"/>
                        </a:rPr>
                        <a:t>Не ухудшается ли качество на новых данных</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8" name="l03-content-124">
            <a:extLst>
              <a:ext uri="{FF2B5EF4-FFF2-40B4-BE49-F238E27FC236}">
                <a16:creationId xmlns:a16="http://schemas.microsoft.com/office/drawing/2014/main" id="{D28E8267-F9D5-4D81-8F21-3B460F900019}"/>
              </a:ext>
            </a:extLst>
          </p:cNvPr>
          <p:cNvSpPr>
            <a:spLocks noGrp="1"/>
          </p:cNvSpPr>
          <p:nvPr/>
        </p:nvSpPr>
        <p:spPr>
          <a:xfrm>
            <a:off x="590550" y="5372100"/>
            <a:ext cx="11029950" cy="8286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Для МНК нет плохих локальных минимумов: любой минимум даёт наименьшую ошибку.</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Если признаки не выражаются друг через друга, оптимальные веса единственны.</a:t>
            </a:r>
          </a:p>
        </p:txBody>
      </p:sp>
    </p:spTree>
    <p:extLst>
      <p:ext uri="{BB962C8B-B14F-4D97-AF65-F5344CB8AC3E}">
        <p14:creationId xmlns:p14="http://schemas.microsoft.com/office/powerpoint/2010/main" val="1409846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SGD и mini-batch</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4. SGD и mini-batch</a:t>
            </a:r>
          </a:p>
        </p:txBody>
      </p:sp>
      <p:sp>
        <p:nvSpPr>
          <p:cNvPr id="7" name="l03-content-125">
            <a:extLst>
              <a:ext uri="{FF2B5EF4-FFF2-40B4-BE49-F238E27FC236}">
                <a16:creationId xmlns:a16="http://schemas.microsoft.com/office/drawing/2014/main" id="{C39CE5B6-2D50-405C-88EC-66B6032EDBA7}"/>
              </a:ext>
            </a:extLst>
          </p:cNvPr>
          <p:cNvSpPr>
            <a:spLocks noGrp="1"/>
          </p:cNvSpPr>
          <p:nvPr/>
        </p:nvSpPr>
        <p:spPr>
          <a:xfrm>
            <a:off x="590550" y="2714625"/>
            <a:ext cx="1428750" cy="1047750"/>
          </a:xfrm>
          <a:prstGeom prst="rect">
            <a:avLst/>
          </a:prstGeom>
          <a:noFill/>
          <a:ln w="0">
            <a:noFill/>
          </a:ln>
        </p:spPr>
        <p:txBody>
          <a:bodyPr wrap="square" lIns="0" tIns="0" rIns="0" bIns="0" anchor="t">
            <a:noAutofit/>
          </a:bodyPr>
          <a:lstStyle/>
          <a:p>
            <a:pPr algn="l">
              <a:lnSpc>
                <a:spcPct val="112000"/>
              </a:lnSpc>
              <a:buNone/>
              <a:defRPr sz="5400" b="1">
                <a:solidFill>
                  <a:srgbClr val="234A9B"/>
                </a:solidFill>
                <a:latin typeface="HSE Sans"/>
                <a:ea typeface="HSE Sans"/>
                <a:cs typeface="HSE Sans"/>
              </a:defRPr>
            </a:pPr>
            <a:r>
              <a:rPr sz="5400" b="1">
                <a:solidFill>
                  <a:srgbClr val="234A9B"/>
                </a:solidFill>
                <a:latin typeface="HSE Sans"/>
                <a:ea typeface="HSE Sans"/>
                <a:cs typeface="HSE Sans"/>
              </a:rPr>
              <a:t>04</a:t>
            </a:r>
          </a:p>
        </p:txBody>
      </p:sp>
      <p:sp>
        <p:nvSpPr>
          <p:cNvPr id="8" name="l03-content-126">
            <a:extLst>
              <a:ext uri="{FF2B5EF4-FFF2-40B4-BE49-F238E27FC236}">
                <a16:creationId xmlns:a16="http://schemas.microsoft.com/office/drawing/2014/main" id="{49942666-9D39-4319-885E-AE60EBF59E85}"/>
              </a:ext>
            </a:extLst>
          </p:cNvPr>
          <p:cNvSpPr>
            <a:spLocks noGrp="1"/>
          </p:cNvSpPr>
          <p:nvPr/>
        </p:nvSpPr>
        <p:spPr>
          <a:xfrm>
            <a:off x="2333625" y="2781300"/>
            <a:ext cx="9048750" cy="2190750"/>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Градиент по одному объекту и по порции</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Итерации и эпохи</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Шум и длина шага</a:t>
            </a:r>
          </a:p>
        </p:txBody>
      </p:sp>
    </p:spTree>
    <p:extLst>
      <p:ext uri="{BB962C8B-B14F-4D97-AF65-F5344CB8AC3E}">
        <p14:creationId xmlns:p14="http://schemas.microsoft.com/office/powerpoint/2010/main" val="1409846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Полный градиент усредняет вклады объектов</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4. SGD и mini-batch</a:t>
            </a:r>
          </a:p>
        </p:txBody>
      </p:sp>
      <mc:AlternateContent xmlns:mc="http://schemas.openxmlformats.org/markup-compatibility/2006">
        <mc:Choice xmlns:a14="http://schemas.microsoft.com/office/drawing/2010/main" Requires="a14">
          <p:sp>
            <p:nvSpPr>
              <p:cNvPr id="7" name="l03-content-127">
                <a:extLst>
                  <a:ext uri="{FF2B5EF4-FFF2-40B4-BE49-F238E27FC236}">
                    <a16:creationId xmlns:a16="http://schemas.microsoft.com/office/drawing/2014/main" id="{C99EAC9A-D832-4439-8094-952A275B35E6}"/>
                  </a:ext>
                </a:extLst>
              </p:cNvPr>
              <p:cNvSpPr>
                <a:spLocks noGrp="1"/>
              </p:cNvSpPr>
              <p:nvPr/>
            </p:nvSpPr>
            <p:spPr>
              <a:xfrm>
                <a:off x="590550" y="2238375"/>
                <a:ext cx="11029950" cy="1114425"/>
              </a:xfrm>
              <a:prstGeom prst="rect">
                <a:avLst/>
              </a:prstGeom>
              <a:noFill/>
              <a:ln w="0">
                <a:noFill/>
              </a:ln>
            </p:spPr>
            <p:txBody>
              <a:bodyPr wrap="square" lIns="0" tIns="0" rIns="0" bIns="0" anchor="t">
                <a:noAutofit/>
              </a:bodyPr>
              <a:lstStyle/>
              <a:p>
                <a:pPr algn="ctr">
                  <a:defRPr sz="2625"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𝑄</m:t>
                      </m:r>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1</m:t>
                          </m:r>
                        </m:num>
                        <m:den>
                          <m:r>
                            <m:rPr>
                              <m:sty m:val="p"/>
                            </m:rPr>
                            <a:rPr>
                              <a:latin typeface="Cambria Math" panose="02040503050406030204" pitchFamily="18" charset="0"/>
                            </a:rPr>
                            <m:t>ℓ</m:t>
                          </m:r>
                        </m:den>
                      </m:f>
                      <m:nary>
                        <m:naryPr>
                          <m:chr m:val="∑"/>
                          <m:limLoc m:val="subSup"/>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m:rPr>
                              <m:sty m:val="p"/>
                            </m:rPr>
                            <a:rPr>
                              <a:latin typeface="Cambria Math" panose="02040503050406030204" pitchFamily="18" charset="0"/>
                            </a:rPr>
                            <m:t>ℓ</m:t>
                          </m:r>
                        </m:sup>
                        <m:e>
                          <m:sSub>
                            <m:sSubPr>
                              <m:ctrlPr>
                                <a:rPr>
                                  <a:latin typeface="Cambria Math" panose="02040503050406030204" pitchFamily="18" charset="0"/>
                                </a:rPr>
                              </m:ctrlPr>
                            </m:sSubPr>
                            <m:e>
                              <m:r>
                                <a:rPr>
                                  <a:latin typeface="Cambria Math" panose="02040503050406030204" pitchFamily="18" charset="0"/>
                                </a:rPr>
                                <m:t>𝑞</m:t>
                              </m:r>
                            </m:e>
                            <m:sub>
                              <m:r>
                                <a:rPr>
                                  <a:latin typeface="Cambria Math" panose="02040503050406030204" pitchFamily="18" charset="0"/>
                                </a:rPr>
                                <m:t>𝑖</m:t>
                              </m:r>
                            </m:sub>
                          </m:sSub>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r>
                            <a:rPr>
                              <a:latin typeface="Cambria Math" panose="02040503050406030204" pitchFamily="18" charset="0"/>
                            </a:rPr>
                            <m:t>𝛻</m:t>
                          </m:r>
                          <m:r>
                            <a:rPr>
                              <a:latin typeface="Cambria Math" panose="02040503050406030204" pitchFamily="18" charset="0"/>
                            </a:rPr>
                            <m:t>𝑄</m:t>
                          </m:r>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e>
                      </m:nary>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1</m:t>
                          </m:r>
                        </m:num>
                        <m:den>
                          <m:r>
                            <m:rPr>
                              <m:sty m:val="p"/>
                            </m:rPr>
                            <a:rPr>
                              <a:latin typeface="Cambria Math" panose="02040503050406030204" pitchFamily="18" charset="0"/>
                            </a:rPr>
                            <m:t>ℓ</m:t>
                          </m:r>
                        </m:den>
                      </m:f>
                      <m:nary>
                        <m:naryPr>
                          <m:chr m:val="∑"/>
                          <m:limLoc m:val="subSup"/>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m:rPr>
                              <m:sty m:val="p"/>
                            </m:rPr>
                            <a:rPr>
                              <a:latin typeface="Cambria Math" panose="02040503050406030204" pitchFamily="18" charset="0"/>
                            </a:rPr>
                            <m:t>ℓ</m:t>
                          </m:r>
                        </m:sup>
                        <m:e>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𝑞</m:t>
                              </m:r>
                            </m:e>
                            <m:sub>
                              <m:r>
                                <a:rPr>
                                  <a:latin typeface="Cambria Math" panose="02040503050406030204" pitchFamily="18" charset="0"/>
                                </a:rPr>
                                <m:t>𝑖</m:t>
                              </m:r>
                            </m:sub>
                          </m:sSub>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e>
                      </m:nary>
                    </m:oMath>
                  </m:oMathPara>
                </a14:m>
                <a:endParaRPr/>
              </a:p>
            </p:txBody>
          </p:sp>
        </mc:Choice>
        <mc:Fallback>
          <p:sp>
            <p:nvSpPr>
              <p:cNvPr id="7" name="l03-content-127">
                <a:extLst>
                  <a:ext uri="{FF2B5EF4-FFF2-40B4-BE49-F238E27FC236}">
                    <a16:creationId xmlns:a16="http://schemas.microsoft.com/office/drawing/2014/main" id="{C99EAC9A-D832-4439-8094-952A275B35E6}"/>
                  </a:ext>
                </a:extLst>
              </p:cNvPr>
              <p:cNvSpPr>
                <a:spLocks noGrp="1" noRot="1" noChangeAspect="1" noMove="1" noResize="1" noEditPoints="1" noAdjustHandles="1" noChangeArrowheads="1" noChangeShapeType="1" noTextEdit="1"/>
              </p:cNvSpPr>
              <p:nvPr/>
            </p:nvSpPr>
            <p:spPr>
              <a:xfrm>
                <a:off x="590550" y="2238375"/>
                <a:ext cx="11029950" cy="1114425"/>
              </a:xfrm>
              <a:prstGeom prst="rect">
                <a:avLst/>
              </a:prstGeom>
              <a:blipFill>
                <a:blip r:embed="rId3"/>
                <a:stretch>
                  <a:fillRect t="-129545" b="-170455"/>
                </a:stretch>
              </a:blipFill>
              <a:ln w="0">
                <a:noFill/>
              </a:ln>
            </p:spPr>
            <p:txBody>
              <a:bodyPr/>
              <a:lstStyle/>
              <a:p>
                <a:r>
                  <a:rPr lang="ru-RU">
                    <a:noFill/>
                  </a:rPr>
                  <a:t> </a:t>
                </a:r>
              </a:p>
            </p:txBody>
          </p:sp>
        </mc:Fallback>
      </mc:AlternateContent>
      <p:sp>
        <p:nvSpPr>
          <p:cNvPr id="8" name="l03-content-128">
            <a:extLst>
              <a:ext uri="{FF2B5EF4-FFF2-40B4-BE49-F238E27FC236}">
                <a16:creationId xmlns:a16="http://schemas.microsoft.com/office/drawing/2014/main" id="{48649C4E-AB96-4304-9911-F36C3405A69D}"/>
              </a:ext>
            </a:extLst>
          </p:cNvPr>
          <p:cNvSpPr>
            <a:spLocks noGrp="1"/>
          </p:cNvSpPr>
          <p:nvPr/>
        </p:nvSpPr>
        <p:spPr>
          <a:xfrm>
            <a:off x="590550" y="3609975"/>
            <a:ext cx="11029950" cy="63817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Для одного веса qᵢ(w) = (25 + wzᵢ − yᵢ)². При w = 0:</a:t>
            </a:r>
          </a:p>
        </p:txBody>
      </p:sp>
      <p:graphicFrame>
        <p:nvGraphicFramePr>
          <p:cNvPr id="18" name="Таблица 17"/>
          <p:cNvGraphicFramePr/>
          <p:nvPr/>
        </p:nvGraphicFramePr>
        <p:xfrm>
          <a:off x="590550" y="4486275"/>
          <a:ext cx="11029950" cy="1057276"/>
        </p:xfrm>
        <a:graphic>
          <a:graphicData uri="http://schemas.openxmlformats.org/drawingml/2006/table">
            <a:tbl>
              <a:tblPr firstRow="1"/>
              <a:tblGrid>
                <a:gridCol w="3219450">
                  <a:extLst>
                    <a:ext uri="{9D8B030D-6E8A-4147-A177-3AD203B41FA5}">
                      <a16:colId xmlns:a16="http://schemas.microsoft.com/office/drawing/2014/main" val="20000"/>
                    </a:ext>
                  </a:extLst>
                </a:gridCol>
                <a:gridCol w="1562100">
                  <a:extLst>
                    <a:ext uri="{9D8B030D-6E8A-4147-A177-3AD203B41FA5}">
                      <a16:colId xmlns:a16="http://schemas.microsoft.com/office/drawing/2014/main" val="20001"/>
                    </a:ext>
                  </a:extLst>
                </a:gridCol>
                <a:gridCol w="1562100">
                  <a:extLst>
                    <a:ext uri="{9D8B030D-6E8A-4147-A177-3AD203B41FA5}">
                      <a16:colId xmlns:a16="http://schemas.microsoft.com/office/drawing/2014/main" val="20002"/>
                    </a:ext>
                  </a:extLst>
                </a:gridCol>
                <a:gridCol w="1562100">
                  <a:extLst>
                    <a:ext uri="{9D8B030D-6E8A-4147-A177-3AD203B41FA5}">
                      <a16:colId xmlns:a16="http://schemas.microsoft.com/office/drawing/2014/main" val="20003"/>
                    </a:ext>
                  </a:extLst>
                </a:gridCol>
                <a:gridCol w="1562100">
                  <a:extLst>
                    <a:ext uri="{9D8B030D-6E8A-4147-A177-3AD203B41FA5}">
                      <a16:colId xmlns:a16="http://schemas.microsoft.com/office/drawing/2014/main" val="20004"/>
                    </a:ext>
                  </a:extLst>
                </a:gridCol>
                <a:gridCol w="1562100">
                  <a:extLst>
                    <a:ext uri="{9D8B030D-6E8A-4147-A177-3AD203B41FA5}">
                      <a16:colId xmlns:a16="http://schemas.microsoft.com/office/drawing/2014/main" val="20005"/>
                    </a:ext>
                  </a:extLst>
                </a:gridCol>
              </a:tblGrid>
              <a:tr h="528638">
                <a:tc>
                  <a:txBody>
                    <a:bodyPr/>
                    <a:lstStyle/>
                    <a:p>
                      <a:r>
                        <a:rPr sz="2025" b="1">
                          <a:solidFill>
                            <a:srgbClr val="FFFFFF"/>
                          </a:solidFill>
                          <a:latin typeface="HSE Sans"/>
                          <a:ea typeface="HSE Sans"/>
                          <a:cs typeface="HSE Sans"/>
                        </a:rPr>
                        <a:t>Объект i</a:t>
                      </a:r>
                    </a:p>
                  </a:txBody>
                  <a:tcPr anchor="ctr">
                    <a:solidFill>
                      <a:srgbClr val="102D69"/>
                    </a:solidFill>
                  </a:tcPr>
                </a:tc>
                <a:tc>
                  <a:txBody>
                    <a:bodyPr/>
                    <a:lstStyle/>
                    <a:p>
                      <a:r>
                        <a:rPr sz="2025" b="1">
                          <a:solidFill>
                            <a:srgbClr val="FFFFFF"/>
                          </a:solidFill>
                          <a:latin typeface="HSE Sans"/>
                          <a:ea typeface="HSE Sans"/>
                          <a:cs typeface="HSE Sans"/>
                        </a:rPr>
                        <a:t>1</a:t>
                      </a:r>
                    </a:p>
                  </a:txBody>
                  <a:tcPr anchor="ctr">
                    <a:solidFill>
                      <a:srgbClr val="102D69"/>
                    </a:solidFill>
                  </a:tcPr>
                </a:tc>
                <a:tc>
                  <a:txBody>
                    <a:bodyPr/>
                    <a:lstStyle/>
                    <a:p>
                      <a:r>
                        <a:rPr sz="2025" b="1">
                          <a:solidFill>
                            <a:srgbClr val="FFFFFF"/>
                          </a:solidFill>
                          <a:latin typeface="HSE Sans"/>
                          <a:ea typeface="HSE Sans"/>
                          <a:cs typeface="HSE Sans"/>
                        </a:rPr>
                        <a:t>2</a:t>
                      </a:r>
                    </a:p>
                  </a:txBody>
                  <a:tcPr anchor="ctr">
                    <a:solidFill>
                      <a:srgbClr val="102D69"/>
                    </a:solidFill>
                  </a:tcPr>
                </a:tc>
                <a:tc>
                  <a:txBody>
                    <a:bodyPr/>
                    <a:lstStyle/>
                    <a:p>
                      <a:r>
                        <a:rPr sz="2025" b="1">
                          <a:solidFill>
                            <a:srgbClr val="FFFFFF"/>
                          </a:solidFill>
                          <a:latin typeface="HSE Sans"/>
                          <a:ea typeface="HSE Sans"/>
                          <a:cs typeface="HSE Sans"/>
                        </a:rPr>
                        <a:t>3</a:t>
                      </a:r>
                    </a:p>
                  </a:txBody>
                  <a:tcPr anchor="ctr">
                    <a:solidFill>
                      <a:srgbClr val="102D69"/>
                    </a:solidFill>
                  </a:tcPr>
                </a:tc>
                <a:tc>
                  <a:txBody>
                    <a:bodyPr/>
                    <a:lstStyle/>
                    <a:p>
                      <a:r>
                        <a:rPr sz="2025" b="1">
                          <a:solidFill>
                            <a:srgbClr val="FFFFFF"/>
                          </a:solidFill>
                          <a:latin typeface="HSE Sans"/>
                          <a:ea typeface="HSE Sans"/>
                          <a:cs typeface="HSE Sans"/>
                        </a:rPr>
                        <a:t>4</a:t>
                      </a:r>
                    </a:p>
                  </a:txBody>
                  <a:tcPr anchor="ctr">
                    <a:solidFill>
                      <a:srgbClr val="102D69"/>
                    </a:solidFill>
                  </a:tcPr>
                </a:tc>
                <a:tc>
                  <a:txBody>
                    <a:bodyPr/>
                    <a:lstStyle/>
                    <a:p>
                      <a:r>
                        <a:rPr sz="2025" b="1">
                          <a:solidFill>
                            <a:srgbClr val="FFFFFF"/>
                          </a:solidFill>
                          <a:latin typeface="HSE Sans"/>
                          <a:ea typeface="HSE Sans"/>
                          <a:cs typeface="HSE Sans"/>
                        </a:rPr>
                        <a:t>5</a:t>
                      </a:r>
                    </a:p>
                  </a:txBody>
                  <a:tcPr anchor="ctr">
                    <a:solidFill>
                      <a:srgbClr val="102D69"/>
                    </a:solidFill>
                  </a:tcPr>
                </a:tc>
                <a:extLst>
                  <a:ext uri="{0D108BD9-81ED-4DB2-BD59-A6C34878D82A}">
                    <a16:rowId xmlns:a16="http://schemas.microsoft.com/office/drawing/2014/main" val="10000"/>
                  </a:ext>
                </a:extLst>
              </a:tr>
              <a:tr h="528638">
                <a:tc>
                  <a:txBody>
                    <a:bodyPr/>
                    <a:lstStyle/>
                    <a:p>
                      <a:r>
                        <a:rPr sz="2025" b="0">
                          <a:solidFill>
                            <a:srgbClr val="102D69"/>
                          </a:solidFill>
                          <a:latin typeface="HSE Sans"/>
                          <a:ea typeface="HSE Sans"/>
                          <a:cs typeface="HSE Sans"/>
                        </a:rPr>
                        <a:t>Градиент qᵢ′</a:t>
                      </a:r>
                    </a:p>
                  </a:txBody>
                  <a:tcPr anchor="ctr">
                    <a:solidFill>
                      <a:srgbClr val="EFF4FB"/>
                    </a:solidFill>
                  </a:tcPr>
                </a:tc>
                <a:tc>
                  <a:txBody>
                    <a:bodyPr/>
                    <a:lstStyle/>
                    <a:p>
                      <a:r>
                        <a:rPr sz="2025" b="0">
                          <a:solidFill>
                            <a:srgbClr val="102D69"/>
                          </a:solidFill>
                          <a:latin typeface="HSE Sans"/>
                          <a:ea typeface="HSE Sans"/>
                          <a:cs typeface="HSE Sans"/>
                        </a:rPr>
                        <a:t>−28</a:t>
                      </a:r>
                    </a:p>
                  </a:txBody>
                  <a:tcPr anchor="ctr">
                    <a:solidFill>
                      <a:srgbClr val="EFF4FB"/>
                    </a:solidFill>
                  </a:tcPr>
                </a:tc>
                <a:tc>
                  <a:txBody>
                    <a:bodyPr/>
                    <a:lstStyle/>
                    <a:p>
                      <a:r>
                        <a:rPr sz="2025" b="0">
                          <a:solidFill>
                            <a:srgbClr val="102D69"/>
                          </a:solidFill>
                          <a:latin typeface="HSE Sans"/>
                          <a:ea typeface="HSE Sans"/>
                          <a:cs typeface="HSE Sans"/>
                        </a:rPr>
                        <a:t>−10</a:t>
                      </a:r>
                    </a:p>
                  </a:txBody>
                  <a:tcPr anchor="ctr">
                    <a:solidFill>
                      <a:srgbClr val="EFF4FB"/>
                    </a:solidFill>
                  </a:tcPr>
                </a:tc>
                <a:tc>
                  <a:txBody>
                    <a:bodyPr/>
                    <a:lstStyle/>
                    <a:p>
                      <a:r>
                        <a:rPr sz="2025" b="0">
                          <a:solidFill>
                            <a:srgbClr val="102D69"/>
                          </a:solidFill>
                          <a:latin typeface="HSE Sans"/>
                          <a:ea typeface="HSE Sans"/>
                          <a:cs typeface="HSE Sans"/>
                        </a:rPr>
                        <a:t>0</a:t>
                      </a:r>
                    </a:p>
                  </a:txBody>
                  <a:tcPr anchor="ctr">
                    <a:solidFill>
                      <a:srgbClr val="EFF4FB"/>
                    </a:solidFill>
                  </a:tcPr>
                </a:tc>
                <a:tc>
                  <a:txBody>
                    <a:bodyPr/>
                    <a:lstStyle/>
                    <a:p>
                      <a:r>
                        <a:rPr sz="2025" b="0">
                          <a:solidFill>
                            <a:srgbClr val="102D69"/>
                          </a:solidFill>
                          <a:latin typeface="HSE Sans"/>
                          <a:ea typeface="HSE Sans"/>
                          <a:cs typeface="HSE Sans"/>
                        </a:rPr>
                        <a:t>−8</a:t>
                      </a:r>
                    </a:p>
                  </a:txBody>
                  <a:tcPr anchor="ctr">
                    <a:solidFill>
                      <a:srgbClr val="EFF4FB"/>
                    </a:solidFill>
                  </a:tcPr>
                </a:tc>
                <a:tc>
                  <a:txBody>
                    <a:bodyPr/>
                    <a:lstStyle/>
                    <a:p>
                      <a:r>
                        <a:rPr sz="2025" b="0">
                          <a:solidFill>
                            <a:srgbClr val="102D69"/>
                          </a:solidFill>
                          <a:latin typeface="HSE Sans"/>
                          <a:ea typeface="HSE Sans"/>
                          <a:cs typeface="HSE Sans"/>
                        </a:rPr>
                        <a:t>−32</a:t>
                      </a:r>
                    </a:p>
                  </a:txBody>
                  <a:tcPr anchor="ctr">
                    <a:solidFill>
                      <a:srgbClr val="EFF4FB"/>
                    </a:solidFill>
                  </a:tcPr>
                </a:tc>
                <a:extLst>
                  <a:ext uri="{0D108BD9-81ED-4DB2-BD59-A6C34878D82A}">
                    <a16:rowId xmlns:a16="http://schemas.microsoft.com/office/drawing/2014/main" val="10001"/>
                  </a:ext>
                </a:extLst>
              </a:tr>
            </a:tbl>
          </a:graphicData>
        </a:graphic>
      </p:graphicFrame>
      <mc:AlternateContent xmlns:mc="http://schemas.openxmlformats.org/markup-compatibility/2006">
        <mc:Choice xmlns:a14="http://schemas.microsoft.com/office/drawing/2010/main" Requires="a14">
          <p:sp>
            <p:nvSpPr>
              <p:cNvPr id="10" name="l03-content-129">
                <a:extLst>
                  <a:ext uri="{FF2B5EF4-FFF2-40B4-BE49-F238E27FC236}">
                    <a16:creationId xmlns:a16="http://schemas.microsoft.com/office/drawing/2014/main" id="{BE5D675A-62F1-4609-8486-0694176A78BC}"/>
                  </a:ext>
                </a:extLst>
              </p:cNvPr>
              <p:cNvSpPr>
                <a:spLocks noGrp="1"/>
              </p:cNvSpPr>
              <p:nvPr/>
            </p:nvSpPr>
            <p:spPr>
              <a:xfrm>
                <a:off x="590550" y="5581650"/>
                <a:ext cx="11029950" cy="809625"/>
              </a:xfrm>
              <a:prstGeom prst="rect">
                <a:avLst/>
              </a:prstGeom>
              <a:noFill/>
              <a:ln w="0">
                <a:noFill/>
              </a:ln>
            </p:spPr>
            <p:txBody>
              <a:bodyPr wrap="square" lIns="0" tIns="0" rIns="0" bIns="0" anchor="t">
                <a:noAutofit/>
              </a:bodyPr>
              <a:lstStyle/>
              <a:p>
                <a:pPr algn="ctr">
                  <a:defRPr sz="2625"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𝑄</m:t>
                      </m:r>
                      <m:r>
                        <a:rPr>
                          <a:latin typeface="Cambria Math" panose="02040503050406030204" pitchFamily="18" charset="0"/>
                        </a:rPr>
                        <m:t>′(0)=</m:t>
                      </m:r>
                      <m:f>
                        <m:fPr>
                          <m:ctrlPr>
                            <a:rPr>
                              <a:latin typeface="Cambria Math" panose="02040503050406030204" pitchFamily="18" charset="0"/>
                            </a:rPr>
                          </m:ctrlPr>
                        </m:fPr>
                        <m:num>
                          <m:r>
                            <a:rPr>
                              <a:latin typeface="Cambria Math" panose="02040503050406030204" pitchFamily="18" charset="0"/>
                            </a:rPr>
                            <m:t>−28−10+0−8−32</m:t>
                          </m:r>
                        </m:num>
                        <m:den>
                          <m:r>
                            <a:rPr>
                              <a:latin typeface="Cambria Math" panose="02040503050406030204" pitchFamily="18" charset="0"/>
                            </a:rPr>
                            <m:t>5</m:t>
                          </m:r>
                        </m:den>
                      </m:f>
                      <m:r>
                        <a:rPr>
                          <a:latin typeface="Cambria Math" panose="02040503050406030204" pitchFamily="18" charset="0"/>
                        </a:rPr>
                        <m:t>=−15.6</m:t>
                      </m:r>
                    </m:oMath>
                  </m:oMathPara>
                </a14:m>
                <a:endParaRPr/>
              </a:p>
            </p:txBody>
          </p:sp>
        </mc:Choice>
        <mc:Fallback>
          <p:sp>
            <p:nvSpPr>
              <p:cNvPr id="10" name="l03-content-129">
                <a:extLst>
                  <a:ext uri="{FF2B5EF4-FFF2-40B4-BE49-F238E27FC236}">
                    <a16:creationId xmlns:a16="http://schemas.microsoft.com/office/drawing/2014/main" id="{BE5D675A-62F1-4609-8486-0694176A78BC}"/>
                  </a:ext>
                </a:extLst>
              </p:cNvPr>
              <p:cNvSpPr>
                <a:spLocks noGrp="1" noRot="1" noChangeAspect="1" noMove="1" noResize="1" noEditPoints="1" noAdjustHandles="1" noChangeArrowheads="1" noChangeShapeType="1" noTextEdit="1"/>
              </p:cNvSpPr>
              <p:nvPr/>
            </p:nvSpPr>
            <p:spPr>
              <a:xfrm>
                <a:off x="590550" y="5581650"/>
                <a:ext cx="11029950" cy="809625"/>
              </a:xfrm>
              <a:prstGeom prst="rect">
                <a:avLst/>
              </a:prstGeom>
              <a:blipFill>
                <a:blip r:embed="rId4"/>
                <a:stretch>
                  <a:fillRect t="-3077" b="-7692"/>
                </a:stretch>
              </a:blipFill>
              <a:ln w="0">
                <a:noFill/>
              </a:ln>
            </p:spPr>
            <p:txBody>
              <a:bodyPr/>
              <a:lstStyle/>
              <a:p>
                <a:r>
                  <a:rPr lang="ru-RU">
                    <a:noFill/>
                  </a:rPr>
                  <a:t> </a:t>
                </a:r>
              </a:p>
            </p:txBody>
          </p:sp>
        </mc:Fallback>
      </mc:AlternateContent>
    </p:spTree>
    <p:extLst>
      <p:ext uri="{BB962C8B-B14F-4D97-AF65-F5344CB8AC3E}">
        <p14:creationId xmlns:p14="http://schemas.microsoft.com/office/powerpoint/2010/main" val="1409846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SGD: один случайный объект на шаг</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4. SGD и mini-batch</a:t>
            </a:r>
          </a:p>
        </p:txBody>
      </p:sp>
      <p:sp>
        <p:nvSpPr>
          <p:cNvPr id="7" name="l03-content-130">
            <a:extLst>
              <a:ext uri="{FF2B5EF4-FFF2-40B4-BE49-F238E27FC236}">
                <a16:creationId xmlns:a16="http://schemas.microsoft.com/office/drawing/2014/main" id="{FE273241-51A6-4699-88B1-97B90E0901B5}"/>
              </a:ext>
            </a:extLst>
          </p:cNvPr>
          <p:cNvSpPr>
            <a:spLocks noGrp="1"/>
          </p:cNvSpPr>
          <p:nvPr/>
        </p:nvSpPr>
        <p:spPr>
          <a:xfrm>
            <a:off x="590550" y="2228850"/>
            <a:ext cx="11029950" cy="91440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Выберем объект iₖ случайно и равновероятно. Вместо полного градиента</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используем производную потери на этом объекте.</a:t>
            </a:r>
          </a:p>
        </p:txBody>
      </p:sp>
      <mc:AlternateContent xmlns:mc="http://schemas.openxmlformats.org/markup-compatibility/2006">
        <mc:Choice xmlns:a14="http://schemas.microsoft.com/office/drawing/2010/main" Requires="a14">
          <p:sp>
            <p:nvSpPr>
              <p:cNvPr id="8" name="l03-content-131">
                <a:extLst>
                  <a:ext uri="{FF2B5EF4-FFF2-40B4-BE49-F238E27FC236}">
                    <a16:creationId xmlns:a16="http://schemas.microsoft.com/office/drawing/2014/main" id="{8E4D0E16-1BFB-4518-8269-6DA2961069DB}"/>
                  </a:ext>
                </a:extLst>
              </p:cNvPr>
              <p:cNvSpPr>
                <a:spLocks noGrp="1"/>
              </p:cNvSpPr>
              <p:nvPr/>
            </p:nvSpPr>
            <p:spPr>
              <a:xfrm>
                <a:off x="590550" y="3343275"/>
                <a:ext cx="11029950" cy="923925"/>
              </a:xfrm>
              <a:prstGeom prst="rect">
                <a:avLst/>
              </a:prstGeom>
              <a:noFill/>
              <a:ln w="0">
                <a:noFill/>
              </a:ln>
            </p:spPr>
            <p:txBody>
              <a:bodyPr wrap="square" lIns="0" tIns="0" rIns="0" bIns="0" anchor="t">
                <a:noAutofit/>
              </a:bodyPr>
              <a:lstStyle/>
              <a:p>
                <a:pPr algn="ctr">
                  <a:defRPr sz="2850" b="0">
                    <a:solidFill>
                      <a:srgbClr val="102D69"/>
                    </a:solidFill>
                    <a:latin typeface="Cambria Math"/>
                    <a:ea typeface="Cambria Math"/>
                    <a:cs typeface="Cambria Math"/>
                  </a:defRPr>
                </a:pPr>
                <a14:m>
                  <m:oMathPara xmlns:m="http://schemas.openxmlformats.org/officeDocument/2006/math">
                    <m:oMath>
                      <m:sSup>
                        <m:sSupPr>
                          <m:ctrlPr>
                            <a:rPr>
                              <a:latin typeface="Cambria Math" panose="02040503050406030204" pitchFamily="18" charset="0"/>
                            </a:rPr>
                          </m:ctrlPr>
                        </m:sSupPr>
                        <m:e>
                          <m:r>
                            <a:rPr>
                              <a:latin typeface="Cambria Math" panose="02040503050406030204" pitchFamily="18" charset="0"/>
                            </a:rPr>
                            <m:t>𝑤</m:t>
                          </m:r>
                        </m:e>
                        <m:sup>
                          <m:r>
                            <a:rPr>
                              <a:latin typeface="Cambria Math" panose="02040503050406030204" pitchFamily="18" charset="0"/>
                            </a:rPr>
                            <m:t>(</m:t>
                          </m:r>
                          <m:r>
                            <a:rPr>
                              <a:latin typeface="Cambria Math" panose="02040503050406030204" pitchFamily="18" charset="0"/>
                            </a:rPr>
                            <m:t>𝑘</m:t>
                          </m:r>
                          <m:r>
                            <a:rPr>
                              <a:latin typeface="Cambria Math" panose="02040503050406030204" pitchFamily="18" charset="0"/>
                            </a:rPr>
                            <m:t>+1)</m:t>
                          </m:r>
                        </m:sup>
                      </m:s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𝑤</m:t>
                          </m:r>
                        </m:e>
                        <m:sup>
                          <m:r>
                            <a:rPr>
                              <a:latin typeface="Cambria Math" panose="02040503050406030204" pitchFamily="18" charset="0"/>
                            </a:rPr>
                            <m:t>(</m:t>
                          </m:r>
                          <m:r>
                            <a:rPr>
                              <a:latin typeface="Cambria Math" panose="02040503050406030204" pitchFamily="18" charset="0"/>
                            </a:rPr>
                            <m:t>𝑘</m:t>
                          </m:r>
                          <m:r>
                            <a:rPr>
                              <a:latin typeface="Cambria Math" panose="02040503050406030204" pitchFamily="18" charset="0"/>
                            </a:rPr>
                            <m:t>)</m:t>
                          </m:r>
                        </m:sup>
                      </m:sSup>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𝜂</m:t>
                          </m:r>
                        </m:e>
                        <m:sub>
                          <m:r>
                            <a:rPr>
                              <a:latin typeface="Cambria Math" panose="02040503050406030204" pitchFamily="18" charset="0"/>
                            </a:rPr>
                            <m:t>𝑘</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𝑞</m:t>
                          </m:r>
                        </m:e>
                        <m:sub>
                          <m:sSub>
                            <m:sSubPr>
                              <m:ctrlPr>
                                <a:rPr>
                                  <a:latin typeface="Cambria Math" panose="02040503050406030204" pitchFamily="18" charset="0"/>
                                </a:rPr>
                              </m:ctrlPr>
                            </m:sSubPr>
                            <m:e>
                              <m:r>
                                <a:rPr>
                                  <a:latin typeface="Cambria Math" panose="02040503050406030204" pitchFamily="18" charset="0"/>
                                </a:rPr>
                                <m:t>𝑖</m:t>
                              </m:r>
                            </m:e>
                            <m:sub>
                              <m:r>
                                <a:rPr>
                                  <a:latin typeface="Cambria Math" panose="02040503050406030204" pitchFamily="18" charset="0"/>
                                </a:rPr>
                                <m:t>𝑘</m:t>
                              </m:r>
                            </m:sub>
                          </m:sSub>
                        </m:sub>
                      </m:sSub>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𝑤</m:t>
                          </m:r>
                        </m:e>
                        <m:sup>
                          <m:r>
                            <a:rPr>
                              <a:latin typeface="Cambria Math" panose="02040503050406030204" pitchFamily="18" charset="0"/>
                            </a:rPr>
                            <m:t>(</m:t>
                          </m:r>
                          <m:r>
                            <a:rPr>
                              <a:latin typeface="Cambria Math" panose="02040503050406030204" pitchFamily="18" charset="0"/>
                            </a:rPr>
                            <m:t>𝑘</m:t>
                          </m:r>
                          <m:r>
                            <a:rPr>
                              <a:latin typeface="Cambria Math" panose="02040503050406030204" pitchFamily="18" charset="0"/>
                            </a:rPr>
                            <m:t>)</m:t>
                          </m:r>
                        </m:sup>
                      </m:sSup>
                      <m:r>
                        <a:rPr>
                          <a:latin typeface="Cambria Math" panose="02040503050406030204" pitchFamily="18" charset="0"/>
                        </a:rPr>
                        <m:t>)</m:t>
                      </m:r>
                    </m:oMath>
                  </m:oMathPara>
                </a14:m>
                <a:endParaRPr/>
              </a:p>
            </p:txBody>
          </p:sp>
        </mc:Choice>
        <mc:Fallback>
          <p:sp>
            <p:nvSpPr>
              <p:cNvPr id="8" name="l03-content-131">
                <a:extLst>
                  <a:ext uri="{FF2B5EF4-FFF2-40B4-BE49-F238E27FC236}">
                    <a16:creationId xmlns:a16="http://schemas.microsoft.com/office/drawing/2014/main" id="{8E4D0E16-1BFB-4518-8269-6DA2961069DB}"/>
                  </a:ext>
                </a:extLst>
              </p:cNvPr>
              <p:cNvSpPr>
                <a:spLocks noGrp="1" noRot="1" noChangeAspect="1" noMove="1" noResize="1" noEditPoints="1" noAdjustHandles="1" noChangeArrowheads="1" noChangeShapeType="1" noTextEdit="1"/>
              </p:cNvSpPr>
              <p:nvPr/>
            </p:nvSpPr>
            <p:spPr>
              <a:xfrm>
                <a:off x="590550" y="3343275"/>
                <a:ext cx="11029950" cy="923925"/>
              </a:xfrm>
              <a:prstGeom prst="rect">
                <a:avLst/>
              </a:prstGeom>
              <a:blipFill>
                <a:blip r:embed="rId3"/>
                <a:stretch>
                  <a:fillRect/>
                </a:stretch>
              </a:blipFill>
              <a:ln w="0">
                <a:noFill/>
              </a:ln>
            </p:spPr>
            <p:txBody>
              <a:bodyPr/>
              <a:lstStyle/>
              <a:p>
                <a:r>
                  <a:rPr lang="ru-RU">
                    <a:noFill/>
                  </a:rPr>
                  <a:t> </a:t>
                </a:r>
              </a:p>
            </p:txBody>
          </p:sp>
        </mc:Fallback>
      </mc:AlternateContent>
      <p:sp>
        <p:nvSpPr>
          <p:cNvPr id="9" name="l03-content-132">
            <a:extLst>
              <a:ext uri="{FF2B5EF4-FFF2-40B4-BE49-F238E27FC236}">
                <a16:creationId xmlns:a16="http://schemas.microsoft.com/office/drawing/2014/main" id="{CCD3CF79-90D9-4FB1-81D8-88A4D3D011A0}"/>
              </a:ext>
            </a:extLst>
          </p:cNvPr>
          <p:cNvSpPr>
            <a:spLocks noGrp="1"/>
          </p:cNvSpPr>
          <p:nvPr/>
        </p:nvSpPr>
        <p:spPr>
          <a:xfrm>
            <a:off x="590550" y="4695825"/>
            <a:ext cx="11029950" cy="98107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В нашем примере при w = 0 объект 5 даёт градиент −32.</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С шагом η = 0,1 получаем w = 3,2 вместо 1,56 у полного GD.</a:t>
            </a:r>
          </a:p>
        </p:txBody>
      </p:sp>
    </p:spTree>
    <p:extLst>
      <p:ext uri="{BB962C8B-B14F-4D97-AF65-F5344CB8AC3E}">
        <p14:creationId xmlns:p14="http://schemas.microsoft.com/office/powerpoint/2010/main" val="1409846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Mini-batch: средний градиент по небольшой порции</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4. SGD и mini-batch</a:t>
            </a:r>
          </a:p>
        </p:txBody>
      </p:sp>
      <p:sp>
        <p:nvSpPr>
          <p:cNvPr id="7" name="l03-content-133">
            <a:extLst>
              <a:ext uri="{FF2B5EF4-FFF2-40B4-BE49-F238E27FC236}">
                <a16:creationId xmlns:a16="http://schemas.microsoft.com/office/drawing/2014/main" id="{FF827397-CA60-4B4E-88FC-3987A05F620C}"/>
              </a:ext>
            </a:extLst>
          </p:cNvPr>
          <p:cNvSpPr>
            <a:spLocks noGrp="1"/>
          </p:cNvSpPr>
          <p:nvPr/>
        </p:nvSpPr>
        <p:spPr>
          <a:xfrm>
            <a:off x="590550" y="2286000"/>
            <a:ext cx="11029950" cy="104775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Возьмём случайную порцию Bₖ из b объектов и усредним их градиенты.</a:t>
            </a:r>
          </a:p>
        </p:txBody>
      </p:sp>
      <mc:AlternateContent xmlns:mc="http://schemas.openxmlformats.org/markup-compatibility/2006">
        <mc:Choice xmlns:a14="http://schemas.microsoft.com/office/drawing/2010/main" Requires="a14">
          <p:sp>
            <p:nvSpPr>
              <p:cNvPr id="8" name="l03-content-134">
                <a:extLst>
                  <a:ext uri="{FF2B5EF4-FFF2-40B4-BE49-F238E27FC236}">
                    <a16:creationId xmlns:a16="http://schemas.microsoft.com/office/drawing/2014/main" id="{5D7A7CFA-4EEF-4419-8CB8-9D939156DF36}"/>
                  </a:ext>
                </a:extLst>
              </p:cNvPr>
              <p:cNvSpPr>
                <a:spLocks noGrp="1"/>
              </p:cNvSpPr>
              <p:nvPr/>
            </p:nvSpPr>
            <p:spPr>
              <a:xfrm>
                <a:off x="590550" y="3248025"/>
                <a:ext cx="11029950" cy="1133475"/>
              </a:xfrm>
              <a:prstGeom prst="rect">
                <a:avLst/>
              </a:prstGeom>
              <a:noFill/>
              <a:ln w="0">
                <a:noFill/>
              </a:ln>
            </p:spPr>
            <p:txBody>
              <a:bodyPr wrap="square" lIns="0" tIns="0" rIns="0" bIns="0" anchor="t">
                <a:noAutofit/>
              </a:bodyPr>
              <a:lstStyle/>
              <a:p>
                <a:pPr algn="ctr">
                  <a:defRPr sz="2550" b="0">
                    <a:solidFill>
                      <a:srgbClr val="102D69"/>
                    </a:solidFill>
                    <a:latin typeface="Cambria Math"/>
                    <a:ea typeface="Cambria Math"/>
                    <a:cs typeface="Cambria Math"/>
                  </a:defRPr>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𝑔</m:t>
                          </m:r>
                        </m:e>
                        <m:sub>
                          <m:r>
                            <a:rPr>
                              <a:latin typeface="Cambria Math" panose="02040503050406030204" pitchFamily="18" charset="0"/>
                            </a:rPr>
                            <m:t>𝑘</m:t>
                          </m:r>
                        </m:sub>
                      </m:sSub>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1</m:t>
                          </m:r>
                        </m:num>
                        <m:den>
                          <m:r>
                            <a:rPr>
                              <a:latin typeface="Cambria Math" panose="02040503050406030204" pitchFamily="18" charset="0"/>
                            </a:rPr>
                            <m:t>𝑏</m:t>
                          </m:r>
                        </m:den>
                      </m:f>
                      <m:nary>
                        <m:naryPr>
                          <m:chr m:val="∑"/>
                          <m:limLoc m:val="subSup"/>
                          <m:supHide m:val="on"/>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𝑘</m:t>
                              </m:r>
                            </m:sub>
                          </m:sSub>
                        </m:sub>
                        <m:sup/>
                        <m:e>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𝑞</m:t>
                              </m:r>
                            </m:e>
                            <m:sub>
                              <m:r>
                                <a:rPr>
                                  <a:latin typeface="Cambria Math" panose="02040503050406030204" pitchFamily="18" charset="0"/>
                                </a:rPr>
                                <m:t>𝑖</m:t>
                              </m:r>
                            </m:sub>
                          </m:sSub>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𝑤</m:t>
                              </m:r>
                            </m:e>
                            <m:sup>
                              <m:r>
                                <a:rPr>
                                  <a:latin typeface="Cambria Math" panose="02040503050406030204" pitchFamily="18" charset="0"/>
                                </a:rPr>
                                <m:t>(</m:t>
                              </m:r>
                              <m:r>
                                <a:rPr>
                                  <a:latin typeface="Cambria Math" panose="02040503050406030204" pitchFamily="18" charset="0"/>
                                </a:rPr>
                                <m:t>𝑘</m:t>
                              </m:r>
                              <m:r>
                                <a:rPr>
                                  <a:latin typeface="Cambria Math" panose="02040503050406030204" pitchFamily="18" charset="0"/>
                                </a:rPr>
                                <m:t>)</m:t>
                              </m:r>
                            </m:sup>
                          </m:s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𝑤</m:t>
                              </m:r>
                            </m:e>
                            <m:sup>
                              <m:r>
                                <a:rPr>
                                  <a:latin typeface="Cambria Math" panose="02040503050406030204" pitchFamily="18" charset="0"/>
                                </a:rPr>
                                <m:t>(</m:t>
                              </m:r>
                              <m:r>
                                <a:rPr>
                                  <a:latin typeface="Cambria Math" panose="02040503050406030204" pitchFamily="18" charset="0"/>
                                </a:rPr>
                                <m:t>𝑘</m:t>
                              </m:r>
                              <m:r>
                                <a:rPr>
                                  <a:latin typeface="Cambria Math" panose="02040503050406030204" pitchFamily="18" charset="0"/>
                                </a:rPr>
                                <m:t>+1)</m:t>
                              </m:r>
                            </m:sup>
                          </m:sSup>
                        </m:e>
                      </m:nary>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𝑤</m:t>
                          </m:r>
                        </m:e>
                        <m:sup>
                          <m:r>
                            <a:rPr>
                              <a:latin typeface="Cambria Math" panose="02040503050406030204" pitchFamily="18" charset="0"/>
                            </a:rPr>
                            <m:t>(</m:t>
                          </m:r>
                          <m:r>
                            <a:rPr>
                              <a:latin typeface="Cambria Math" panose="02040503050406030204" pitchFamily="18" charset="0"/>
                            </a:rPr>
                            <m:t>𝑘</m:t>
                          </m:r>
                          <m:r>
                            <a:rPr>
                              <a:latin typeface="Cambria Math" panose="02040503050406030204" pitchFamily="18" charset="0"/>
                            </a:rPr>
                            <m:t>)</m:t>
                          </m:r>
                        </m:sup>
                      </m:sSup>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𝜂</m:t>
                          </m:r>
                        </m:e>
                        <m:sub>
                          <m:r>
                            <a:rPr>
                              <a:latin typeface="Cambria Math" panose="02040503050406030204" pitchFamily="18" charset="0"/>
                            </a:rPr>
                            <m:t>𝑘</m:t>
                          </m:r>
                        </m:sub>
                      </m:sSub>
                      <m:sSub>
                        <m:sSubPr>
                          <m:ctrlPr>
                            <a:rPr>
                              <a:latin typeface="Cambria Math" panose="02040503050406030204" pitchFamily="18" charset="0"/>
                            </a:rPr>
                          </m:ctrlPr>
                        </m:sSubPr>
                        <m:e>
                          <m:r>
                            <a:rPr>
                              <a:latin typeface="Cambria Math" panose="02040503050406030204" pitchFamily="18" charset="0"/>
                            </a:rPr>
                            <m:t>𝑔</m:t>
                          </m:r>
                        </m:e>
                        <m:sub>
                          <m:r>
                            <a:rPr>
                              <a:latin typeface="Cambria Math" panose="02040503050406030204" pitchFamily="18" charset="0"/>
                            </a:rPr>
                            <m:t>𝑘</m:t>
                          </m:r>
                        </m:sub>
                      </m:sSub>
                    </m:oMath>
                  </m:oMathPara>
                </a14:m>
                <a:endParaRPr/>
              </a:p>
            </p:txBody>
          </p:sp>
        </mc:Choice>
        <mc:Fallback>
          <p:sp>
            <p:nvSpPr>
              <p:cNvPr id="8" name="l03-content-134">
                <a:extLst>
                  <a:ext uri="{FF2B5EF4-FFF2-40B4-BE49-F238E27FC236}">
                    <a16:creationId xmlns:a16="http://schemas.microsoft.com/office/drawing/2014/main" id="{5D7A7CFA-4EEF-4419-8CB8-9D939156DF36}"/>
                  </a:ext>
                </a:extLst>
              </p:cNvPr>
              <p:cNvSpPr>
                <a:spLocks noGrp="1" noRot="1" noChangeAspect="1" noMove="1" noResize="1" noEditPoints="1" noAdjustHandles="1" noChangeArrowheads="1" noChangeShapeType="1" noTextEdit="1"/>
              </p:cNvSpPr>
              <p:nvPr/>
            </p:nvSpPr>
            <p:spPr>
              <a:xfrm>
                <a:off x="590550" y="3248025"/>
                <a:ext cx="11029950" cy="1133475"/>
              </a:xfrm>
              <a:prstGeom prst="rect">
                <a:avLst/>
              </a:prstGeom>
              <a:blipFill>
                <a:blip r:embed="rId3"/>
                <a:stretch>
                  <a:fillRect t="-128571" b="-158242"/>
                </a:stretch>
              </a:blipFill>
              <a:ln w="0">
                <a:noFill/>
              </a:ln>
            </p:spPr>
            <p:txBody>
              <a:bodyPr/>
              <a:lstStyle/>
              <a:p>
                <a:r>
                  <a:rPr lang="ru-RU">
                    <a:noFill/>
                  </a:rPr>
                  <a:t> </a:t>
                </a:r>
              </a:p>
            </p:txBody>
          </p:sp>
        </mc:Fallback>
      </mc:AlternateContent>
      <p:graphicFrame>
        <p:nvGraphicFramePr>
          <p:cNvPr id="17" name="Таблица 16"/>
          <p:cNvGraphicFramePr/>
          <p:nvPr/>
        </p:nvGraphicFramePr>
        <p:xfrm>
          <a:off x="590550" y="4676775"/>
          <a:ext cx="11029950" cy="1666876"/>
        </p:xfrm>
        <a:graphic>
          <a:graphicData uri="http://schemas.openxmlformats.org/drawingml/2006/table">
            <a:tbl>
              <a:tblPr firstRow="1"/>
              <a:tblGrid>
                <a:gridCol w="257175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tblGrid>
              <a:tr h="416719">
                <a:tc>
                  <a:txBody>
                    <a:bodyPr/>
                    <a:lstStyle/>
                    <a:p>
                      <a:r>
                        <a:rPr sz="1950" b="1">
                          <a:solidFill>
                            <a:srgbClr val="FFFFFF"/>
                          </a:solidFill>
                          <a:latin typeface="HSE Sans"/>
                          <a:ea typeface="HSE Sans"/>
                          <a:cs typeface="HSE Sans"/>
                        </a:rPr>
                        <a:t>Размер порции</a:t>
                      </a:r>
                    </a:p>
                  </a:txBody>
                  <a:tcPr anchor="ctr">
                    <a:solidFill>
                      <a:srgbClr val="102D69"/>
                    </a:solidFill>
                  </a:tcPr>
                </a:tc>
                <a:tc>
                  <a:txBody>
                    <a:bodyPr/>
                    <a:lstStyle/>
                    <a:p>
                      <a:r>
                        <a:rPr sz="1950" b="1">
                          <a:solidFill>
                            <a:srgbClr val="FFFFFF"/>
                          </a:solidFill>
                          <a:latin typeface="HSE Sans"/>
                          <a:ea typeface="HSE Sans"/>
                          <a:cs typeface="HSE Sans"/>
                        </a:rPr>
                        <a:t>Метод</a:t>
                      </a:r>
                    </a:p>
                  </a:txBody>
                  <a:tcPr anchor="ctr">
                    <a:solidFill>
                      <a:srgbClr val="102D69"/>
                    </a:solidFill>
                  </a:tcPr>
                </a:tc>
                <a:tc>
                  <a:txBody>
                    <a:bodyPr/>
                    <a:lstStyle/>
                    <a:p>
                      <a:r>
                        <a:rPr sz="1950" b="1">
                          <a:solidFill>
                            <a:srgbClr val="FFFFFF"/>
                          </a:solidFill>
                          <a:latin typeface="HSE Sans"/>
                          <a:ea typeface="HSE Sans"/>
                          <a:cs typeface="HSE Sans"/>
                        </a:rPr>
                        <a:t>Что происходит</a:t>
                      </a:r>
                    </a:p>
                  </a:txBody>
                  <a:tcPr anchor="ctr">
                    <a:solidFill>
                      <a:srgbClr val="102D69"/>
                    </a:solidFill>
                  </a:tcPr>
                </a:tc>
                <a:extLst>
                  <a:ext uri="{0D108BD9-81ED-4DB2-BD59-A6C34878D82A}">
                    <a16:rowId xmlns:a16="http://schemas.microsoft.com/office/drawing/2014/main" val="10000"/>
                  </a:ext>
                </a:extLst>
              </a:tr>
              <a:tr h="416719">
                <a:tc>
                  <a:txBody>
                    <a:bodyPr/>
                    <a:lstStyle/>
                    <a:p>
                      <a:r>
                        <a:rPr sz="1950" b="0">
                          <a:solidFill>
                            <a:srgbClr val="102D69"/>
                          </a:solidFill>
                          <a:latin typeface="HSE Sans"/>
                          <a:ea typeface="HSE Sans"/>
                          <a:cs typeface="HSE Sans"/>
                        </a:rPr>
                        <a:t>b = 1</a:t>
                      </a:r>
                    </a:p>
                  </a:txBody>
                  <a:tcPr anchor="ctr">
                    <a:solidFill>
                      <a:srgbClr val="EFF4FB"/>
                    </a:solidFill>
                  </a:tcPr>
                </a:tc>
                <a:tc>
                  <a:txBody>
                    <a:bodyPr/>
                    <a:lstStyle/>
                    <a:p>
                      <a:r>
                        <a:rPr sz="1950" b="0">
                          <a:solidFill>
                            <a:srgbClr val="102D69"/>
                          </a:solidFill>
                          <a:latin typeface="HSE Sans"/>
                          <a:ea typeface="HSE Sans"/>
                          <a:cs typeface="HSE Sans"/>
                        </a:rPr>
                        <a:t>SGD</a:t>
                      </a:r>
                    </a:p>
                  </a:txBody>
                  <a:tcPr anchor="ctr">
                    <a:solidFill>
                      <a:srgbClr val="EFF4FB"/>
                    </a:solidFill>
                  </a:tcPr>
                </a:tc>
                <a:tc>
                  <a:txBody>
                    <a:bodyPr/>
                    <a:lstStyle/>
                    <a:p>
                      <a:r>
                        <a:rPr sz="1950" b="0">
                          <a:solidFill>
                            <a:srgbClr val="102D69"/>
                          </a:solidFill>
                          <a:latin typeface="HSE Sans"/>
                          <a:ea typeface="HSE Sans"/>
                          <a:cs typeface="HSE Sans"/>
                        </a:rPr>
                        <a:t>Дешёвый, но шумный шаг</a:t>
                      </a:r>
                    </a:p>
                  </a:txBody>
                  <a:tcPr anchor="ctr">
                    <a:solidFill>
                      <a:srgbClr val="EFF4FB"/>
                    </a:solidFill>
                  </a:tcPr>
                </a:tc>
                <a:extLst>
                  <a:ext uri="{0D108BD9-81ED-4DB2-BD59-A6C34878D82A}">
                    <a16:rowId xmlns:a16="http://schemas.microsoft.com/office/drawing/2014/main" val="10001"/>
                  </a:ext>
                </a:extLst>
              </a:tr>
              <a:tr h="416719">
                <a:tc>
                  <a:txBody>
                    <a:bodyPr/>
                    <a:lstStyle/>
                    <a:p>
                      <a:r>
                        <a:rPr sz="1950" b="0">
                          <a:solidFill>
                            <a:srgbClr val="102D69"/>
                          </a:solidFill>
                          <a:latin typeface="HSE Sans"/>
                          <a:ea typeface="HSE Sans"/>
                          <a:cs typeface="HSE Sans"/>
                        </a:rPr>
                        <a:t>1 &lt; b &lt; ℓ</a:t>
                      </a:r>
                    </a:p>
                  </a:txBody>
                  <a:tcPr anchor="ctr">
                    <a:solidFill>
                      <a:srgbClr val="FFFFFF"/>
                    </a:solidFill>
                  </a:tcPr>
                </a:tc>
                <a:tc>
                  <a:txBody>
                    <a:bodyPr/>
                    <a:lstStyle/>
                    <a:p>
                      <a:r>
                        <a:rPr sz="1950" b="0">
                          <a:solidFill>
                            <a:srgbClr val="102D69"/>
                          </a:solidFill>
                          <a:latin typeface="HSE Sans"/>
                          <a:ea typeface="HSE Sans"/>
                          <a:cs typeface="HSE Sans"/>
                        </a:rPr>
                        <a:t>Mini-batch GD</a:t>
                      </a:r>
                    </a:p>
                  </a:txBody>
                  <a:tcPr anchor="ctr">
                    <a:solidFill>
                      <a:srgbClr val="FFFFFF"/>
                    </a:solidFill>
                  </a:tcPr>
                </a:tc>
                <a:tc>
                  <a:txBody>
                    <a:bodyPr/>
                    <a:lstStyle/>
                    <a:p>
                      <a:r>
                        <a:rPr sz="1950" b="0">
                          <a:solidFill>
                            <a:srgbClr val="102D69"/>
                          </a:solidFill>
                          <a:latin typeface="HSE Sans"/>
                          <a:ea typeface="HSE Sans"/>
                          <a:cs typeface="HSE Sans"/>
                        </a:rPr>
                        <a:t>Усреднение уменьшает шум оценки</a:t>
                      </a:r>
                    </a:p>
                  </a:txBody>
                  <a:tcPr anchor="ctr">
                    <a:solidFill>
                      <a:srgbClr val="FFFFFF"/>
                    </a:solidFill>
                  </a:tcPr>
                </a:tc>
                <a:extLst>
                  <a:ext uri="{0D108BD9-81ED-4DB2-BD59-A6C34878D82A}">
                    <a16:rowId xmlns:a16="http://schemas.microsoft.com/office/drawing/2014/main" val="10002"/>
                  </a:ext>
                </a:extLst>
              </a:tr>
              <a:tr h="416719">
                <a:tc>
                  <a:txBody>
                    <a:bodyPr/>
                    <a:lstStyle/>
                    <a:p>
                      <a:r>
                        <a:rPr sz="1950" b="0">
                          <a:solidFill>
                            <a:srgbClr val="102D69"/>
                          </a:solidFill>
                          <a:latin typeface="HSE Sans"/>
                          <a:ea typeface="HSE Sans"/>
                          <a:cs typeface="HSE Sans"/>
                        </a:rPr>
                        <a:t>b = ℓ</a:t>
                      </a:r>
                    </a:p>
                  </a:txBody>
                  <a:tcPr anchor="ctr">
                    <a:solidFill>
                      <a:srgbClr val="EFF4FB"/>
                    </a:solidFill>
                  </a:tcPr>
                </a:tc>
                <a:tc>
                  <a:txBody>
                    <a:bodyPr/>
                    <a:lstStyle/>
                    <a:p>
                      <a:r>
                        <a:rPr sz="1950" b="0">
                          <a:solidFill>
                            <a:srgbClr val="102D69"/>
                          </a:solidFill>
                          <a:latin typeface="HSE Sans"/>
                          <a:ea typeface="HSE Sans"/>
                          <a:cs typeface="HSE Sans"/>
                        </a:rPr>
                        <a:t>Full GD</a:t>
                      </a:r>
                    </a:p>
                  </a:txBody>
                  <a:tcPr anchor="ctr">
                    <a:solidFill>
                      <a:srgbClr val="EFF4FB"/>
                    </a:solidFill>
                  </a:tcPr>
                </a:tc>
                <a:tc>
                  <a:txBody>
                    <a:bodyPr/>
                    <a:lstStyle/>
                    <a:p>
                      <a:r>
                        <a:rPr sz="1950" b="0">
                          <a:solidFill>
                            <a:srgbClr val="102D69"/>
                          </a:solidFill>
                          <a:latin typeface="HSE Sans"/>
                          <a:ea typeface="HSE Sans"/>
                          <a:cs typeface="HSE Sans"/>
                        </a:rPr>
                        <a:t>Точный градиент по всей выборке</a:t>
                      </a:r>
                    </a:p>
                  </a:txBody>
                  <a:tcPr anchor="ctr">
                    <a:solidFill>
                      <a:srgbClr val="EFF4FB"/>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09846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Почему траектория SGD шумная</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4. SGD и mini-batch</a:t>
            </a:r>
          </a:p>
        </p:txBody>
      </p:sp>
      <p:sp>
        <p:nvSpPr>
          <p:cNvPr id="7" name="l03-content-149">
            <a:extLst>
              <a:ext uri="{FF2B5EF4-FFF2-40B4-BE49-F238E27FC236}">
                <a16:creationId xmlns:a16="http://schemas.microsoft.com/office/drawing/2014/main" id="{B551DEE4-2F09-4FC2-8EAD-AE47E04B32DB}"/>
              </a:ext>
            </a:extLst>
          </p:cNvPr>
          <p:cNvSpPr>
            <a:spLocks noGrp="1"/>
          </p:cNvSpPr>
          <p:nvPr/>
        </p:nvSpPr>
        <p:spPr>
          <a:xfrm>
            <a:off x="590550" y="2295525"/>
            <a:ext cx="3552825" cy="438150"/>
          </a:xfrm>
          <a:prstGeom prst="rect">
            <a:avLst/>
          </a:prstGeom>
          <a:noFill/>
          <a:ln w="0">
            <a:noFill/>
          </a:ln>
        </p:spPr>
        <p:txBody>
          <a:bodyPr wrap="square" lIns="0" tIns="0" rIns="0" bIns="0" anchor="t">
            <a:noAutofit/>
          </a:bodyPr>
          <a:lstStyle/>
          <a:p>
            <a:pPr algn="l">
              <a:lnSpc>
                <a:spcPct val="112000"/>
              </a:lnSpc>
              <a:buNone/>
              <a:defRPr sz="2100" b="1">
                <a:solidFill>
                  <a:srgbClr val="102D69"/>
                </a:solidFill>
                <a:latin typeface="HSE Sans"/>
                <a:ea typeface="HSE Sans"/>
                <a:cs typeface="HSE Sans"/>
              </a:defRPr>
            </a:pPr>
            <a:r>
              <a:rPr sz="2100" b="1">
                <a:solidFill>
                  <a:srgbClr val="102D69"/>
                </a:solidFill>
                <a:latin typeface="HSE Sans"/>
                <a:ea typeface="HSE Sans"/>
                <a:cs typeface="HSE Sans"/>
              </a:rPr>
              <a:t>Полный градиент</a:t>
            </a:r>
          </a:p>
        </p:txBody>
      </p:sp>
      <p:graphicFrame>
        <p:nvGraphicFramePr>
          <p:cNvPr id="20" name="Chart"/>
          <p:cNvGraphicFramePr/>
          <p:nvPr/>
        </p:nvGraphicFramePr>
        <p:xfrm>
          <a:off x="590550" y="2914650"/>
          <a:ext cx="3543300" cy="2857500"/>
        </p:xfrm>
        <a:graphic>
          <a:graphicData uri="http://schemas.openxmlformats.org/drawingml/2006/chart">
            <c:chart xmlns:c="http://schemas.openxmlformats.org/drawingml/2006/chart" xmlns:r="http://schemas.openxmlformats.org/officeDocument/2006/relationships" r:id="rId3"/>
          </a:graphicData>
        </a:graphic>
      </p:graphicFrame>
      <p:sp>
        <p:nvSpPr>
          <p:cNvPr id="9" name="l03-content-150">
            <a:extLst>
              <a:ext uri="{FF2B5EF4-FFF2-40B4-BE49-F238E27FC236}">
                <a16:creationId xmlns:a16="http://schemas.microsoft.com/office/drawing/2014/main" id="{BBA0BDBB-0A50-4EAB-B7DB-527BFC665DEB}"/>
              </a:ext>
            </a:extLst>
          </p:cNvPr>
          <p:cNvSpPr>
            <a:spLocks noGrp="1"/>
          </p:cNvSpPr>
          <p:nvPr/>
        </p:nvSpPr>
        <p:spPr>
          <a:xfrm>
            <a:off x="4333875" y="2295525"/>
            <a:ext cx="3552825" cy="438150"/>
          </a:xfrm>
          <a:prstGeom prst="rect">
            <a:avLst/>
          </a:prstGeom>
          <a:noFill/>
          <a:ln w="0">
            <a:noFill/>
          </a:ln>
        </p:spPr>
        <p:txBody>
          <a:bodyPr wrap="square" lIns="0" tIns="0" rIns="0" bIns="0" anchor="t">
            <a:noAutofit/>
          </a:bodyPr>
          <a:lstStyle/>
          <a:p>
            <a:pPr algn="l">
              <a:lnSpc>
                <a:spcPct val="112000"/>
              </a:lnSpc>
              <a:buNone/>
              <a:defRPr sz="2100" b="1">
                <a:solidFill>
                  <a:srgbClr val="102D69"/>
                </a:solidFill>
                <a:latin typeface="HSE Sans"/>
                <a:ea typeface="HSE Sans"/>
                <a:cs typeface="HSE Sans"/>
              </a:defRPr>
            </a:pPr>
            <a:r>
              <a:rPr sz="2100" b="1">
                <a:solidFill>
                  <a:srgbClr val="102D69"/>
                </a:solidFill>
                <a:latin typeface="HSE Sans"/>
                <a:ea typeface="HSE Sans"/>
                <a:cs typeface="HSE Sans"/>
              </a:rPr>
              <a:t>Mini-batch</a:t>
            </a:r>
          </a:p>
        </p:txBody>
      </p:sp>
      <p:graphicFrame>
        <p:nvGraphicFramePr>
          <p:cNvPr id="22" name="Chart"/>
          <p:cNvGraphicFramePr/>
          <p:nvPr/>
        </p:nvGraphicFramePr>
        <p:xfrm>
          <a:off x="4333875" y="2914650"/>
          <a:ext cx="3543300" cy="2857500"/>
        </p:xfrm>
        <a:graphic>
          <a:graphicData uri="http://schemas.openxmlformats.org/drawingml/2006/chart">
            <c:chart xmlns:c="http://schemas.openxmlformats.org/drawingml/2006/chart" xmlns:r="http://schemas.openxmlformats.org/officeDocument/2006/relationships" r:id="rId4"/>
          </a:graphicData>
        </a:graphic>
      </p:graphicFrame>
      <p:sp>
        <p:nvSpPr>
          <p:cNvPr id="11" name="l03-content-151">
            <a:extLst>
              <a:ext uri="{FF2B5EF4-FFF2-40B4-BE49-F238E27FC236}">
                <a16:creationId xmlns:a16="http://schemas.microsoft.com/office/drawing/2014/main" id="{28343BFA-4CAE-45D5-B44D-B232F50F42A1}"/>
              </a:ext>
            </a:extLst>
          </p:cNvPr>
          <p:cNvSpPr>
            <a:spLocks noGrp="1"/>
          </p:cNvSpPr>
          <p:nvPr/>
        </p:nvSpPr>
        <p:spPr>
          <a:xfrm>
            <a:off x="8077200" y="2295525"/>
            <a:ext cx="3552825" cy="438150"/>
          </a:xfrm>
          <a:prstGeom prst="rect">
            <a:avLst/>
          </a:prstGeom>
          <a:noFill/>
          <a:ln w="0">
            <a:noFill/>
          </a:ln>
        </p:spPr>
        <p:txBody>
          <a:bodyPr wrap="square" lIns="0" tIns="0" rIns="0" bIns="0" anchor="t">
            <a:noAutofit/>
          </a:bodyPr>
          <a:lstStyle/>
          <a:p>
            <a:pPr algn="l">
              <a:lnSpc>
                <a:spcPct val="112000"/>
              </a:lnSpc>
              <a:buNone/>
              <a:defRPr sz="2100" b="1">
                <a:solidFill>
                  <a:srgbClr val="102D69"/>
                </a:solidFill>
                <a:latin typeface="HSE Sans"/>
                <a:ea typeface="HSE Sans"/>
                <a:cs typeface="HSE Sans"/>
              </a:defRPr>
            </a:pPr>
            <a:r>
              <a:rPr sz="2100" b="1">
                <a:solidFill>
                  <a:srgbClr val="102D69"/>
                </a:solidFill>
                <a:latin typeface="HSE Sans"/>
                <a:ea typeface="HSE Sans"/>
                <a:cs typeface="HSE Sans"/>
              </a:rPr>
              <a:t>SGD</a:t>
            </a:r>
          </a:p>
        </p:txBody>
      </p:sp>
      <p:graphicFrame>
        <p:nvGraphicFramePr>
          <p:cNvPr id="24" name="Chart"/>
          <p:cNvGraphicFramePr/>
          <p:nvPr/>
        </p:nvGraphicFramePr>
        <p:xfrm>
          <a:off x="8077200" y="2914650"/>
          <a:ext cx="3543300" cy="2857500"/>
        </p:xfrm>
        <a:graphic>
          <a:graphicData uri="http://schemas.openxmlformats.org/drawingml/2006/chart">
            <c:chart xmlns:c="http://schemas.openxmlformats.org/drawingml/2006/chart" xmlns:r="http://schemas.openxmlformats.org/officeDocument/2006/relationships" r:id="rId5"/>
          </a:graphicData>
        </a:graphic>
      </p:graphicFrame>
      <p:sp>
        <p:nvSpPr>
          <p:cNvPr id="13" name="l03-content-152">
            <a:extLst>
              <a:ext uri="{FF2B5EF4-FFF2-40B4-BE49-F238E27FC236}">
                <a16:creationId xmlns:a16="http://schemas.microsoft.com/office/drawing/2014/main" id="{F10B6E20-5783-489F-A19E-8C0840764FE5}"/>
              </a:ext>
            </a:extLst>
          </p:cNvPr>
          <p:cNvSpPr>
            <a:spLocks noGrp="1"/>
          </p:cNvSpPr>
          <p:nvPr/>
        </p:nvSpPr>
        <p:spPr>
          <a:xfrm>
            <a:off x="590550" y="5943600"/>
            <a:ext cx="11029950" cy="676275"/>
          </a:xfrm>
          <a:prstGeom prst="rect">
            <a:avLst/>
          </a:prstGeom>
          <a:noFill/>
          <a:ln w="0">
            <a:noFill/>
          </a:ln>
        </p:spPr>
        <p:txBody>
          <a:bodyPr wrap="square" lIns="0" tIns="0" rIns="0" bIns="0" anchor="t">
            <a:noAutofit/>
          </a:bodyPr>
          <a:lstStyle/>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Все три метода уменьшают одну и ту же среднюю ошибку.</a:t>
            </a:r>
          </a:p>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У SGD отдельные объекты тянут веса в разные стороны, поэтому шаги шумят.</a:t>
            </a:r>
          </a:p>
        </p:txBody>
      </p:sp>
    </p:spTree>
    <p:extLst>
      <p:ext uri="{BB962C8B-B14F-4D97-AF65-F5344CB8AC3E}">
        <p14:creationId xmlns:p14="http://schemas.microsoft.com/office/powerpoint/2010/main" val="1409846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Длина шага в SGD</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4. SGD и mini-batch</a:t>
            </a:r>
          </a:p>
        </p:txBody>
      </p:sp>
      <p:sp>
        <p:nvSpPr>
          <p:cNvPr id="7" name="l03-content-153">
            <a:extLst>
              <a:ext uri="{FF2B5EF4-FFF2-40B4-BE49-F238E27FC236}">
                <a16:creationId xmlns:a16="http://schemas.microsoft.com/office/drawing/2014/main" id="{A49F2E83-0DD3-40BF-963C-6F7CF10A6B75}"/>
              </a:ext>
            </a:extLst>
          </p:cNvPr>
          <p:cNvSpPr>
            <a:spLocks noGrp="1"/>
          </p:cNvSpPr>
          <p:nvPr/>
        </p:nvSpPr>
        <p:spPr>
          <a:xfrm>
            <a:off x="590550" y="2324100"/>
            <a:ext cx="11029950" cy="1028700"/>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В начале большой шаг помогает быстро пройти к хорошим весам.</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Рядом с минимумом такой шаг мешает: случайный градиент уводит в сторону.</a:t>
            </a:r>
          </a:p>
        </p:txBody>
      </p:sp>
      <p:sp>
        <p:nvSpPr>
          <p:cNvPr id="8" name="l03-content-154">
            <a:extLst>
              <a:ext uri="{FF2B5EF4-FFF2-40B4-BE49-F238E27FC236}">
                <a16:creationId xmlns:a16="http://schemas.microsoft.com/office/drawing/2014/main" id="{47FBDFBB-9CC3-4644-956B-DFC9C215743C}"/>
              </a:ext>
            </a:extLst>
          </p:cNvPr>
          <p:cNvSpPr>
            <a:spLocks noGrp="1"/>
          </p:cNvSpPr>
          <p:nvPr/>
        </p:nvSpPr>
        <p:spPr>
          <a:xfrm>
            <a:off x="590550" y="3848100"/>
            <a:ext cx="11029950" cy="666750"/>
          </a:xfrm>
          <a:prstGeom prst="rect">
            <a:avLst/>
          </a:prstGeom>
          <a:noFill/>
          <a:ln w="0">
            <a:noFill/>
          </a:ln>
        </p:spPr>
        <p:txBody>
          <a:bodyPr wrap="square" lIns="0" tIns="0" rIns="0" bIns="0" anchor="t">
            <a:noAutofit/>
          </a:bodyPr>
          <a:lstStyle/>
          <a:p>
            <a:pPr algn="l">
              <a:lnSpc>
                <a:spcPct val="112000"/>
              </a:lnSpc>
              <a:buNone/>
              <a:defRPr sz="2325" b="0">
                <a:solidFill>
                  <a:srgbClr val="102D69"/>
                </a:solidFill>
                <a:latin typeface="HSE Sans"/>
                <a:ea typeface="HSE Sans"/>
                <a:cs typeface="HSE Sans"/>
              </a:defRPr>
            </a:pPr>
            <a:r>
              <a:rPr sz="2325" b="0">
                <a:solidFill>
                  <a:srgbClr val="102D69"/>
                </a:solidFill>
                <a:latin typeface="HSE Sans"/>
                <a:ea typeface="HSE Sans"/>
                <a:cs typeface="HSE Sans"/>
              </a:rPr>
              <a:t>Поэтому learning rate часто уменьшают в процессе обучения.</a:t>
            </a:r>
          </a:p>
        </p:txBody>
      </p:sp>
      <mc:AlternateContent xmlns:mc="http://schemas.openxmlformats.org/markup-compatibility/2006">
        <mc:Choice xmlns:a14="http://schemas.microsoft.com/office/drawing/2010/main" Requires="a14">
          <p:sp>
            <p:nvSpPr>
              <p:cNvPr id="9" name="l03-content-155">
                <a:extLst>
                  <a:ext uri="{FF2B5EF4-FFF2-40B4-BE49-F238E27FC236}">
                    <a16:creationId xmlns:a16="http://schemas.microsoft.com/office/drawing/2014/main" id="{4F321819-82DB-4C25-90DF-E35A80A70EBC}"/>
                  </a:ext>
                </a:extLst>
              </p:cNvPr>
              <p:cNvSpPr>
                <a:spLocks noGrp="1"/>
              </p:cNvSpPr>
              <p:nvPr/>
            </p:nvSpPr>
            <p:spPr>
              <a:xfrm>
                <a:off x="590550" y="4819650"/>
                <a:ext cx="11029950" cy="942975"/>
              </a:xfrm>
              <a:prstGeom prst="rect">
                <a:avLst/>
              </a:prstGeom>
              <a:noFill/>
              <a:ln w="0">
                <a:noFill/>
              </a:ln>
            </p:spPr>
            <p:txBody>
              <a:bodyPr wrap="square" lIns="0" tIns="0" rIns="0" bIns="0" anchor="t">
                <a:noAutofit/>
              </a:bodyPr>
              <a:lstStyle/>
              <a:p>
                <a:pPr algn="ctr">
                  <a:defRPr sz="2925" b="0">
                    <a:solidFill>
                      <a:srgbClr val="102D69"/>
                    </a:solidFill>
                    <a:latin typeface="Cambria Math"/>
                    <a:ea typeface="Cambria Math"/>
                    <a:cs typeface="Cambria Math"/>
                  </a:defRPr>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𝜂</m:t>
                          </m:r>
                        </m:e>
                        <m:sub>
                          <m:r>
                            <a:rPr>
                              <a:latin typeface="Cambria Math" panose="02040503050406030204" pitchFamily="18" charset="0"/>
                            </a:rPr>
                            <m:t>𝑘</m:t>
                          </m:r>
                        </m:sub>
                      </m:sSub>
                      <m:r>
                        <a:rPr>
                          <a:latin typeface="Cambria Math" panose="02040503050406030204" pitchFamily="18" charset="0"/>
                        </a:rPr>
                        <m:t>=</m:t>
                      </m:r>
                      <m:f>
                        <m:fPr>
                          <m:ctrlPr>
                            <a:rPr i="1">
                              <a:latin typeface="Cambria Math" panose="02040503050406030204" pitchFamily="18" charset="0"/>
                            </a:rPr>
                          </m:ctrlPr>
                        </m:fPr>
                        <m:num>
                          <m:sSub>
                            <m:sSubPr>
                              <m:ctrlPr>
                                <a:rPr>
                                  <a:latin typeface="Cambria Math" panose="02040503050406030204" pitchFamily="18" charset="0"/>
                                </a:rPr>
                              </m:ctrlPr>
                            </m:sSubPr>
                            <m:e>
                              <m:r>
                                <a:rPr>
                                  <a:latin typeface="Cambria Math" panose="02040503050406030204" pitchFamily="18" charset="0"/>
                                </a:rPr>
                                <m:t>𝜂</m:t>
                              </m:r>
                            </m:e>
                            <m:sub>
                              <m:r>
                                <a:rPr>
                                  <a:latin typeface="Cambria Math" panose="02040503050406030204" pitchFamily="18" charset="0"/>
                                </a:rPr>
                                <m:t>0</m:t>
                              </m:r>
                            </m:sub>
                          </m:sSub>
                        </m:num>
                        <m:den>
                          <m:r>
                            <a:rPr>
                              <a:latin typeface="Cambria Math" panose="02040503050406030204" pitchFamily="18" charset="0"/>
                            </a:rPr>
                            <m:t>1+</m:t>
                          </m:r>
                          <m:r>
                            <a:rPr>
                              <a:latin typeface="Cambria Math" panose="02040503050406030204" pitchFamily="18" charset="0"/>
                            </a:rPr>
                            <m:t>𝑐𝑘</m:t>
                          </m:r>
                        </m:den>
                      </m:f>
                      <m:r>
                        <a:rPr>
                          <a:latin typeface="Cambria Math" panose="02040503050406030204" pitchFamily="18" charset="0"/>
                        </a:rPr>
                        <m:t>,</m:t>
                      </m:r>
                      <m:r>
                        <a:rPr>
                          <a:latin typeface="Cambria Math" panose="02040503050406030204" pitchFamily="18" charset="0"/>
                        </a:rPr>
                        <m:t>𝑐</m:t>
                      </m:r>
                      <m:r>
                        <a:rPr>
                          <a:latin typeface="Cambria Math" panose="02040503050406030204" pitchFamily="18" charset="0"/>
                        </a:rPr>
                        <m:t>&gt;0</m:t>
                      </m:r>
                    </m:oMath>
                  </m:oMathPara>
                </a14:m>
                <a:endParaRPr/>
              </a:p>
            </p:txBody>
          </p:sp>
        </mc:Choice>
        <mc:Fallback>
          <p:sp>
            <p:nvSpPr>
              <p:cNvPr id="9" name="l03-content-155">
                <a:extLst>
                  <a:ext uri="{FF2B5EF4-FFF2-40B4-BE49-F238E27FC236}">
                    <a16:creationId xmlns:a16="http://schemas.microsoft.com/office/drawing/2014/main" id="{4F321819-82DB-4C25-90DF-E35A80A70EBC}"/>
                  </a:ext>
                </a:extLst>
              </p:cNvPr>
              <p:cNvSpPr>
                <a:spLocks noGrp="1" noRot="1" noChangeAspect="1" noMove="1" noResize="1" noEditPoints="1" noAdjustHandles="1" noChangeArrowheads="1" noChangeShapeType="1" noTextEdit="1"/>
              </p:cNvSpPr>
              <p:nvPr/>
            </p:nvSpPr>
            <p:spPr>
              <a:xfrm>
                <a:off x="590550" y="4819650"/>
                <a:ext cx="11029950" cy="942975"/>
              </a:xfrm>
              <a:prstGeom prst="rect">
                <a:avLst/>
              </a:prstGeom>
              <a:blipFill>
                <a:blip r:embed="rId3"/>
                <a:stretch>
                  <a:fillRect t="-1333"/>
                </a:stretch>
              </a:blipFill>
              <a:ln w="0">
                <a:noFill/>
              </a:ln>
            </p:spPr>
            <p:txBody>
              <a:bodyPr/>
              <a:lstStyle/>
              <a:p>
                <a:r>
                  <a:rPr lang="ru-RU">
                    <a:noFill/>
                  </a:rPr>
                  <a:t> </a:t>
                </a:r>
              </a:p>
            </p:txBody>
          </p:sp>
        </mc:Fallback>
      </mc:AlternateContent>
    </p:spTree>
    <p:extLst>
      <p:ext uri="{BB962C8B-B14F-4D97-AF65-F5344CB8AC3E}">
        <p14:creationId xmlns:p14="http://schemas.microsoft.com/office/powerpoint/2010/main" val="1409846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Регуляризация и</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градиентное обучение</a:t>
            </a:r>
            <a:endParaRP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Что получили в этой лекции</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Итоги лекции</a:t>
            </a:r>
          </a:p>
        </p:txBody>
      </p:sp>
      <p:sp>
        <p:nvSpPr>
          <p:cNvPr id="7" name="l03-content-169">
            <a:extLst>
              <a:ext uri="{FF2B5EF4-FFF2-40B4-BE49-F238E27FC236}">
                <a16:creationId xmlns:a16="http://schemas.microsoft.com/office/drawing/2014/main" id="{470FD5EA-1767-44FE-9990-44FFCBBCE961}"/>
              </a:ext>
            </a:extLst>
          </p:cNvPr>
          <p:cNvSpPr>
            <a:spLocks noGrp="1"/>
          </p:cNvSpPr>
          <p:nvPr/>
        </p:nvSpPr>
        <p:spPr>
          <a:xfrm>
            <a:off x="590550" y="2324100"/>
            <a:ext cx="619125" cy="523875"/>
          </a:xfrm>
          <a:prstGeom prst="rect">
            <a:avLst/>
          </a:prstGeom>
          <a:noFill/>
          <a:ln w="0">
            <a:noFill/>
          </a:ln>
        </p:spPr>
        <p:txBody>
          <a:bodyPr wrap="square" lIns="0" tIns="0" rIns="0" bIns="0" anchor="t">
            <a:noAutofit/>
          </a:bodyPr>
          <a:lstStyle/>
          <a:p>
            <a:pPr algn="l">
              <a:lnSpc>
                <a:spcPct val="112000"/>
              </a:lnSpc>
              <a:buNone/>
              <a:defRPr sz="2325" b="1">
                <a:solidFill>
                  <a:srgbClr val="234A9B"/>
                </a:solidFill>
                <a:latin typeface="HSE Sans"/>
                <a:ea typeface="HSE Sans"/>
                <a:cs typeface="HSE Sans"/>
              </a:defRPr>
            </a:pPr>
            <a:r>
              <a:rPr sz="2325" b="1">
                <a:solidFill>
                  <a:srgbClr val="234A9B"/>
                </a:solidFill>
                <a:latin typeface="HSE Sans"/>
                <a:ea typeface="HSE Sans"/>
                <a:cs typeface="HSE Sans"/>
              </a:rPr>
              <a:t>1</a:t>
            </a:r>
          </a:p>
        </p:txBody>
      </p:sp>
      <p:sp>
        <p:nvSpPr>
          <p:cNvPr id="8" name="l03-content-170">
            <a:extLst>
              <a:ext uri="{FF2B5EF4-FFF2-40B4-BE49-F238E27FC236}">
                <a16:creationId xmlns:a16="http://schemas.microsoft.com/office/drawing/2014/main" id="{B45C7415-1BE2-457E-9EF2-EC256226C8D0}"/>
              </a:ext>
            </a:extLst>
          </p:cNvPr>
          <p:cNvSpPr>
            <a:spLocks noGrp="1"/>
          </p:cNvSpPr>
          <p:nvPr/>
        </p:nvSpPr>
        <p:spPr>
          <a:xfrm>
            <a:off x="1381125" y="2324100"/>
            <a:ext cx="10048875" cy="457200"/>
          </a:xfrm>
          <a:prstGeom prst="rect">
            <a:avLst/>
          </a:prstGeom>
          <a:noFill/>
          <a:ln w="0">
            <a:noFill/>
          </a:ln>
        </p:spPr>
        <p:txBody>
          <a:bodyPr wrap="square" lIns="0" tIns="0" rIns="0" bIns="0" anchor="t">
            <a:noAutofit/>
          </a:bodyPr>
          <a:lstStyle/>
          <a:p>
            <a:pPr algn="l">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Оценка качества</a:t>
            </a:r>
          </a:p>
        </p:txBody>
      </p:sp>
      <p:sp>
        <p:nvSpPr>
          <p:cNvPr id="9" name="l03-content-171">
            <a:extLst>
              <a:ext uri="{FF2B5EF4-FFF2-40B4-BE49-F238E27FC236}">
                <a16:creationId xmlns:a16="http://schemas.microsoft.com/office/drawing/2014/main" id="{FE481143-6399-4E00-8D58-4B819D4CE21D}"/>
              </a:ext>
            </a:extLst>
          </p:cNvPr>
          <p:cNvSpPr>
            <a:spLocks noGrp="1"/>
          </p:cNvSpPr>
          <p:nvPr/>
        </p:nvSpPr>
        <p:spPr>
          <a:xfrm>
            <a:off x="1381125" y="2800350"/>
            <a:ext cx="10048875" cy="666750"/>
          </a:xfrm>
          <a:prstGeom prst="rect">
            <a:avLst/>
          </a:prstGeom>
          <a:noFill/>
          <a:ln w="0">
            <a:noFill/>
          </a:ln>
        </p:spPr>
        <p:txBody>
          <a:bodyPr wrap="square" lIns="0" tIns="0" rIns="0" bIns="0" anchor="t">
            <a:noAutofit/>
          </a:bodyPr>
          <a:lstStyle/>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K-fold даёт несколько оценок качества. Настройки выбираем до финального теста.</a:t>
            </a:r>
          </a:p>
        </p:txBody>
      </p:sp>
      <p:sp>
        <p:nvSpPr>
          <p:cNvPr id="10" name="l03-content-172">
            <a:extLst>
              <a:ext uri="{FF2B5EF4-FFF2-40B4-BE49-F238E27FC236}">
                <a16:creationId xmlns:a16="http://schemas.microsoft.com/office/drawing/2014/main" id="{099A45AF-1650-4430-A21C-9C31C19F9313}"/>
              </a:ext>
            </a:extLst>
          </p:cNvPr>
          <p:cNvSpPr>
            <a:spLocks noGrp="1"/>
          </p:cNvSpPr>
          <p:nvPr/>
        </p:nvSpPr>
        <p:spPr>
          <a:xfrm>
            <a:off x="590550" y="3390900"/>
            <a:ext cx="619125" cy="523875"/>
          </a:xfrm>
          <a:prstGeom prst="rect">
            <a:avLst/>
          </a:prstGeom>
          <a:noFill/>
          <a:ln w="0">
            <a:noFill/>
          </a:ln>
        </p:spPr>
        <p:txBody>
          <a:bodyPr wrap="square" lIns="0" tIns="0" rIns="0" bIns="0" anchor="t">
            <a:noAutofit/>
          </a:bodyPr>
          <a:lstStyle/>
          <a:p>
            <a:pPr algn="l">
              <a:lnSpc>
                <a:spcPct val="112000"/>
              </a:lnSpc>
              <a:buNone/>
              <a:defRPr sz="2325" b="1">
                <a:solidFill>
                  <a:srgbClr val="234A9B"/>
                </a:solidFill>
                <a:latin typeface="HSE Sans"/>
                <a:ea typeface="HSE Sans"/>
                <a:cs typeface="HSE Sans"/>
              </a:defRPr>
            </a:pPr>
            <a:r>
              <a:rPr sz="2325" b="1">
                <a:solidFill>
                  <a:srgbClr val="234A9B"/>
                </a:solidFill>
                <a:latin typeface="HSE Sans"/>
                <a:ea typeface="HSE Sans"/>
                <a:cs typeface="HSE Sans"/>
              </a:rPr>
              <a:t>2</a:t>
            </a:r>
          </a:p>
        </p:txBody>
      </p:sp>
      <p:sp>
        <p:nvSpPr>
          <p:cNvPr id="11" name="l03-content-173">
            <a:extLst>
              <a:ext uri="{FF2B5EF4-FFF2-40B4-BE49-F238E27FC236}">
                <a16:creationId xmlns:a16="http://schemas.microsoft.com/office/drawing/2014/main" id="{779CD66B-6B9B-4573-8AE3-7FD395DA2B64}"/>
              </a:ext>
            </a:extLst>
          </p:cNvPr>
          <p:cNvSpPr>
            <a:spLocks noGrp="1"/>
          </p:cNvSpPr>
          <p:nvPr/>
        </p:nvSpPr>
        <p:spPr>
          <a:xfrm>
            <a:off x="1381125" y="3390900"/>
            <a:ext cx="10048875" cy="457200"/>
          </a:xfrm>
          <a:prstGeom prst="rect">
            <a:avLst/>
          </a:prstGeom>
          <a:noFill/>
          <a:ln w="0">
            <a:noFill/>
          </a:ln>
        </p:spPr>
        <p:txBody>
          <a:bodyPr wrap="square" lIns="0" tIns="0" rIns="0" bIns="0" anchor="t">
            <a:noAutofit/>
          </a:bodyPr>
          <a:lstStyle/>
          <a:p>
            <a:pPr algn="l">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Управление весами</a:t>
            </a:r>
          </a:p>
        </p:txBody>
      </p:sp>
      <p:sp>
        <p:nvSpPr>
          <p:cNvPr id="12" name="l03-content-174">
            <a:extLst>
              <a:ext uri="{FF2B5EF4-FFF2-40B4-BE49-F238E27FC236}">
                <a16:creationId xmlns:a16="http://schemas.microsoft.com/office/drawing/2014/main" id="{79967F06-DFA6-4BDB-99E7-90193FD1CA11}"/>
              </a:ext>
            </a:extLst>
          </p:cNvPr>
          <p:cNvSpPr>
            <a:spLocks noGrp="1"/>
          </p:cNvSpPr>
          <p:nvPr/>
        </p:nvSpPr>
        <p:spPr>
          <a:xfrm>
            <a:off x="1381125" y="3867150"/>
            <a:ext cx="10048875" cy="666750"/>
          </a:xfrm>
          <a:prstGeom prst="rect">
            <a:avLst/>
          </a:prstGeom>
          <a:noFill/>
          <a:ln w="0">
            <a:noFill/>
          </a:ln>
        </p:spPr>
        <p:txBody>
          <a:bodyPr wrap="square" lIns="0" tIns="0" rIns="0" bIns="0" anchor="t">
            <a:noAutofit/>
          </a:bodyPr>
          <a:lstStyle/>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Ridge сжимает веса, Lasso может их обнулить. Силу штрафа выбираем по валидации.</a:t>
            </a:r>
          </a:p>
        </p:txBody>
      </p:sp>
      <p:sp>
        <p:nvSpPr>
          <p:cNvPr id="13" name="l03-content-175">
            <a:extLst>
              <a:ext uri="{FF2B5EF4-FFF2-40B4-BE49-F238E27FC236}">
                <a16:creationId xmlns:a16="http://schemas.microsoft.com/office/drawing/2014/main" id="{6D464A90-AB01-4FDF-A86A-13745E8312D2}"/>
              </a:ext>
            </a:extLst>
          </p:cNvPr>
          <p:cNvSpPr>
            <a:spLocks noGrp="1"/>
          </p:cNvSpPr>
          <p:nvPr/>
        </p:nvSpPr>
        <p:spPr>
          <a:xfrm>
            <a:off x="590550" y="4457700"/>
            <a:ext cx="619125" cy="523875"/>
          </a:xfrm>
          <a:prstGeom prst="rect">
            <a:avLst/>
          </a:prstGeom>
          <a:noFill/>
          <a:ln w="0">
            <a:noFill/>
          </a:ln>
        </p:spPr>
        <p:txBody>
          <a:bodyPr wrap="square" lIns="0" tIns="0" rIns="0" bIns="0" anchor="t">
            <a:noAutofit/>
          </a:bodyPr>
          <a:lstStyle/>
          <a:p>
            <a:pPr algn="l">
              <a:lnSpc>
                <a:spcPct val="112000"/>
              </a:lnSpc>
              <a:buNone/>
              <a:defRPr sz="2325" b="1">
                <a:solidFill>
                  <a:srgbClr val="234A9B"/>
                </a:solidFill>
                <a:latin typeface="HSE Sans"/>
                <a:ea typeface="HSE Sans"/>
                <a:cs typeface="HSE Sans"/>
              </a:defRPr>
            </a:pPr>
            <a:r>
              <a:rPr sz="2325" b="1">
                <a:solidFill>
                  <a:srgbClr val="234A9B"/>
                </a:solidFill>
                <a:latin typeface="HSE Sans"/>
                <a:ea typeface="HSE Sans"/>
                <a:cs typeface="HSE Sans"/>
              </a:rPr>
              <a:t>3</a:t>
            </a:r>
          </a:p>
        </p:txBody>
      </p:sp>
      <p:sp>
        <p:nvSpPr>
          <p:cNvPr id="14" name="l03-content-176">
            <a:extLst>
              <a:ext uri="{FF2B5EF4-FFF2-40B4-BE49-F238E27FC236}">
                <a16:creationId xmlns:a16="http://schemas.microsoft.com/office/drawing/2014/main" id="{B3166329-5FC4-421C-B797-C6713BA28EB8}"/>
              </a:ext>
            </a:extLst>
          </p:cNvPr>
          <p:cNvSpPr>
            <a:spLocks noGrp="1"/>
          </p:cNvSpPr>
          <p:nvPr/>
        </p:nvSpPr>
        <p:spPr>
          <a:xfrm>
            <a:off x="1381125" y="4457700"/>
            <a:ext cx="10048875" cy="457200"/>
          </a:xfrm>
          <a:prstGeom prst="rect">
            <a:avLst/>
          </a:prstGeom>
          <a:noFill/>
          <a:ln w="0">
            <a:noFill/>
          </a:ln>
        </p:spPr>
        <p:txBody>
          <a:bodyPr wrap="square" lIns="0" tIns="0" rIns="0" bIns="0" anchor="t">
            <a:noAutofit/>
          </a:bodyPr>
          <a:lstStyle/>
          <a:p>
            <a:pPr algn="l">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Обучение без обращения матрицы</a:t>
            </a:r>
          </a:p>
        </p:txBody>
      </p:sp>
      <p:sp>
        <p:nvSpPr>
          <p:cNvPr id="15" name="l03-content-177">
            <a:extLst>
              <a:ext uri="{FF2B5EF4-FFF2-40B4-BE49-F238E27FC236}">
                <a16:creationId xmlns:a16="http://schemas.microsoft.com/office/drawing/2014/main" id="{45F45289-343E-4EC0-9827-5986DD93C3D4}"/>
              </a:ext>
            </a:extLst>
          </p:cNvPr>
          <p:cNvSpPr>
            <a:spLocks noGrp="1"/>
          </p:cNvSpPr>
          <p:nvPr/>
        </p:nvSpPr>
        <p:spPr>
          <a:xfrm>
            <a:off x="1381125" y="4933950"/>
            <a:ext cx="10048875" cy="666750"/>
          </a:xfrm>
          <a:prstGeom prst="rect">
            <a:avLst/>
          </a:prstGeom>
          <a:noFill/>
          <a:ln w="0">
            <a:noFill/>
          </a:ln>
        </p:spPr>
        <p:txBody>
          <a:bodyPr wrap="square" lIns="0" tIns="0" rIns="0" bIns="0" anchor="t">
            <a:noAutofit/>
          </a:bodyPr>
          <a:lstStyle/>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Градиентный спуск находит веса шаг за шагом по производным ошибки.</a:t>
            </a:r>
          </a:p>
        </p:txBody>
      </p:sp>
      <p:sp>
        <p:nvSpPr>
          <p:cNvPr id="16" name="l03-content-178">
            <a:extLst>
              <a:ext uri="{FF2B5EF4-FFF2-40B4-BE49-F238E27FC236}">
                <a16:creationId xmlns:a16="http://schemas.microsoft.com/office/drawing/2014/main" id="{B9615792-EC49-4BE6-998B-65E49ECCC384}"/>
              </a:ext>
            </a:extLst>
          </p:cNvPr>
          <p:cNvSpPr>
            <a:spLocks noGrp="1"/>
          </p:cNvSpPr>
          <p:nvPr/>
        </p:nvSpPr>
        <p:spPr>
          <a:xfrm>
            <a:off x="590550" y="5524500"/>
            <a:ext cx="619125" cy="523875"/>
          </a:xfrm>
          <a:prstGeom prst="rect">
            <a:avLst/>
          </a:prstGeom>
          <a:noFill/>
          <a:ln w="0">
            <a:noFill/>
          </a:ln>
        </p:spPr>
        <p:txBody>
          <a:bodyPr wrap="square" lIns="0" tIns="0" rIns="0" bIns="0" anchor="t">
            <a:noAutofit/>
          </a:bodyPr>
          <a:lstStyle/>
          <a:p>
            <a:pPr algn="l">
              <a:lnSpc>
                <a:spcPct val="112000"/>
              </a:lnSpc>
              <a:buNone/>
              <a:defRPr sz="2325" b="1">
                <a:solidFill>
                  <a:srgbClr val="234A9B"/>
                </a:solidFill>
                <a:latin typeface="HSE Sans"/>
                <a:ea typeface="HSE Sans"/>
                <a:cs typeface="HSE Sans"/>
              </a:defRPr>
            </a:pPr>
            <a:r>
              <a:rPr sz="2325" b="1">
                <a:solidFill>
                  <a:srgbClr val="234A9B"/>
                </a:solidFill>
                <a:latin typeface="HSE Sans"/>
                <a:ea typeface="HSE Sans"/>
                <a:cs typeface="HSE Sans"/>
              </a:rPr>
              <a:t>4</a:t>
            </a:r>
          </a:p>
        </p:txBody>
      </p:sp>
      <p:sp>
        <p:nvSpPr>
          <p:cNvPr id="17" name="l03-content-179">
            <a:extLst>
              <a:ext uri="{FF2B5EF4-FFF2-40B4-BE49-F238E27FC236}">
                <a16:creationId xmlns:a16="http://schemas.microsoft.com/office/drawing/2014/main" id="{27918438-5616-496B-ADFA-96B031D6D8E5}"/>
              </a:ext>
            </a:extLst>
          </p:cNvPr>
          <p:cNvSpPr>
            <a:spLocks noGrp="1"/>
          </p:cNvSpPr>
          <p:nvPr/>
        </p:nvSpPr>
        <p:spPr>
          <a:xfrm>
            <a:off x="1381125" y="5524500"/>
            <a:ext cx="10048875" cy="457200"/>
          </a:xfrm>
          <a:prstGeom prst="rect">
            <a:avLst/>
          </a:prstGeom>
          <a:noFill/>
          <a:ln w="0">
            <a:noFill/>
          </a:ln>
        </p:spPr>
        <p:txBody>
          <a:bodyPr wrap="square" lIns="0" tIns="0" rIns="0" bIns="0" anchor="t">
            <a:noAutofit/>
          </a:bodyPr>
          <a:lstStyle/>
          <a:p>
            <a:pPr algn="l">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Более дешёвые шаги</a:t>
            </a:r>
          </a:p>
        </p:txBody>
      </p:sp>
      <p:sp>
        <p:nvSpPr>
          <p:cNvPr id="18" name="l03-content-180">
            <a:extLst>
              <a:ext uri="{FF2B5EF4-FFF2-40B4-BE49-F238E27FC236}">
                <a16:creationId xmlns:a16="http://schemas.microsoft.com/office/drawing/2014/main" id="{4D8C4D11-BD3C-40A1-B8AC-C8E5379B6C85}"/>
              </a:ext>
            </a:extLst>
          </p:cNvPr>
          <p:cNvSpPr>
            <a:spLocks noGrp="1"/>
          </p:cNvSpPr>
          <p:nvPr/>
        </p:nvSpPr>
        <p:spPr>
          <a:xfrm>
            <a:off x="1381125" y="6000750"/>
            <a:ext cx="10048875" cy="666750"/>
          </a:xfrm>
          <a:prstGeom prst="rect">
            <a:avLst/>
          </a:prstGeom>
          <a:noFill/>
          <a:ln w="0">
            <a:noFill/>
          </a:ln>
        </p:spPr>
        <p:txBody>
          <a:bodyPr wrap="square" lIns="0" tIns="0" rIns="0" bIns="0" anchor="t">
            <a:noAutofit/>
          </a:bodyPr>
          <a:lstStyle/>
          <a:p>
            <a:pPr algn="l">
              <a:lnSpc>
                <a:spcPct val="112000"/>
              </a:lnSpc>
              <a:buNone/>
              <a:defRPr sz="1875" b="0">
                <a:solidFill>
                  <a:srgbClr val="102D69"/>
                </a:solidFill>
                <a:latin typeface="HSE Sans"/>
                <a:ea typeface="HSE Sans"/>
                <a:cs typeface="HSE Sans"/>
              </a:defRPr>
            </a:pPr>
            <a:r>
              <a:rPr sz="1875" b="0" dirty="0">
                <a:solidFill>
                  <a:srgbClr val="102D69"/>
                </a:solidFill>
                <a:latin typeface="HSE Sans"/>
                <a:ea typeface="HSE Sans"/>
                <a:cs typeface="HSE Sans"/>
              </a:rPr>
              <a:t>SGD </a:t>
            </a:r>
            <a:r>
              <a:rPr sz="1875" b="0" dirty="0" err="1">
                <a:solidFill>
                  <a:srgbClr val="102D69"/>
                </a:solidFill>
                <a:latin typeface="HSE Sans"/>
                <a:ea typeface="HSE Sans"/>
                <a:cs typeface="HSE Sans"/>
              </a:rPr>
              <a:t>и</a:t>
            </a:r>
            <a:r>
              <a:rPr sz="1875" b="0" dirty="0">
                <a:solidFill>
                  <a:srgbClr val="102D69"/>
                </a:solidFill>
                <a:latin typeface="HSE Sans"/>
                <a:ea typeface="HSE Sans"/>
                <a:cs typeface="HSE Sans"/>
              </a:rPr>
              <a:t> mini-batch </a:t>
            </a:r>
            <a:r>
              <a:rPr sz="1875" b="0" dirty="0" err="1">
                <a:solidFill>
                  <a:srgbClr val="102D69"/>
                </a:solidFill>
                <a:latin typeface="HSE Sans"/>
                <a:ea typeface="HSE Sans"/>
                <a:cs typeface="HSE Sans"/>
              </a:rPr>
              <a:t>используют</a:t>
            </a:r>
            <a:r>
              <a:rPr sz="1875" b="0" dirty="0">
                <a:solidFill>
                  <a:srgbClr val="102D69"/>
                </a:solidFill>
                <a:latin typeface="HSE Sans"/>
                <a:ea typeface="HSE Sans"/>
                <a:cs typeface="HSE Sans"/>
              </a:rPr>
              <a:t> </a:t>
            </a:r>
            <a:r>
              <a:rPr sz="1875" b="0" dirty="0" err="1">
                <a:solidFill>
                  <a:srgbClr val="102D69"/>
                </a:solidFill>
                <a:latin typeface="HSE Sans"/>
                <a:ea typeface="HSE Sans"/>
                <a:cs typeface="HSE Sans"/>
              </a:rPr>
              <a:t>часть</a:t>
            </a:r>
            <a:r>
              <a:rPr sz="1875" b="0" dirty="0">
                <a:solidFill>
                  <a:srgbClr val="102D69"/>
                </a:solidFill>
                <a:latin typeface="HSE Sans"/>
                <a:ea typeface="HSE Sans"/>
                <a:cs typeface="HSE Sans"/>
              </a:rPr>
              <a:t> </a:t>
            </a:r>
            <a:r>
              <a:rPr sz="1875" b="0" dirty="0" err="1">
                <a:solidFill>
                  <a:srgbClr val="102D69"/>
                </a:solidFill>
                <a:latin typeface="HSE Sans"/>
                <a:ea typeface="HSE Sans"/>
                <a:cs typeface="HSE Sans"/>
              </a:rPr>
              <a:t>выборки</a:t>
            </a:r>
            <a:endParaRPr sz="1875" b="0" dirty="0">
              <a:solidFill>
                <a:srgbClr val="102D69"/>
              </a:solidFill>
              <a:latin typeface="HSE Sans"/>
              <a:ea typeface="HSE Sans"/>
              <a:cs typeface="HSE Sans"/>
            </a:endParaRPr>
          </a:p>
        </p:txBody>
      </p:sp>
    </p:spTree>
    <p:extLst>
      <p:ext uri="{BB962C8B-B14F-4D97-AF65-F5344CB8AC3E}">
        <p14:creationId xmlns:p14="http://schemas.microsoft.com/office/powerpoint/2010/main" val="1409846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03-content-181">
            <a:extLst>
              <a:ext uri="{FF2B5EF4-FFF2-40B4-BE49-F238E27FC236}">
                <a16:creationId xmlns:a16="http://schemas.microsoft.com/office/drawing/2014/main" id="{CDBDA00F-5CC9-496E-A64E-4EFB70637AFA}"/>
              </a:ext>
            </a:extLst>
          </p:cNvPr>
          <p:cNvSpPr>
            <a:spLocks noGrp="1"/>
          </p:cNvSpPr>
          <p:nvPr/>
        </p:nvSpPr>
        <p:spPr>
          <a:xfrm>
            <a:off x="590550" y="5162550"/>
            <a:ext cx="11010900" cy="666750"/>
          </a:xfrm>
          <a:prstGeom prst="rect">
            <a:avLst/>
          </a:prstGeom>
          <a:noFill/>
          <a:ln w="0">
            <a:noFill/>
          </a:ln>
        </p:spPr>
        <p:txBody>
          <a:bodyPr wrap="square" lIns="0" tIns="0" rIns="0" bIns="0" anchor="t">
            <a:noAutofit/>
          </a:bodyPr>
          <a:lstStyle/>
          <a:p>
            <a:pPr algn="ctr">
              <a:lnSpc>
                <a:spcPct val="112000"/>
              </a:lnSpc>
              <a:buNone/>
              <a:defRPr sz="2700" b="0">
                <a:solidFill>
                  <a:srgbClr val="FFFFFF"/>
                </a:solidFill>
                <a:latin typeface="HSE Sans"/>
                <a:ea typeface="HSE Sans"/>
                <a:cs typeface="HSE Sans"/>
              </a:defRPr>
            </a:pPr>
            <a:r>
              <a:rPr sz="2700" b="0">
                <a:solidFill>
                  <a:srgbClr val="FFFFFF"/>
                </a:solidFill>
                <a:latin typeface="HSE Sans"/>
                <a:ea typeface="HSE Sans"/>
                <a:cs typeface="HSE Sans"/>
              </a:rPr>
              <a:t>Вопросы</a:t>
            </a:r>
          </a:p>
        </p:txBody>
      </p:sp>
    </p:spTree>
    <p:extLst>
      <p:ext uri="{BB962C8B-B14F-4D97-AF65-F5344CB8AC3E}">
        <p14:creationId xmlns:p14="http://schemas.microsoft.com/office/powerpoint/2010/main" val="1282161965"/>
      </p:ext>
    </p:extLst>
  </p:cSld>
  <p:clrMapOvr>
    <a:masterClrMapping/>
  </p:clrMapOvr>
</p:sld>
</file>

<file path=ppt/theme/theme1.xml><?xml version="1.0" encoding="utf-8"?>
<a:theme xmlns:a="http://schemas.openxmlformats.org/drawingml/2006/main" name="Office Theme">
  <a:themeElements>
    <a:clrScheme name="Пользовательские 1">
      <a:dk1>
        <a:srgbClr val="0F2C68"/>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Пользовательские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Пользовательские 1">
      <a:dk1>
        <a:srgbClr val="0F2C68"/>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Пользовательские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4416</Words>
  <Application>Microsoft Macintosh PowerPoint</Application>
  <DocSecurity>0</DocSecurity>
  <PresentationFormat>Широкоэкранный</PresentationFormat>
  <Paragraphs>839</Paragraphs>
  <Slides>42</Slides>
  <Notes>42</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42</vt:i4>
      </vt:variant>
    </vt:vector>
  </HeadingPairs>
  <TitlesOfParts>
    <vt:vector size="48" baseType="lpstr">
      <vt:lpstr>Arial</vt:lpstr>
      <vt:lpstr>Calibri</vt:lpstr>
      <vt:lpstr>Calibri Light</vt:lpstr>
      <vt:lpstr>Cambria Math</vt:lpstr>
      <vt:lpstr>HSE Sans</vt:lpstr>
      <vt:lpstr>Office Theme</vt:lpstr>
      <vt:lpstr>Линейная регрессия и градиентное обучение</vt:lpstr>
      <vt:lpstr>Содержание</vt:lpstr>
      <vt:lpstr>Валидация и кросс-валидация</vt:lpstr>
      <vt:lpstr>Как можно проверять модель</vt:lpstr>
      <vt:lpstr>Обучение, валидация и тест</vt:lpstr>
      <vt:lpstr>Стратификация</vt:lpstr>
      <vt:lpstr>K-fold: каждый блок побывает тестовым</vt:lpstr>
      <vt:lpstr>Результаты по фолдам</vt:lpstr>
      <vt:lpstr>StratifiedKFold: доли классов в каждом фолде</vt:lpstr>
      <vt:lpstr>Проверка прогноза на будущих данных</vt:lpstr>
      <vt:lpstr>Scaler обучаем на train, применяем ко всем частям</vt:lpstr>
      <vt:lpstr>Регуляризация линейной модели</vt:lpstr>
      <vt:lpstr>Большой вес усиливает погрешность признака</vt:lpstr>
      <vt:lpstr>Регуляризация: ошибка плюс штраф</vt:lpstr>
      <vt:lpstr>Перед регуляризацией масштабируем признаки</vt:lpstr>
      <vt:lpstr>Три вида регуляризации линейной модели</vt:lpstr>
      <vt:lpstr>Ridge: сумма квадратов весов</vt:lpstr>
      <vt:lpstr>Геометрия Ridge: круг допустимых весов</vt:lpstr>
      <vt:lpstr>У Ridge есть аналитическое решение</vt:lpstr>
      <vt:lpstr>Lasso: штраф за модули коэффициентов</vt:lpstr>
      <vt:lpstr>Почему Lasso зануляет веса</vt:lpstr>
      <vt:lpstr>Elastic Net объединяет два штрафа</vt:lpstr>
      <vt:lpstr>Как сила регуляризации влияет на веса</vt:lpstr>
      <vt:lpstr>Градиентный спуск</vt:lpstr>
      <vt:lpstr>Аналитическое решение: что мешает его использовать</vt:lpstr>
      <vt:lpstr>Градиент показывает направление роста</vt:lpstr>
      <vt:lpstr>Производные по всем весам</vt:lpstr>
      <vt:lpstr>Шаг в направлении антиградиента</vt:lpstr>
      <vt:lpstr>Один вес на знакомой выборке</vt:lpstr>
      <vt:lpstr>Первые шаги градиентного спуска</vt:lpstr>
      <vt:lpstr>Движение к минимуму</vt:lpstr>
      <vt:lpstr>Слишком большой шаг</vt:lpstr>
      <vt:lpstr>Масштабирование помогает оптимизации</vt:lpstr>
      <vt:lpstr>Остановка и проверка сходимости</vt:lpstr>
      <vt:lpstr>SGD, mini-batch и SAG</vt:lpstr>
      <vt:lpstr>Полный градиент усредняет вклады объектов</vt:lpstr>
      <vt:lpstr>SGD: один случайный объект на шаг</vt:lpstr>
      <vt:lpstr>Mini-batch: средний градиент по небольшой порции</vt:lpstr>
      <vt:lpstr>Почему траектория SGD шумная</vt:lpstr>
      <vt:lpstr>Длина шага в SGD</vt:lpstr>
      <vt:lpstr>Что получили в этой лекции</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t68367</cp:lastModifiedBy>
  <cp:revision>2</cp:revision>
  <dcterms:created xsi:type="dcterms:W3CDTF">2026-09-23T10:20:22Z</dcterms:created>
  <dcterms:modified xsi:type="dcterms:W3CDTF">2026-09-23T22:29:08Z</dcterms:modified>
</cp:coreProperties>
</file>