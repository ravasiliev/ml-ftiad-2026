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9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9"/>
  </p:normalViewPr>
  <p:slideViewPr>
    <p:cSldViewPr snapToGrid="0" snapToObjects="1">
      <p:cViewPr varScale="1">
        <p:scale>
          <a:sx n="115" d="100"/>
          <a:sy n="115" d="100"/>
        </p:scale>
        <p:origin x="4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Наблюдения</c:v>
          </c:tx>
          <c:spPr>
            <a:ln w="0">
              <a:noFill/>
            </a:ln>
          </c:spPr>
          <c:marker>
            <c:symbol val="circle"/>
            <c:size val="9"/>
            <c:spPr>
              <a:solidFill>
                <a:srgbClr val="102D69"/>
              </a:solidFill>
              <a:ln w="9525">
                <a:solidFill>
                  <a:srgbClr val="102D69"/>
                </a:solidFill>
              </a:ln>
            </c:spPr>
          </c:marker>
          <c:xVal>
            <c:numRef>
              <c:f>'Chart Data'!$A$2:$A$6</c:f>
              <c:numCache>
                <c:formatCode>General</c:formatCode>
                <c:ptCount val="5"/>
                <c:pt idx="0">
                  <c:v>1</c:v>
                </c:pt>
                <c:pt idx="1">
                  <c:v>2</c:v>
                </c:pt>
                <c:pt idx="2">
                  <c:v>3</c:v>
                </c:pt>
                <c:pt idx="3">
                  <c:v>4</c:v>
                </c:pt>
                <c:pt idx="4">
                  <c:v>5</c:v>
                </c:pt>
              </c:numCache>
            </c:numRef>
          </c:xVal>
          <c:yVal>
            <c:numRef>
              <c:f>'Chart Data'!$B$2:$B$6</c:f>
              <c:numCache>
                <c:formatCode>0</c:formatCode>
                <c:ptCount val="5"/>
                <c:pt idx="0">
                  <c:v>18</c:v>
                </c:pt>
                <c:pt idx="1">
                  <c:v>20</c:v>
                </c:pt>
                <c:pt idx="2">
                  <c:v>25</c:v>
                </c:pt>
                <c:pt idx="3">
                  <c:v>29</c:v>
                </c:pt>
                <c:pt idx="4">
                  <c:v>33</c:v>
                </c:pt>
              </c:numCache>
            </c:numRef>
          </c:yVal>
          <c:smooth val="1"/>
          <c:extLst>
            <c:ext xmlns:c16="http://schemas.microsoft.com/office/drawing/2014/chart" uri="{C3380CC4-5D6E-409C-BE32-E72D297353CC}">
              <c16:uniqueId val="{00000000-79C8-034F-922D-AEA2F3CD9C85}"/>
            </c:ext>
          </c:extLst>
        </c:ser>
        <c:ser>
          <c:idx val="1"/>
          <c:order val="1"/>
          <c:tx>
            <c:v>Модель</c:v>
          </c:tx>
          <c:spPr>
            <a:ln w="28575">
              <a:solidFill>
                <a:srgbClr val="234A9B"/>
              </a:solidFill>
            </a:ln>
          </c:spPr>
          <c:marker>
            <c:symbol val="none"/>
          </c:marker>
          <c:xVal>
            <c:numRef>
              <c:f>'Chart Data'!$C$2:$C$3</c:f>
              <c:numCache>
                <c:formatCode>0.00</c:formatCode>
                <c:ptCount val="2"/>
                <c:pt idx="0">
                  <c:v>1</c:v>
                </c:pt>
                <c:pt idx="1">
                  <c:v>5</c:v>
                </c:pt>
              </c:numCache>
            </c:numRef>
          </c:xVal>
          <c:yVal>
            <c:numRef>
              <c:f>'Chart Data'!$D$2:$D$3</c:f>
              <c:numCache>
                <c:formatCode>0.00</c:formatCode>
                <c:ptCount val="2"/>
                <c:pt idx="0">
                  <c:v>16</c:v>
                </c:pt>
                <c:pt idx="1">
                  <c:v>32</c:v>
                </c:pt>
              </c:numCache>
            </c:numRef>
          </c:yVal>
          <c:smooth val="1"/>
          <c:extLst>
            <c:ext xmlns:c16="http://schemas.microsoft.com/office/drawing/2014/chart" uri="{C3380CC4-5D6E-409C-BE32-E72D297353CC}">
              <c16:uniqueId val="{00000001-79C8-034F-922D-AEA2F3CD9C85}"/>
            </c:ext>
          </c:extLst>
        </c:ser>
        <c:ser>
          <c:idx val="2"/>
          <c:order val="2"/>
          <c:spPr>
            <a:ln w="28575">
              <a:solidFill>
                <a:srgbClr val="EB681F"/>
              </a:solidFill>
            </a:ln>
          </c:spPr>
          <c:marker>
            <c:symbol val="none"/>
          </c:marker>
          <c:xVal>
            <c:numRef>
              <c:f>'Chart Data'!$E$2:$E$3</c:f>
              <c:numCache>
                <c:formatCode>0.00</c:formatCode>
                <c:ptCount val="2"/>
                <c:pt idx="0">
                  <c:v>1</c:v>
                </c:pt>
                <c:pt idx="1">
                  <c:v>1</c:v>
                </c:pt>
              </c:numCache>
            </c:numRef>
          </c:xVal>
          <c:yVal>
            <c:numRef>
              <c:f>'Chart Data'!$F$2:$F$3</c:f>
              <c:numCache>
                <c:formatCode>0.00</c:formatCode>
                <c:ptCount val="2"/>
                <c:pt idx="0">
                  <c:v>18</c:v>
                </c:pt>
                <c:pt idx="1">
                  <c:v>16</c:v>
                </c:pt>
              </c:numCache>
            </c:numRef>
          </c:yVal>
          <c:smooth val="1"/>
          <c:extLst>
            <c:ext xmlns:c16="http://schemas.microsoft.com/office/drawing/2014/chart" uri="{C3380CC4-5D6E-409C-BE32-E72D297353CC}">
              <c16:uniqueId val="{00000002-79C8-034F-922D-AEA2F3CD9C85}"/>
            </c:ext>
          </c:extLst>
        </c:ser>
        <c:ser>
          <c:idx val="3"/>
          <c:order val="3"/>
          <c:spPr>
            <a:ln w="28575">
              <a:solidFill>
                <a:srgbClr val="EB681F"/>
              </a:solidFill>
            </a:ln>
          </c:spPr>
          <c:marker>
            <c:symbol val="none"/>
          </c:marker>
          <c:xVal>
            <c:numRef>
              <c:f>'Chart Data'!$G$2:$G$3</c:f>
              <c:numCache>
                <c:formatCode>0.00</c:formatCode>
                <c:ptCount val="2"/>
                <c:pt idx="0">
                  <c:v>2</c:v>
                </c:pt>
                <c:pt idx="1">
                  <c:v>2</c:v>
                </c:pt>
              </c:numCache>
            </c:numRef>
          </c:xVal>
          <c:yVal>
            <c:numRef>
              <c:f>'Chart Data'!$H$2:$H$3</c:f>
              <c:numCache>
                <c:formatCode>0.00</c:formatCode>
                <c:ptCount val="2"/>
                <c:pt idx="0">
                  <c:v>20</c:v>
                </c:pt>
                <c:pt idx="1">
                  <c:v>20</c:v>
                </c:pt>
              </c:numCache>
            </c:numRef>
          </c:yVal>
          <c:smooth val="1"/>
          <c:extLst>
            <c:ext xmlns:c16="http://schemas.microsoft.com/office/drawing/2014/chart" uri="{C3380CC4-5D6E-409C-BE32-E72D297353CC}">
              <c16:uniqueId val="{00000003-79C8-034F-922D-AEA2F3CD9C85}"/>
            </c:ext>
          </c:extLst>
        </c:ser>
        <c:ser>
          <c:idx val="4"/>
          <c:order val="4"/>
          <c:spPr>
            <a:ln w="28575">
              <a:solidFill>
                <a:srgbClr val="EB681F"/>
              </a:solidFill>
            </a:ln>
          </c:spPr>
          <c:marker>
            <c:symbol val="none"/>
          </c:marker>
          <c:xVal>
            <c:numRef>
              <c:f>'Chart Data'!$I$2:$I$3</c:f>
              <c:numCache>
                <c:formatCode>0.00</c:formatCode>
                <c:ptCount val="2"/>
                <c:pt idx="0">
                  <c:v>3</c:v>
                </c:pt>
                <c:pt idx="1">
                  <c:v>3</c:v>
                </c:pt>
              </c:numCache>
            </c:numRef>
          </c:xVal>
          <c:yVal>
            <c:numRef>
              <c:f>'Chart Data'!$J$2:$J$3</c:f>
              <c:numCache>
                <c:formatCode>0.00</c:formatCode>
                <c:ptCount val="2"/>
                <c:pt idx="0">
                  <c:v>25</c:v>
                </c:pt>
                <c:pt idx="1">
                  <c:v>24</c:v>
                </c:pt>
              </c:numCache>
            </c:numRef>
          </c:yVal>
          <c:smooth val="1"/>
          <c:extLst>
            <c:ext xmlns:c16="http://schemas.microsoft.com/office/drawing/2014/chart" uri="{C3380CC4-5D6E-409C-BE32-E72D297353CC}">
              <c16:uniqueId val="{00000004-79C8-034F-922D-AEA2F3CD9C85}"/>
            </c:ext>
          </c:extLst>
        </c:ser>
        <c:ser>
          <c:idx val="5"/>
          <c:order val="5"/>
          <c:spPr>
            <a:ln w="28575">
              <a:solidFill>
                <a:srgbClr val="EB681F"/>
              </a:solidFill>
            </a:ln>
          </c:spPr>
          <c:marker>
            <c:symbol val="none"/>
          </c:marker>
          <c:xVal>
            <c:numRef>
              <c:f>'Chart Data'!$K$2:$K$3</c:f>
              <c:numCache>
                <c:formatCode>0.00</c:formatCode>
                <c:ptCount val="2"/>
                <c:pt idx="0">
                  <c:v>4</c:v>
                </c:pt>
                <c:pt idx="1">
                  <c:v>4</c:v>
                </c:pt>
              </c:numCache>
            </c:numRef>
          </c:xVal>
          <c:yVal>
            <c:numRef>
              <c:f>'Chart Data'!$L$2:$L$3</c:f>
              <c:numCache>
                <c:formatCode>0.00</c:formatCode>
                <c:ptCount val="2"/>
                <c:pt idx="0">
                  <c:v>29</c:v>
                </c:pt>
                <c:pt idx="1">
                  <c:v>28</c:v>
                </c:pt>
              </c:numCache>
            </c:numRef>
          </c:yVal>
          <c:smooth val="1"/>
          <c:extLst>
            <c:ext xmlns:c16="http://schemas.microsoft.com/office/drawing/2014/chart" uri="{C3380CC4-5D6E-409C-BE32-E72D297353CC}">
              <c16:uniqueId val="{00000005-79C8-034F-922D-AEA2F3CD9C85}"/>
            </c:ext>
          </c:extLst>
        </c:ser>
        <c:ser>
          <c:idx val="6"/>
          <c:order val="6"/>
          <c:spPr>
            <a:ln w="28575">
              <a:solidFill>
                <a:srgbClr val="EB681F"/>
              </a:solidFill>
            </a:ln>
          </c:spPr>
          <c:marker>
            <c:symbol val="none"/>
          </c:marker>
          <c:xVal>
            <c:numRef>
              <c:f>'Chart Data'!$M$2:$M$3</c:f>
              <c:numCache>
                <c:formatCode>0.00</c:formatCode>
                <c:ptCount val="2"/>
                <c:pt idx="0">
                  <c:v>5</c:v>
                </c:pt>
                <c:pt idx="1">
                  <c:v>5</c:v>
                </c:pt>
              </c:numCache>
            </c:numRef>
          </c:xVal>
          <c:yVal>
            <c:numRef>
              <c:f>'Chart Data'!$N$2:$N$3</c:f>
              <c:numCache>
                <c:formatCode>0.00</c:formatCode>
                <c:ptCount val="2"/>
                <c:pt idx="0">
                  <c:v>33</c:v>
                </c:pt>
                <c:pt idx="1">
                  <c:v>32</c:v>
                </c:pt>
              </c:numCache>
            </c:numRef>
          </c:yVal>
          <c:smooth val="1"/>
          <c:extLst>
            <c:ext xmlns:c16="http://schemas.microsoft.com/office/drawing/2014/chart" uri="{C3380CC4-5D6E-409C-BE32-E72D297353CC}">
              <c16:uniqueId val="{00000006-79C8-034F-922D-AEA2F3CD9C85}"/>
            </c:ext>
          </c:extLst>
        </c:ser>
        <c:dLbls>
          <c:showLegendKey val="0"/>
          <c:showVal val="0"/>
          <c:showCatName val="0"/>
          <c:showSerName val="0"/>
          <c:showPercent val="0"/>
          <c:showBubbleSize val="0"/>
        </c:dLbls>
        <c:axId val="48650112"/>
        <c:axId val="48672768"/>
      </c:scatterChart>
      <c:valAx>
        <c:axId val="48672768"/>
        <c:scaling>
          <c:orientation val="minMax"/>
          <c:max val="35"/>
          <c:min val="15"/>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Время, мин</a:t>
                </a:r>
              </a:p>
            </c:rich>
          </c:tx>
          <c:overlay val="0"/>
        </c:title>
        <c:numFmt formatCode="0"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autoZero"/>
        <c:crossBetween val="midCat"/>
        <c:majorUnit val="5"/>
      </c:valAx>
      <c:valAx>
        <c:axId val="48650112"/>
        <c:scaling>
          <c:orientation val="minMax"/>
          <c:max val="5"/>
          <c:min val="1"/>
        </c:scaling>
        <c:delete val="0"/>
        <c:axPos val="b"/>
        <c:title>
          <c:tx>
            <c:rich>
              <a:bodyPr/>
              <a:lstStyle/>
              <a:p>
                <a:r>
                  <a:rPr lang="ru-RU" sz="1500">
                    <a:solidFill>
                      <a:srgbClr val="102D69"/>
                    </a:solidFill>
                    <a:latin typeface="HSE Sans"/>
                    <a:ea typeface="HSE Sans"/>
                    <a:cs typeface="HSE Sans"/>
                  </a:rPr>
                  <a:t>Расстояние, км</a:t>
                </a:r>
              </a:p>
            </c:rich>
          </c:tx>
          <c:overlay val="0"/>
        </c:title>
        <c:numFmt formatCode="General"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Ноль</c:v>
          </c:tx>
          <c:spPr>
            <a:ln w="28575">
              <a:solidFill>
                <a:srgbClr val="5F6B7A"/>
              </a:solidFill>
            </a:ln>
          </c:spPr>
          <c:marker>
            <c:symbol val="none"/>
          </c:marker>
          <c:xVal>
            <c:numRef>
              <c:f>'Chart Data'!$A$2:$A$3</c:f>
              <c:numCache>
                <c:formatCode>0.00</c:formatCode>
                <c:ptCount val="2"/>
                <c:pt idx="0">
                  <c:v>1</c:v>
                </c:pt>
                <c:pt idx="1">
                  <c:v>7</c:v>
                </c:pt>
              </c:numCache>
            </c:numRef>
          </c:xVal>
          <c:yVal>
            <c:numRef>
              <c:f>'Chart Data'!$B$2:$B$3</c:f>
              <c:numCache>
                <c:formatCode>0.00</c:formatCode>
                <c:ptCount val="2"/>
                <c:pt idx="0">
                  <c:v>0</c:v>
                </c:pt>
                <c:pt idx="1">
                  <c:v>0</c:v>
                </c:pt>
              </c:numCache>
            </c:numRef>
          </c:yVal>
          <c:smooth val="1"/>
          <c:extLst>
            <c:ext xmlns:c16="http://schemas.microsoft.com/office/drawing/2014/chart" uri="{C3380CC4-5D6E-409C-BE32-E72D297353CC}">
              <c16:uniqueId val="{00000000-8BCD-2246-B5F6-0CE583D574B7}"/>
            </c:ext>
          </c:extLst>
        </c:ser>
        <c:ser>
          <c:idx val="1"/>
          <c:order val="1"/>
          <c:tx>
            <c:v>Ошибки</c:v>
          </c:tx>
          <c:spPr>
            <a:ln w="0">
              <a:noFill/>
            </a:ln>
          </c:spPr>
          <c:marker>
            <c:symbol val="circle"/>
            <c:size val="9"/>
            <c:spPr>
              <a:solidFill>
                <a:srgbClr val="102D69"/>
              </a:solidFill>
              <a:ln w="9525">
                <a:solidFill>
                  <a:srgbClr val="102D69"/>
                </a:solidFill>
              </a:ln>
            </c:spPr>
          </c:marker>
          <c:xVal>
            <c:numRef>
              <c:f>'Chart Data'!$C$2:$C$8</c:f>
              <c:numCache>
                <c:formatCode>General</c:formatCode>
                <c:ptCount val="7"/>
                <c:pt idx="0">
                  <c:v>1</c:v>
                </c:pt>
                <c:pt idx="1">
                  <c:v>2</c:v>
                </c:pt>
                <c:pt idx="2">
                  <c:v>3</c:v>
                </c:pt>
                <c:pt idx="3">
                  <c:v>4</c:v>
                </c:pt>
                <c:pt idx="4">
                  <c:v>5</c:v>
                </c:pt>
                <c:pt idx="5">
                  <c:v>6</c:v>
                </c:pt>
                <c:pt idx="6">
                  <c:v>7</c:v>
                </c:pt>
              </c:numCache>
            </c:numRef>
          </c:xVal>
          <c:yVal>
            <c:numRef>
              <c:f>'Chart Data'!$D$2:$D$8</c:f>
              <c:numCache>
                <c:formatCode>0</c:formatCode>
                <c:ptCount val="7"/>
                <c:pt idx="0">
                  <c:v>-5</c:v>
                </c:pt>
                <c:pt idx="1">
                  <c:v>0</c:v>
                </c:pt>
                <c:pt idx="2">
                  <c:v>3</c:v>
                </c:pt>
                <c:pt idx="3">
                  <c:v>4</c:v>
                </c:pt>
                <c:pt idx="4">
                  <c:v>3</c:v>
                </c:pt>
                <c:pt idx="5">
                  <c:v>0</c:v>
                </c:pt>
                <c:pt idx="6">
                  <c:v>-5</c:v>
                </c:pt>
              </c:numCache>
            </c:numRef>
          </c:yVal>
          <c:smooth val="1"/>
          <c:extLst>
            <c:ext xmlns:c16="http://schemas.microsoft.com/office/drawing/2014/chart" uri="{C3380CC4-5D6E-409C-BE32-E72D297353CC}">
              <c16:uniqueId val="{00000001-8BCD-2246-B5F6-0CE583D574B7}"/>
            </c:ext>
          </c:extLst>
        </c:ser>
        <c:dLbls>
          <c:showLegendKey val="0"/>
          <c:showVal val="0"/>
          <c:showCatName val="0"/>
          <c:showSerName val="0"/>
          <c:showPercent val="0"/>
          <c:showBubbleSize val="0"/>
        </c:dLbls>
        <c:axId val="48650112"/>
        <c:axId val="48672768"/>
      </c:scatterChart>
      <c:valAx>
        <c:axId val="48672768"/>
        <c:scaling>
          <c:orientation val="minMax"/>
          <c:max val="6"/>
          <c:min val="-6"/>
        </c:scaling>
        <c:delete val="0"/>
        <c:axPos val="l"/>
        <c:majorGridlines>
          <c:spPr>
            <a:ln w="9525">
              <a:solidFill>
                <a:srgbClr val="DFE6F0"/>
              </a:solidFill>
            </a:ln>
          </c:spPr>
        </c:majorGridlines>
        <c:title>
          <c:tx>
            <c:rich>
              <a:bodyPr/>
              <a:lstStyle/>
              <a:p>
                <a:r>
                  <a:rPr lang="ru-RU" sz="1500">
                    <a:solidFill>
                      <a:srgbClr val="102D69"/>
                    </a:solidFill>
                    <a:latin typeface="HSE Sans"/>
                    <a:ea typeface="HSE Sans"/>
                    <a:cs typeface="HSE Sans"/>
                  </a:rPr>
                  <a:t>Прогноз − факт, мин</a:t>
                </a:r>
              </a:p>
            </c:rich>
          </c:tx>
          <c:overlay val="0"/>
        </c:title>
        <c:numFmt formatCode="0.00"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50112"/>
        <c:crosses val="autoZero"/>
        <c:crossBetween val="midCat"/>
        <c:majorUnit val="2"/>
      </c:valAx>
      <c:valAx>
        <c:axId val="48650112"/>
        <c:scaling>
          <c:orientation val="minMax"/>
          <c:max val="7"/>
          <c:min val="1"/>
        </c:scaling>
        <c:delete val="0"/>
        <c:axPos val="b"/>
        <c:title>
          <c:tx>
            <c:rich>
              <a:bodyPr/>
              <a:lstStyle/>
              <a:p>
                <a:r>
                  <a:rPr lang="ru-RU" sz="1500">
                    <a:solidFill>
                      <a:srgbClr val="102D69"/>
                    </a:solidFill>
                    <a:latin typeface="HSE Sans"/>
                    <a:ea typeface="HSE Sans"/>
                    <a:cs typeface="HSE Sans"/>
                  </a:rPr>
                  <a:t>Расстояние, км</a:t>
                </a:r>
              </a:p>
            </c:rich>
          </c:tx>
          <c:overlay val="0"/>
        </c:title>
        <c:numFmt formatCode="0.00" sourceLinked="1"/>
        <c:majorTickMark val="none"/>
        <c:minorTickMark val="none"/>
        <c:tickLblPos val="nextTo"/>
        <c:spPr>
          <a:ln w="9525">
            <a:solidFill>
              <a:srgbClr val="A6B2C4"/>
            </a:solidFill>
          </a:ln>
        </c:spPr>
        <c:txPr>
          <a:bodyPr anchorCtr="1"/>
          <a:lstStyle/>
          <a:p>
            <a:pPr>
              <a:defRPr sz="1425">
                <a:solidFill>
                  <a:srgbClr val="102D69"/>
                </a:solidFill>
                <a:latin typeface="HSE Sans"/>
                <a:ea typeface="HSE Sans"/>
                <a:cs typeface="HSE Sans"/>
              </a:defRPr>
            </a:pPr>
            <a:endParaRPr lang="ru-RU"/>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Лекция 2. Обучение линейной регрессии. Продолжение постановки первой лекции.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15660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Лекция 1 v8, слайды 22,26: линейное семейство и эмпирический риск. ЦУ, «Линейная регрессия», новый запуск, неделя 4, слайды 7–10.</a:t>
            </a:r>
          </a:p>
          <a:p>
            <a:endParaRPr/>
          </a:p>
          <a:p>
            <a:r>
              <a:t>Опора: Вышка, «Линейная регрессия», исходная лекция 2, слайды 4, 8,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Лекция 1 v8, слайд 38: используем ту же обучающую выборку; новый результат — вычисление её МНК-весов. Синтетические данные.</a:t>
            </a:r>
          </a:p>
          <a:p>
            <a:endParaRPr/>
          </a:p>
          <a:p>
            <a:r>
              <a:t>Опора: Вышка, «Линейная регрессия», исходная лекция 2, слайды 5,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7–9. Знак невязки сохранён из лекции 1: прогноз минус факт.</a:t>
            </a:r>
          </a:p>
          <a:p>
            <a:endParaRPr/>
          </a:p>
          <a:p>
            <a:r>
              <a:t>Опора: Вышка, «Линейная регрессия», исходная лекция 2, слайды 4,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7–10: развёрнутый вывод парной регрессии со свободным членом.</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7–10. Решение при ненулевом разбросе признака.</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10. Данные из лекции 1 v8: x̄=3,ȳ=25, сумма произведений=39, сумма квадратов=10.</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Данные первой лекции v8, слайд 38. Прогнозы 17.2,21.1,25,28.9,32.8; RSS=1.9,MSE=.38.</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12–16: запись прогнозов для нескольких объектов. Нагрузка добавлена в синтетический пример первой лекции.</a:t>
            </a:r>
          </a:p>
          <a:p>
            <a:endParaRPr/>
          </a:p>
          <a:p>
            <a:r>
              <a:t>Опора: Вышка, «Линейная регрессия», исходная лекция 2, слайды 4, 5,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Сохраняем X как выборку и F как матрицу признаков из лекции 1. A=[1 F] — расширенная матрица. ЦУ, «Линейная регрессия», новый запуск, неделя 4, слайды 12–16.</a:t>
            </a:r>
          </a:p>
          <a:p>
            <a:endParaRPr/>
          </a:p>
          <a:p>
            <a:r>
              <a:t>Опора: Вышка, «Линейная регрессия», исходная лекция 2, слайды 4,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16–17. rᵢ — невязка отдельного объекта; rᵀr — сумма квадратов. Не путать с метрикой R².</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17. Производная вначале записана для произвольного w. Для w* в минимуме все производные равны нулю. Для квадратичного критерия МНК это также достаточное условие.</a:t>
            </a:r>
          </a:p>
          <a:p>
            <a:endParaRPr/>
          </a:p>
          <a:p>
            <a:r>
              <a:t>Опора: Вышка, «Линейная регрессия», исходная лекция 2, слайды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14,17,21. Q выпукла при любой A. Нормальные уравнения необходимы и достаточны для минимума. Доказательство: для решения w* и любого h, Q(w*+h)=Q(w*)+hᵀAᵀAh/ℓ ≥ Q(w*). При независимых столбцах добавка строго положительна для h≠0, поэтому веса единственны. Нормальность и независимость случайных ошибок для этого алгебраического результата не требуются.</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13–17. Допустимые векторы прогнозов составляют пространство столбцов A. МНК есть ортогональная проекция y на это пространство. Проекция единственна даже при неединственности весов.</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20–22. Один и тот же признак записан в разных единицах. Два набора весов точно совпадают на всех объектах, где u=1000s.</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21. Линейная зависимость столбцов означает недостаточный столбцовый ранг; AᵀA вырождена. В примере ненулевой v=(0,−1000,1) лежит в ядре A.</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20–22. Иллюстрация чувствительности заданной модели, не результат подгонки. Компенсирующие веса возможны при почти коллинеарных признаках.</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 21. Для плотной матрицы A размера ℓ×p формирование AᵀA стоит O(ℓp²), обращение p×p — O(p³). QR/SVD не устраняют всю зависимость стоимости от p; их основная роль здесь — корректное численное решение без явной обратной.</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Дополнение к вычислительным ограничениям исходника. SciPy: https://docs.scipy.org/doc/scipy/reference/generated/scipy.linalg.qr.html . Полное QR: A=Q_qr R, квадратная Q_qr ортогональна. Умножение на Q_qrᵀ сохраняет расстояния. При полном столбцовом ранге верхний блок R треугольный и невырожденный, нижний нулевой. Решаем верхнюю систему обратной подстановкой. Буква Q в названии разложения не означает функцию потерь Q(w).</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SciPy: https://docs.scipy.org/doc/scipy/reference/generated/scipy.linalg.svd.html . SVD: A=UΣVᵀ. Σ содержит сингулярные числа. При точном нуле направление лежит в ядре; малые значения означают слабую чувствительность прогнозов к весам, а обратная задача чувствительна к шуму. Псевдообратная использует ненулевые сингулярные числа, на практике с порогом.</a:t>
            </a:r>
          </a:p>
          <a:p>
            <a:endParaRPr/>
          </a:p>
          <a:p>
            <a:r>
              <a:t>Опора: Вышка, «Линейная регрессия», исходная лекция 2, слайды 15,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Учебные данные x=1..7, y=10+2x+x². МНК-прямая a=−2+10x; r=[−5,0,3,4,3,0,−5].</a:t>
            </a:r>
          </a:p>
          <a:p>
            <a:endParaRPr/>
          </a:p>
          <a:p>
            <a:r>
              <a:t>Опора: Вышка, «Линейная регрессия», исходная лекция 2, слайды 5, 7,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60–62,76. Преобразования числовых признаков: полиномы, логарифм, корень. log(1+x) используется для неотрицательного числового x в фиксированных единицах. Логарифмирование цели меняет критерий и требует отдельного разбора.</a:t>
            </a:r>
          </a:p>
          <a:p>
            <a:endParaRPr/>
          </a:p>
          <a:p>
            <a:r>
              <a:t>Опора: Вышка, «Линейная регрессия», исходная лекция 2, слайды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63–64. Возврат к OHE из первой лекции по просьбе пользователя. Показываем точную связь индикаторов с прогнозом; коэффициенты учебные.</a:t>
            </a:r>
          </a:p>
          <a:p>
            <a:endParaRPr/>
          </a:p>
          <a:p>
            <a:r>
              <a:t>Опора: Вышка, «Линейная регрессия», исходная лекция 2, слайды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21,63. Полный OHE с intercept даёт точную линейную зависимость, поскольку индикаторы взаимоисключающих и исчерпывающих категорий суммируются в единицу.</a:t>
            </a:r>
          </a:p>
          <a:p>
            <a:endParaRPr/>
          </a:p>
          <a:p>
            <a:r>
              <a:t>Опора: Вышка, «Линейная регрессия», исходная лекция 2, слайды 6,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Учебный пример двух районов. b=1 для Центра,0 для Севера. Основной эффект категории сдвигает intercept, взаимодействие s·b меняет наклон.</a:t>
            </a:r>
          </a:p>
          <a:p>
            <a:endParaRPr/>
          </a:p>
          <a:p>
            <a:r>
              <a:t>Опора: Вышка, «Линейная регрессия», исходная лекция 2, слайды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Исходный материал Вышки: бинаризация числового признака. n — число активных заказов в момент прогноза.</a:t>
            </a:r>
          </a:p>
          <a:p>
            <a:endParaRPr/>
          </a:p>
          <a:p>
            <a:r>
              <a:t>Опора: Вышка, «Линейная регрессия», исходная лекция 2, слайды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22,66: масштабы признаков. Уточнение: для нерегуляризованного МНК с intercept обратимое масштабирование сохраняет пространство прогнозов, но не гарантирует хорошую обусловленность.</a:t>
            </a:r>
          </a:p>
          <a:p>
            <a:endParaRPr/>
          </a:p>
          <a:p>
            <a:r>
              <a:t>Опора: Вышка, «Линейная регрессия», исходная лекция 2, слайды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Практическое применение протокола лекции 1, слайды 11,37–40. Дополнение к обработке признаков ЦУ, неделя 4, слайды 57–66.</a:t>
            </a:r>
          </a:p>
          <a:p>
            <a:endParaRPr/>
          </a:p>
          <a:p>
            <a:r>
              <a:t>Опора: Вышка, «Линейная регрессия», исходная лекция 2, слайды 5,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«Линейная регрессия», новый запуск, неделя 4, слайды 4–5,20–22. Пример подогнан на данных из первой лекции.</a:t>
            </a:r>
          </a:p>
          <a:p>
            <a:endParaRPr/>
          </a:p>
          <a:p>
            <a:r>
              <a:t>Опора: Вышка, «Линейная регрессия», исходная лекция 2, слайды 4, 5,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Применение протокола лекции 1, слайды 37–40, без повторного введения train/validation/test.</a:t>
            </a:r>
          </a:p>
          <a:p>
            <a:endParaRPr/>
          </a:p>
          <a:p>
            <a:r>
              <a:t>Опора: Вышка, «Линейная регрессия», исходная лекция 2, слайды 5, 16,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Документация: https://scikit-learn.org/stable/modules/generated/sklearn.linear_model.LinearRegression.html . Обычный МНК, fit_intercept=True по умолчанию. Для плотных данных и positive=False используется scipy.linalg.lstsq. Учебные данные и ожидаемые числа совпадают со сквозным примером.</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ЦУ, прошлый запуск, «Неделя 4_ML для аналитиков», слайд 56: statsmodels.OLS и summary. Документация: https://www.statsmodels.org/stable/generated/statsmodels.regression.linear_model.OLS.html и https://www.statsmodels.org/stable/generated/statsmodels.regression.linear_model.OLS.fit.html . Матричный API OLS не добавляет intercept автоматически; по умолчанию fit использует pinv. Классические интервалы и p-values требуют статистических предпосылок, например корректной условной средней и подходящей модели ошибок.</a:t>
            </a:r>
          </a:p>
          <a:p>
            <a:endParaRPr/>
          </a:p>
          <a:p>
            <a:r>
              <a:t>Опора: Вышка, «Линейная регрессия», исходная лекция 2, слайды 14,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Сопоставление стандартного нерегуляризованного МНК. Источники: scikit-learn LinearRegression, statsmodels OLS API; ЦУ прошлый запуск, неделя 4, слайд 56. Совпадение весов при одинаковой полной по столбцам матрице и intercept; при вырожденности разные правила выбора решения могут дать разные веса.</a:t>
            </a:r>
          </a:p>
          <a:p>
            <a:endParaRPr/>
          </a:p>
          <a:p>
            <a:r>
              <a:t>Опора: Вышка, «Линейная регрессия», исходная лекция 2, слайды 14, 15,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Опора: Вышка, «Линейная регрессия», исходная лекция 2, слайды 4, 5, 6, 7, 14, 15, 16,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Историческая справка исходной лекции Вышки, слайд 3. Гальтон, 1886: связь роста родителей и взрослых детей. Это происхождение термина, а не предпосылка алгоритма МНК.</a:t>
            </a:r>
          </a:p>
          <a:p>
            <a:endParaRPr/>
          </a:p>
          <a:p>
            <a:r>
              <a:t>Опора: Вышка, «Линейная регрессия», исходная лекция 2, слайды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1" name="Picture 28"/>
          <p:cNvPicPr>
            <a:picLocks noChangeAspect="1"/>
          </p:cNvPicPr>
          <p:nvPr/>
        </p:nvPicPr>
        <p:blipFill>
          <a:blip r:embed="rId3"/>
          <a:stretch>
            <a:fillRect/>
          </a:stretch>
        </p:blipFill>
        <p:spPr>
          <a:xfrm>
            <a:off x="1013859" y="962173"/>
            <a:ext cx="886499" cy="886499"/>
          </a:xfrm>
          <a:prstGeom prst="rect">
            <a:avLst/>
          </a:prstGeom>
        </p:spPr>
      </p:pic>
      <p:sp>
        <p:nvSpPr>
          <p:cNvPr id="11" name="Straight Connector 48">
            <a:extLst>
              <a:ext uri="{FF2B5EF4-FFF2-40B4-BE49-F238E27FC236}">
                <a16:creationId xmlns:a16="http://schemas.microsoft.com/office/drawing/2014/main" id="{05AE3CF1-DD00-4084-8A55-1071BD070F2A}"/>
              </a:ext>
            </a:extLst>
          </p:cNvPr>
          <p:cNvSpPr>
            <a:spLocks noGrp="1"/>
          </p:cNvSpPr>
          <p:nvPr/>
        </p:nv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Straight Connector 50">
            <a:extLst>
              <a:ext uri="{FF2B5EF4-FFF2-40B4-BE49-F238E27FC236}">
                <a16:creationId xmlns:a16="http://schemas.microsoft.com/office/drawing/2014/main" id="{24161968-CB78-43AE-92F1-B07516D22F58}"/>
              </a:ext>
            </a:extLst>
          </p:cNvPr>
          <p:cNvSpPr>
            <a:spLocks noGrp="1"/>
          </p:cNvSpPr>
          <p:nvPr/>
        </p:nv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Straight Connector 51">
            <a:extLst>
              <a:ext uri="{FF2B5EF4-FFF2-40B4-BE49-F238E27FC236}">
                <a16:creationId xmlns:a16="http://schemas.microsoft.com/office/drawing/2014/main" id="{C276C561-9F84-4D50-806B-ABA82F4115CD}"/>
              </a:ext>
            </a:extLst>
          </p:cNvPr>
          <p:cNvSpPr>
            <a:spLocks noGrp="1"/>
          </p:cNvSpPr>
          <p:nvPr/>
        </p:nv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buNone/>
              <a:defRPr sz="4300" b="0" i="0" baseline="0">
                <a:solidFill>
                  <a:srgbClr val="0E2D69"/>
                </a:solidFill>
                <a:latin typeface="HSE Sans"/>
                <a:ea typeface="HSE Sans"/>
                <a:cs typeface="HSE Sans"/>
              </a:defRPr>
            </a:lvl1pPr>
          </a:lstStyle>
          <a:p>
            <a:r>
              <a:rPr sz="4400">
                <a:solidFill>
                  <a:srgbClr val="102D69"/>
                </a:solidFill>
                <a:latin typeface="HSE Sans"/>
                <a:ea typeface="HSE Sans"/>
                <a:cs typeface="HSE Sans"/>
              </a:rPr>
              <a:t>Название презентации</a:t>
            </a:r>
            <a:br/>
            <a:r>
              <a:rPr sz="4400">
                <a:solidFill>
                  <a:srgbClr val="102D69"/>
                </a:solidFill>
                <a:latin typeface="HSE Sans"/>
                <a:ea typeface="HSE Sans"/>
                <a:cs typeface="HSE Sans"/>
              </a:rPr>
              <a:t>может быть набрано в две </a:t>
            </a:r>
            <a:br/>
            <a:r>
              <a:rPr sz="4400">
                <a:solidFill>
                  <a:srgbClr val="102D69"/>
                </a:solidFill>
                <a:latin typeface="HSE Sans"/>
                <a:ea typeface="HSE Sans"/>
                <a:cs typeface="HSE Sans"/>
              </a:rPr>
              <a:t>или три строки (43 pt)</a:t>
            </a: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a:ea typeface="HSE Sans"/>
                <a:cs typeface="HSE Sans"/>
              </a:defRPr>
            </a:lvl1pPr>
            <a:lvl2pPr marL="457200" indent="0" algn="l">
              <a:buNone/>
              <a:defRPr sz="1600" b="0" i="0">
                <a:latin typeface="HSE Sans"/>
                <a:ea typeface="HSE Sans"/>
                <a:cs typeface="HSE Sans"/>
              </a:defRPr>
            </a:lvl2pPr>
            <a:lvl3pPr marL="914400" indent="0" algn="l">
              <a:buNone/>
              <a:defRPr sz="1600" b="0" i="0">
                <a:latin typeface="HSE Sans"/>
                <a:ea typeface="HSE Sans"/>
                <a:cs typeface="HSE Sans"/>
              </a:defRPr>
            </a:lvl3pPr>
            <a:lvl4pPr marL="1371600" indent="0" algn="l">
              <a:buNone/>
              <a:defRPr sz="1600" b="0" i="0">
                <a:latin typeface="HSE Sans"/>
                <a:ea typeface="HSE Sans"/>
                <a:cs typeface="HSE Sans"/>
              </a:defRPr>
            </a:lvl4pPr>
            <a:lvl5pPr marL="1828800" indent="0" algn="l">
              <a:buNone/>
              <a:defRPr sz="1600" b="0" i="0">
                <a:latin typeface="HSE Sans"/>
                <a:ea typeface="HSE Sans"/>
                <a:cs typeface="HSE Sans"/>
              </a:defRPr>
            </a:lvl5pPr>
          </a:lstStyle>
          <a:p>
            <a:r>
              <a:rPr>
                <a:latin typeface="HSE Sans"/>
                <a:ea typeface="HSE Sans"/>
                <a:cs typeface="HSE Sans"/>
              </a:rPr>
              <a:t>Название факультета</a:t>
            </a:r>
            <a:br/>
            <a:r>
              <a:rPr>
                <a:latin typeface="HSE Sans"/>
                <a:ea typeface="HSE Sans"/>
                <a:cs typeface="HSE Sans"/>
              </a:rPr>
              <a:t>в две строки (16 pt)</a:t>
            </a: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idx="11" hasCustomPrompt="1"/>
          </p:nvPr>
        </p:nvSpPr>
        <p:spPr>
          <a:xfrm>
            <a:off x="6259420" y="1173829"/>
            <a:ext cx="2278063"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200">
                <a:latin typeface="HSE Sans"/>
                <a:ea typeface="HSE Sans"/>
                <a:cs typeface="HSE Sans"/>
              </a:rPr>
              <a:t>Название подразделения</a:t>
            </a:r>
            <a:br/>
            <a:r>
              <a:rPr sz="1200">
                <a:latin typeface="HSE Sans"/>
                <a:ea typeface="HSE Sans"/>
                <a:cs typeface="HSE Sans"/>
              </a:rPr>
              <a:t>в две или три строки (12pt)</a:t>
            </a: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200">
                <a:latin typeface="HSE Sans"/>
                <a:ea typeface="HSE Sans"/>
                <a:cs typeface="HSE Sans"/>
              </a:rPr>
              <a:t>Москва</a:t>
            </a:r>
            <a:br/>
            <a:r>
              <a:rPr sz="1200">
                <a:latin typeface="HSE Sans"/>
                <a:ea typeface="HSE Sans"/>
                <a:cs typeface="HSE Sans"/>
              </a:rPr>
              <a:t>2022 (12pt)</a:t>
            </a: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idx="13" hasCustomPrompt="1"/>
          </p:nvPr>
        </p:nvSpPr>
        <p:spPr>
          <a:xfrm>
            <a:off x="1027967" y="4824914"/>
            <a:ext cx="7625267" cy="652860"/>
          </a:xfrm>
        </p:spPr>
        <p:txBody>
          <a:bodyPr lIns="0" tIns="0" rIns="0" bIns="0">
            <a:normAutofit/>
          </a:bodyPr>
          <a:lstStyle>
            <a:lvl1pPr marL="0" marR="0" indent="0" algn="l" defTabSz="914400">
              <a:lnSpc>
                <a:spcPct val="100000"/>
              </a:lnSpc>
              <a:spcBef>
                <a:spcPts val="0"/>
              </a:spcBef>
              <a:spcAft>
                <a:spcPts val="0"/>
              </a:spcAft>
              <a:buClrTx/>
              <a:buSzTx/>
              <a:buFont typeface="Arial"/>
              <a:buNone/>
              <a:defRPr sz="16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1600">
                <a:latin typeface="HSE Sans"/>
                <a:ea typeface="HSE Sans"/>
                <a:cs typeface="HSE Sans"/>
              </a:rPr>
              <a:t>Если нужно больше места, то используйте подзаголовок (16 pt)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3" name="Picture 4"/>
          <p:cNvPicPr>
            <a:picLocks noChangeAspect="1"/>
          </p:cNvPicPr>
          <p:nvPr/>
        </p:nvPicPr>
        <p:blipFill>
          <a:blip r:embed="rId3"/>
          <a:stretch>
            <a:fillRect/>
          </a:stretch>
        </p:blipFill>
        <p:spPr>
          <a:xfrm>
            <a:off x="517199" y="464363"/>
            <a:ext cx="448276" cy="448276"/>
          </a:xfrm>
          <a:prstGeom prst="rect">
            <a:avLst/>
          </a:prstGeom>
        </p:spPr>
      </p:pic>
      <p:sp>
        <p:nvSpPr>
          <p:cNvPr id="11" name="Straight Connector 19">
            <a:extLst>
              <a:ext uri="{FF2B5EF4-FFF2-40B4-BE49-F238E27FC236}">
                <a16:creationId xmlns:a16="http://schemas.microsoft.com/office/drawing/2014/main" id="{3C5FC20E-43D2-4B3F-8B60-6BDD8169DC54}"/>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Straight Connector 21">
            <a:extLst>
              <a:ext uri="{FF2B5EF4-FFF2-40B4-BE49-F238E27FC236}">
                <a16:creationId xmlns:a16="http://schemas.microsoft.com/office/drawing/2014/main" id="{FFE138D6-4DAB-44F9-8ADF-573486A53F5A}"/>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Straight Connector 25">
            <a:extLst>
              <a:ext uri="{FF2B5EF4-FFF2-40B4-BE49-F238E27FC236}">
                <a16:creationId xmlns:a16="http://schemas.microsoft.com/office/drawing/2014/main" id="{AF665329-5541-4256-9152-171309B37C0E}"/>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7" name="TextBox 16">
            <a:extLst>
              <a:ext uri="{FF2B5EF4-FFF2-40B4-BE49-F238E27FC236}">
                <a16:creationId xmlns:a16="http://schemas.microsoft.com/office/drawing/2014/main" id="{24D3A12E-0E10-C441-81D2-C3C1EB6A053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9" name="Straight Connector 59">
            <a:extLst>
              <a:ext uri="{FF2B5EF4-FFF2-40B4-BE49-F238E27FC236}">
                <a16:creationId xmlns:a16="http://schemas.microsoft.com/office/drawing/2014/main" id="{1CFF0C66-9054-4662-B0B9-E6240153009F}"/>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24" name="Рисунок 23">
            <a:extLst>
              <a:ext uri="{FF2B5EF4-FFF2-40B4-BE49-F238E27FC236}">
                <a16:creationId xmlns:a16="http://schemas.microsoft.com/office/drawing/2014/main" id="{61115A7A-23E5-E442-9551-F72F1CDA57B9}"/>
              </a:ext>
            </a:extLst>
          </p:cNvPr>
          <p:cNvSpPr>
            <a:spLocks noGrp="1"/>
          </p:cNvSpPr>
          <p:nvPr>
            <p:ph type="pic"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a:lnSpc>
                <a:spcPct val="90000"/>
              </a:lnSpc>
              <a:spcBef>
                <a:spcPts val="1000"/>
              </a:spcBef>
              <a:spcAft>
                <a:spcPts val="0"/>
              </a:spcAft>
              <a:buClrTx/>
              <a:buSzTx/>
              <a:buFont typeface="Arial"/>
              <a:buNone/>
              <a:defRPr sz="1200">
                <a:solidFill>
                  <a:schemeClr val="bg2">
                    <a:lumMod val="10000"/>
                  </a:schemeClr>
                </a:solidFill>
              </a:defRPr>
            </a:lvl1pPr>
          </a:lstStyle>
          <a:p>
            <a:pPr marL="0" marR="0" lvl="0" indent="0" algn="ctr" defTabSz="914400">
              <a:lnSpc>
                <a:spcPct val="90000"/>
              </a:lnSpc>
              <a:spcBef>
                <a:spcPts val="1000"/>
              </a:spcBef>
              <a:spcAft>
                <a:spcPts val="0"/>
              </a:spcAft>
              <a:buClrTx/>
              <a:buSzTx/>
              <a:buFont typeface="Arial"/>
              <a:buNone/>
            </a:pPr>
            <a:r>
              <a:rPr sz="2800">
                <a:solidFill>
                  <a:schemeClr val="tx1"/>
                </a:solidFill>
                <a:latin typeface="HSE Sans"/>
                <a:ea typeface="HSE Sans"/>
                <a:cs typeface="HSE Sans"/>
              </a:rPr>
              <a:t>Чтобы слайд не выглядел пустым, сюда можно поставить иллюстрацию или фотографию</a:t>
            </a: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a:t>
            </a:r>
            <a:br/>
            <a:r>
              <a:rPr sz="2400">
                <a:solidFill>
                  <a:srgbClr val="102D69"/>
                </a:solidFill>
                <a:latin typeface="HSE Sans"/>
                <a:ea typeface="HSE Sans"/>
                <a:cs typeface="HSE Sans"/>
              </a:rPr>
              <a:t>в две или три строки (24 pt)</a:t>
            </a: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idx="12" hasCustomPrompt="1"/>
          </p:nvPr>
        </p:nvSpPr>
        <p:spPr>
          <a:xfrm>
            <a:off x="585897" y="2379663"/>
            <a:ext cx="5245561" cy="3393234"/>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pPr lvl="0">
              <a:buNone/>
            </a:pPr>
            <a:r>
              <a:t>Небольшие куски текста (13pt) 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74F42842-D1B5-44D7-A289-01B82C5B6A60}"/>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2B068C69-9C87-4863-AB53-E8649BE3F515}"/>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371A0DE9-2AFF-4C25-A40B-2D98B9D0A173}"/>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55E88681-53A8-3B45-B80A-372EDFB53883}"/>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EB37EB1C-B45C-4A86-85D3-B5211D9A127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5026DBD8-54A3-1446-9D3B-BA2B38460F1E}"/>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7"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F2714CDC-F1F9-4D30-ACBA-C83E57385060}"/>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8FE29557-25BC-4DB6-B4F9-2040A38D44DA}"/>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B44D2385-31DA-494E-8231-885ECD1036AD}"/>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05ECCF8F-5855-7943-B503-5573887A534D}"/>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B8559420-946E-4E7F-AA5A-2832FD785B10}"/>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C2D710AE-3CBE-5940-A7EB-F96132E6592D}"/>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pPr lvl="0">
              <a:buNone/>
            </a:pPr>
            <a:r>
              <a:t>Небольшие куски текста (13pt) 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idx="18" hasCustomPrompt="1"/>
          </p:nvPr>
        </p:nvSpPr>
        <p:spPr>
          <a:xfrm>
            <a:off x="6259892" y="2379663"/>
            <a:ext cx="5383968" cy="3451794"/>
          </a:xfrm>
        </p:spPr>
        <p:txBody>
          <a:bodyPr lIns="0" tIns="0" rIns="0" bIns="0">
            <a:normAutofit/>
          </a:bodyPr>
          <a:lstStyle>
            <a:lvl1pPr marL="0" marR="0" indent="0" algn="l" defTabSz="914400">
              <a:lnSpc>
                <a:spcPct val="90000"/>
              </a:lnSpc>
              <a:spcBef>
                <a:spcPts val="1000"/>
              </a:spcBef>
              <a:spcAft>
                <a:spcPts val="0"/>
              </a:spcAft>
              <a:buClrTx/>
              <a:buSzTx/>
              <a:buFont typeface="Arial"/>
              <a:buNone/>
              <a:defRPr sz="3200" b="0" i="0">
                <a:solidFill>
                  <a:srgbClr val="0E2D69"/>
                </a:solidFill>
                <a:latin typeface="HSE Sans"/>
                <a:ea typeface="HSE Sans"/>
                <a:cs typeface="HSE Sans"/>
              </a:defRPr>
            </a:lvl1pPr>
          </a:lstStyle>
          <a:p>
            <a:pPr marL="0" marR="0" lvl="0" indent="0" algn="l" defTabSz="914400">
              <a:lnSpc>
                <a:spcPct val="90000"/>
              </a:lnSpc>
              <a:spcBef>
                <a:spcPts val="1000"/>
              </a:spcBef>
              <a:spcAft>
                <a:spcPts val="0"/>
              </a:spcAft>
              <a:buClrTx/>
              <a:buSzTx/>
              <a:buFont typeface="Arial"/>
              <a:buNone/>
            </a:pPr>
            <a:r>
              <a:rPr sz="3200">
                <a:solidFill>
                  <a:srgbClr val="102D69"/>
                </a:solidFill>
                <a:latin typeface="HSE Sans"/>
                <a:ea typeface="HSE Sans"/>
                <a:cs typeface="HSE Sans"/>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buNone/>
            </a:pPr>
            <a:endParaRPr/>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3"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017CA01A-1791-46ED-AFD9-9C24E8A8CB98}"/>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317D1F0D-6FFE-41E3-9C28-A0E8CA4CCC92}"/>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66A42531-C57E-44D0-AACF-0829B8F12C80}"/>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66DF89EC-1E7C-3B40-85F4-6D19A7D29AC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F3844572-95CA-4373-8763-BE7589B24C3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A9BD5ADD-B3F2-C342-82F7-83683F040D2F}"/>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a:t>
            </a:r>
            <a:br/>
            <a:r>
              <a:rPr sz="2400">
                <a:solidFill>
                  <a:srgbClr val="102D69"/>
                </a:solidFill>
                <a:latin typeface="HSE Sans"/>
                <a:ea typeface="HSE Sans"/>
                <a:cs typeface="HSE Sans"/>
              </a:rPr>
              <a:t>в две или три строки (24 pt)</a:t>
            </a: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idx="10"/>
          </p:nvPr>
        </p:nvSpPr>
        <p:spPr>
          <a:xfrm>
            <a:off x="5272097" y="1447790"/>
            <a:ext cx="6371768" cy="4289457"/>
          </a:xfrm>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0"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9A8BD64A-9BF1-4C43-9EFA-9125F90CCF30}"/>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D5B6A094-A23A-4B31-89B6-151948EFE97E}"/>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395F4ECA-F72E-413E-838E-EAE91C633A54}"/>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C65A5D7C-EB12-9D4D-A99A-4B26C81B738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4F6EF351-5751-4A0C-BB5B-3ED00AC3DE7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3E0AB43B-5E98-6042-A282-C61E0C5A37B9}"/>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idx="16" hasCustomPrompt="1"/>
          </p:nvPr>
        </p:nvSpPr>
        <p:spPr>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000">
                <a:latin typeface="HSE Sans"/>
                <a:ea typeface="HSE Sans"/>
                <a:cs typeface="HSE Sans"/>
              </a:rPr>
              <a:t>Примечания, или любая другая пояснительная или дополнительная информация набираются шрифтом размером 10 pt</a:t>
            </a: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idx="10"/>
          </p:nvPr>
        </p:nvSpPr>
        <p:spPr>
          <a:xfrm>
            <a:off x="5272097" y="1447790"/>
            <a:ext cx="6371768" cy="4289457"/>
          </a:xfrm>
        </p:spPr>
        <p:txBody>
          <a:bodyPr/>
          <a:lstStyle/>
          <a:p>
            <a:endParaRPr/>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idx="17" hasCustomPrompt="1"/>
          </p:nvPr>
        </p:nvSpPr>
        <p:spPr>
          <a:xfrm>
            <a:off x="585788" y="1447064"/>
            <a:ext cx="4322762" cy="703205"/>
          </a:xfrm>
        </p:spPr>
        <p:txBody>
          <a:bodyPr>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графика. Обратите внимание, что название графика набирается меньшим кеглем, чем заголовок (16pt)</a:t>
            </a: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2" name="Picture 4"/>
          <p:cNvPicPr>
            <a:picLocks noChangeAspect="1"/>
          </p:cNvPicPr>
          <p:nvPr/>
        </p:nvPicPr>
        <p:blipFill>
          <a:blip r:embed="rId3"/>
          <a:stretch>
            <a:fillRect/>
          </a:stretch>
        </p:blipFill>
        <p:spPr>
          <a:xfrm>
            <a:off x="517199" y="464363"/>
            <a:ext cx="448276" cy="448276"/>
          </a:xfrm>
          <a:prstGeom prst="rect">
            <a:avLst/>
          </a:prstGeom>
        </p:spPr>
      </p:pic>
      <p:sp>
        <p:nvSpPr>
          <p:cNvPr id="7" name="Straight Connector 19">
            <a:extLst>
              <a:ext uri="{FF2B5EF4-FFF2-40B4-BE49-F238E27FC236}">
                <a16:creationId xmlns:a16="http://schemas.microsoft.com/office/drawing/2014/main" id="{36EB0C1E-34D8-4006-94E9-23664564715D}"/>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8" name="Straight Connector 21">
            <a:extLst>
              <a:ext uri="{FF2B5EF4-FFF2-40B4-BE49-F238E27FC236}">
                <a16:creationId xmlns:a16="http://schemas.microsoft.com/office/drawing/2014/main" id="{81AACA18-C0C4-49B9-8BF7-CE9F7E9CD6BF}"/>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5">
            <a:extLst>
              <a:ext uri="{FF2B5EF4-FFF2-40B4-BE49-F238E27FC236}">
                <a16:creationId xmlns:a16="http://schemas.microsoft.com/office/drawing/2014/main" id="{E87F82C9-AFDD-4268-859D-8FF3278E3E8A}"/>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TextBox 9">
            <a:extLst>
              <a:ext uri="{FF2B5EF4-FFF2-40B4-BE49-F238E27FC236}">
                <a16:creationId xmlns:a16="http://schemas.microsoft.com/office/drawing/2014/main" id="{30460EF6-ECAD-8941-8132-1B3E005D6067}"/>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1" name="Straight Connector 59">
            <a:extLst>
              <a:ext uri="{FF2B5EF4-FFF2-40B4-BE49-F238E27FC236}">
                <a16:creationId xmlns:a16="http://schemas.microsoft.com/office/drawing/2014/main" id="{648570D1-F0EA-40D0-8961-A366D3FE4CCF}"/>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Текст 37">
            <a:extLst>
              <a:ext uri="{FF2B5EF4-FFF2-40B4-BE49-F238E27FC236}">
                <a16:creationId xmlns:a16="http://schemas.microsoft.com/office/drawing/2014/main" id="{D9986185-6D5E-FD48-A5CA-AF2D5B58A3E7}"/>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Заголовок может быть набран в две или три строки (24 pt)</a:t>
            </a: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idx="12" hasCustomPrompt="1"/>
          </p:nvPr>
        </p:nvSpPr>
        <p:spPr>
          <a:xfrm>
            <a:off x="575076" y="4103994"/>
            <a:ext cx="2758143"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idx="16" hasCustomPrompt="1"/>
          </p:nvPr>
        </p:nvSpPr>
        <p:spPr>
          <a:xfrm>
            <a:off x="4047007"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idx="17" hasCustomPrompt="1"/>
          </p:nvPr>
        </p:nvSpPr>
        <p:spPr>
          <a:xfrm>
            <a:off x="7518938"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idx="18" hasCustomPrompt="1"/>
          </p:nvPr>
        </p:nvSpPr>
        <p:spPr>
          <a:xfrm>
            <a:off x="575076"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152</a:t>
            </a:r>
            <a:endParaRPr/>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idx="19" hasCustomPrompt="1"/>
          </p:nvPr>
        </p:nvSpPr>
        <p:spPr>
          <a:xfrm>
            <a:off x="4047007"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95</a:t>
            </a:r>
            <a:endParaRPr/>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idx="20" hasCustomPrompt="1"/>
          </p:nvPr>
        </p:nvSpPr>
        <p:spPr>
          <a:xfrm>
            <a:off x="7518938" y="2710235"/>
            <a:ext cx="2758143" cy="1164116"/>
          </a:xfrm>
        </p:spPr>
        <p:txBody>
          <a:bodyPr lIns="0" tIns="0" rIns="0" bIns="0">
            <a:noAutofit/>
          </a:bodyPr>
          <a:lstStyle>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a:pPr lvl="0">
              <a:buNone/>
            </a:pPr>
            <a:r>
              <a:rPr sz="9600">
                <a:solidFill>
                  <a:srgbClr val="102D69"/>
                </a:solidFill>
                <a:latin typeface="HSE Sans"/>
                <a:ea typeface="HSE Sans"/>
                <a:cs typeface="HSE Sans"/>
              </a:rPr>
              <a:t>284</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1" name="Picture 4"/>
          <p:cNvPicPr>
            <a:picLocks noChangeAspect="1"/>
          </p:cNvPicPr>
          <p:nvPr/>
        </p:nvPicPr>
        <p:blipFill>
          <a:blip r:embed="rId3"/>
          <a:stretch>
            <a:fillRect/>
          </a:stretch>
        </p:blipFill>
        <p:spPr>
          <a:xfrm>
            <a:off x="517199" y="464363"/>
            <a:ext cx="448276" cy="448276"/>
          </a:xfrm>
          <a:prstGeom prst="rect">
            <a:avLst/>
          </a:prstGeom>
        </p:spPr>
      </p:pic>
      <p:sp>
        <p:nvSpPr>
          <p:cNvPr id="6" name="Straight Connector 19">
            <a:extLst>
              <a:ext uri="{FF2B5EF4-FFF2-40B4-BE49-F238E27FC236}">
                <a16:creationId xmlns:a16="http://schemas.microsoft.com/office/drawing/2014/main" id="{2ABED628-863D-4975-804B-3867A24A966B}"/>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7" name="Straight Connector 21">
            <a:extLst>
              <a:ext uri="{FF2B5EF4-FFF2-40B4-BE49-F238E27FC236}">
                <a16:creationId xmlns:a16="http://schemas.microsoft.com/office/drawing/2014/main" id="{FA618616-F9E9-48B5-9EFC-71A9559A4B7C}"/>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8" name="Straight Connector 25">
            <a:extLst>
              <a:ext uri="{FF2B5EF4-FFF2-40B4-BE49-F238E27FC236}">
                <a16:creationId xmlns:a16="http://schemas.microsoft.com/office/drawing/2014/main" id="{8E33D1AC-A36D-4410-9F42-EE3AC0CC16E7}"/>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TextBox 8">
            <a:extLst>
              <a:ext uri="{FF2B5EF4-FFF2-40B4-BE49-F238E27FC236}">
                <a16:creationId xmlns:a16="http://schemas.microsoft.com/office/drawing/2014/main" id="{764502F5-56EE-354B-A3B1-E79F8B00517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0" name="Straight Connector 59">
            <a:extLst>
              <a:ext uri="{FF2B5EF4-FFF2-40B4-BE49-F238E27FC236}">
                <a16:creationId xmlns:a16="http://schemas.microsoft.com/office/drawing/2014/main" id="{F6D9E30F-DC7F-4250-B12A-2CD29E8EB365}"/>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Текст 37">
            <a:extLst>
              <a:ext uri="{FF2B5EF4-FFF2-40B4-BE49-F238E27FC236}">
                <a16:creationId xmlns:a16="http://schemas.microsoft.com/office/drawing/2014/main" id="{6EC59AAD-5962-8D49-BF4D-7DA5D573073E}"/>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таблицы. Обратите внимание, что название графика набирается меньшим кеглем, чем заголовок (16pt)</a:t>
            </a: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idx="18" hasCustomPrompt="1"/>
          </p:nvPr>
        </p:nvSpPr>
        <p:spPr>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a:pPr marL="0" marR="0" lvl="0" indent="0" algn="l" defTabSz="914400">
              <a:lnSpc>
                <a:spcPct val="100000"/>
              </a:lnSpc>
              <a:spcBef>
                <a:spcPts val="600"/>
              </a:spcBef>
              <a:spcAft>
                <a:spcPts val="0"/>
              </a:spcAft>
              <a:buClrTx/>
              <a:buSzTx/>
              <a:buFontTx/>
              <a:buNone/>
            </a:pPr>
            <a:r>
              <a:rPr sz="1300" b="0">
                <a:ln>
                  <a:noFill/>
                </a:ln>
                <a:latin typeface="HSE Sans"/>
                <a:ea typeface="HSE Sans"/>
                <a:cs typeface="HSE Sans"/>
              </a:rPr>
              <a:t>Мы рекомендуем очень аккуратно использовать жирное начертание, старайтесь выделять жирным самое важное. </a:t>
            </a:r>
            <a:r>
              <a:rPr sz="1300">
                <a:latin typeface="HSE Sans"/>
                <a:ea typeface="HSE Sans"/>
                <a:cs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a typeface="HSE Sans"/>
              <a:cs typeface="HSE Sans"/>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idx="19"/>
          </p:nvPr>
        </p:nvSpPr>
        <p:spPr>
          <a:xfrm>
            <a:off x="585787" y="1984076"/>
            <a:ext cx="11058527" cy="3519576"/>
          </a:xfrm>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3"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EA8F8736-89CA-4D2D-BBC5-F651528A4F79}"/>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4CD1B803-017C-4535-8F05-C75DF69DA4CD}"/>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98E2AF35-0713-44C6-9068-69A4C02CEDA5}"/>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F33F65D6-1072-F140-B6A5-758D7B595A9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5DF64F11-AFF8-4BAD-834A-12A43AE5963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44D0326E-FD7A-3541-A998-62A1C30E2738}"/>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a:r>
              <a:rPr sz="1600">
                <a:solidFill>
                  <a:srgbClr val="102D69"/>
                </a:solidFill>
                <a:latin typeface="HSE Sans"/>
                <a:ea typeface="HSE Sans"/>
                <a:cs typeface="HSE Sans"/>
              </a:rPr>
              <a:t>Название таблицы. Обратите внимание, что название графика набирается меньшим кеглем, чем заголовок (16pt)</a:t>
            </a: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idx="18" hasCustomPrompt="1"/>
          </p:nvPr>
        </p:nvSpPr>
        <p:spPr>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a:pPr marL="0" marR="0" lvl="0" indent="0" algn="l" defTabSz="914400">
              <a:lnSpc>
                <a:spcPct val="100000"/>
              </a:lnSpc>
              <a:spcBef>
                <a:spcPts val="600"/>
              </a:spcBef>
              <a:spcAft>
                <a:spcPts val="0"/>
              </a:spcAft>
              <a:buClrTx/>
              <a:buSzTx/>
              <a:buFontTx/>
              <a:buNone/>
            </a:pPr>
            <a:r>
              <a:rPr sz="1300" b="0">
                <a:ln>
                  <a:noFill/>
                </a:ln>
                <a:latin typeface="HSE Sans"/>
                <a:ea typeface="HSE Sans"/>
                <a:cs typeface="HSE Sans"/>
              </a:rPr>
              <a:t>Мы рекомендуем очень аккуратно использовать жирное начертание, старайтесь выделять жирным самое важное. </a:t>
            </a:r>
            <a:r>
              <a:rPr sz="1300">
                <a:latin typeface="HSE Sans"/>
                <a:ea typeface="HSE Sans"/>
                <a:cs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a typeface="HSE Sans"/>
              <a:cs typeface="HSE Sans"/>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idx="19"/>
          </p:nvPr>
        </p:nvSpPr>
        <p:spPr>
          <a:xfrm>
            <a:off x="585787" y="2208362"/>
            <a:ext cx="7617895" cy="3295290"/>
          </a:xfrm>
        </p:spPr>
        <p:txBody>
          <a:bodyPr/>
          <a:lstStyle/>
          <a:p>
            <a:endParaRPr/>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idx="12" hasCustomPrompt="1"/>
          </p:nvPr>
        </p:nvSpPr>
        <p:spPr>
          <a:xfrm>
            <a:off x="8686807" y="2208363"/>
            <a:ext cx="2930666" cy="2570672"/>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2" name="Picture 4"/>
          <p:cNvPicPr>
            <a:picLocks noChangeAspect="1"/>
          </p:cNvPicPr>
          <p:nvPr/>
        </p:nvPicPr>
        <p:blipFill>
          <a:blip r:embed="rId3"/>
          <a:stretch>
            <a:fillRect/>
          </a:stretch>
        </p:blipFill>
        <p:spPr>
          <a:xfrm>
            <a:off x="517199" y="464363"/>
            <a:ext cx="448276" cy="448276"/>
          </a:xfrm>
          <a:prstGeom prst="rect">
            <a:avLst/>
          </a:prstGeom>
        </p:spPr>
      </p:pic>
      <p:sp>
        <p:nvSpPr>
          <p:cNvPr id="8" name="Straight Connector 19">
            <a:extLst>
              <a:ext uri="{FF2B5EF4-FFF2-40B4-BE49-F238E27FC236}">
                <a16:creationId xmlns:a16="http://schemas.microsoft.com/office/drawing/2014/main" id="{C82E667B-4707-450B-8192-CC54F80DCC25}"/>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9" name="Straight Connector 21">
            <a:extLst>
              <a:ext uri="{FF2B5EF4-FFF2-40B4-BE49-F238E27FC236}">
                <a16:creationId xmlns:a16="http://schemas.microsoft.com/office/drawing/2014/main" id="{65AF42BB-248E-46F9-BE71-80A7D02B1C4C}"/>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5">
            <a:extLst>
              <a:ext uri="{FF2B5EF4-FFF2-40B4-BE49-F238E27FC236}">
                <a16:creationId xmlns:a16="http://schemas.microsoft.com/office/drawing/2014/main" id="{97D3485A-D872-4C94-AC4C-D47DD20C1C61}"/>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TextBox 10">
            <a:extLst>
              <a:ext uri="{FF2B5EF4-FFF2-40B4-BE49-F238E27FC236}">
                <a16:creationId xmlns:a16="http://schemas.microsoft.com/office/drawing/2014/main" id="{3A39D099-B515-F343-BF7A-A95468DA3860}"/>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a:ext uri="{FF2B5EF4-FFF2-40B4-BE49-F238E27FC236}">
                <a16:creationId xmlns:a16="http://schemas.microsoft.com/office/drawing/2014/main" id="{5CF3C56E-A0E6-4429-B8BD-6D73F15DC09B}"/>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3" name="Текст 37">
            <a:extLst>
              <a:ext uri="{FF2B5EF4-FFF2-40B4-BE49-F238E27FC236}">
                <a16:creationId xmlns:a16="http://schemas.microsoft.com/office/drawing/2014/main" id="{9C21DFE9-C3B2-C54E-9275-7776355F7360}"/>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buNone/>
              <a:defRPr sz="2400" b="0" i="0">
                <a:latin typeface="HSE Sans"/>
                <a:ea typeface="HSE Sans"/>
                <a:cs typeface="HSE Sans"/>
              </a:defRPr>
            </a:lvl1pPr>
          </a:lstStyle>
          <a:p>
            <a:r>
              <a:rPr sz="2400">
                <a:solidFill>
                  <a:srgbClr val="102D69"/>
                </a:solidFill>
                <a:latin typeface="HSE Sans"/>
                <a:ea typeface="HSE Sans"/>
                <a:cs typeface="HSE Sans"/>
              </a:rPr>
              <a:t>Дополнительная </a:t>
            </a:r>
            <a:br/>
            <a:r>
              <a:rPr sz="2400">
                <a:solidFill>
                  <a:srgbClr val="102D69"/>
                </a:solidFill>
                <a:latin typeface="HSE Sans"/>
                <a:ea typeface="HSE Sans"/>
                <a:cs typeface="HSE Sans"/>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idx="12" hasCustomPrompt="1"/>
          </p:nvPr>
        </p:nvSpPr>
        <p:spPr>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a:r>
              <a:rPr sz="1300">
                <a:latin typeface="HSE Sans"/>
                <a:ea typeface="HSE Sans"/>
                <a:cs typeface="HSE Sans"/>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a:spLocks noGrp="1"/>
          </p:cNvSpPr>
          <p:nvPr/>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Oval 20">
            <a:extLst>
              <a:ext uri="{FF2B5EF4-FFF2-40B4-BE49-F238E27FC236}">
                <a16:creationId xmlns:a16="http://schemas.microsoft.com/office/drawing/2014/main" id="{42ABAA5D-E7AB-6E48-9D43-A48178C9BDD4}"/>
              </a:ext>
            </a:extLst>
          </p:cNvPr>
          <p:cNvSpPr>
            <a:spLocks noGrp="1"/>
          </p:cNvSpPr>
          <p:nvPr/>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Oval 22">
            <a:extLst>
              <a:ext uri="{FF2B5EF4-FFF2-40B4-BE49-F238E27FC236}">
                <a16:creationId xmlns:a16="http://schemas.microsoft.com/office/drawing/2014/main" id="{209F185A-8F67-9C42-A7C5-87E483F4FC19}"/>
              </a:ext>
            </a:extLst>
          </p:cNvPr>
          <p:cNvSpPr>
            <a:spLocks noGrp="1"/>
          </p:cNvSpPr>
          <p:nvPr/>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Oval 23">
            <a:extLst>
              <a:ext uri="{FF2B5EF4-FFF2-40B4-BE49-F238E27FC236}">
                <a16:creationId xmlns:a16="http://schemas.microsoft.com/office/drawing/2014/main" id="{279AE0F6-4E37-6C4D-AF45-824EEE489A15}"/>
              </a:ext>
            </a:extLst>
          </p:cNvPr>
          <p:cNvSpPr>
            <a:spLocks noGrp="1"/>
          </p:cNvSpPr>
          <p:nvPr/>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Oval 26">
            <a:extLst>
              <a:ext uri="{FF2B5EF4-FFF2-40B4-BE49-F238E27FC236}">
                <a16:creationId xmlns:a16="http://schemas.microsoft.com/office/drawing/2014/main" id="{330C0EA4-7FD1-CE4D-AC95-8C484C5AC790}"/>
              </a:ext>
            </a:extLst>
          </p:cNvPr>
          <p:cNvSpPr>
            <a:spLocks noGrp="1"/>
          </p:cNvSpPr>
          <p:nvPr/>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Oval 29">
            <a:extLst>
              <a:ext uri="{FF2B5EF4-FFF2-40B4-BE49-F238E27FC236}">
                <a16:creationId xmlns:a16="http://schemas.microsoft.com/office/drawing/2014/main" id="{4C53CF3D-7EFB-DF4F-8EA6-5644574E9AFB}"/>
              </a:ext>
            </a:extLst>
          </p:cNvPr>
          <p:cNvSpPr>
            <a:spLocks noGrp="1"/>
          </p:cNvSpPr>
          <p:nvPr/>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Oval 33">
            <a:extLst>
              <a:ext uri="{FF2B5EF4-FFF2-40B4-BE49-F238E27FC236}">
                <a16:creationId xmlns:a16="http://schemas.microsoft.com/office/drawing/2014/main" id="{B42CE88A-E9A3-2A4E-BD50-EB37311F39EC}"/>
              </a:ext>
            </a:extLst>
          </p:cNvPr>
          <p:cNvSpPr>
            <a:spLocks noGrp="1"/>
          </p:cNvSpPr>
          <p:nvPr/>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 name="Oval 34">
            <a:extLst>
              <a:ext uri="{FF2B5EF4-FFF2-40B4-BE49-F238E27FC236}">
                <a16:creationId xmlns:a16="http://schemas.microsoft.com/office/drawing/2014/main" id="{B699EFDF-DB9D-3C4F-9D1F-461508017BDA}"/>
              </a:ext>
            </a:extLst>
          </p:cNvPr>
          <p:cNvSpPr>
            <a:spLocks noGrp="1"/>
          </p:cNvSpPr>
          <p:nvPr/>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9" name="Oval 35">
            <a:extLst>
              <a:ext uri="{FF2B5EF4-FFF2-40B4-BE49-F238E27FC236}">
                <a16:creationId xmlns:a16="http://schemas.microsoft.com/office/drawing/2014/main" id="{5DF3131C-EEA1-5446-B567-C9DA0A2A1AFF}"/>
              </a:ext>
            </a:extLst>
          </p:cNvPr>
          <p:cNvSpPr>
            <a:spLocks noGrp="1"/>
          </p:cNvSpPr>
          <p:nvPr/>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0" name="Oval 36">
            <a:extLst>
              <a:ext uri="{FF2B5EF4-FFF2-40B4-BE49-F238E27FC236}">
                <a16:creationId xmlns:a16="http://schemas.microsoft.com/office/drawing/2014/main" id="{6D03B317-B61D-2945-8C0A-A6EBD87ACD07}"/>
              </a:ext>
            </a:extLst>
          </p:cNvPr>
          <p:cNvSpPr>
            <a:spLocks noGrp="1"/>
          </p:cNvSpPr>
          <p:nvPr/>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Oval 37">
            <a:extLst>
              <a:ext uri="{FF2B5EF4-FFF2-40B4-BE49-F238E27FC236}">
                <a16:creationId xmlns:a16="http://schemas.microsoft.com/office/drawing/2014/main" id="{9C0266F1-C0B7-624A-A873-5F2C8801E766}"/>
              </a:ext>
            </a:extLst>
          </p:cNvPr>
          <p:cNvSpPr>
            <a:spLocks noGrp="1"/>
          </p:cNvSpPr>
          <p:nvPr/>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2" name="Oval 38">
            <a:extLst>
              <a:ext uri="{FF2B5EF4-FFF2-40B4-BE49-F238E27FC236}">
                <a16:creationId xmlns:a16="http://schemas.microsoft.com/office/drawing/2014/main" id="{30C0C10E-388C-9843-8270-19D471BD3756}"/>
              </a:ext>
            </a:extLst>
          </p:cNvPr>
          <p:cNvSpPr>
            <a:spLocks noGrp="1"/>
          </p:cNvSpPr>
          <p:nvPr/>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Oval 39">
            <a:extLst>
              <a:ext uri="{FF2B5EF4-FFF2-40B4-BE49-F238E27FC236}">
                <a16:creationId xmlns:a16="http://schemas.microsoft.com/office/drawing/2014/main" id="{87047EA3-79D2-8644-A568-E64AA1D7D370}"/>
              </a:ext>
            </a:extLst>
          </p:cNvPr>
          <p:cNvSpPr>
            <a:spLocks noGrp="1"/>
          </p:cNvSpPr>
          <p:nvPr/>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Oval 40">
            <a:extLst>
              <a:ext uri="{FF2B5EF4-FFF2-40B4-BE49-F238E27FC236}">
                <a16:creationId xmlns:a16="http://schemas.microsoft.com/office/drawing/2014/main" id="{7F5D1C6B-4E6B-0346-A5DC-C511DB14EFD6}"/>
              </a:ext>
            </a:extLst>
          </p:cNvPr>
          <p:cNvSpPr>
            <a:spLocks noGrp="1"/>
          </p:cNvSpPr>
          <p:nvPr/>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Oval 41">
            <a:extLst>
              <a:ext uri="{FF2B5EF4-FFF2-40B4-BE49-F238E27FC236}">
                <a16:creationId xmlns:a16="http://schemas.microsoft.com/office/drawing/2014/main" id="{EB421DBA-35DE-2C4F-A89E-27F0998EF4E8}"/>
              </a:ext>
            </a:extLst>
          </p:cNvPr>
          <p:cNvSpPr>
            <a:spLocks noGrp="1"/>
          </p:cNvSpPr>
          <p:nvPr/>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Oval 42">
            <a:extLst>
              <a:ext uri="{FF2B5EF4-FFF2-40B4-BE49-F238E27FC236}">
                <a16:creationId xmlns:a16="http://schemas.microsoft.com/office/drawing/2014/main" id="{081BD842-A9A1-5B44-81ED-A97BA390032B}"/>
              </a:ext>
            </a:extLst>
          </p:cNvPr>
          <p:cNvSpPr>
            <a:spLocks noGrp="1"/>
          </p:cNvSpPr>
          <p:nvPr/>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7" name="Oval 43">
            <a:extLst>
              <a:ext uri="{FF2B5EF4-FFF2-40B4-BE49-F238E27FC236}">
                <a16:creationId xmlns:a16="http://schemas.microsoft.com/office/drawing/2014/main" id="{036EE7D2-A33A-434C-B272-C82E2CDD4D4D}"/>
              </a:ext>
            </a:extLst>
          </p:cNvPr>
          <p:cNvSpPr>
            <a:spLocks noGrp="1"/>
          </p:cNvSpPr>
          <p:nvPr/>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8" name="Oval 44">
            <a:extLst>
              <a:ext uri="{FF2B5EF4-FFF2-40B4-BE49-F238E27FC236}">
                <a16:creationId xmlns:a16="http://schemas.microsoft.com/office/drawing/2014/main" id="{7DD65DA4-F076-C242-813E-8C17DCABCCFB}"/>
              </a:ext>
            </a:extLst>
          </p:cNvPr>
          <p:cNvSpPr>
            <a:spLocks noGrp="1"/>
          </p:cNvSpPr>
          <p:nvPr/>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Oval 45">
            <a:extLst>
              <a:ext uri="{FF2B5EF4-FFF2-40B4-BE49-F238E27FC236}">
                <a16:creationId xmlns:a16="http://schemas.microsoft.com/office/drawing/2014/main" id="{8A44D99D-BF66-2848-B460-F59D8ECF5690}"/>
              </a:ext>
            </a:extLst>
          </p:cNvPr>
          <p:cNvSpPr>
            <a:spLocks noGrp="1"/>
          </p:cNvSpPr>
          <p:nvPr/>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0" name="Oval 46">
            <a:extLst>
              <a:ext uri="{FF2B5EF4-FFF2-40B4-BE49-F238E27FC236}">
                <a16:creationId xmlns:a16="http://schemas.microsoft.com/office/drawing/2014/main" id="{9B130CEB-3D74-B647-BA6B-32F7D70FD354}"/>
              </a:ext>
            </a:extLst>
          </p:cNvPr>
          <p:cNvSpPr>
            <a:spLocks noGrp="1"/>
          </p:cNvSpPr>
          <p:nvPr/>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4"/>
          <p:cNvPicPr>
            <a:picLocks noChangeAspect="1"/>
          </p:cNvPicPr>
          <p:nvPr/>
        </p:nvPicPr>
        <p:blipFill>
          <a:blip r:embed="rId3"/>
          <a:stretch>
            <a:fillRect/>
          </a:stretch>
        </p:blipFill>
        <p:spPr>
          <a:xfrm>
            <a:off x="517199" y="464363"/>
            <a:ext cx="448276" cy="448276"/>
          </a:xfrm>
          <a:prstGeom prst="rect">
            <a:avLst/>
          </a:prstGeom>
        </p:spPr>
      </p:pic>
      <p:sp>
        <p:nvSpPr>
          <p:cNvPr id="9" name="Straight Connector 19">
            <a:extLst>
              <a:ext uri="{FF2B5EF4-FFF2-40B4-BE49-F238E27FC236}">
                <a16:creationId xmlns:a16="http://schemas.microsoft.com/office/drawing/2014/main" id="{7E376EEC-E947-424F-9144-9B937672C75D}"/>
              </a:ext>
            </a:extLst>
          </p:cNvPr>
          <p:cNvSpPr>
            <a:spLocks noGrp="1"/>
          </p:cNvSpPr>
          <p:nvPr/>
        </p:nv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0" name="Straight Connector 21">
            <a:extLst>
              <a:ext uri="{FF2B5EF4-FFF2-40B4-BE49-F238E27FC236}">
                <a16:creationId xmlns:a16="http://schemas.microsoft.com/office/drawing/2014/main" id="{268032F9-9437-46DD-B036-04AD60B9103F}"/>
              </a:ext>
            </a:extLst>
          </p:cNvPr>
          <p:cNvSpPr>
            <a:spLocks noGrp="1"/>
          </p:cNvSpPr>
          <p:nvPr/>
        </p:nv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1" name="Straight Connector 25">
            <a:extLst>
              <a:ext uri="{FF2B5EF4-FFF2-40B4-BE49-F238E27FC236}">
                <a16:creationId xmlns:a16="http://schemas.microsoft.com/office/drawing/2014/main" id="{5D7D1A56-CC54-484E-AAE0-3EDA0CC7B17C}"/>
              </a:ext>
            </a:extLst>
          </p:cNvPr>
          <p:cNvSpPr>
            <a:spLocks noGrp="1"/>
          </p:cNvSpPr>
          <p:nvPr/>
        </p:nv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2" name="TextBox 11">
            <a:extLst>
              <a:ext uri="{FF2B5EF4-FFF2-40B4-BE49-F238E27FC236}">
                <a16:creationId xmlns:a16="http://schemas.microsoft.com/office/drawing/2014/main" id="{C62171D1-2A5B-7A4A-9760-17CCE51B9802}"/>
              </a:ext>
            </a:extLst>
          </p:cNvPr>
          <p:cNvSpPr>
            <a:spLocks noGrp="1"/>
          </p:cNvSpPr>
          <p:nvPr/>
        </p:nvSpPr>
        <p:spPr>
          <a:xfrm>
            <a:off x="10410201" y="532278"/>
            <a:ext cx="671977" cy="307777"/>
          </a:xfrm>
          <a:prstGeom prst="rect">
            <a:avLst/>
          </a:prstGeom>
          <a:noFill/>
        </p:spPr>
        <p:txBody>
          <a:bodyPr wrap="square" lIns="0" tIns="0" rIns="0" bIns="0">
            <a:spAutoFit/>
          </a:bodyPr>
          <a:lstStyle/>
          <a:p>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a:ext uri="{FF2B5EF4-FFF2-40B4-BE49-F238E27FC236}">
                <a16:creationId xmlns:a16="http://schemas.microsoft.com/office/drawing/2014/main" id="{025C4944-6337-4922-9EE2-6F566563CA06}"/>
              </a:ext>
            </a:extLst>
          </p:cNvPr>
          <p:cNvSpPr>
            <a:spLocks noGrp="1"/>
          </p:cNvSpPr>
          <p:nvPr/>
        </p:nv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sp>
      <p:sp>
        <p:nvSpPr>
          <p:cNvPr id="14" name="Текст 37">
            <a:extLst>
              <a:ext uri="{FF2B5EF4-FFF2-40B4-BE49-F238E27FC236}">
                <a16:creationId xmlns:a16="http://schemas.microsoft.com/office/drawing/2014/main" id="{9856D01B-EC9A-6047-B7FB-D47084AB3F50}"/>
              </a:ext>
            </a:extLst>
          </p:cNvPr>
          <p:cNvSpPr>
            <a:spLocks noGrp="1"/>
          </p:cNvSpPr>
          <p:nvPr>
            <p:ph type="body" idx="13" hasCustomPrompt="1"/>
          </p:nvPr>
        </p:nvSpPr>
        <p:spPr>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a:pPr marL="0" marR="0" lvl="0" indent="0" algn="l" defTabSz="914400">
              <a:lnSpc>
                <a:spcPct val="100000"/>
              </a:lnSpc>
              <a:spcBef>
                <a:spcPts val="1000"/>
              </a:spcBef>
              <a:spcAft>
                <a:spcPts val="0"/>
              </a:spcAft>
              <a:buClrTx/>
              <a:buSzTx/>
              <a:buFont typeface="Arial"/>
              <a:buNone/>
            </a:pPr>
            <a:r>
              <a:rPr sz="1000">
                <a:latin typeface="HSE Sans"/>
                <a:ea typeface="HSE Sans"/>
                <a:cs typeface="HSE Sans"/>
              </a:rPr>
              <a:t>Название подразделения</a:t>
            </a:r>
            <a:br/>
            <a:r>
              <a:rPr sz="1000">
                <a:latin typeface="HSE Sans"/>
                <a:ea typeface="HSE Sans"/>
                <a:cs typeface="HSE Sans"/>
              </a:rPr>
              <a:t>в две или три строки (10pt)</a:t>
            </a: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презентации может быть набрано в две или три строки (10pt)</a:t>
            </a: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a:r>
              <a:rPr sz="1000">
                <a:latin typeface="HSE Sans"/>
                <a:ea typeface="HSE Sans"/>
                <a:cs typeface="HSE Sans"/>
              </a:rPr>
              <a:t>Название раздела может быть набрано в две или три строки (10pt)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a:spLocks noGrp="1"/>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buNone/>
            </a:pPr>
            <a:endParaRPr/>
          </a:p>
        </p:txBody>
      </p:sp>
      <p:pic>
        <p:nvPicPr>
          <p:cNvPr id="6" name="Picture 1"/>
          <p:cNvPicPr>
            <a:picLocks noChangeAspect="1"/>
          </p:cNvPicPr>
          <p:nvPr/>
        </p:nvPicPr>
        <p:blipFill>
          <a:blip r:embed="rId3"/>
          <a:srcRect/>
          <a:stretch/>
        </p:blipFill>
        <p:spPr>
          <a:xfrm>
            <a:off x="5310809" y="2643809"/>
            <a:ext cx="1570383" cy="157038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3063DFB-8595-A44B-9F09-A50FA310E559}" type="datetimeFigureOut">
              <a:t>16.09.2026</a:t>
            </a:fld>
            <a:endParaRPr/>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4C20F133-126C-5944-A0E4-6A9616EDC0D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p:txBody>
          <a:bodyPr/>
          <a:lstStyle/>
          <a:p>
            <a:r>
              <a:t>Линейная регрессия</a:t>
            </a: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idx="10"/>
          </p:nvPr>
        </p:nvSpPr>
        <p:spPr/>
        <p:txBody>
          <a:bodyPr/>
          <a:lstStyle/>
          <a:p>
            <a:r>
              <a:t>Национальный Исследовательский Университет «Высшая Школа Экономики»</a:t>
            </a:r>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p:txBody>
          <a:bodyPr/>
          <a:lstStyle/>
          <a:p>
            <a:r>
              <a:t>2026</a:t>
            </a: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idx="13"/>
          </p:nvPr>
        </p:nvSpPr>
        <p:spPr/>
        <p:txBody>
          <a:bodyPr/>
          <a:lstStyle/>
          <a:p>
            <a:r>
              <a:t>Лекция 2</a:t>
            </a:r>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lang="ru-RU" sz="3200" b="1" dirty="0">
                <a:solidFill>
                  <a:srgbClr val="102D69"/>
                </a:solidFill>
                <a:latin typeface="HSE Sans"/>
                <a:ea typeface="HSE Sans"/>
                <a:cs typeface="HSE Sans"/>
              </a:rPr>
              <a:t>Формула оценки:</a:t>
            </a:r>
            <a:endParaRPr sz="3200" b="1" dirty="0"/>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План лекции</a:t>
            </a:r>
          </a:p>
        </p:txBody>
      </p:sp>
      <p:sp>
        <p:nvSpPr>
          <p:cNvPr id="18" name="l02-content-12">
            <a:extLst>
              <a:ext uri="{FF2B5EF4-FFF2-40B4-BE49-F238E27FC236}">
                <a16:creationId xmlns:a16="http://schemas.microsoft.com/office/drawing/2014/main" id="{A9AA978C-0A3D-4970-AD98-551902844266}"/>
              </a:ext>
            </a:extLst>
          </p:cNvPr>
          <p:cNvSpPr>
            <a:spLocks noGrp="1"/>
          </p:cNvSpPr>
          <p:nvPr/>
        </p:nvSpPr>
        <p:spPr>
          <a:xfrm>
            <a:off x="712052" y="2567421"/>
            <a:ext cx="10001250" cy="3300994"/>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lang="ru-RU" dirty="0"/>
              <a:t>0.25*ДЗ + 0.3*ПР + 0.15*КР + 0.3*ЭКЗ</a:t>
            </a:r>
            <a:br>
              <a:rPr lang="ru-RU" dirty="0"/>
            </a:br>
            <a:br>
              <a:rPr lang="ru-RU" dirty="0"/>
            </a:br>
            <a:r>
              <a:rPr lang="ru-RU" dirty="0"/>
              <a:t>ДЗ – средний балл за все </a:t>
            </a:r>
            <a:r>
              <a:rPr lang="ru-RU" dirty="0" err="1"/>
              <a:t>дз</a:t>
            </a:r>
            <a:r>
              <a:rPr lang="ru-RU" dirty="0"/>
              <a:t> </a:t>
            </a:r>
            <a:br>
              <a:rPr lang="ru-RU" dirty="0"/>
            </a:br>
            <a:r>
              <a:rPr lang="ru-RU" dirty="0"/>
              <a:t>ПР – средний балл за все проверочные (будет 3-4 штуки)</a:t>
            </a:r>
            <a:br>
              <a:rPr lang="ru-RU" dirty="0"/>
            </a:br>
            <a:r>
              <a:rPr lang="ru-RU" dirty="0"/>
              <a:t>КР – балл за контрольную работу (в конец ноября – начало декабря по пройденным темам)</a:t>
            </a:r>
            <a:br>
              <a:rPr lang="ru-RU" dirty="0"/>
            </a:br>
            <a:r>
              <a:rPr lang="ru-RU" dirty="0"/>
              <a:t>ЭКЗ – балл за экзамен</a:t>
            </a:r>
            <a:br>
              <a:rPr lang="ru-RU" dirty="0"/>
            </a:br>
            <a:br>
              <a:rPr lang="ru-RU" dirty="0"/>
            </a:br>
            <a:endParaRPr sz="2100" b="0" dirty="0">
              <a:solidFill>
                <a:srgbClr val="102D69"/>
              </a:solidFill>
              <a:latin typeface="HSE Sans"/>
              <a:ea typeface="HSE Sans"/>
              <a:cs typeface="HSE Sans"/>
            </a:endParaRPr>
          </a:p>
        </p:txBody>
      </p:sp>
    </p:spTree>
    <p:extLst>
      <p:ext uri="{BB962C8B-B14F-4D97-AF65-F5344CB8AC3E}">
        <p14:creationId xmlns:p14="http://schemas.microsoft.com/office/powerpoint/2010/main" val="162887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Содержание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План лекции</a:t>
            </a:r>
          </a:p>
        </p:txBody>
      </p:sp>
      <p:sp>
        <p:nvSpPr>
          <p:cNvPr id="7" name="l02-content-1">
            <a:extLst>
              <a:ext uri="{FF2B5EF4-FFF2-40B4-BE49-F238E27FC236}">
                <a16:creationId xmlns:a16="http://schemas.microsoft.com/office/drawing/2014/main" id="{59DD6ABF-DE1C-40DF-B3BF-0C63B37F80E5}"/>
              </a:ext>
            </a:extLst>
          </p:cNvPr>
          <p:cNvSpPr>
            <a:spLocks noGrp="1"/>
          </p:cNvSpPr>
          <p:nvPr/>
        </p:nvSpPr>
        <p:spPr>
          <a:xfrm>
            <a:off x="590550" y="232410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1</a:t>
            </a:r>
          </a:p>
        </p:txBody>
      </p:sp>
      <p:sp>
        <p:nvSpPr>
          <p:cNvPr id="8" name="l02-content-2">
            <a:extLst>
              <a:ext uri="{FF2B5EF4-FFF2-40B4-BE49-F238E27FC236}">
                <a16:creationId xmlns:a16="http://schemas.microsoft.com/office/drawing/2014/main" id="{26C7D659-36D7-44D1-89D7-D63AA6440430}"/>
              </a:ext>
            </a:extLst>
          </p:cNvPr>
          <p:cNvSpPr>
            <a:spLocks noGrp="1"/>
          </p:cNvSpPr>
          <p:nvPr/>
        </p:nvSpPr>
        <p:spPr>
          <a:xfrm>
            <a:off x="1381125" y="232410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МНК для одного признака</a:t>
            </a:r>
          </a:p>
        </p:txBody>
      </p:sp>
      <p:sp>
        <p:nvSpPr>
          <p:cNvPr id="9" name="l02-content-3">
            <a:extLst>
              <a:ext uri="{FF2B5EF4-FFF2-40B4-BE49-F238E27FC236}">
                <a16:creationId xmlns:a16="http://schemas.microsoft.com/office/drawing/2014/main" id="{60E2BBE9-6C22-401F-B22C-C6255234671F}"/>
              </a:ext>
            </a:extLst>
          </p:cNvPr>
          <p:cNvSpPr>
            <a:spLocks noGrp="1"/>
          </p:cNvSpPr>
          <p:nvPr/>
        </p:nvSpPr>
        <p:spPr>
          <a:xfrm>
            <a:off x="590550" y="295275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2</a:t>
            </a:r>
          </a:p>
        </p:txBody>
      </p:sp>
      <p:sp>
        <p:nvSpPr>
          <p:cNvPr id="10" name="l02-content-4">
            <a:extLst>
              <a:ext uri="{FF2B5EF4-FFF2-40B4-BE49-F238E27FC236}">
                <a16:creationId xmlns:a16="http://schemas.microsoft.com/office/drawing/2014/main" id="{201EF180-99EB-4CF7-822E-483BB6BCE68A}"/>
              </a:ext>
            </a:extLst>
          </p:cNvPr>
          <p:cNvSpPr>
            <a:spLocks noGrp="1"/>
          </p:cNvSpPr>
          <p:nvPr/>
        </p:nvSpPr>
        <p:spPr>
          <a:xfrm>
            <a:off x="1381125" y="295275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Матричное решение МНК</a:t>
            </a:r>
          </a:p>
        </p:txBody>
      </p:sp>
      <p:sp>
        <p:nvSpPr>
          <p:cNvPr id="11" name="l02-content-5">
            <a:extLst>
              <a:ext uri="{FF2B5EF4-FFF2-40B4-BE49-F238E27FC236}">
                <a16:creationId xmlns:a16="http://schemas.microsoft.com/office/drawing/2014/main" id="{6A25D169-C8EE-4319-9504-739750BB07F3}"/>
              </a:ext>
            </a:extLst>
          </p:cNvPr>
          <p:cNvSpPr>
            <a:spLocks noGrp="1"/>
          </p:cNvSpPr>
          <p:nvPr/>
        </p:nvSpPr>
        <p:spPr>
          <a:xfrm>
            <a:off x="590550" y="358140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3</a:t>
            </a:r>
          </a:p>
        </p:txBody>
      </p:sp>
      <p:sp>
        <p:nvSpPr>
          <p:cNvPr id="12" name="l02-content-6">
            <a:extLst>
              <a:ext uri="{FF2B5EF4-FFF2-40B4-BE49-F238E27FC236}">
                <a16:creationId xmlns:a16="http://schemas.microsoft.com/office/drawing/2014/main" id="{9830FEDB-7F1C-4AD3-AAFA-C260C16770A6}"/>
              </a:ext>
            </a:extLst>
          </p:cNvPr>
          <p:cNvSpPr>
            <a:spLocks noGrp="1"/>
          </p:cNvSpPr>
          <p:nvPr/>
        </p:nvSpPr>
        <p:spPr>
          <a:xfrm>
            <a:off x="1381125" y="358140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Зависимые признаки и устойчивость</a:t>
            </a:r>
          </a:p>
        </p:txBody>
      </p:sp>
      <p:sp>
        <p:nvSpPr>
          <p:cNvPr id="13" name="l02-content-7">
            <a:extLst>
              <a:ext uri="{FF2B5EF4-FFF2-40B4-BE49-F238E27FC236}">
                <a16:creationId xmlns:a16="http://schemas.microsoft.com/office/drawing/2014/main" id="{27E04169-2EAB-443C-A768-552E5108E286}"/>
              </a:ext>
            </a:extLst>
          </p:cNvPr>
          <p:cNvSpPr>
            <a:spLocks noGrp="1"/>
          </p:cNvSpPr>
          <p:nvPr/>
        </p:nvSpPr>
        <p:spPr>
          <a:xfrm>
            <a:off x="590550" y="421005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4</a:t>
            </a:r>
          </a:p>
        </p:txBody>
      </p:sp>
      <p:sp>
        <p:nvSpPr>
          <p:cNvPr id="14" name="l02-content-8">
            <a:extLst>
              <a:ext uri="{FF2B5EF4-FFF2-40B4-BE49-F238E27FC236}">
                <a16:creationId xmlns:a16="http://schemas.microsoft.com/office/drawing/2014/main" id="{CF7345BB-FB14-4963-B4DE-AFD1CA52D199}"/>
              </a:ext>
            </a:extLst>
          </p:cNvPr>
          <p:cNvSpPr>
            <a:spLocks noGrp="1"/>
          </p:cNvSpPr>
          <p:nvPr/>
        </p:nvSpPr>
        <p:spPr>
          <a:xfrm>
            <a:off x="1381125" y="421005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Обработка признаков</a:t>
            </a:r>
          </a:p>
        </p:txBody>
      </p:sp>
      <p:sp>
        <p:nvSpPr>
          <p:cNvPr id="15" name="l02-content-9">
            <a:extLst>
              <a:ext uri="{FF2B5EF4-FFF2-40B4-BE49-F238E27FC236}">
                <a16:creationId xmlns:a16="http://schemas.microsoft.com/office/drawing/2014/main" id="{EE872825-1FD4-408B-9B5E-3A2552FC8FF5}"/>
              </a:ext>
            </a:extLst>
          </p:cNvPr>
          <p:cNvSpPr>
            <a:spLocks noGrp="1"/>
          </p:cNvSpPr>
          <p:nvPr/>
        </p:nvSpPr>
        <p:spPr>
          <a:xfrm>
            <a:off x="590550" y="483870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5</a:t>
            </a:r>
          </a:p>
        </p:txBody>
      </p:sp>
      <p:sp>
        <p:nvSpPr>
          <p:cNvPr id="16" name="l02-content-10">
            <a:extLst>
              <a:ext uri="{FF2B5EF4-FFF2-40B4-BE49-F238E27FC236}">
                <a16:creationId xmlns:a16="http://schemas.microsoft.com/office/drawing/2014/main" id="{DFC6C7B0-8A33-4C04-9131-513B0CB50326}"/>
              </a:ext>
            </a:extLst>
          </p:cNvPr>
          <p:cNvSpPr>
            <a:spLocks noGrp="1"/>
          </p:cNvSpPr>
          <p:nvPr/>
        </p:nvSpPr>
        <p:spPr>
          <a:xfrm>
            <a:off x="1381125" y="483870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Интерпретация и проверка модели</a:t>
            </a:r>
          </a:p>
        </p:txBody>
      </p:sp>
      <p:sp>
        <p:nvSpPr>
          <p:cNvPr id="17" name="l02-content-11">
            <a:extLst>
              <a:ext uri="{FF2B5EF4-FFF2-40B4-BE49-F238E27FC236}">
                <a16:creationId xmlns:a16="http://schemas.microsoft.com/office/drawing/2014/main" id="{D076388C-201A-4D07-A3A5-A1F6DDFBC523}"/>
              </a:ext>
            </a:extLst>
          </p:cNvPr>
          <p:cNvSpPr>
            <a:spLocks noGrp="1"/>
          </p:cNvSpPr>
          <p:nvPr/>
        </p:nvSpPr>
        <p:spPr>
          <a:xfrm>
            <a:off x="590550" y="5467350"/>
            <a:ext cx="619125" cy="476250"/>
          </a:xfrm>
          <a:prstGeom prst="rect">
            <a:avLst/>
          </a:prstGeom>
          <a:noFill/>
          <a:ln w="0">
            <a:noFill/>
          </a:ln>
        </p:spPr>
        <p:txBody>
          <a:bodyPr wrap="square" lIns="0" tIns="0" rIns="0" bIns="0" anchor="t">
            <a:noAutofit/>
          </a:bodyPr>
          <a:lstStyle/>
          <a:p>
            <a:pPr algn="l">
              <a:lnSpc>
                <a:spcPct val="112000"/>
              </a:lnSpc>
              <a:buNone/>
              <a:defRPr sz="2100" b="1">
                <a:solidFill>
                  <a:srgbClr val="234A9B"/>
                </a:solidFill>
                <a:latin typeface="HSE Sans"/>
                <a:ea typeface="HSE Sans"/>
                <a:cs typeface="HSE Sans"/>
              </a:defRPr>
            </a:pPr>
            <a:r>
              <a:rPr sz="2100" b="1">
                <a:solidFill>
                  <a:srgbClr val="234A9B"/>
                </a:solidFill>
                <a:latin typeface="HSE Sans"/>
                <a:ea typeface="HSE Sans"/>
                <a:cs typeface="HSE Sans"/>
              </a:rPr>
              <a:t>6</a:t>
            </a:r>
          </a:p>
        </p:txBody>
      </p:sp>
      <p:sp>
        <p:nvSpPr>
          <p:cNvPr id="18" name="l02-content-12">
            <a:extLst>
              <a:ext uri="{FF2B5EF4-FFF2-40B4-BE49-F238E27FC236}">
                <a16:creationId xmlns:a16="http://schemas.microsoft.com/office/drawing/2014/main" id="{A9AA978C-0A3D-4970-AD98-551902844266}"/>
              </a:ext>
            </a:extLst>
          </p:cNvPr>
          <p:cNvSpPr>
            <a:spLocks noGrp="1"/>
          </p:cNvSpPr>
          <p:nvPr/>
        </p:nvSpPr>
        <p:spPr>
          <a:xfrm>
            <a:off x="1381125" y="5467350"/>
            <a:ext cx="10001250" cy="55245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Линейная регрессия в Python</a:t>
            </a:r>
          </a:p>
        </p:txBody>
      </p:sp>
    </p:spTree>
    <p:extLst>
      <p:ext uri="{BB962C8B-B14F-4D97-AF65-F5344CB8AC3E}">
        <p14:creationId xmlns:p14="http://schemas.microsoft.com/office/powerpoint/2010/main" val="14098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МНК для одного признака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13">
            <a:extLst>
              <a:ext uri="{FF2B5EF4-FFF2-40B4-BE49-F238E27FC236}">
                <a16:creationId xmlns:a16="http://schemas.microsoft.com/office/drawing/2014/main" id="{63BD6F7D-93FE-4168-93DA-C5D119E90BB9}"/>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01</a:t>
            </a:r>
          </a:p>
        </p:txBody>
      </p:sp>
      <p:sp>
        <p:nvSpPr>
          <p:cNvPr id="8" name="l02-content-14">
            <a:extLst>
              <a:ext uri="{FF2B5EF4-FFF2-40B4-BE49-F238E27FC236}">
                <a16:creationId xmlns:a16="http://schemas.microsoft.com/office/drawing/2014/main" id="{7EA7C581-F2A0-429E-8BFF-C4E71E07277F}"/>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Линейная модель: наклон и свободный член</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Невязка и сумма квадратов ошибок</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Условия минимума и расчёт коэффициентов</a:t>
            </a:r>
          </a:p>
        </p:txBody>
      </p:sp>
    </p:spTree>
    <p:extLst>
      <p:ext uri="{BB962C8B-B14F-4D97-AF65-F5344CB8AC3E}">
        <p14:creationId xmlns:p14="http://schemas.microsoft.com/office/powerpoint/2010/main" val="14098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Обучение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15">
            <a:extLst>
              <a:ext uri="{FF2B5EF4-FFF2-40B4-BE49-F238E27FC236}">
                <a16:creationId xmlns:a16="http://schemas.microsoft.com/office/drawing/2014/main" id="{8E48F8E1-8155-4C00-8341-524E5D3BA162}"/>
              </a:ext>
            </a:extLst>
          </p:cNvPr>
          <p:cNvSpPr>
            <a:spLocks noGrp="1"/>
          </p:cNvSpPr>
          <p:nvPr/>
        </p:nvSpPr>
        <p:spPr>
          <a:xfrm>
            <a:off x="590550" y="2257425"/>
            <a:ext cx="11029950" cy="10287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первой лекции задали семейство моделей и критерий обучения.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Теперь найдём веса, минимизирующие квадратичную ошибку.</a:t>
            </a:r>
          </a:p>
        </p:txBody>
      </p:sp>
      <mc:AlternateContent xmlns:mc="http://schemas.openxmlformats.org/markup-compatibility/2006">
        <mc:Choice xmlns:a14="http://schemas.microsoft.com/office/drawing/2010/main" Requires="a14">
          <p:sp>
            <p:nvSpPr>
              <p:cNvPr id="8" name="l02-content-16">
                <a:extLst>
                  <a:ext uri="{FF2B5EF4-FFF2-40B4-BE49-F238E27FC236}">
                    <a16:creationId xmlns:a16="http://schemas.microsoft.com/office/drawing/2014/main" id="{66E3B64C-9D67-4FC5-8058-EF960B2D8764}"/>
                  </a:ext>
                </a:extLst>
              </p:cNvPr>
              <p:cNvSpPr>
                <a:spLocks noGrp="1"/>
              </p:cNvSpPr>
              <p:nvPr/>
            </p:nvSpPr>
            <p:spPr>
              <a:xfrm>
                <a:off x="590550" y="3409950"/>
                <a:ext cx="11029950" cy="9525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nary>
                        <m:naryPr>
                          <m:chr m:val="∑"/>
                          <m:limLoc m:val="subSup"/>
                          <m:ctrlPr>
                            <a:rPr i="1">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𝑑</m:t>
                          </m:r>
                        </m:sup>
                        <m:e>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𝑗</m:t>
                              </m:r>
                            </m:sub>
                          </m:sSub>
                        </m:e>
                      </m:nary>
                    </m:oMath>
                  </m:oMathPara>
                </a14:m>
                <a:endParaRPr/>
              </a:p>
            </p:txBody>
          </p:sp>
        </mc:Choice>
        <mc:Fallback>
          <p:sp>
            <p:nvSpPr>
              <p:cNvPr id="8" name="l02-content-16">
                <a:extLst>
                  <a:ext uri="{FF2B5EF4-FFF2-40B4-BE49-F238E27FC236}">
                    <a16:creationId xmlns:a16="http://schemas.microsoft.com/office/drawing/2014/main" id="{66E3B64C-9D67-4FC5-8058-EF960B2D8764}"/>
                  </a:ext>
                </a:extLst>
              </p:cNvPr>
              <p:cNvSpPr>
                <a:spLocks noGrp="1" noRot="1" noChangeAspect="1" noMove="1" noResize="1" noEditPoints="1" noAdjustHandles="1" noChangeArrowheads="1" noChangeShapeType="1" noTextEdit="1"/>
              </p:cNvSpPr>
              <p:nvPr/>
            </p:nvSpPr>
            <p:spPr>
              <a:xfrm>
                <a:off x="590550" y="3409950"/>
                <a:ext cx="11029950" cy="952500"/>
              </a:xfrm>
              <a:prstGeom prst="rect">
                <a:avLst/>
              </a:prstGeom>
              <a:blipFill>
                <a:blip r:embed="rId3"/>
                <a:stretch>
                  <a:fillRect t="-157895" b="-231579"/>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17">
                <a:extLst>
                  <a:ext uri="{FF2B5EF4-FFF2-40B4-BE49-F238E27FC236}">
                    <a16:creationId xmlns:a16="http://schemas.microsoft.com/office/drawing/2014/main" id="{3770186C-E1CD-45C9-A204-935E9D647F71}"/>
                  </a:ext>
                </a:extLst>
              </p:cNvPr>
              <p:cNvSpPr>
                <a:spLocks noGrp="1"/>
              </p:cNvSpPr>
              <p:nvPr/>
            </p:nvSpPr>
            <p:spPr>
              <a:xfrm>
                <a:off x="590550" y="4724400"/>
                <a:ext cx="11029950" cy="1066800"/>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𝑚𝑖𝑛</m:t>
                              </m:r>
                            </m:e>
                            <m:sub>
                              <m:r>
                                <a:rPr>
                                  <a:latin typeface="Cambria Math" panose="02040503050406030204" pitchFamily="18" charset="0"/>
                                </a:rPr>
                                <m:t>𝑤</m:t>
                              </m:r>
                            </m:sub>
                          </m:sSub>
                        </m:e>
                      </m:nary>
                    </m:oMath>
                  </m:oMathPara>
                </a14:m>
                <a:endParaRPr/>
              </a:p>
            </p:txBody>
          </p:sp>
        </mc:Choice>
        <mc:Fallback>
          <p:sp>
            <p:nvSpPr>
              <p:cNvPr id="9" name="l02-content-17">
                <a:extLst>
                  <a:ext uri="{FF2B5EF4-FFF2-40B4-BE49-F238E27FC236}">
                    <a16:creationId xmlns:a16="http://schemas.microsoft.com/office/drawing/2014/main" id="{3770186C-E1CD-45C9-A204-935E9D647F71}"/>
                  </a:ext>
                </a:extLst>
              </p:cNvPr>
              <p:cNvSpPr>
                <a:spLocks noGrp="1" noRot="1" noChangeAspect="1" noMove="1" noResize="1" noEditPoints="1" noAdjustHandles="1" noChangeArrowheads="1" noChangeShapeType="1" noTextEdit="1"/>
              </p:cNvSpPr>
              <p:nvPr/>
            </p:nvSpPr>
            <p:spPr>
              <a:xfrm>
                <a:off x="590550" y="4724400"/>
                <a:ext cx="11029950" cy="1066800"/>
              </a:xfrm>
              <a:prstGeom prst="rect">
                <a:avLst/>
              </a:prstGeom>
              <a:blipFill>
                <a:blip r:embed="rId4"/>
                <a:stretch>
                  <a:fillRect t="-134118" b="-180000"/>
                </a:stretch>
              </a:blipFill>
              <a:ln w="0">
                <a:noFill/>
              </a:ln>
            </p:spPr>
            <p:txBody>
              <a:bodyPr/>
              <a:lstStyle/>
              <a:p>
                <a:r>
                  <a:rPr lang="ru-RU">
                    <a:noFill/>
                  </a:rPr>
                  <a:t> </a:t>
                </a:r>
              </a:p>
            </p:txBody>
          </p:sp>
        </mc:Fallback>
      </mc:AlternateContent>
      <p:sp>
        <p:nvSpPr>
          <p:cNvPr id="10" name="l02-content-18">
            <a:extLst>
              <a:ext uri="{FF2B5EF4-FFF2-40B4-BE49-F238E27FC236}">
                <a16:creationId xmlns:a16="http://schemas.microsoft.com/office/drawing/2014/main" id="{D4025E40-1F3D-4916-8914-FA1C34749DCB}"/>
              </a:ext>
            </a:extLst>
          </p:cNvPr>
          <p:cNvSpPr>
            <a:spLocks noGrp="1"/>
          </p:cNvSpPr>
          <p:nvPr/>
        </p:nvSpPr>
        <p:spPr>
          <a:xfrm>
            <a:off x="590550" y="62579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МНК (ordinary least squares) выбирает веса с минимальным Q. Такие веса обозначим w*.</a:t>
            </a:r>
          </a:p>
        </p:txBody>
      </p:sp>
    </p:spTree>
    <p:extLst>
      <p:ext uri="{BB962C8B-B14F-4D97-AF65-F5344CB8AC3E}">
        <p14:creationId xmlns:p14="http://schemas.microsoft.com/office/powerpoint/2010/main" val="14098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Данные задачи доставки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19">
            <a:extLst>
              <a:ext uri="{FF2B5EF4-FFF2-40B4-BE49-F238E27FC236}">
                <a16:creationId xmlns:a16="http://schemas.microsoft.com/office/drawing/2014/main" id="{20F16AC4-13BE-4795-A559-D8AC92995927}"/>
              </a:ext>
            </a:extLst>
          </p:cNvPr>
          <p:cNvSpPr>
            <a:spLocks noGrp="1"/>
          </p:cNvSpPr>
          <p:nvPr/>
        </p:nvSpPr>
        <p:spPr>
          <a:xfrm>
            <a:off x="590550" y="2257425"/>
            <a:ext cx="11029950" cy="10191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Прогнозируем длительность доставки в момент подтверждения заказа.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первого расчёта используем один признак — расстояние маршрута.</a:t>
            </a:r>
          </a:p>
        </p:txBody>
      </p:sp>
      <p:graphicFrame>
        <p:nvGraphicFramePr>
          <p:cNvPr id="17" name="Таблица 16"/>
          <p:cNvGraphicFramePr/>
          <p:nvPr/>
        </p:nvGraphicFramePr>
        <p:xfrm>
          <a:off x="590550" y="3619500"/>
          <a:ext cx="11029950" cy="1381126"/>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690563">
                <a:tc>
                  <a:txBody>
                    <a:bodyPr/>
                    <a:lstStyle/>
                    <a:p>
                      <a:r>
                        <a:rPr sz="1950" b="1">
                          <a:solidFill>
                            <a:srgbClr val="FFFFFF"/>
                          </a:solidFill>
                          <a:latin typeface="HSE Sans"/>
                          <a:ea typeface="HSE Sans"/>
                          <a:cs typeface="HSE Sans"/>
                        </a:rPr>
                        <a:t>Расстояние x, км</a:t>
                      </a:r>
                    </a:p>
                  </a:txBody>
                  <a:tcPr anchor="ctr">
                    <a:solidFill>
                      <a:srgbClr val="102D69"/>
                    </a:solidFill>
                  </a:tcPr>
                </a:tc>
                <a:tc>
                  <a:txBody>
                    <a:bodyPr/>
                    <a:lstStyle/>
                    <a:p>
                      <a:r>
                        <a:rPr sz="1950" b="1">
                          <a:solidFill>
                            <a:srgbClr val="FFFFFF"/>
                          </a:solidFill>
                          <a:latin typeface="HSE Sans"/>
                          <a:ea typeface="HSE Sans"/>
                          <a:cs typeface="HSE Sans"/>
                        </a:rPr>
                        <a:t>1</a:t>
                      </a:r>
                    </a:p>
                  </a:txBody>
                  <a:tcPr anchor="ctr">
                    <a:solidFill>
                      <a:srgbClr val="102D69"/>
                    </a:solidFill>
                  </a:tcPr>
                </a:tc>
                <a:tc>
                  <a:txBody>
                    <a:bodyPr/>
                    <a:lstStyle/>
                    <a:p>
                      <a:r>
                        <a:rPr sz="1950" b="1">
                          <a:solidFill>
                            <a:srgbClr val="FFFFFF"/>
                          </a:solidFill>
                          <a:latin typeface="HSE Sans"/>
                          <a:ea typeface="HSE Sans"/>
                          <a:cs typeface="HSE Sans"/>
                        </a:rPr>
                        <a:t>2</a:t>
                      </a:r>
                    </a:p>
                  </a:txBody>
                  <a:tcPr anchor="ctr">
                    <a:solidFill>
                      <a:srgbClr val="102D69"/>
                    </a:solidFill>
                  </a:tcPr>
                </a:tc>
                <a:tc>
                  <a:txBody>
                    <a:bodyPr/>
                    <a:lstStyle/>
                    <a:p>
                      <a:r>
                        <a:rPr sz="1950" b="1">
                          <a:solidFill>
                            <a:srgbClr val="FFFFFF"/>
                          </a:solidFill>
                          <a:latin typeface="HSE Sans"/>
                          <a:ea typeface="HSE Sans"/>
                          <a:cs typeface="HSE Sans"/>
                        </a:rPr>
                        <a:t>3</a:t>
                      </a:r>
                    </a:p>
                  </a:txBody>
                  <a:tcPr anchor="ctr">
                    <a:solidFill>
                      <a:srgbClr val="102D69"/>
                    </a:solidFill>
                  </a:tcPr>
                </a:tc>
                <a:tc>
                  <a:txBody>
                    <a:bodyPr/>
                    <a:lstStyle/>
                    <a:p>
                      <a:r>
                        <a:rPr sz="1950" b="1">
                          <a:solidFill>
                            <a:srgbClr val="FFFFFF"/>
                          </a:solidFill>
                          <a:latin typeface="HSE Sans"/>
                          <a:ea typeface="HSE Sans"/>
                          <a:cs typeface="HSE Sans"/>
                        </a:rPr>
                        <a:t>4</a:t>
                      </a:r>
                    </a:p>
                  </a:txBody>
                  <a:tcPr anchor="ctr">
                    <a:solidFill>
                      <a:srgbClr val="102D69"/>
                    </a:solidFill>
                  </a:tcPr>
                </a:tc>
                <a:tc>
                  <a:txBody>
                    <a:bodyPr/>
                    <a:lstStyle/>
                    <a:p>
                      <a:r>
                        <a:rPr sz="1950" b="1">
                          <a:solidFill>
                            <a:srgbClr val="FFFFFF"/>
                          </a:solidFill>
                          <a:latin typeface="HSE Sans"/>
                          <a:ea typeface="HSE Sans"/>
                          <a:cs typeface="HSE Sans"/>
                        </a:rPr>
                        <a:t>5</a:t>
                      </a:r>
                    </a:p>
                  </a:txBody>
                  <a:tcPr anchor="ctr">
                    <a:solidFill>
                      <a:srgbClr val="102D69"/>
                    </a:solidFill>
                  </a:tcPr>
                </a:tc>
                <a:extLst>
                  <a:ext uri="{0D108BD9-81ED-4DB2-BD59-A6C34878D82A}">
                    <a16:rowId xmlns:a16="http://schemas.microsoft.com/office/drawing/2014/main" val="10000"/>
                  </a:ext>
                </a:extLst>
              </a:tr>
              <a:tr h="690563">
                <a:tc>
                  <a:txBody>
                    <a:bodyPr/>
                    <a:lstStyle/>
                    <a:p>
                      <a:r>
                        <a:rPr sz="1950" b="0">
                          <a:solidFill>
                            <a:srgbClr val="102D69"/>
                          </a:solidFill>
                          <a:latin typeface="HSE Sans"/>
                          <a:ea typeface="HSE Sans"/>
                          <a:cs typeface="HSE Sans"/>
                        </a:rPr>
                        <a:t>Время y, мин</a:t>
                      </a:r>
                    </a:p>
                  </a:txBody>
                  <a:tcPr anchor="ctr">
                    <a:solidFill>
                      <a:srgbClr val="EFF4FB"/>
                    </a:solidFill>
                  </a:tcPr>
                </a:tc>
                <a:tc>
                  <a:txBody>
                    <a:bodyPr/>
                    <a:lstStyle/>
                    <a:p>
                      <a:r>
                        <a:rPr sz="1950" b="0">
                          <a:solidFill>
                            <a:srgbClr val="102D69"/>
                          </a:solidFill>
                          <a:latin typeface="HSE Sans"/>
                          <a:ea typeface="HSE Sans"/>
                          <a:cs typeface="HSE Sans"/>
                        </a:rPr>
                        <a:t>18</a:t>
                      </a:r>
                    </a:p>
                  </a:txBody>
                  <a:tcPr anchor="ctr">
                    <a:solidFill>
                      <a:srgbClr val="EFF4FB"/>
                    </a:solidFill>
                  </a:tcPr>
                </a:tc>
                <a:tc>
                  <a:txBody>
                    <a:bodyPr/>
                    <a:lstStyle/>
                    <a:p>
                      <a:r>
                        <a:rPr sz="1950" b="0">
                          <a:solidFill>
                            <a:srgbClr val="102D69"/>
                          </a:solidFill>
                          <a:latin typeface="HSE Sans"/>
                          <a:ea typeface="HSE Sans"/>
                          <a:cs typeface="HSE Sans"/>
                        </a:rPr>
                        <a:t>20</a:t>
                      </a:r>
                    </a:p>
                  </a:txBody>
                  <a:tcPr anchor="ctr">
                    <a:solidFill>
                      <a:srgbClr val="EFF4FB"/>
                    </a:solidFill>
                  </a:tcPr>
                </a:tc>
                <a:tc>
                  <a:txBody>
                    <a:bodyPr/>
                    <a:lstStyle/>
                    <a:p>
                      <a:r>
                        <a:rPr sz="1950" b="0">
                          <a:solidFill>
                            <a:srgbClr val="102D69"/>
                          </a:solidFill>
                          <a:latin typeface="HSE Sans"/>
                          <a:ea typeface="HSE Sans"/>
                          <a:cs typeface="HSE Sans"/>
                        </a:rPr>
                        <a:t>25</a:t>
                      </a:r>
                    </a:p>
                  </a:txBody>
                  <a:tcPr anchor="ctr">
                    <a:solidFill>
                      <a:srgbClr val="EFF4FB"/>
                    </a:solidFill>
                  </a:tcPr>
                </a:tc>
                <a:tc>
                  <a:txBody>
                    <a:bodyPr/>
                    <a:lstStyle/>
                    <a:p>
                      <a:r>
                        <a:rPr sz="1950" b="0">
                          <a:solidFill>
                            <a:srgbClr val="102D69"/>
                          </a:solidFill>
                          <a:latin typeface="HSE Sans"/>
                          <a:ea typeface="HSE Sans"/>
                          <a:cs typeface="HSE Sans"/>
                        </a:rPr>
                        <a:t>29</a:t>
                      </a:r>
                    </a:p>
                  </a:txBody>
                  <a:tcPr anchor="ctr">
                    <a:solidFill>
                      <a:srgbClr val="EFF4FB"/>
                    </a:solidFill>
                  </a:tcPr>
                </a:tc>
                <a:tc>
                  <a:txBody>
                    <a:bodyPr/>
                    <a:lstStyle/>
                    <a:p>
                      <a:r>
                        <a:rPr sz="1950" b="0">
                          <a:solidFill>
                            <a:srgbClr val="102D69"/>
                          </a:solidFill>
                          <a:latin typeface="HSE Sans"/>
                          <a:ea typeface="HSE Sans"/>
                          <a:cs typeface="HSE Sans"/>
                        </a:rPr>
                        <a:t>33</a:t>
                      </a:r>
                    </a:p>
                  </a:txBody>
                  <a:tcPr anchor="ctr">
                    <a:solidFill>
                      <a:srgbClr val="EFF4FB"/>
                    </a:solidFill>
                  </a:tcPr>
                </a:tc>
                <a:extLst>
                  <a:ext uri="{0D108BD9-81ED-4DB2-BD59-A6C34878D82A}">
                    <a16:rowId xmlns:a16="http://schemas.microsoft.com/office/drawing/2014/main" val="10001"/>
                  </a:ext>
                </a:extLst>
              </a:tr>
            </a:tbl>
          </a:graphicData>
        </a:graphic>
      </p:graphicFrame>
      <mc:AlternateContent xmlns:mc="http://schemas.openxmlformats.org/markup-compatibility/2006">
        <mc:Choice xmlns:a14="http://schemas.microsoft.com/office/drawing/2010/main" Requires="a14">
          <p:sp>
            <p:nvSpPr>
              <p:cNvPr id="9" name="l02-content-20">
                <a:extLst>
                  <a:ext uri="{FF2B5EF4-FFF2-40B4-BE49-F238E27FC236}">
                    <a16:creationId xmlns:a16="http://schemas.microsoft.com/office/drawing/2014/main" id="{031DF2F2-BFA9-48C8-860E-08D350EE0880}"/>
                  </a:ext>
                </a:extLst>
              </p:cNvPr>
              <p:cNvSpPr>
                <a:spLocks noGrp="1"/>
              </p:cNvSpPr>
              <p:nvPr/>
            </p:nvSpPr>
            <p:spPr>
              <a:xfrm>
                <a:off x="590550" y="5229225"/>
                <a:ext cx="11029950" cy="7620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𝑥</m:t>
                      </m:r>
                    </m:oMath>
                  </m:oMathPara>
                </a14:m>
                <a:endParaRPr/>
              </a:p>
            </p:txBody>
          </p:sp>
        </mc:Choice>
        <mc:Fallback>
          <p:sp>
            <p:nvSpPr>
              <p:cNvPr id="9" name="l02-content-20">
                <a:extLst>
                  <a:ext uri="{FF2B5EF4-FFF2-40B4-BE49-F238E27FC236}">
                    <a16:creationId xmlns:a16="http://schemas.microsoft.com/office/drawing/2014/main" id="{031DF2F2-BFA9-48C8-860E-08D350EE0880}"/>
                  </a:ext>
                </a:extLst>
              </p:cNvPr>
              <p:cNvSpPr>
                <a:spLocks noGrp="1" noRot="1" noChangeAspect="1" noMove="1" noResize="1" noEditPoints="1" noAdjustHandles="1" noChangeArrowheads="1" noChangeShapeType="1" noTextEdit="1"/>
              </p:cNvSpPr>
              <p:nvPr/>
            </p:nvSpPr>
            <p:spPr>
              <a:xfrm>
                <a:off x="590550" y="5229225"/>
                <a:ext cx="11029950" cy="762000"/>
              </a:xfrm>
              <a:prstGeom prst="rect">
                <a:avLst/>
              </a:prstGeom>
              <a:blipFill>
                <a:blip r:embed="rId3"/>
                <a:stretch>
                  <a:fillRect/>
                </a:stretch>
              </a:blipFill>
              <a:ln w="0">
                <a:noFill/>
              </a:ln>
            </p:spPr>
            <p:txBody>
              <a:bodyPr/>
              <a:lstStyle/>
              <a:p>
                <a:r>
                  <a:rPr lang="ru-RU">
                    <a:noFill/>
                  </a:rPr>
                  <a:t> </a:t>
                </a:r>
              </a:p>
            </p:txBody>
          </p:sp>
        </mc:Fallback>
      </mc:AlternateContent>
      <p:sp>
        <p:nvSpPr>
          <p:cNvPr id="10" name="l02-content-21">
            <a:extLst>
              <a:ext uri="{FF2B5EF4-FFF2-40B4-BE49-F238E27FC236}">
                <a16:creationId xmlns:a16="http://schemas.microsoft.com/office/drawing/2014/main" id="{A5DAF393-03CC-472E-B5E0-4485DB527827}"/>
              </a:ext>
            </a:extLst>
          </p:cNvPr>
          <p:cNvSpPr>
            <a:spLocks noGrp="1"/>
          </p:cNvSpPr>
          <p:nvPr/>
        </p:nvSpPr>
        <p:spPr>
          <a:xfrm>
            <a:off x="590550" y="62484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Синтетическая обучающая выборка из первой лекции. Требуется определить w₀ и w₁.</a:t>
            </a:r>
          </a:p>
        </p:txBody>
      </p:sp>
    </p:spTree>
    <p:extLst>
      <p:ext uri="{BB962C8B-B14F-4D97-AF65-F5344CB8AC3E}">
        <p14:creationId xmlns:p14="http://schemas.microsoft.com/office/powerpoint/2010/main" val="14098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Невязки и квадратичный критерий</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graphicFrame>
        <p:nvGraphicFramePr>
          <p:cNvPr id="17" name="Chart"/>
          <p:cNvGraphicFramePr/>
          <p:nvPr/>
        </p:nvGraphicFramePr>
        <p:xfrm>
          <a:off x="590550" y="2543175"/>
          <a:ext cx="7048500" cy="33528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a14="http://schemas.microsoft.com/office/drawing/2010/main" Requires="a14">
          <p:sp>
            <p:nvSpPr>
              <p:cNvPr id="8" name="l02-content-22">
                <a:extLst>
                  <a:ext uri="{FF2B5EF4-FFF2-40B4-BE49-F238E27FC236}">
                    <a16:creationId xmlns:a16="http://schemas.microsoft.com/office/drawing/2014/main" id="{0FC41BB4-8144-4F34-9690-DB409DC411B3}"/>
                  </a:ext>
                </a:extLst>
              </p:cNvPr>
              <p:cNvSpPr>
                <a:spLocks noGrp="1"/>
              </p:cNvSpPr>
              <p:nvPr/>
            </p:nvSpPr>
            <p:spPr>
              <a:xfrm>
                <a:off x="7810500" y="2505075"/>
                <a:ext cx="3667125" cy="819150"/>
              </a:xfrm>
              <a:prstGeom prst="rect">
                <a:avLst/>
              </a:prstGeom>
              <a:noFill/>
              <a:ln w="0">
                <a:noFill/>
              </a:ln>
            </p:spPr>
            <p:txBody>
              <a:bodyPr wrap="square" lIns="0" tIns="0" rIns="0" bIns="0" anchor="t">
                <a:noAutofit/>
              </a:bodyPr>
              <a:lstStyle/>
              <a:p>
                <a:pPr algn="ctr">
                  <a:defRPr sz="22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𝑤</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oMath>
                  </m:oMathPara>
                </a14:m>
                <a:endParaRPr/>
              </a:p>
            </p:txBody>
          </p:sp>
        </mc:Choice>
        <mc:Fallback>
          <p:sp>
            <p:nvSpPr>
              <p:cNvPr id="8" name="l02-content-22">
                <a:extLst>
                  <a:ext uri="{FF2B5EF4-FFF2-40B4-BE49-F238E27FC236}">
                    <a16:creationId xmlns:a16="http://schemas.microsoft.com/office/drawing/2014/main" id="{0FC41BB4-8144-4F34-9690-DB409DC411B3}"/>
                  </a:ext>
                </a:extLst>
              </p:cNvPr>
              <p:cNvSpPr>
                <a:spLocks noGrp="1" noRot="1" noChangeAspect="1" noMove="1" noResize="1" noEditPoints="1" noAdjustHandles="1" noChangeArrowheads="1" noChangeShapeType="1" noTextEdit="1"/>
              </p:cNvSpPr>
              <p:nvPr/>
            </p:nvSpPr>
            <p:spPr>
              <a:xfrm>
                <a:off x="7810500" y="2505075"/>
                <a:ext cx="3667125" cy="819150"/>
              </a:xfrm>
              <a:prstGeom prst="rect">
                <a:avLst/>
              </a:prstGeom>
              <a:blipFill>
                <a:blip r:embed="rId4"/>
                <a:stretch>
                  <a:fillRect t="-1538"/>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23">
                <a:extLst>
                  <a:ext uri="{FF2B5EF4-FFF2-40B4-BE49-F238E27FC236}">
                    <a16:creationId xmlns:a16="http://schemas.microsoft.com/office/drawing/2014/main" id="{52D189BA-1994-4ACC-85E8-4A10A52B4073}"/>
                  </a:ext>
                </a:extLst>
              </p:cNvPr>
              <p:cNvSpPr>
                <a:spLocks noGrp="1"/>
              </p:cNvSpPr>
              <p:nvPr/>
            </p:nvSpPr>
            <p:spPr>
              <a:xfrm>
                <a:off x="7810500" y="3562350"/>
                <a:ext cx="3667125" cy="1066800"/>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sSubSup>
                            <m:sSubSupPr>
                              <m:ctrlPr>
                                <a:rPr i="1">
                                  <a:latin typeface="Cambria Math" panose="02040503050406030204" pitchFamily="18" charset="0"/>
                                </a:rPr>
                              </m:ctrlPr>
                            </m:sSubSupPr>
                            <m:e>
                              <m:r>
                                <a:rPr>
                                  <a:latin typeface="Cambria Math" panose="02040503050406030204" pitchFamily="18" charset="0"/>
                                </a:rPr>
                                <m:t>𝑟</m:t>
                              </m:r>
                            </m:e>
                            <m:sub>
                              <m:r>
                                <a:rPr>
                                  <a:latin typeface="Cambria Math" panose="02040503050406030204" pitchFamily="18" charset="0"/>
                                </a:rPr>
                                <m:t>𝑖</m:t>
                              </m:r>
                            </m:sub>
                            <m:sup>
                              <m:r>
                                <a:rPr>
                                  <a:latin typeface="Cambria Math" panose="02040503050406030204" pitchFamily="18" charset="0"/>
                                </a:rPr>
                                <m:t>2</m:t>
                              </m:r>
                            </m:sup>
                          </m:sSubSup>
                        </m:e>
                      </m:nary>
                    </m:oMath>
                  </m:oMathPara>
                </a14:m>
                <a:endParaRPr/>
              </a:p>
            </p:txBody>
          </p:sp>
        </mc:Choice>
        <mc:Fallback>
          <p:sp>
            <p:nvSpPr>
              <p:cNvPr id="9" name="l02-content-23">
                <a:extLst>
                  <a:ext uri="{FF2B5EF4-FFF2-40B4-BE49-F238E27FC236}">
                    <a16:creationId xmlns:a16="http://schemas.microsoft.com/office/drawing/2014/main" id="{52D189BA-1994-4ACC-85E8-4A10A52B4073}"/>
                  </a:ext>
                </a:extLst>
              </p:cNvPr>
              <p:cNvSpPr>
                <a:spLocks noGrp="1" noRot="1" noChangeAspect="1" noMove="1" noResize="1" noEditPoints="1" noAdjustHandles="1" noChangeArrowheads="1" noChangeShapeType="1" noTextEdit="1"/>
              </p:cNvSpPr>
              <p:nvPr/>
            </p:nvSpPr>
            <p:spPr>
              <a:xfrm>
                <a:off x="7810500" y="3562350"/>
                <a:ext cx="3667125" cy="1066800"/>
              </a:xfrm>
              <a:prstGeom prst="rect">
                <a:avLst/>
              </a:prstGeom>
              <a:blipFill>
                <a:blip r:embed="rId5"/>
                <a:stretch>
                  <a:fillRect t="-123529" b="-156471"/>
                </a:stretch>
              </a:blipFill>
              <a:ln w="0">
                <a:noFill/>
              </a:ln>
            </p:spPr>
            <p:txBody>
              <a:bodyPr/>
              <a:lstStyle/>
              <a:p>
                <a:r>
                  <a:rPr lang="ru-RU">
                    <a:noFill/>
                  </a:rPr>
                  <a:t> </a:t>
                </a:r>
              </a:p>
            </p:txBody>
          </p:sp>
        </mc:Fallback>
      </mc:AlternateContent>
      <p:sp>
        <p:nvSpPr>
          <p:cNvPr id="10" name="l02-content-24">
            <a:extLst>
              <a:ext uri="{FF2B5EF4-FFF2-40B4-BE49-F238E27FC236}">
                <a16:creationId xmlns:a16="http://schemas.microsoft.com/office/drawing/2014/main" id="{BC783D0E-BE90-4505-B541-80841AD48B55}"/>
              </a:ext>
            </a:extLst>
          </p:cNvPr>
          <p:cNvSpPr>
            <a:spLocks noGrp="1"/>
          </p:cNvSpPr>
          <p:nvPr/>
        </p:nvSpPr>
        <p:spPr>
          <a:xfrm>
            <a:off x="7953375" y="4914900"/>
            <a:ext cx="3619500" cy="1266825"/>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На графике пробная</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прямая: 12 + 4x.</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Изменяя веса, меняем</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все невязки.</a:t>
            </a:r>
          </a:p>
        </p:txBody>
      </p:sp>
      <p:sp>
        <p:nvSpPr>
          <p:cNvPr id="11" name="l02-content-25">
            <a:extLst>
              <a:ext uri="{FF2B5EF4-FFF2-40B4-BE49-F238E27FC236}">
                <a16:creationId xmlns:a16="http://schemas.microsoft.com/office/drawing/2014/main" id="{367211F1-3682-4FDA-B478-406A41D47F0C}"/>
              </a:ext>
            </a:extLst>
          </p:cNvPr>
          <p:cNvSpPr>
            <a:spLocks noGrp="1"/>
          </p:cNvSpPr>
          <p:nvPr/>
        </p:nvSpPr>
        <p:spPr>
          <a:xfrm>
            <a:off x="590550" y="62579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Оранжевые отрезки — отклонения прогноза от наблюдаемого времени.</a:t>
            </a:r>
          </a:p>
        </p:txBody>
      </p:sp>
    </p:spTree>
    <p:extLst>
      <p:ext uri="{BB962C8B-B14F-4D97-AF65-F5344CB8AC3E}">
        <p14:creationId xmlns:p14="http://schemas.microsoft.com/office/powerpoint/2010/main" val="140984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Условие минимума по свободному члену</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mc:AlternateContent xmlns:mc="http://schemas.openxmlformats.org/markup-compatibility/2006">
        <mc:Choice xmlns:a14="http://schemas.microsoft.com/office/drawing/2010/main" Requires="a14">
          <p:sp>
            <p:nvSpPr>
              <p:cNvPr id="7" name="l02-content-26">
                <a:extLst>
                  <a:ext uri="{FF2B5EF4-FFF2-40B4-BE49-F238E27FC236}">
                    <a16:creationId xmlns:a16="http://schemas.microsoft.com/office/drawing/2014/main" id="{A84C0E79-7B55-4A6D-B7EB-447DC1AC25AE}"/>
                  </a:ext>
                </a:extLst>
              </p:cNvPr>
              <p:cNvSpPr>
                <a:spLocks noGrp="1"/>
              </p:cNvSpPr>
              <p:nvPr/>
            </p:nvSpPr>
            <p:spPr>
              <a:xfrm>
                <a:off x="590550" y="2209800"/>
                <a:ext cx="11029950" cy="9525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𝑄</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nary>
                    </m:oMath>
                  </m:oMathPara>
                </a14:m>
                <a:endParaRPr/>
              </a:p>
            </p:txBody>
          </p:sp>
        </mc:Choice>
        <mc:Fallback>
          <p:sp>
            <p:nvSpPr>
              <p:cNvPr id="7" name="l02-content-26">
                <a:extLst>
                  <a:ext uri="{FF2B5EF4-FFF2-40B4-BE49-F238E27FC236}">
                    <a16:creationId xmlns:a16="http://schemas.microsoft.com/office/drawing/2014/main" id="{A84C0E79-7B55-4A6D-B7EB-447DC1AC25AE}"/>
                  </a:ext>
                </a:extLst>
              </p:cNvPr>
              <p:cNvSpPr>
                <a:spLocks noGrp="1" noRot="1" noChangeAspect="1" noMove="1" noResize="1" noEditPoints="1" noAdjustHandles="1" noChangeArrowheads="1" noChangeShapeType="1" noTextEdit="1"/>
              </p:cNvSpPr>
              <p:nvPr/>
            </p:nvSpPr>
            <p:spPr>
              <a:xfrm>
                <a:off x="590550" y="2209800"/>
                <a:ext cx="11029950" cy="952500"/>
              </a:xfrm>
              <a:prstGeom prst="rect">
                <a:avLst/>
              </a:prstGeom>
              <a:blipFill>
                <a:blip r:embed="rId3"/>
                <a:stretch>
                  <a:fillRect t="-150000" b="-211842"/>
                </a:stretch>
              </a:blipFill>
              <a:ln w="0">
                <a:noFill/>
              </a:ln>
            </p:spPr>
            <p:txBody>
              <a:bodyPr/>
              <a:lstStyle/>
              <a:p>
                <a:r>
                  <a:rPr lang="ru-RU">
                    <a:noFill/>
                  </a:rPr>
                  <a:t> </a:t>
                </a:r>
              </a:p>
            </p:txBody>
          </p:sp>
        </mc:Fallback>
      </mc:AlternateContent>
      <p:sp>
        <p:nvSpPr>
          <p:cNvPr id="8" name="l02-content-27">
            <a:extLst>
              <a:ext uri="{FF2B5EF4-FFF2-40B4-BE49-F238E27FC236}">
                <a16:creationId xmlns:a16="http://schemas.microsoft.com/office/drawing/2014/main" id="{F8CB4D01-C64D-4A6B-AEDD-4CA947DC94BF}"/>
              </a:ext>
            </a:extLst>
          </p:cNvPr>
          <p:cNvSpPr>
            <a:spLocks noGrp="1"/>
          </p:cNvSpPr>
          <p:nvPr/>
        </p:nvSpPr>
        <p:spPr>
          <a:xfrm>
            <a:off x="590550" y="3305175"/>
            <a:ext cx="11029950" cy="4667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В точке минимума w* производная по w₀ равна нулю:</a:t>
            </a:r>
          </a:p>
        </p:txBody>
      </p:sp>
      <mc:AlternateContent xmlns:mc="http://schemas.openxmlformats.org/markup-compatibility/2006">
        <mc:Choice xmlns:a14="http://schemas.microsoft.com/office/drawing/2010/main" Requires="a14">
          <p:sp>
            <p:nvSpPr>
              <p:cNvPr id="9" name="l02-content-28">
                <a:extLst>
                  <a:ext uri="{FF2B5EF4-FFF2-40B4-BE49-F238E27FC236}">
                    <a16:creationId xmlns:a16="http://schemas.microsoft.com/office/drawing/2014/main" id="{A147617C-C2D5-482D-99E4-ED229135E5A9}"/>
                  </a:ext>
                </a:extLst>
              </p:cNvPr>
              <p:cNvSpPr>
                <a:spLocks noGrp="1"/>
              </p:cNvSpPr>
              <p:nvPr/>
            </p:nvSpPr>
            <p:spPr>
              <a:xfrm>
                <a:off x="590550" y="3790950"/>
                <a:ext cx="11029950" cy="8382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2</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e>
                      </m:nary>
                      <m:r>
                        <a:rPr>
                          <a:latin typeface="Cambria Math" panose="02040503050406030204" pitchFamily="18" charset="0"/>
                        </a:rPr>
                        <m:t>=0</m:t>
                      </m:r>
                    </m:oMath>
                  </m:oMathPara>
                </a14:m>
                <a:endParaRPr/>
              </a:p>
            </p:txBody>
          </p:sp>
        </mc:Choice>
        <mc:Fallback>
          <p:sp>
            <p:nvSpPr>
              <p:cNvPr id="9" name="l02-content-28">
                <a:extLst>
                  <a:ext uri="{FF2B5EF4-FFF2-40B4-BE49-F238E27FC236}">
                    <a16:creationId xmlns:a16="http://schemas.microsoft.com/office/drawing/2014/main" id="{A147617C-C2D5-482D-99E4-ED229135E5A9}"/>
                  </a:ext>
                </a:extLst>
              </p:cNvPr>
              <p:cNvSpPr>
                <a:spLocks noGrp="1" noRot="1" noChangeAspect="1" noMove="1" noResize="1" noEditPoints="1" noAdjustHandles="1" noChangeArrowheads="1" noChangeShapeType="1" noTextEdit="1"/>
              </p:cNvSpPr>
              <p:nvPr/>
            </p:nvSpPr>
            <p:spPr>
              <a:xfrm>
                <a:off x="590550" y="3790950"/>
                <a:ext cx="11029950" cy="838200"/>
              </a:xfrm>
              <a:prstGeom prst="rect">
                <a:avLst/>
              </a:prstGeom>
              <a:blipFill>
                <a:blip r:embed="rId4"/>
                <a:stretch>
                  <a:fillRect t="-170149" b="-253731"/>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2-content-29">
                <a:extLst>
                  <a:ext uri="{FF2B5EF4-FFF2-40B4-BE49-F238E27FC236}">
                    <a16:creationId xmlns:a16="http://schemas.microsoft.com/office/drawing/2014/main" id="{D11B11FF-16A5-4171-97FB-C93FF2DFE3E2}"/>
                  </a:ext>
                </a:extLst>
              </p:cNvPr>
              <p:cNvSpPr>
                <a:spLocks noGrp="1"/>
              </p:cNvSpPr>
              <p:nvPr/>
            </p:nvSpPr>
            <p:spPr>
              <a:xfrm>
                <a:off x="590550" y="4895850"/>
                <a:ext cx="11029950" cy="809625"/>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m:t>
                      </m:r>
                      <m:bar>
                        <m:barPr>
                          <m:pos m:val="top"/>
                          <m:ctrlPr>
                            <a:rPr i="1">
                              <a:latin typeface="Cambria Math" panose="02040503050406030204" pitchFamily="18" charset="0"/>
                            </a:rPr>
                          </m:ctrlPr>
                        </m:barPr>
                        <m:e>
                          <m:r>
                            <a:rPr>
                              <a:latin typeface="Cambria Math" panose="02040503050406030204" pitchFamily="18" charset="0"/>
                            </a:rPr>
                            <m:t>𝑦</m:t>
                          </m:r>
                        </m:e>
                      </m:bar>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bar>
                        <m:barPr>
                          <m:pos m:val="top"/>
                          <m:ctrlPr>
                            <a:rPr i="1">
                              <a:latin typeface="Cambria Math" panose="02040503050406030204" pitchFamily="18" charset="0"/>
                            </a:rPr>
                          </m:ctrlPr>
                        </m:barPr>
                        <m:e>
                          <m:r>
                            <a:rPr>
                              <a:latin typeface="Cambria Math" panose="02040503050406030204" pitchFamily="18" charset="0"/>
                            </a:rPr>
                            <m:t>𝑥</m:t>
                          </m:r>
                        </m:e>
                      </m:bar>
                    </m:oMath>
                  </m:oMathPara>
                </a14:m>
                <a:endParaRPr/>
              </a:p>
            </p:txBody>
          </p:sp>
        </mc:Choice>
        <mc:Fallback>
          <p:sp>
            <p:nvSpPr>
              <p:cNvPr id="10" name="l02-content-29">
                <a:extLst>
                  <a:ext uri="{FF2B5EF4-FFF2-40B4-BE49-F238E27FC236}">
                    <a16:creationId xmlns:a16="http://schemas.microsoft.com/office/drawing/2014/main" id="{D11B11FF-16A5-4171-97FB-C93FF2DFE3E2}"/>
                  </a:ext>
                </a:extLst>
              </p:cNvPr>
              <p:cNvSpPr>
                <a:spLocks noGrp="1" noRot="1" noChangeAspect="1" noMove="1" noResize="1" noEditPoints="1" noAdjustHandles="1" noChangeArrowheads="1" noChangeShapeType="1" noTextEdit="1"/>
              </p:cNvSpPr>
              <p:nvPr/>
            </p:nvSpPr>
            <p:spPr>
              <a:xfrm>
                <a:off x="590550" y="4895850"/>
                <a:ext cx="11029950" cy="809625"/>
              </a:xfrm>
              <a:prstGeom prst="rect">
                <a:avLst/>
              </a:prstGeom>
              <a:blipFill>
                <a:blip r:embed="rId5"/>
                <a:stretch>
                  <a:fillRect/>
                </a:stretch>
              </a:blipFill>
              <a:ln w="0">
                <a:noFill/>
              </a:ln>
            </p:spPr>
            <p:txBody>
              <a:bodyPr/>
              <a:lstStyle/>
              <a:p>
                <a:r>
                  <a:rPr lang="ru-RU">
                    <a:noFill/>
                  </a:rPr>
                  <a:t> </a:t>
                </a:r>
              </a:p>
            </p:txBody>
          </p:sp>
        </mc:Fallback>
      </mc:AlternateContent>
      <p:sp>
        <p:nvSpPr>
          <p:cNvPr id="11" name="l02-content-30">
            <a:extLst>
              <a:ext uri="{FF2B5EF4-FFF2-40B4-BE49-F238E27FC236}">
                <a16:creationId xmlns:a16="http://schemas.microsoft.com/office/drawing/2014/main" id="{868FC541-7196-47E5-9586-AB2B0CBD3310}"/>
              </a:ext>
            </a:extLst>
          </p:cNvPr>
          <p:cNvSpPr>
            <a:spLocks noGrp="1"/>
          </p:cNvSpPr>
          <p:nvPr/>
        </p:nvSpPr>
        <p:spPr>
          <a:xfrm>
            <a:off x="590550" y="61912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x̄ и ȳ — выборочные средние. МНК-прямая проходит через точку (x̄, ȳ).</a:t>
            </a:r>
          </a:p>
        </p:txBody>
      </p:sp>
    </p:spTree>
    <p:extLst>
      <p:ext uri="{BB962C8B-B14F-4D97-AF65-F5344CB8AC3E}">
        <p14:creationId xmlns:p14="http://schemas.microsoft.com/office/powerpoint/2010/main" val="140984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Условие минимума по наклону</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sp>
        <p:nvSpPr>
          <p:cNvPr id="7" name="l02-content-31">
            <a:extLst>
              <a:ext uri="{FF2B5EF4-FFF2-40B4-BE49-F238E27FC236}">
                <a16:creationId xmlns:a16="http://schemas.microsoft.com/office/drawing/2014/main" id="{19A2EE60-0A1C-4128-92BB-6E62DAC3F150}"/>
              </a:ext>
            </a:extLst>
          </p:cNvPr>
          <p:cNvSpPr>
            <a:spLocks noGrp="1"/>
          </p:cNvSpPr>
          <p:nvPr/>
        </p:nvSpPr>
        <p:spPr>
          <a:xfrm>
            <a:off x="590550" y="2219325"/>
            <a:ext cx="11029950" cy="45720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В точке минимума w* производная по w₁ равна нулю:</a:t>
            </a:r>
          </a:p>
        </p:txBody>
      </p:sp>
      <mc:AlternateContent xmlns:mc="http://schemas.openxmlformats.org/markup-compatibility/2006">
        <mc:Choice xmlns:a14="http://schemas.microsoft.com/office/drawing/2010/main" Requires="a14">
          <p:sp>
            <p:nvSpPr>
              <p:cNvPr id="8" name="l02-content-32">
                <a:extLst>
                  <a:ext uri="{FF2B5EF4-FFF2-40B4-BE49-F238E27FC236}">
                    <a16:creationId xmlns:a16="http://schemas.microsoft.com/office/drawing/2014/main" id="{214B9BF4-AD9C-4DB0-8156-FF44C3DAFE64}"/>
                  </a:ext>
                </a:extLst>
              </p:cNvPr>
              <p:cNvSpPr>
                <a:spLocks noGrp="1"/>
              </p:cNvSpPr>
              <p:nvPr/>
            </p:nvSpPr>
            <p:spPr>
              <a:xfrm>
                <a:off x="590550" y="2781300"/>
                <a:ext cx="11029950" cy="8286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2</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e>
                      </m:nary>
                      <m:r>
                        <a:rPr>
                          <a:latin typeface="Cambria Math" panose="02040503050406030204" pitchFamily="18" charset="0"/>
                        </a:rPr>
                        <m:t>=0</m:t>
                      </m:r>
                    </m:oMath>
                  </m:oMathPara>
                </a14:m>
                <a:endParaRPr/>
              </a:p>
            </p:txBody>
          </p:sp>
        </mc:Choice>
        <mc:Fallback>
          <p:sp>
            <p:nvSpPr>
              <p:cNvPr id="8" name="l02-content-32">
                <a:extLst>
                  <a:ext uri="{FF2B5EF4-FFF2-40B4-BE49-F238E27FC236}">
                    <a16:creationId xmlns:a16="http://schemas.microsoft.com/office/drawing/2014/main" id="{214B9BF4-AD9C-4DB0-8156-FF44C3DAFE64}"/>
                  </a:ext>
                </a:extLst>
              </p:cNvPr>
              <p:cNvSpPr>
                <a:spLocks noGrp="1" noRot="1" noChangeAspect="1" noMove="1" noResize="1" noEditPoints="1" noAdjustHandles="1" noChangeArrowheads="1" noChangeShapeType="1" noTextEdit="1"/>
              </p:cNvSpPr>
              <p:nvPr/>
            </p:nvSpPr>
            <p:spPr>
              <a:xfrm>
                <a:off x="590550" y="2781300"/>
                <a:ext cx="11029950" cy="828675"/>
              </a:xfrm>
              <a:prstGeom prst="rect">
                <a:avLst/>
              </a:prstGeom>
              <a:blipFill>
                <a:blip r:embed="rId3"/>
                <a:stretch>
                  <a:fillRect t="-170149" b="-255224"/>
                </a:stretch>
              </a:blipFill>
              <a:ln w="0">
                <a:noFill/>
              </a:ln>
            </p:spPr>
            <p:txBody>
              <a:bodyPr/>
              <a:lstStyle/>
              <a:p>
                <a:r>
                  <a:rPr lang="ru-RU">
                    <a:noFill/>
                  </a:rPr>
                  <a:t> </a:t>
                </a:r>
              </a:p>
            </p:txBody>
          </p:sp>
        </mc:Fallback>
      </mc:AlternateContent>
      <p:sp>
        <p:nvSpPr>
          <p:cNvPr id="9" name="l02-content-33">
            <a:extLst>
              <a:ext uri="{FF2B5EF4-FFF2-40B4-BE49-F238E27FC236}">
                <a16:creationId xmlns:a16="http://schemas.microsoft.com/office/drawing/2014/main" id="{3F8F1213-9119-4B8F-90EC-F75004E88614}"/>
              </a:ext>
            </a:extLst>
          </p:cNvPr>
          <p:cNvSpPr>
            <a:spLocks noGrp="1"/>
          </p:cNvSpPr>
          <p:nvPr/>
        </p:nvSpPr>
        <p:spPr>
          <a:xfrm>
            <a:off x="590550" y="3600450"/>
            <a:ext cx="11029950" cy="6762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Подставим w₀* = ȳ − w₁*x̄ и сгруппируем центрированные значения:</a:t>
            </a:r>
          </a:p>
        </p:txBody>
      </p:sp>
      <mc:AlternateContent xmlns:mc="http://schemas.openxmlformats.org/markup-compatibility/2006">
        <mc:Choice xmlns:a14="http://schemas.microsoft.com/office/drawing/2010/main" Requires="a14">
          <p:sp>
            <p:nvSpPr>
              <p:cNvPr id="10" name="l02-content-34">
                <a:extLst>
                  <a:ext uri="{FF2B5EF4-FFF2-40B4-BE49-F238E27FC236}">
                    <a16:creationId xmlns:a16="http://schemas.microsoft.com/office/drawing/2014/main" id="{84275A57-E86A-42E8-81A3-ED4FD14736F1}"/>
                  </a:ext>
                </a:extLst>
              </p:cNvPr>
              <p:cNvSpPr>
                <a:spLocks noGrp="1"/>
              </p:cNvSpPr>
              <p:nvPr/>
            </p:nvSpPr>
            <p:spPr>
              <a:xfrm>
                <a:off x="590550" y="4371975"/>
                <a:ext cx="11029950" cy="1343025"/>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r>
                        <a:rPr>
                          <a:latin typeface="Cambria Math" panose="02040503050406030204" pitchFamily="18" charset="0"/>
                        </a:rPr>
                        <m:t>=</m:t>
                      </m:r>
                      <m:f>
                        <m:fPr>
                          <m:ctrlPr>
                            <a:rPr i="1">
                              <a:latin typeface="Cambria Math" panose="02040503050406030204" pitchFamily="18" charset="0"/>
                            </a:rPr>
                          </m:ctrlPr>
                        </m:fPr>
                        <m:num>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bar>
                                <m:barPr>
                                  <m:pos m:val="top"/>
                                  <m:ctrlPr>
                                    <a:rPr i="1">
                                      <a:latin typeface="Cambria Math" panose="02040503050406030204" pitchFamily="18" charset="0"/>
                                    </a:rPr>
                                  </m:ctrlPr>
                                </m:barPr>
                                <m:e>
                                  <m:r>
                                    <a:rPr>
                                      <a:latin typeface="Cambria Math" panose="02040503050406030204" pitchFamily="18" charset="0"/>
                                    </a:rPr>
                                    <m:t>𝑥</m:t>
                                  </m:r>
                                </m:e>
                              </m:ba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bar>
                                <m:barPr>
                                  <m:pos m:val="top"/>
                                  <m:ctrlPr>
                                    <a:rPr i="1">
                                      <a:latin typeface="Cambria Math" panose="02040503050406030204" pitchFamily="18" charset="0"/>
                                    </a:rPr>
                                  </m:ctrlPr>
                                </m:barPr>
                                <m:e>
                                  <m:r>
                                    <a:rPr>
                                      <a:latin typeface="Cambria Math" panose="02040503050406030204" pitchFamily="18" charset="0"/>
                                    </a:rPr>
                                    <m:t>𝑦</m:t>
                                  </m:r>
                                </m:e>
                              </m:bar>
                              <m:r>
                                <a:rPr>
                                  <a:latin typeface="Cambria Math" panose="02040503050406030204" pitchFamily="18" charset="0"/>
                                </a:rPr>
                                <m:t>)</m:t>
                              </m:r>
                            </m:e>
                          </m:nary>
                        </m:num>
                        <m:den>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bar>
                                <m:barPr>
                                  <m:pos m:val="top"/>
                                  <m:ctrlPr>
                                    <a:rPr i="1">
                                      <a:latin typeface="Cambria Math" panose="02040503050406030204" pitchFamily="18" charset="0"/>
                                    </a:rPr>
                                  </m:ctrlPr>
                                </m:barPr>
                                <m:e>
                                  <m:r>
                                    <a:rPr>
                                      <a:latin typeface="Cambria Math" panose="02040503050406030204" pitchFamily="18" charset="0"/>
                                    </a:rPr>
                                    <m:t>𝑥</m:t>
                                  </m:r>
                                </m:e>
                              </m:ba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nary>
                        </m:den>
                      </m:f>
                    </m:oMath>
                  </m:oMathPara>
                </a14:m>
                <a:endParaRPr/>
              </a:p>
            </p:txBody>
          </p:sp>
        </mc:Choice>
        <mc:Fallback>
          <p:sp>
            <p:nvSpPr>
              <p:cNvPr id="10" name="l02-content-34">
                <a:extLst>
                  <a:ext uri="{FF2B5EF4-FFF2-40B4-BE49-F238E27FC236}">
                    <a16:creationId xmlns:a16="http://schemas.microsoft.com/office/drawing/2014/main" id="{84275A57-E86A-42E8-81A3-ED4FD14736F1}"/>
                  </a:ext>
                </a:extLst>
              </p:cNvPr>
              <p:cNvSpPr>
                <a:spLocks noGrp="1" noRot="1" noChangeAspect="1" noMove="1" noResize="1" noEditPoints="1" noAdjustHandles="1" noChangeArrowheads="1" noChangeShapeType="1" noTextEdit="1"/>
              </p:cNvSpPr>
              <p:nvPr/>
            </p:nvSpPr>
            <p:spPr>
              <a:xfrm>
                <a:off x="590550" y="4371975"/>
                <a:ext cx="11029950" cy="1343025"/>
              </a:xfrm>
              <a:prstGeom prst="rect">
                <a:avLst/>
              </a:prstGeom>
              <a:blipFill>
                <a:blip r:embed="rId4"/>
                <a:stretch>
                  <a:fillRect t="-50467" b="-54206"/>
                </a:stretch>
              </a:blipFill>
              <a:ln w="0">
                <a:noFill/>
              </a:ln>
            </p:spPr>
            <p:txBody>
              <a:bodyPr/>
              <a:lstStyle/>
              <a:p>
                <a:r>
                  <a:rPr lang="ru-RU">
                    <a:noFill/>
                  </a:rPr>
                  <a:t> </a:t>
                </a:r>
              </a:p>
            </p:txBody>
          </p:sp>
        </mc:Fallback>
      </mc:AlternateContent>
      <p:sp>
        <p:nvSpPr>
          <p:cNvPr id="11" name="l02-content-35">
            <a:extLst>
              <a:ext uri="{FF2B5EF4-FFF2-40B4-BE49-F238E27FC236}">
                <a16:creationId xmlns:a16="http://schemas.microsoft.com/office/drawing/2014/main" id="{32F7BC2F-C857-4E7C-A9E1-5C0F2D834645}"/>
              </a:ext>
            </a:extLst>
          </p:cNvPr>
          <p:cNvSpPr>
            <a:spLocks noGrp="1"/>
          </p:cNvSpPr>
          <p:nvPr/>
        </p:nvSpPr>
        <p:spPr>
          <a:xfrm>
            <a:off x="590550" y="61912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Знаменатель положителен, если среди xᵢ есть хотя бы два разных значения.</a:t>
            </a:r>
          </a:p>
        </p:txBody>
      </p:sp>
    </p:spTree>
    <p:extLst>
      <p:ext uri="{BB962C8B-B14F-4D97-AF65-F5344CB8AC3E}">
        <p14:creationId xmlns:p14="http://schemas.microsoft.com/office/powerpoint/2010/main" val="14098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Расчёт коэффициентов по выборке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graphicFrame>
        <p:nvGraphicFramePr>
          <p:cNvPr id="15" name="Таблица 14"/>
          <p:cNvGraphicFramePr/>
          <p:nvPr/>
        </p:nvGraphicFramePr>
        <p:xfrm>
          <a:off x="590550" y="2276475"/>
          <a:ext cx="11029950" cy="1724025"/>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gridCol w="1562100">
                  <a:extLst>
                    <a:ext uri="{9D8B030D-6E8A-4147-A177-3AD203B41FA5}">
                      <a16:colId xmlns:a16="http://schemas.microsoft.com/office/drawing/2014/main" val="20005"/>
                    </a:ext>
                  </a:extLst>
                </a:gridCol>
              </a:tblGrid>
              <a:tr h="574675">
                <a:tc>
                  <a:txBody>
                    <a:bodyPr/>
                    <a:lstStyle/>
                    <a:p>
                      <a:r>
                        <a:rPr sz="1950" b="1">
                          <a:solidFill>
                            <a:srgbClr val="FFFFFF"/>
                          </a:solidFill>
                          <a:latin typeface="HSE Sans"/>
                          <a:ea typeface="HSE Sans"/>
                          <a:cs typeface="HSE Sans"/>
                        </a:rPr>
                        <a:t>xᵢ − 3</a:t>
                      </a:r>
                    </a:p>
                  </a:txBody>
                  <a:tcPr anchor="ctr">
                    <a:solidFill>
                      <a:srgbClr val="102D69"/>
                    </a:solidFill>
                  </a:tcPr>
                </a:tc>
                <a:tc>
                  <a:txBody>
                    <a:bodyPr/>
                    <a:lstStyle/>
                    <a:p>
                      <a:r>
                        <a:rPr sz="1950" b="1">
                          <a:solidFill>
                            <a:srgbClr val="FFFFFF"/>
                          </a:solidFill>
                          <a:latin typeface="HSE Sans"/>
                          <a:ea typeface="HSE Sans"/>
                          <a:cs typeface="HSE Sans"/>
                        </a:rPr>
                        <a:t>−2</a:t>
                      </a:r>
                    </a:p>
                  </a:txBody>
                  <a:tcPr anchor="ctr">
                    <a:solidFill>
                      <a:srgbClr val="102D69"/>
                    </a:solidFill>
                  </a:tcPr>
                </a:tc>
                <a:tc>
                  <a:txBody>
                    <a:bodyPr/>
                    <a:lstStyle/>
                    <a:p>
                      <a:r>
                        <a:rPr sz="1950" b="1">
                          <a:solidFill>
                            <a:srgbClr val="FFFFFF"/>
                          </a:solidFill>
                          <a:latin typeface="HSE Sans"/>
                          <a:ea typeface="HSE Sans"/>
                          <a:cs typeface="HSE Sans"/>
                        </a:rPr>
                        <a:t>−1</a:t>
                      </a:r>
                    </a:p>
                  </a:txBody>
                  <a:tcPr anchor="ctr">
                    <a:solidFill>
                      <a:srgbClr val="102D69"/>
                    </a:solidFill>
                  </a:tcPr>
                </a:tc>
                <a:tc>
                  <a:txBody>
                    <a:bodyPr/>
                    <a:lstStyle/>
                    <a:p>
                      <a:r>
                        <a:rPr sz="1950" b="1">
                          <a:solidFill>
                            <a:srgbClr val="FFFFFF"/>
                          </a:solidFill>
                          <a:latin typeface="HSE Sans"/>
                          <a:ea typeface="HSE Sans"/>
                          <a:cs typeface="HSE Sans"/>
                        </a:rPr>
                        <a:t>0</a:t>
                      </a:r>
                    </a:p>
                  </a:txBody>
                  <a:tcPr anchor="ctr">
                    <a:solidFill>
                      <a:srgbClr val="102D69"/>
                    </a:solidFill>
                  </a:tcPr>
                </a:tc>
                <a:tc>
                  <a:txBody>
                    <a:bodyPr/>
                    <a:lstStyle/>
                    <a:p>
                      <a:r>
                        <a:rPr sz="1950" b="1">
                          <a:solidFill>
                            <a:srgbClr val="FFFFFF"/>
                          </a:solidFill>
                          <a:latin typeface="HSE Sans"/>
                          <a:ea typeface="HSE Sans"/>
                          <a:cs typeface="HSE Sans"/>
                        </a:rPr>
                        <a:t>1</a:t>
                      </a:r>
                    </a:p>
                  </a:txBody>
                  <a:tcPr anchor="ctr">
                    <a:solidFill>
                      <a:srgbClr val="102D69"/>
                    </a:solidFill>
                  </a:tcPr>
                </a:tc>
                <a:tc>
                  <a:txBody>
                    <a:bodyPr/>
                    <a:lstStyle/>
                    <a:p>
                      <a:r>
                        <a:rPr sz="1950" b="1">
                          <a:solidFill>
                            <a:srgbClr val="FFFFFF"/>
                          </a:solidFill>
                          <a:latin typeface="HSE Sans"/>
                          <a:ea typeface="HSE Sans"/>
                          <a:cs typeface="HSE Sans"/>
                        </a:rPr>
                        <a:t>2</a:t>
                      </a:r>
                    </a:p>
                  </a:txBody>
                  <a:tcPr anchor="ctr">
                    <a:solidFill>
                      <a:srgbClr val="102D69"/>
                    </a:solidFill>
                  </a:tcPr>
                </a:tc>
                <a:extLst>
                  <a:ext uri="{0D108BD9-81ED-4DB2-BD59-A6C34878D82A}">
                    <a16:rowId xmlns:a16="http://schemas.microsoft.com/office/drawing/2014/main" val="10000"/>
                  </a:ext>
                </a:extLst>
              </a:tr>
              <a:tr h="574675">
                <a:tc>
                  <a:txBody>
                    <a:bodyPr/>
                    <a:lstStyle/>
                    <a:p>
                      <a:r>
                        <a:rPr sz="1950" b="0">
                          <a:solidFill>
                            <a:srgbClr val="102D69"/>
                          </a:solidFill>
                          <a:latin typeface="HSE Sans"/>
                          <a:ea typeface="HSE Sans"/>
                          <a:cs typeface="HSE Sans"/>
                        </a:rPr>
                        <a:t>yᵢ − 25</a:t>
                      </a:r>
                    </a:p>
                  </a:txBody>
                  <a:tcPr anchor="ctr">
                    <a:solidFill>
                      <a:srgbClr val="EFF4FB"/>
                    </a:solidFill>
                  </a:tcPr>
                </a:tc>
                <a:tc>
                  <a:txBody>
                    <a:bodyPr/>
                    <a:lstStyle/>
                    <a:p>
                      <a:r>
                        <a:rPr sz="1950" b="0">
                          <a:solidFill>
                            <a:srgbClr val="102D69"/>
                          </a:solidFill>
                          <a:latin typeface="HSE Sans"/>
                          <a:ea typeface="HSE Sans"/>
                          <a:cs typeface="HSE Sans"/>
                        </a:rPr>
                        <a:t>−7</a:t>
                      </a:r>
                    </a:p>
                  </a:txBody>
                  <a:tcPr anchor="ctr">
                    <a:solidFill>
                      <a:srgbClr val="EFF4FB"/>
                    </a:solidFill>
                  </a:tcPr>
                </a:tc>
                <a:tc>
                  <a:txBody>
                    <a:bodyPr/>
                    <a:lstStyle/>
                    <a:p>
                      <a:r>
                        <a:rPr sz="1950" b="0">
                          <a:solidFill>
                            <a:srgbClr val="102D69"/>
                          </a:solidFill>
                          <a:latin typeface="HSE Sans"/>
                          <a:ea typeface="HSE Sans"/>
                          <a:cs typeface="HSE Sans"/>
                        </a:rPr>
                        <a:t>−5</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4</a:t>
                      </a:r>
                    </a:p>
                  </a:txBody>
                  <a:tcPr anchor="ctr">
                    <a:solidFill>
                      <a:srgbClr val="EFF4FB"/>
                    </a:solidFill>
                  </a:tcPr>
                </a:tc>
                <a:tc>
                  <a:txBody>
                    <a:bodyPr/>
                    <a:lstStyle/>
                    <a:p>
                      <a:r>
                        <a:rPr sz="1950" b="0">
                          <a:solidFill>
                            <a:srgbClr val="102D69"/>
                          </a:solidFill>
                          <a:latin typeface="HSE Sans"/>
                          <a:ea typeface="HSE Sans"/>
                          <a:cs typeface="HSE Sans"/>
                        </a:rPr>
                        <a:t>8</a:t>
                      </a:r>
                    </a:p>
                  </a:txBody>
                  <a:tcPr anchor="ctr">
                    <a:solidFill>
                      <a:srgbClr val="EFF4FB"/>
                    </a:solidFill>
                  </a:tcPr>
                </a:tc>
                <a:extLst>
                  <a:ext uri="{0D108BD9-81ED-4DB2-BD59-A6C34878D82A}">
                    <a16:rowId xmlns:a16="http://schemas.microsoft.com/office/drawing/2014/main" val="10001"/>
                  </a:ext>
                </a:extLst>
              </a:tr>
              <a:tr h="574675">
                <a:tc>
                  <a:txBody>
                    <a:bodyPr/>
                    <a:lstStyle/>
                    <a:p>
                      <a:r>
                        <a:rPr sz="1950" b="0">
                          <a:solidFill>
                            <a:srgbClr val="102D69"/>
                          </a:solidFill>
                          <a:latin typeface="HSE Sans"/>
                          <a:ea typeface="HSE Sans"/>
                          <a:cs typeface="HSE Sans"/>
                        </a:rPr>
                        <a:t>Произведение</a:t>
                      </a:r>
                    </a:p>
                  </a:txBody>
                  <a:tcPr anchor="ctr">
                    <a:solidFill>
                      <a:srgbClr val="FFFFFF"/>
                    </a:solidFill>
                  </a:tcPr>
                </a:tc>
                <a:tc>
                  <a:txBody>
                    <a:bodyPr/>
                    <a:lstStyle/>
                    <a:p>
                      <a:r>
                        <a:rPr sz="1950" b="0">
                          <a:solidFill>
                            <a:srgbClr val="102D69"/>
                          </a:solidFill>
                          <a:latin typeface="HSE Sans"/>
                          <a:ea typeface="HSE Sans"/>
                          <a:cs typeface="HSE Sans"/>
                        </a:rPr>
                        <a:t>14</a:t>
                      </a:r>
                    </a:p>
                  </a:txBody>
                  <a:tcPr anchor="ctr">
                    <a:solidFill>
                      <a:srgbClr val="FFFFFF"/>
                    </a:solidFill>
                  </a:tcPr>
                </a:tc>
                <a:tc>
                  <a:txBody>
                    <a:bodyPr/>
                    <a:lstStyle/>
                    <a:p>
                      <a:r>
                        <a:rPr sz="1950" b="0">
                          <a:solidFill>
                            <a:srgbClr val="102D69"/>
                          </a:solidFill>
                          <a:latin typeface="HSE Sans"/>
                          <a:ea typeface="HSE Sans"/>
                          <a:cs typeface="HSE Sans"/>
                        </a:rPr>
                        <a:t>5</a:t>
                      </a:r>
                    </a:p>
                  </a:txBody>
                  <a:tcPr anchor="ctr">
                    <a:solidFill>
                      <a:srgbClr val="FFFFFF"/>
                    </a:solidFill>
                  </a:tcPr>
                </a:tc>
                <a:tc>
                  <a:txBody>
                    <a:bodyPr/>
                    <a:lstStyle/>
                    <a:p>
                      <a:r>
                        <a:rPr sz="1950" b="0">
                          <a:solidFill>
                            <a:srgbClr val="102D69"/>
                          </a:solidFill>
                          <a:latin typeface="HSE Sans"/>
                          <a:ea typeface="HSE Sans"/>
                          <a:cs typeface="HSE Sans"/>
                        </a:rPr>
                        <a:t>0</a:t>
                      </a:r>
                    </a:p>
                  </a:txBody>
                  <a:tcPr anchor="ctr">
                    <a:solidFill>
                      <a:srgbClr val="FFFFFF"/>
                    </a:solidFill>
                  </a:tcPr>
                </a:tc>
                <a:tc>
                  <a:txBody>
                    <a:bodyPr/>
                    <a:lstStyle/>
                    <a:p>
                      <a:r>
                        <a:rPr sz="1950" b="0">
                          <a:solidFill>
                            <a:srgbClr val="102D69"/>
                          </a:solidFill>
                          <a:latin typeface="HSE Sans"/>
                          <a:ea typeface="HSE Sans"/>
                          <a:cs typeface="HSE Sans"/>
                        </a:rPr>
                        <a:t>4</a:t>
                      </a:r>
                    </a:p>
                  </a:txBody>
                  <a:tcPr anchor="ctr">
                    <a:solidFill>
                      <a:srgbClr val="FFFFFF"/>
                    </a:solidFill>
                  </a:tcPr>
                </a:tc>
                <a:tc>
                  <a:txBody>
                    <a:bodyPr/>
                    <a:lstStyle/>
                    <a:p>
                      <a:r>
                        <a:rPr sz="1950" b="0">
                          <a:solidFill>
                            <a:srgbClr val="102D69"/>
                          </a:solidFill>
                          <a:latin typeface="HSE Sans"/>
                          <a:ea typeface="HSE Sans"/>
                          <a:cs typeface="HSE Sans"/>
                        </a:rPr>
                        <a:t>16</a:t>
                      </a:r>
                    </a:p>
                  </a:txBody>
                  <a:tcPr anchor="ctr">
                    <a:solidFill>
                      <a:srgbClr val="FFFFFF"/>
                    </a:solidFill>
                  </a:tcPr>
                </a:tc>
                <a:extLst>
                  <a:ext uri="{0D108BD9-81ED-4DB2-BD59-A6C34878D82A}">
                    <a16:rowId xmlns:a16="http://schemas.microsoft.com/office/drawing/2014/main" val="10002"/>
                  </a:ext>
                </a:extLst>
              </a:tr>
            </a:tbl>
          </a:graphicData>
        </a:graphic>
      </p:graphicFrame>
      <mc:AlternateContent xmlns:mc="http://schemas.openxmlformats.org/markup-compatibility/2006">
        <mc:Choice xmlns:a14="http://schemas.microsoft.com/office/drawing/2010/main" Requires="a14">
          <p:sp>
            <p:nvSpPr>
              <p:cNvPr id="8" name="l02-content-36">
                <a:extLst>
                  <a:ext uri="{FF2B5EF4-FFF2-40B4-BE49-F238E27FC236}">
                    <a16:creationId xmlns:a16="http://schemas.microsoft.com/office/drawing/2014/main" id="{6CA50A09-7ED6-4D3D-96D2-38A81908DD0F}"/>
                  </a:ext>
                </a:extLst>
              </p:cNvPr>
              <p:cNvSpPr>
                <a:spLocks noGrp="1"/>
              </p:cNvSpPr>
              <p:nvPr/>
            </p:nvSpPr>
            <p:spPr>
              <a:xfrm>
                <a:off x="590550" y="4324350"/>
                <a:ext cx="11029950" cy="1028700"/>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1</m:t>
                          </m:r>
                        </m:sub>
                        <m:sup>
                          <m:r>
                            <a:rPr>
                              <a:latin typeface="Cambria Math" panose="02040503050406030204" pitchFamily="18" charset="0"/>
                            </a:rPr>
                            <m:t>∗</m:t>
                          </m:r>
                        </m:sup>
                      </m:sSubSup>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39</m:t>
                          </m:r>
                        </m:num>
                        <m:den>
                          <m:r>
                            <a:rPr>
                              <a:latin typeface="Cambria Math" panose="02040503050406030204" pitchFamily="18" charset="0"/>
                            </a:rPr>
                            <m:t>10</m:t>
                          </m:r>
                        </m:den>
                      </m:f>
                      <m:r>
                        <a:rPr>
                          <a:latin typeface="Cambria Math" panose="02040503050406030204" pitchFamily="18" charset="0"/>
                        </a:rPr>
                        <m:t>=3.9,</m:t>
                      </m:r>
                      <m:sSubSup>
                        <m:sSubSupPr>
                          <m:ctrlPr>
                            <a:rPr i="1">
                              <a:latin typeface="Cambria Math" panose="02040503050406030204" pitchFamily="18" charset="0"/>
                            </a:rPr>
                          </m:ctrlPr>
                        </m:sSubSupPr>
                        <m:e>
                          <m:r>
                            <a:rPr>
                              <a:latin typeface="Cambria Math" panose="02040503050406030204" pitchFamily="18" charset="0"/>
                            </a:rPr>
                            <m:t>𝑤</m:t>
                          </m:r>
                        </m:e>
                        <m:sub>
                          <m:r>
                            <a:rPr>
                              <a:latin typeface="Cambria Math" panose="02040503050406030204" pitchFamily="18" charset="0"/>
                            </a:rPr>
                            <m:t>0</m:t>
                          </m:r>
                        </m:sub>
                        <m:sup>
                          <m:r>
                            <a:rPr>
                              <a:latin typeface="Cambria Math" panose="02040503050406030204" pitchFamily="18" charset="0"/>
                            </a:rPr>
                            <m:t>∗</m:t>
                          </m:r>
                        </m:sup>
                      </m:sSubSup>
                      <m:r>
                        <a:rPr>
                          <a:latin typeface="Cambria Math" panose="02040503050406030204" pitchFamily="18" charset="0"/>
                        </a:rPr>
                        <m:t>=25−3.9·3=13.3</m:t>
                      </m:r>
                    </m:oMath>
                  </m:oMathPara>
                </a14:m>
                <a:endParaRPr/>
              </a:p>
            </p:txBody>
          </p:sp>
        </mc:Choice>
        <mc:Fallback>
          <p:sp>
            <p:nvSpPr>
              <p:cNvPr id="8" name="l02-content-36">
                <a:extLst>
                  <a:ext uri="{FF2B5EF4-FFF2-40B4-BE49-F238E27FC236}">
                    <a16:creationId xmlns:a16="http://schemas.microsoft.com/office/drawing/2014/main" id="{6CA50A09-7ED6-4D3D-96D2-38A81908DD0F}"/>
                  </a:ext>
                </a:extLst>
              </p:cNvPr>
              <p:cNvSpPr>
                <a:spLocks noGrp="1" noRot="1" noChangeAspect="1" noMove="1" noResize="1" noEditPoints="1" noAdjustHandles="1" noChangeArrowheads="1" noChangeShapeType="1" noTextEdit="1"/>
              </p:cNvSpPr>
              <p:nvPr/>
            </p:nvSpPr>
            <p:spPr>
              <a:xfrm>
                <a:off x="590550" y="4324350"/>
                <a:ext cx="11029950" cy="1028700"/>
              </a:xfrm>
              <a:prstGeom prst="rect">
                <a:avLst/>
              </a:prstGeom>
              <a:blipFill>
                <a:blip r:embed="rId3"/>
                <a:stretch>
                  <a:fillRect t="-2439"/>
                </a:stretch>
              </a:blipFill>
              <a:ln w="0">
                <a:noFill/>
              </a:ln>
            </p:spPr>
            <p:txBody>
              <a:bodyPr/>
              <a:lstStyle/>
              <a:p>
                <a:r>
                  <a:rPr lang="ru-RU">
                    <a:noFill/>
                  </a:rPr>
                  <a:t> </a:t>
                </a:r>
              </a:p>
            </p:txBody>
          </p:sp>
        </mc:Fallback>
      </mc:AlternateContent>
      <p:sp>
        <p:nvSpPr>
          <p:cNvPr id="9" name="l02-content-37">
            <a:extLst>
              <a:ext uri="{FF2B5EF4-FFF2-40B4-BE49-F238E27FC236}">
                <a16:creationId xmlns:a16="http://schemas.microsoft.com/office/drawing/2014/main" id="{E8DC819C-0C29-4893-AE9A-C32765AAED16}"/>
              </a:ext>
            </a:extLst>
          </p:cNvPr>
          <p:cNvSpPr>
            <a:spLocks noGrp="1"/>
          </p:cNvSpPr>
          <p:nvPr/>
        </p:nvSpPr>
        <p:spPr>
          <a:xfrm>
            <a:off x="590550" y="60102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Прогноз: a(x) = 13,3 + 3,9x. Для маршрута 3,5 км получаем 26,95 мин.</a:t>
            </a:r>
          </a:p>
        </p:txBody>
      </p:sp>
    </p:spTree>
    <p:extLst>
      <p:ext uri="{BB962C8B-B14F-4D97-AF65-F5344CB8AC3E}">
        <p14:creationId xmlns:p14="http://schemas.microsoft.com/office/powerpoint/2010/main" val="140984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Невязки найденного решения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1. МНК для одного признака</a:t>
            </a:r>
          </a:p>
        </p:txBody>
      </p:sp>
      <p:graphicFrame>
        <p:nvGraphicFramePr>
          <p:cNvPr id="16" name="Таблица 15"/>
          <p:cNvGraphicFramePr/>
          <p:nvPr/>
        </p:nvGraphicFramePr>
        <p:xfrm>
          <a:off x="590550" y="2238375"/>
          <a:ext cx="11029950" cy="276225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gridCol w="3238500">
                  <a:extLst>
                    <a:ext uri="{9D8B030D-6E8A-4147-A177-3AD203B41FA5}">
                      <a16:colId xmlns:a16="http://schemas.microsoft.com/office/drawing/2014/main" val="20003"/>
                    </a:ext>
                  </a:extLst>
                </a:gridCol>
              </a:tblGrid>
              <a:tr h="460375">
                <a:tc>
                  <a:txBody>
                    <a:bodyPr/>
                    <a:lstStyle/>
                    <a:p>
                      <a:r>
                        <a:rPr sz="1875" b="1">
                          <a:solidFill>
                            <a:srgbClr val="FFFFFF"/>
                          </a:solidFill>
                          <a:latin typeface="HSE Sans"/>
                          <a:ea typeface="HSE Sans"/>
                          <a:cs typeface="HSE Sans"/>
                        </a:rPr>
                        <a:t>x, км</a:t>
                      </a:r>
                    </a:p>
                  </a:txBody>
                  <a:tcPr anchor="ctr">
                    <a:solidFill>
                      <a:srgbClr val="102D69"/>
                    </a:solidFill>
                  </a:tcPr>
                </a:tc>
                <a:tc>
                  <a:txBody>
                    <a:bodyPr/>
                    <a:lstStyle/>
                    <a:p>
                      <a:r>
                        <a:rPr sz="1875" b="1">
                          <a:solidFill>
                            <a:srgbClr val="FFFFFF"/>
                          </a:solidFill>
                          <a:latin typeface="HSE Sans"/>
                          <a:ea typeface="HSE Sans"/>
                          <a:cs typeface="HSE Sans"/>
                        </a:rPr>
                        <a:t>Факт y</a:t>
                      </a:r>
                    </a:p>
                  </a:txBody>
                  <a:tcPr anchor="ctr">
                    <a:solidFill>
                      <a:srgbClr val="102D69"/>
                    </a:solidFill>
                  </a:tcPr>
                </a:tc>
                <a:tc>
                  <a:txBody>
                    <a:bodyPr/>
                    <a:lstStyle/>
                    <a:p>
                      <a:r>
                        <a:rPr sz="1875" b="1">
                          <a:solidFill>
                            <a:srgbClr val="FFFFFF"/>
                          </a:solidFill>
                          <a:latin typeface="HSE Sans"/>
                          <a:ea typeface="HSE Sans"/>
                          <a:cs typeface="HSE Sans"/>
                        </a:rPr>
                        <a:t>Прогноз a(x)</a:t>
                      </a:r>
                    </a:p>
                  </a:txBody>
                  <a:tcPr anchor="ctr">
                    <a:solidFill>
                      <a:srgbClr val="102D69"/>
                    </a:solidFill>
                  </a:tcPr>
                </a:tc>
                <a:tc>
                  <a:txBody>
                    <a:bodyPr/>
                    <a:lstStyle/>
                    <a:p>
                      <a:r>
                        <a:rPr sz="1875" b="1">
                          <a:solidFill>
                            <a:srgbClr val="FFFFFF"/>
                          </a:solidFill>
                          <a:latin typeface="HSE Sans"/>
                          <a:ea typeface="HSE Sans"/>
                          <a:cs typeface="HSE Sans"/>
                        </a:rPr>
                        <a:t>r = a(x) − y</a:t>
                      </a:r>
                    </a:p>
                  </a:txBody>
                  <a:tcPr anchor="ctr">
                    <a:solidFill>
                      <a:srgbClr val="102D69"/>
                    </a:solidFill>
                  </a:tcPr>
                </a:tc>
                <a:extLst>
                  <a:ext uri="{0D108BD9-81ED-4DB2-BD59-A6C34878D82A}">
                    <a16:rowId xmlns:a16="http://schemas.microsoft.com/office/drawing/2014/main" val="10000"/>
                  </a:ext>
                </a:extLst>
              </a:tr>
              <a:tr h="460375">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18</a:t>
                      </a:r>
                    </a:p>
                  </a:txBody>
                  <a:tcPr anchor="ctr">
                    <a:solidFill>
                      <a:srgbClr val="EFF4FB"/>
                    </a:solidFill>
                  </a:tcPr>
                </a:tc>
                <a:tc>
                  <a:txBody>
                    <a:bodyPr/>
                    <a:lstStyle/>
                    <a:p>
                      <a:r>
                        <a:rPr sz="1875" b="0">
                          <a:solidFill>
                            <a:srgbClr val="102D69"/>
                          </a:solidFill>
                          <a:latin typeface="HSE Sans"/>
                          <a:ea typeface="HSE Sans"/>
                          <a:cs typeface="HSE Sans"/>
                        </a:rPr>
                        <a:t>17,2</a:t>
                      </a:r>
                    </a:p>
                  </a:txBody>
                  <a:tcPr anchor="ctr">
                    <a:solidFill>
                      <a:srgbClr val="EFF4FB"/>
                    </a:solidFill>
                  </a:tcPr>
                </a:tc>
                <a:tc>
                  <a:txBody>
                    <a:bodyPr/>
                    <a:lstStyle/>
                    <a:p>
                      <a:r>
                        <a:rPr sz="1875" b="0">
                          <a:solidFill>
                            <a:srgbClr val="102D69"/>
                          </a:solidFill>
                          <a:latin typeface="HSE Sans"/>
                          <a:ea typeface="HSE Sans"/>
                          <a:cs typeface="HSE Sans"/>
                        </a:rPr>
                        <a:t>−0,8</a:t>
                      </a:r>
                    </a:p>
                  </a:txBody>
                  <a:tcPr anchor="ctr">
                    <a:solidFill>
                      <a:srgbClr val="EFF4FB"/>
                    </a:solidFill>
                  </a:tcPr>
                </a:tc>
                <a:extLst>
                  <a:ext uri="{0D108BD9-81ED-4DB2-BD59-A6C34878D82A}">
                    <a16:rowId xmlns:a16="http://schemas.microsoft.com/office/drawing/2014/main" val="10001"/>
                  </a:ext>
                </a:extLst>
              </a:tr>
              <a:tr h="460375">
                <a:tc>
                  <a:txBody>
                    <a:bodyPr/>
                    <a:lstStyle/>
                    <a:p>
                      <a:r>
                        <a:rPr sz="1875" b="0">
                          <a:solidFill>
                            <a:srgbClr val="102D69"/>
                          </a:solidFill>
                          <a:latin typeface="HSE Sans"/>
                          <a:ea typeface="HSE Sans"/>
                          <a:cs typeface="HSE Sans"/>
                        </a:rPr>
                        <a:t>2</a:t>
                      </a:r>
                    </a:p>
                  </a:txBody>
                  <a:tcPr anchor="ctr">
                    <a:solidFill>
                      <a:srgbClr val="FFFFFF"/>
                    </a:solidFill>
                  </a:tcPr>
                </a:tc>
                <a:tc>
                  <a:txBody>
                    <a:bodyPr/>
                    <a:lstStyle/>
                    <a:p>
                      <a:r>
                        <a:rPr sz="1875" b="0">
                          <a:solidFill>
                            <a:srgbClr val="102D69"/>
                          </a:solidFill>
                          <a:latin typeface="HSE Sans"/>
                          <a:ea typeface="HSE Sans"/>
                          <a:cs typeface="HSE Sans"/>
                        </a:rPr>
                        <a:t>20</a:t>
                      </a:r>
                    </a:p>
                  </a:txBody>
                  <a:tcPr anchor="ctr">
                    <a:solidFill>
                      <a:srgbClr val="FFFFFF"/>
                    </a:solidFill>
                  </a:tcPr>
                </a:tc>
                <a:tc>
                  <a:txBody>
                    <a:bodyPr/>
                    <a:lstStyle/>
                    <a:p>
                      <a:r>
                        <a:rPr sz="1875" b="0">
                          <a:solidFill>
                            <a:srgbClr val="102D69"/>
                          </a:solidFill>
                          <a:latin typeface="HSE Sans"/>
                          <a:ea typeface="HSE Sans"/>
                          <a:cs typeface="HSE Sans"/>
                        </a:rPr>
                        <a:t>21,1</a:t>
                      </a:r>
                    </a:p>
                  </a:txBody>
                  <a:tcPr anchor="ctr">
                    <a:solidFill>
                      <a:srgbClr val="FFFFFF"/>
                    </a:solidFill>
                  </a:tcPr>
                </a:tc>
                <a:tc>
                  <a:txBody>
                    <a:bodyPr/>
                    <a:lstStyle/>
                    <a:p>
                      <a:r>
                        <a:rPr sz="1875" b="0">
                          <a:solidFill>
                            <a:srgbClr val="102D69"/>
                          </a:solidFill>
                          <a:latin typeface="HSE Sans"/>
                          <a:ea typeface="HSE Sans"/>
                          <a:cs typeface="HSE Sans"/>
                        </a:rPr>
                        <a:t>1,1</a:t>
                      </a:r>
                    </a:p>
                  </a:txBody>
                  <a:tcPr anchor="ctr">
                    <a:solidFill>
                      <a:srgbClr val="FFFFFF"/>
                    </a:solidFill>
                  </a:tcPr>
                </a:tc>
                <a:extLst>
                  <a:ext uri="{0D108BD9-81ED-4DB2-BD59-A6C34878D82A}">
                    <a16:rowId xmlns:a16="http://schemas.microsoft.com/office/drawing/2014/main" val="10002"/>
                  </a:ext>
                </a:extLst>
              </a:tr>
              <a:tr h="460375">
                <a:tc>
                  <a:txBody>
                    <a:bodyPr/>
                    <a:lstStyle/>
                    <a:p>
                      <a:r>
                        <a:rPr sz="1875" b="0">
                          <a:solidFill>
                            <a:srgbClr val="102D69"/>
                          </a:solidFill>
                          <a:latin typeface="HSE Sans"/>
                          <a:ea typeface="HSE Sans"/>
                          <a:cs typeface="HSE Sans"/>
                        </a:rPr>
                        <a:t>3</a:t>
                      </a:r>
                    </a:p>
                  </a:txBody>
                  <a:tcPr anchor="ctr">
                    <a:solidFill>
                      <a:srgbClr val="EFF4FB"/>
                    </a:solidFill>
                  </a:tcPr>
                </a:tc>
                <a:tc>
                  <a:txBody>
                    <a:bodyPr/>
                    <a:lstStyle/>
                    <a:p>
                      <a:r>
                        <a:rPr sz="1875" b="0">
                          <a:solidFill>
                            <a:srgbClr val="102D69"/>
                          </a:solidFill>
                          <a:latin typeface="HSE Sans"/>
                          <a:ea typeface="HSE Sans"/>
                          <a:cs typeface="HSE Sans"/>
                        </a:rPr>
                        <a:t>25</a:t>
                      </a:r>
                    </a:p>
                  </a:txBody>
                  <a:tcPr anchor="ctr">
                    <a:solidFill>
                      <a:srgbClr val="EFF4FB"/>
                    </a:solidFill>
                  </a:tcPr>
                </a:tc>
                <a:tc>
                  <a:txBody>
                    <a:bodyPr/>
                    <a:lstStyle/>
                    <a:p>
                      <a:r>
                        <a:rPr sz="1875" b="0">
                          <a:solidFill>
                            <a:srgbClr val="102D69"/>
                          </a:solidFill>
                          <a:latin typeface="HSE Sans"/>
                          <a:ea typeface="HSE Sans"/>
                          <a:cs typeface="HSE Sans"/>
                        </a:rPr>
                        <a:t>25,0</a:t>
                      </a:r>
                    </a:p>
                  </a:txBody>
                  <a:tcPr anchor="ctr">
                    <a:solidFill>
                      <a:srgbClr val="EFF4FB"/>
                    </a:solidFill>
                  </a:tcPr>
                </a:tc>
                <a:tc>
                  <a:txBody>
                    <a:bodyPr/>
                    <a:lstStyle/>
                    <a:p>
                      <a:r>
                        <a:rPr sz="1875" b="0">
                          <a:solidFill>
                            <a:srgbClr val="102D69"/>
                          </a:solidFill>
                          <a:latin typeface="HSE Sans"/>
                          <a:ea typeface="HSE Sans"/>
                          <a:cs typeface="HSE Sans"/>
                        </a:rPr>
                        <a:t>0,0</a:t>
                      </a:r>
                    </a:p>
                  </a:txBody>
                  <a:tcPr anchor="ctr">
                    <a:solidFill>
                      <a:srgbClr val="EFF4FB"/>
                    </a:solidFill>
                  </a:tcPr>
                </a:tc>
                <a:extLst>
                  <a:ext uri="{0D108BD9-81ED-4DB2-BD59-A6C34878D82A}">
                    <a16:rowId xmlns:a16="http://schemas.microsoft.com/office/drawing/2014/main" val="10003"/>
                  </a:ext>
                </a:extLst>
              </a:tr>
              <a:tr h="460375">
                <a:tc>
                  <a:txBody>
                    <a:bodyPr/>
                    <a:lstStyle/>
                    <a:p>
                      <a:r>
                        <a:rPr sz="1875" b="0">
                          <a:solidFill>
                            <a:srgbClr val="102D69"/>
                          </a:solidFill>
                          <a:latin typeface="HSE Sans"/>
                          <a:ea typeface="HSE Sans"/>
                          <a:cs typeface="HSE Sans"/>
                        </a:rPr>
                        <a:t>4</a:t>
                      </a:r>
                    </a:p>
                  </a:txBody>
                  <a:tcPr anchor="ctr">
                    <a:solidFill>
                      <a:srgbClr val="FFFFFF"/>
                    </a:solidFill>
                  </a:tcPr>
                </a:tc>
                <a:tc>
                  <a:txBody>
                    <a:bodyPr/>
                    <a:lstStyle/>
                    <a:p>
                      <a:r>
                        <a:rPr sz="1875" b="0">
                          <a:solidFill>
                            <a:srgbClr val="102D69"/>
                          </a:solidFill>
                          <a:latin typeface="HSE Sans"/>
                          <a:ea typeface="HSE Sans"/>
                          <a:cs typeface="HSE Sans"/>
                        </a:rPr>
                        <a:t>29</a:t>
                      </a:r>
                    </a:p>
                  </a:txBody>
                  <a:tcPr anchor="ctr">
                    <a:solidFill>
                      <a:srgbClr val="FFFFFF"/>
                    </a:solidFill>
                  </a:tcPr>
                </a:tc>
                <a:tc>
                  <a:txBody>
                    <a:bodyPr/>
                    <a:lstStyle/>
                    <a:p>
                      <a:r>
                        <a:rPr sz="1875" b="0">
                          <a:solidFill>
                            <a:srgbClr val="102D69"/>
                          </a:solidFill>
                          <a:latin typeface="HSE Sans"/>
                          <a:ea typeface="HSE Sans"/>
                          <a:cs typeface="HSE Sans"/>
                        </a:rPr>
                        <a:t>28,9</a:t>
                      </a:r>
                    </a:p>
                  </a:txBody>
                  <a:tcPr anchor="ctr">
                    <a:solidFill>
                      <a:srgbClr val="FFFFFF"/>
                    </a:solidFill>
                  </a:tcPr>
                </a:tc>
                <a:tc>
                  <a:txBody>
                    <a:bodyPr/>
                    <a:lstStyle/>
                    <a:p>
                      <a:r>
                        <a:rPr sz="1875" b="0">
                          <a:solidFill>
                            <a:srgbClr val="102D69"/>
                          </a:solidFill>
                          <a:latin typeface="HSE Sans"/>
                          <a:ea typeface="HSE Sans"/>
                          <a:cs typeface="HSE Sans"/>
                        </a:rPr>
                        <a:t>−0,1</a:t>
                      </a:r>
                    </a:p>
                  </a:txBody>
                  <a:tcPr anchor="ctr">
                    <a:solidFill>
                      <a:srgbClr val="FFFFFF"/>
                    </a:solidFill>
                  </a:tcPr>
                </a:tc>
                <a:extLst>
                  <a:ext uri="{0D108BD9-81ED-4DB2-BD59-A6C34878D82A}">
                    <a16:rowId xmlns:a16="http://schemas.microsoft.com/office/drawing/2014/main" val="10004"/>
                  </a:ext>
                </a:extLst>
              </a:tr>
              <a:tr h="460375">
                <a:tc>
                  <a:txBody>
                    <a:bodyPr/>
                    <a:lstStyle/>
                    <a:p>
                      <a:r>
                        <a:rPr sz="1875" b="0">
                          <a:solidFill>
                            <a:srgbClr val="102D69"/>
                          </a:solidFill>
                          <a:latin typeface="HSE Sans"/>
                          <a:ea typeface="HSE Sans"/>
                          <a:cs typeface="HSE Sans"/>
                        </a:rPr>
                        <a:t>5</a:t>
                      </a:r>
                    </a:p>
                  </a:txBody>
                  <a:tcPr anchor="ctr">
                    <a:solidFill>
                      <a:srgbClr val="EFF4FB"/>
                    </a:solidFill>
                  </a:tcPr>
                </a:tc>
                <a:tc>
                  <a:txBody>
                    <a:bodyPr/>
                    <a:lstStyle/>
                    <a:p>
                      <a:r>
                        <a:rPr sz="1875" b="0">
                          <a:solidFill>
                            <a:srgbClr val="102D69"/>
                          </a:solidFill>
                          <a:latin typeface="HSE Sans"/>
                          <a:ea typeface="HSE Sans"/>
                          <a:cs typeface="HSE Sans"/>
                        </a:rPr>
                        <a:t>33</a:t>
                      </a:r>
                    </a:p>
                  </a:txBody>
                  <a:tcPr anchor="ctr">
                    <a:solidFill>
                      <a:srgbClr val="EFF4FB"/>
                    </a:solidFill>
                  </a:tcPr>
                </a:tc>
                <a:tc>
                  <a:txBody>
                    <a:bodyPr/>
                    <a:lstStyle/>
                    <a:p>
                      <a:r>
                        <a:rPr sz="1875" b="0">
                          <a:solidFill>
                            <a:srgbClr val="102D69"/>
                          </a:solidFill>
                          <a:latin typeface="HSE Sans"/>
                          <a:ea typeface="HSE Sans"/>
                          <a:cs typeface="HSE Sans"/>
                        </a:rPr>
                        <a:t>32,8</a:t>
                      </a:r>
                    </a:p>
                  </a:txBody>
                  <a:tcPr anchor="ctr">
                    <a:solidFill>
                      <a:srgbClr val="EFF4FB"/>
                    </a:solidFill>
                  </a:tcPr>
                </a:tc>
                <a:tc>
                  <a:txBody>
                    <a:bodyPr/>
                    <a:lstStyle/>
                    <a:p>
                      <a:r>
                        <a:rPr sz="1875" b="0">
                          <a:solidFill>
                            <a:srgbClr val="102D69"/>
                          </a:solidFill>
                          <a:latin typeface="HSE Sans"/>
                          <a:ea typeface="HSE Sans"/>
                          <a:cs typeface="HSE Sans"/>
                        </a:rPr>
                        <a:t>−0,2</a:t>
                      </a:r>
                    </a:p>
                  </a:txBody>
                  <a:tcPr anchor="ctr">
                    <a:solidFill>
                      <a:srgbClr val="EFF4FB"/>
                    </a:solidFill>
                  </a:tcPr>
                </a:tc>
                <a:extLst>
                  <a:ext uri="{0D108BD9-81ED-4DB2-BD59-A6C34878D82A}">
                    <a16:rowId xmlns:a16="http://schemas.microsoft.com/office/drawing/2014/main" val="10005"/>
                  </a:ext>
                </a:extLst>
              </a:tr>
            </a:tbl>
          </a:graphicData>
        </a:graphic>
      </p:graphicFrame>
      <mc:AlternateContent xmlns:mc="http://schemas.openxmlformats.org/markup-compatibility/2006">
        <mc:Choice xmlns:a14="http://schemas.microsoft.com/office/drawing/2010/main" Requires="a14">
          <p:sp>
            <p:nvSpPr>
              <p:cNvPr id="8" name="l02-content-38">
                <a:extLst>
                  <a:ext uri="{FF2B5EF4-FFF2-40B4-BE49-F238E27FC236}">
                    <a16:creationId xmlns:a16="http://schemas.microsoft.com/office/drawing/2014/main" id="{8B7CEBBF-6FF4-4F57-BBEB-7704BE83D6FE}"/>
                  </a:ext>
                </a:extLst>
              </p:cNvPr>
              <p:cNvSpPr>
                <a:spLocks noGrp="1"/>
              </p:cNvSpPr>
              <p:nvPr/>
            </p:nvSpPr>
            <p:spPr>
              <a:xfrm>
                <a:off x="590550" y="5343525"/>
                <a:ext cx="4857750" cy="762000"/>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)=13.3+3.9</m:t>
                      </m:r>
                      <m:r>
                        <a:rPr>
                          <a:latin typeface="Cambria Math" panose="02040503050406030204" pitchFamily="18" charset="0"/>
                        </a:rPr>
                        <m:t>𝑥</m:t>
                      </m:r>
                    </m:oMath>
                  </m:oMathPara>
                </a14:m>
                <a:endParaRPr/>
              </a:p>
            </p:txBody>
          </p:sp>
        </mc:Choice>
        <mc:Fallback>
          <p:sp>
            <p:nvSpPr>
              <p:cNvPr id="8" name="l02-content-38">
                <a:extLst>
                  <a:ext uri="{FF2B5EF4-FFF2-40B4-BE49-F238E27FC236}">
                    <a16:creationId xmlns:a16="http://schemas.microsoft.com/office/drawing/2014/main" id="{8B7CEBBF-6FF4-4F57-BBEB-7704BE83D6FE}"/>
                  </a:ext>
                </a:extLst>
              </p:cNvPr>
              <p:cNvSpPr>
                <a:spLocks noGrp="1" noRot="1" noChangeAspect="1" noMove="1" noResize="1" noEditPoints="1" noAdjustHandles="1" noChangeArrowheads="1" noChangeShapeType="1" noTextEdit="1"/>
              </p:cNvSpPr>
              <p:nvPr/>
            </p:nvSpPr>
            <p:spPr>
              <a:xfrm>
                <a:off x="590550" y="5343525"/>
                <a:ext cx="4857750" cy="762000"/>
              </a:xfrm>
              <a:prstGeom prst="rect">
                <a:avLst/>
              </a:prstGeom>
              <a:blipFill>
                <a:blip r:embed="rId3"/>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39">
                <a:extLst>
                  <a:ext uri="{FF2B5EF4-FFF2-40B4-BE49-F238E27FC236}">
                    <a16:creationId xmlns:a16="http://schemas.microsoft.com/office/drawing/2014/main" id="{86A0FF1C-D817-4FBC-9756-536A15AAC568}"/>
                  </a:ext>
                </a:extLst>
              </p:cNvPr>
              <p:cNvSpPr>
                <a:spLocks noGrp="1"/>
              </p:cNvSpPr>
              <p:nvPr/>
            </p:nvSpPr>
            <p:spPr>
              <a:xfrm>
                <a:off x="5915025" y="5286375"/>
                <a:ext cx="5657850" cy="8286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𝑀𝑆𝐸</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1.9</m:t>
                          </m:r>
                        </m:num>
                        <m:den>
                          <m:r>
                            <a:rPr>
                              <a:latin typeface="Cambria Math" panose="02040503050406030204" pitchFamily="18" charset="0"/>
                            </a:rPr>
                            <m:t>5</m:t>
                          </m:r>
                        </m:den>
                      </m:f>
                      <m:r>
                        <a:rPr>
                          <a:latin typeface="Cambria Math" panose="02040503050406030204" pitchFamily="18" charset="0"/>
                        </a:rPr>
                        <m:t>=0.38</m:t>
                      </m:r>
                    </m:oMath>
                  </m:oMathPara>
                </a14:m>
                <a:endParaRPr/>
              </a:p>
            </p:txBody>
          </p:sp>
        </mc:Choice>
        <mc:Fallback>
          <p:sp>
            <p:nvSpPr>
              <p:cNvPr id="9" name="l02-content-39">
                <a:extLst>
                  <a:ext uri="{FF2B5EF4-FFF2-40B4-BE49-F238E27FC236}">
                    <a16:creationId xmlns:a16="http://schemas.microsoft.com/office/drawing/2014/main" id="{86A0FF1C-D817-4FBC-9756-536A15AAC568}"/>
                  </a:ext>
                </a:extLst>
              </p:cNvPr>
              <p:cNvSpPr>
                <a:spLocks noGrp="1" noRot="1" noChangeAspect="1" noMove="1" noResize="1" noEditPoints="1" noAdjustHandles="1" noChangeArrowheads="1" noChangeShapeType="1" noTextEdit="1"/>
              </p:cNvSpPr>
              <p:nvPr/>
            </p:nvSpPr>
            <p:spPr>
              <a:xfrm>
                <a:off x="5915025" y="5286375"/>
                <a:ext cx="5657850" cy="828675"/>
              </a:xfrm>
              <a:prstGeom prst="rect">
                <a:avLst/>
              </a:prstGeom>
              <a:blipFill>
                <a:blip r:embed="rId4"/>
                <a:stretch>
                  <a:fillRect t="-1515" b="-1515"/>
                </a:stretch>
              </a:blipFill>
              <a:ln w="0">
                <a:noFill/>
              </a:ln>
            </p:spPr>
            <p:txBody>
              <a:bodyPr/>
              <a:lstStyle/>
              <a:p>
                <a:r>
                  <a:rPr lang="ru-RU">
                    <a:noFill/>
                  </a:rPr>
                  <a:t> </a:t>
                </a:r>
              </a:p>
            </p:txBody>
          </p:sp>
        </mc:Fallback>
      </mc:AlternateContent>
      <p:sp>
        <p:nvSpPr>
          <p:cNvPr id="10" name="l02-content-40">
            <a:extLst>
              <a:ext uri="{FF2B5EF4-FFF2-40B4-BE49-F238E27FC236}">
                <a16:creationId xmlns:a16="http://schemas.microsoft.com/office/drawing/2014/main" id="{1B94694A-B2C0-4FF1-8EAD-B14F8052BA88}"/>
              </a:ext>
            </a:extLst>
          </p:cNvPr>
          <p:cNvSpPr>
            <a:spLocks noGrp="1"/>
          </p:cNvSpPr>
          <p:nvPr/>
        </p:nvSpPr>
        <p:spPr>
          <a:xfrm>
            <a:off x="590550" y="62007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Расстояние — лишь один фактор. Добавим нагрузку сервиса и обобщим расчёт весов.</a:t>
            </a:r>
          </a:p>
        </p:txBody>
      </p:sp>
    </p:spTree>
    <p:extLst>
      <p:ext uri="{BB962C8B-B14F-4D97-AF65-F5344CB8AC3E}">
        <p14:creationId xmlns:p14="http://schemas.microsoft.com/office/powerpoint/2010/main" val="14098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Матричное решение МНК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41">
            <a:extLst>
              <a:ext uri="{FF2B5EF4-FFF2-40B4-BE49-F238E27FC236}">
                <a16:creationId xmlns:a16="http://schemas.microsoft.com/office/drawing/2014/main" id="{B97098B9-7DCF-42D4-B081-A7B3FC8A0F93}"/>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02</a:t>
            </a:r>
          </a:p>
        </p:txBody>
      </p:sp>
      <p:sp>
        <p:nvSpPr>
          <p:cNvPr id="8" name="l02-content-42">
            <a:extLst>
              <a:ext uri="{FF2B5EF4-FFF2-40B4-BE49-F238E27FC236}">
                <a16:creationId xmlns:a16="http://schemas.microsoft.com/office/drawing/2014/main" id="{25720C9F-DB95-4D11-A98C-560DDDFAA292}"/>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Матрица признаков и вектор прогнозов</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Квадратичный критерий в матричной записи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Нормальные уравнения и условия решения</a:t>
            </a:r>
          </a:p>
        </p:txBody>
      </p:sp>
    </p:spTree>
    <p:extLst>
      <p:ext uri="{BB962C8B-B14F-4D97-AF65-F5344CB8AC3E}">
        <p14:creationId xmlns:p14="http://schemas.microsoft.com/office/powerpoint/2010/main" val="14098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Несколько признаков одного заказа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43">
            <a:extLst>
              <a:ext uri="{FF2B5EF4-FFF2-40B4-BE49-F238E27FC236}">
                <a16:creationId xmlns:a16="http://schemas.microsoft.com/office/drawing/2014/main" id="{90AC26C9-100C-4A83-AFB5-81B378DF2E97}"/>
              </a:ext>
            </a:extLst>
          </p:cNvPr>
          <p:cNvSpPr>
            <a:spLocks noGrp="1"/>
          </p:cNvSpPr>
          <p:nvPr/>
        </p:nvSpPr>
        <p:spPr>
          <a:xfrm>
            <a:off x="590550" y="2257425"/>
            <a:ext cx="11029950" cy="9525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Добавим нагрузку n — число активных заказов в момент прогноза.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всех наблюдений используем одни и те же три веса.</a:t>
            </a:r>
          </a:p>
        </p:txBody>
      </p:sp>
      <p:graphicFrame>
        <p:nvGraphicFramePr>
          <p:cNvPr id="16" name="Таблица 15"/>
          <p:cNvGraphicFramePr/>
          <p:nvPr/>
        </p:nvGraphicFramePr>
        <p:xfrm>
          <a:off x="590550" y="3438525"/>
          <a:ext cx="11029950" cy="2209800"/>
        </p:xfrm>
        <a:graphic>
          <a:graphicData uri="http://schemas.openxmlformats.org/drawingml/2006/table">
            <a:tbl>
              <a:tblPr firstRow="1"/>
              <a:tblGrid>
                <a:gridCol w="20002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3076575">
                  <a:extLst>
                    <a:ext uri="{9D8B030D-6E8A-4147-A177-3AD203B41FA5}">
                      <a16:colId xmlns:a16="http://schemas.microsoft.com/office/drawing/2014/main" val="20003"/>
                    </a:ext>
                  </a:extLst>
                </a:gridCol>
              </a:tblGrid>
              <a:tr h="368300">
                <a:tc>
                  <a:txBody>
                    <a:bodyPr/>
                    <a:lstStyle/>
                    <a:p>
                      <a:r>
                        <a:rPr sz="1800" b="1">
                          <a:solidFill>
                            <a:srgbClr val="FFFFFF"/>
                          </a:solidFill>
                          <a:latin typeface="HSE Sans"/>
                          <a:ea typeface="HSE Sans"/>
                          <a:cs typeface="HSE Sans"/>
                        </a:rPr>
                        <a:t>Заказ</a:t>
                      </a:r>
                    </a:p>
                  </a:txBody>
                  <a:tcPr anchor="ctr">
                    <a:solidFill>
                      <a:srgbClr val="102D69"/>
                    </a:solidFill>
                  </a:tcPr>
                </a:tc>
                <a:tc>
                  <a:txBody>
                    <a:bodyPr/>
                    <a:lstStyle/>
                    <a:p>
                      <a:r>
                        <a:rPr sz="1800" b="1">
                          <a:solidFill>
                            <a:srgbClr val="FFFFFF"/>
                          </a:solidFill>
                          <a:latin typeface="HSE Sans"/>
                          <a:ea typeface="HSE Sans"/>
                          <a:cs typeface="HSE Sans"/>
                        </a:rPr>
                        <a:t>Расстояние s, км</a:t>
                      </a:r>
                    </a:p>
                  </a:txBody>
                  <a:tcPr anchor="ctr">
                    <a:solidFill>
                      <a:srgbClr val="102D69"/>
                    </a:solidFill>
                  </a:tcPr>
                </a:tc>
                <a:tc>
                  <a:txBody>
                    <a:bodyPr/>
                    <a:lstStyle/>
                    <a:p>
                      <a:r>
                        <a:rPr sz="1800" b="1">
                          <a:solidFill>
                            <a:srgbClr val="FFFFFF"/>
                          </a:solidFill>
                          <a:latin typeface="HSE Sans"/>
                          <a:ea typeface="HSE Sans"/>
                          <a:cs typeface="HSE Sans"/>
                        </a:rPr>
                        <a:t>Нагрузка n</a:t>
                      </a:r>
                    </a:p>
                  </a:txBody>
                  <a:tcPr anchor="ctr">
                    <a:solidFill>
                      <a:srgbClr val="102D69"/>
                    </a:solidFill>
                  </a:tcPr>
                </a:tc>
                <a:tc>
                  <a:txBody>
                    <a:bodyPr/>
                    <a:lstStyle/>
                    <a:p>
                      <a:r>
                        <a:rPr sz="1800" b="1">
                          <a:solidFill>
                            <a:srgbClr val="FFFFFF"/>
                          </a:solidFill>
                          <a:latin typeface="HSE Sans"/>
                          <a:ea typeface="HSE Sans"/>
                          <a:cs typeface="HSE Sans"/>
                        </a:rPr>
                        <a:t>Время y, мин</a:t>
                      </a:r>
                    </a:p>
                  </a:txBody>
                  <a:tcPr anchor="ctr">
                    <a:solidFill>
                      <a:srgbClr val="102D69"/>
                    </a:solidFill>
                  </a:tcPr>
                </a:tc>
                <a:extLst>
                  <a:ext uri="{0D108BD9-81ED-4DB2-BD59-A6C34878D82A}">
                    <a16:rowId xmlns:a16="http://schemas.microsoft.com/office/drawing/2014/main" val="10000"/>
                  </a:ext>
                </a:extLst>
              </a:tr>
              <a:tr h="368300">
                <a:tc>
                  <a:txBody>
                    <a:bodyPr/>
                    <a:lstStyle/>
                    <a:p>
                      <a:r>
                        <a:rPr sz="1800" b="0">
                          <a:solidFill>
                            <a:srgbClr val="102D69"/>
                          </a:solidFill>
                          <a:latin typeface="HSE Sans"/>
                          <a:ea typeface="HSE Sans"/>
                          <a:cs typeface="HSE Sans"/>
                        </a:rPr>
                        <a:t>1</a:t>
                      </a:r>
                    </a:p>
                  </a:txBody>
                  <a:tcPr anchor="ctr">
                    <a:solidFill>
                      <a:srgbClr val="EFF4FB"/>
                    </a:solidFill>
                  </a:tcPr>
                </a:tc>
                <a:tc>
                  <a:txBody>
                    <a:bodyPr/>
                    <a:lstStyle/>
                    <a:p>
                      <a:r>
                        <a:rPr sz="1800" b="0">
                          <a:solidFill>
                            <a:srgbClr val="102D69"/>
                          </a:solidFill>
                          <a:latin typeface="HSE Sans"/>
                          <a:ea typeface="HSE Sans"/>
                          <a:cs typeface="HSE Sans"/>
                        </a:rPr>
                        <a:t>1</a:t>
                      </a:r>
                    </a:p>
                  </a:txBody>
                  <a:tcPr anchor="ctr">
                    <a:solidFill>
                      <a:srgbClr val="EFF4FB"/>
                    </a:solidFill>
                  </a:tcPr>
                </a:tc>
                <a:tc>
                  <a:txBody>
                    <a:bodyPr/>
                    <a:lstStyle/>
                    <a:p>
                      <a:r>
                        <a:rPr sz="1800" b="0">
                          <a:solidFill>
                            <a:srgbClr val="102D69"/>
                          </a:solidFill>
                          <a:latin typeface="HSE Sans"/>
                          <a:ea typeface="HSE Sans"/>
                          <a:cs typeface="HSE Sans"/>
                        </a:rPr>
                        <a:t>2</a:t>
                      </a:r>
                    </a:p>
                  </a:txBody>
                  <a:tcPr anchor="ctr">
                    <a:solidFill>
                      <a:srgbClr val="EFF4FB"/>
                    </a:solidFill>
                  </a:tcPr>
                </a:tc>
                <a:tc>
                  <a:txBody>
                    <a:bodyPr/>
                    <a:lstStyle/>
                    <a:p>
                      <a:r>
                        <a:rPr sz="1800" b="0">
                          <a:solidFill>
                            <a:srgbClr val="102D69"/>
                          </a:solidFill>
                          <a:latin typeface="HSE Sans"/>
                          <a:ea typeface="HSE Sans"/>
                          <a:cs typeface="HSE Sans"/>
                        </a:rPr>
                        <a:t>18</a:t>
                      </a:r>
                    </a:p>
                  </a:txBody>
                  <a:tcPr anchor="ctr">
                    <a:solidFill>
                      <a:srgbClr val="EFF4FB"/>
                    </a:solidFill>
                  </a:tcPr>
                </a:tc>
                <a:extLst>
                  <a:ext uri="{0D108BD9-81ED-4DB2-BD59-A6C34878D82A}">
                    <a16:rowId xmlns:a16="http://schemas.microsoft.com/office/drawing/2014/main" val="10001"/>
                  </a:ext>
                </a:extLst>
              </a:tr>
              <a:tr h="368300">
                <a:tc>
                  <a:txBody>
                    <a:bodyPr/>
                    <a:lstStyle/>
                    <a:p>
                      <a:r>
                        <a:rPr sz="1800" b="0">
                          <a:solidFill>
                            <a:srgbClr val="102D69"/>
                          </a:solidFill>
                          <a:latin typeface="HSE Sans"/>
                          <a:ea typeface="HSE Sans"/>
                          <a:cs typeface="HSE Sans"/>
                        </a:rPr>
                        <a:t>2</a:t>
                      </a:r>
                    </a:p>
                  </a:txBody>
                  <a:tcPr anchor="ctr">
                    <a:solidFill>
                      <a:srgbClr val="FFFFFF"/>
                    </a:solidFill>
                  </a:tcPr>
                </a:tc>
                <a:tc>
                  <a:txBody>
                    <a:bodyPr/>
                    <a:lstStyle/>
                    <a:p>
                      <a:r>
                        <a:rPr sz="1800" b="0">
                          <a:solidFill>
                            <a:srgbClr val="102D69"/>
                          </a:solidFill>
                          <a:latin typeface="HSE Sans"/>
                          <a:ea typeface="HSE Sans"/>
                          <a:cs typeface="HSE Sans"/>
                        </a:rPr>
                        <a:t>2</a:t>
                      </a:r>
                    </a:p>
                  </a:txBody>
                  <a:tcPr anchor="ctr">
                    <a:solidFill>
                      <a:srgbClr val="FFFFFF"/>
                    </a:solidFill>
                  </a:tcPr>
                </a:tc>
                <a:tc>
                  <a:txBody>
                    <a:bodyPr/>
                    <a:lstStyle/>
                    <a:p>
                      <a:r>
                        <a:rPr sz="1800" b="0">
                          <a:solidFill>
                            <a:srgbClr val="102D69"/>
                          </a:solidFill>
                          <a:latin typeface="HSE Sans"/>
                          <a:ea typeface="HSE Sans"/>
                          <a:cs typeface="HSE Sans"/>
                        </a:rPr>
                        <a:t>1</a:t>
                      </a:r>
                    </a:p>
                  </a:txBody>
                  <a:tcPr anchor="ctr">
                    <a:solidFill>
                      <a:srgbClr val="FFFFFF"/>
                    </a:solidFill>
                  </a:tcPr>
                </a:tc>
                <a:tc>
                  <a:txBody>
                    <a:bodyPr/>
                    <a:lstStyle/>
                    <a:p>
                      <a:r>
                        <a:rPr sz="1800" b="0">
                          <a:solidFill>
                            <a:srgbClr val="102D69"/>
                          </a:solidFill>
                          <a:latin typeface="HSE Sans"/>
                          <a:ea typeface="HSE Sans"/>
                          <a:cs typeface="HSE Sans"/>
                        </a:rPr>
                        <a:t>20</a:t>
                      </a:r>
                    </a:p>
                  </a:txBody>
                  <a:tcPr anchor="ctr">
                    <a:solidFill>
                      <a:srgbClr val="FFFFFF"/>
                    </a:solidFill>
                  </a:tcPr>
                </a:tc>
                <a:extLst>
                  <a:ext uri="{0D108BD9-81ED-4DB2-BD59-A6C34878D82A}">
                    <a16:rowId xmlns:a16="http://schemas.microsoft.com/office/drawing/2014/main" val="10002"/>
                  </a:ext>
                </a:extLst>
              </a:tr>
              <a:tr h="368300">
                <a:tc>
                  <a:txBody>
                    <a:bodyPr/>
                    <a:lstStyle/>
                    <a:p>
                      <a:r>
                        <a:rPr sz="1800" b="0">
                          <a:solidFill>
                            <a:srgbClr val="102D69"/>
                          </a:solidFill>
                          <a:latin typeface="HSE Sans"/>
                          <a:ea typeface="HSE Sans"/>
                          <a:cs typeface="HSE Sans"/>
                        </a:rPr>
                        <a:t>3</a:t>
                      </a:r>
                    </a:p>
                  </a:txBody>
                  <a:tcPr anchor="ctr">
                    <a:solidFill>
                      <a:srgbClr val="EFF4FB"/>
                    </a:solidFill>
                  </a:tcPr>
                </a:tc>
                <a:tc>
                  <a:txBody>
                    <a:bodyPr/>
                    <a:lstStyle/>
                    <a:p>
                      <a:r>
                        <a:rPr sz="1800" b="0">
                          <a:solidFill>
                            <a:srgbClr val="102D69"/>
                          </a:solidFill>
                          <a:latin typeface="HSE Sans"/>
                          <a:ea typeface="HSE Sans"/>
                          <a:cs typeface="HSE Sans"/>
                        </a:rPr>
                        <a:t>3</a:t>
                      </a:r>
                    </a:p>
                  </a:txBody>
                  <a:tcPr anchor="ctr">
                    <a:solidFill>
                      <a:srgbClr val="EFF4FB"/>
                    </a:solidFill>
                  </a:tcPr>
                </a:tc>
                <a:tc>
                  <a:txBody>
                    <a:bodyPr/>
                    <a:lstStyle/>
                    <a:p>
                      <a:r>
                        <a:rPr sz="1800" b="0">
                          <a:solidFill>
                            <a:srgbClr val="102D69"/>
                          </a:solidFill>
                          <a:latin typeface="HSE Sans"/>
                          <a:ea typeface="HSE Sans"/>
                          <a:cs typeface="HSE Sans"/>
                        </a:rPr>
                        <a:t>3</a:t>
                      </a:r>
                    </a:p>
                  </a:txBody>
                  <a:tcPr anchor="ctr">
                    <a:solidFill>
                      <a:srgbClr val="EFF4FB"/>
                    </a:solidFill>
                  </a:tcPr>
                </a:tc>
                <a:tc>
                  <a:txBody>
                    <a:bodyPr/>
                    <a:lstStyle/>
                    <a:p>
                      <a:r>
                        <a:rPr sz="1800" b="0">
                          <a:solidFill>
                            <a:srgbClr val="102D69"/>
                          </a:solidFill>
                          <a:latin typeface="HSE Sans"/>
                          <a:ea typeface="HSE Sans"/>
                          <a:cs typeface="HSE Sans"/>
                        </a:rPr>
                        <a:t>25</a:t>
                      </a:r>
                    </a:p>
                  </a:txBody>
                  <a:tcPr anchor="ctr">
                    <a:solidFill>
                      <a:srgbClr val="EFF4FB"/>
                    </a:solidFill>
                  </a:tcPr>
                </a:tc>
                <a:extLst>
                  <a:ext uri="{0D108BD9-81ED-4DB2-BD59-A6C34878D82A}">
                    <a16:rowId xmlns:a16="http://schemas.microsoft.com/office/drawing/2014/main" val="10003"/>
                  </a:ext>
                </a:extLst>
              </a:tr>
              <a:tr h="368300">
                <a:tc>
                  <a:txBody>
                    <a:bodyPr/>
                    <a:lstStyle/>
                    <a:p>
                      <a:r>
                        <a:rPr sz="1800" b="0">
                          <a:solidFill>
                            <a:srgbClr val="102D69"/>
                          </a:solidFill>
                          <a:latin typeface="HSE Sans"/>
                          <a:ea typeface="HSE Sans"/>
                          <a:cs typeface="HSE Sans"/>
                        </a:rPr>
                        <a:t>4</a:t>
                      </a:r>
                    </a:p>
                  </a:txBody>
                  <a:tcPr anchor="ctr">
                    <a:solidFill>
                      <a:srgbClr val="FFFFFF"/>
                    </a:solidFill>
                  </a:tcPr>
                </a:tc>
                <a:tc>
                  <a:txBody>
                    <a:bodyPr/>
                    <a:lstStyle/>
                    <a:p>
                      <a:r>
                        <a:rPr sz="1800" b="0">
                          <a:solidFill>
                            <a:srgbClr val="102D69"/>
                          </a:solidFill>
                          <a:latin typeface="HSE Sans"/>
                          <a:ea typeface="HSE Sans"/>
                          <a:cs typeface="HSE Sans"/>
                        </a:rPr>
                        <a:t>4</a:t>
                      </a:r>
                    </a:p>
                  </a:txBody>
                  <a:tcPr anchor="ctr">
                    <a:solidFill>
                      <a:srgbClr val="FFFFFF"/>
                    </a:solidFill>
                  </a:tcPr>
                </a:tc>
                <a:tc>
                  <a:txBody>
                    <a:bodyPr/>
                    <a:lstStyle/>
                    <a:p>
                      <a:r>
                        <a:rPr sz="1800" b="0">
                          <a:solidFill>
                            <a:srgbClr val="102D69"/>
                          </a:solidFill>
                          <a:latin typeface="HSE Sans"/>
                          <a:ea typeface="HSE Sans"/>
                          <a:cs typeface="HSE Sans"/>
                        </a:rPr>
                        <a:t>2</a:t>
                      </a:r>
                    </a:p>
                  </a:txBody>
                  <a:tcPr anchor="ctr">
                    <a:solidFill>
                      <a:srgbClr val="FFFFFF"/>
                    </a:solidFill>
                  </a:tcPr>
                </a:tc>
                <a:tc>
                  <a:txBody>
                    <a:bodyPr/>
                    <a:lstStyle/>
                    <a:p>
                      <a:r>
                        <a:rPr sz="1800" b="0">
                          <a:solidFill>
                            <a:srgbClr val="102D69"/>
                          </a:solidFill>
                          <a:latin typeface="HSE Sans"/>
                          <a:ea typeface="HSE Sans"/>
                          <a:cs typeface="HSE Sans"/>
                        </a:rPr>
                        <a:t>29</a:t>
                      </a:r>
                    </a:p>
                  </a:txBody>
                  <a:tcPr anchor="ctr">
                    <a:solidFill>
                      <a:srgbClr val="FFFFFF"/>
                    </a:solidFill>
                  </a:tcPr>
                </a:tc>
                <a:extLst>
                  <a:ext uri="{0D108BD9-81ED-4DB2-BD59-A6C34878D82A}">
                    <a16:rowId xmlns:a16="http://schemas.microsoft.com/office/drawing/2014/main" val="10004"/>
                  </a:ext>
                </a:extLst>
              </a:tr>
              <a:tr h="368300">
                <a:tc>
                  <a:txBody>
                    <a:bodyPr/>
                    <a:lstStyle/>
                    <a:p>
                      <a:r>
                        <a:rPr sz="1800" b="0">
                          <a:solidFill>
                            <a:srgbClr val="102D69"/>
                          </a:solidFill>
                          <a:latin typeface="HSE Sans"/>
                          <a:ea typeface="HSE Sans"/>
                          <a:cs typeface="HSE Sans"/>
                        </a:rPr>
                        <a:t>5</a:t>
                      </a:r>
                    </a:p>
                  </a:txBody>
                  <a:tcPr anchor="ctr">
                    <a:solidFill>
                      <a:srgbClr val="EFF4FB"/>
                    </a:solidFill>
                  </a:tcPr>
                </a:tc>
                <a:tc>
                  <a:txBody>
                    <a:bodyPr/>
                    <a:lstStyle/>
                    <a:p>
                      <a:r>
                        <a:rPr sz="1800" b="0">
                          <a:solidFill>
                            <a:srgbClr val="102D69"/>
                          </a:solidFill>
                          <a:latin typeface="HSE Sans"/>
                          <a:ea typeface="HSE Sans"/>
                          <a:cs typeface="HSE Sans"/>
                        </a:rPr>
                        <a:t>5</a:t>
                      </a:r>
                    </a:p>
                  </a:txBody>
                  <a:tcPr anchor="ctr">
                    <a:solidFill>
                      <a:srgbClr val="EFF4FB"/>
                    </a:solidFill>
                  </a:tcPr>
                </a:tc>
                <a:tc>
                  <a:txBody>
                    <a:bodyPr/>
                    <a:lstStyle/>
                    <a:p>
                      <a:r>
                        <a:rPr sz="1800" b="0">
                          <a:solidFill>
                            <a:srgbClr val="102D69"/>
                          </a:solidFill>
                          <a:latin typeface="HSE Sans"/>
                          <a:ea typeface="HSE Sans"/>
                          <a:cs typeface="HSE Sans"/>
                        </a:rPr>
                        <a:t>4</a:t>
                      </a:r>
                    </a:p>
                  </a:txBody>
                  <a:tcPr anchor="ctr">
                    <a:solidFill>
                      <a:srgbClr val="EFF4FB"/>
                    </a:solidFill>
                  </a:tcPr>
                </a:tc>
                <a:tc>
                  <a:txBody>
                    <a:bodyPr/>
                    <a:lstStyle/>
                    <a:p>
                      <a:r>
                        <a:rPr sz="1800" b="0">
                          <a:solidFill>
                            <a:srgbClr val="102D69"/>
                          </a:solidFill>
                          <a:latin typeface="HSE Sans"/>
                          <a:ea typeface="HSE Sans"/>
                          <a:cs typeface="HSE Sans"/>
                        </a:rPr>
                        <a:t>33</a:t>
                      </a:r>
                    </a:p>
                  </a:txBody>
                  <a:tcPr anchor="ctr">
                    <a:solidFill>
                      <a:srgbClr val="EFF4FB"/>
                    </a:solidFill>
                  </a:tcPr>
                </a:tc>
                <a:extLst>
                  <a:ext uri="{0D108BD9-81ED-4DB2-BD59-A6C34878D82A}">
                    <a16:rowId xmlns:a16="http://schemas.microsoft.com/office/drawing/2014/main" val="10005"/>
                  </a:ext>
                </a:extLst>
              </a:tr>
            </a:tbl>
          </a:graphicData>
        </a:graphic>
      </p:graphicFrame>
      <mc:AlternateContent xmlns:mc="http://schemas.openxmlformats.org/markup-compatibility/2006">
        <mc:Choice xmlns:a14="http://schemas.microsoft.com/office/drawing/2010/main" Requires="a14">
          <p:sp>
            <p:nvSpPr>
              <p:cNvPr id="9" name="l02-content-44">
                <a:extLst>
                  <a:ext uri="{FF2B5EF4-FFF2-40B4-BE49-F238E27FC236}">
                    <a16:creationId xmlns:a16="http://schemas.microsoft.com/office/drawing/2014/main" id="{D19F6A90-93B5-476D-B6D9-8C0039AD149B}"/>
                  </a:ext>
                </a:extLst>
              </p:cNvPr>
              <p:cNvSpPr>
                <a:spLocks noGrp="1"/>
              </p:cNvSpPr>
              <p:nvPr/>
            </p:nvSpPr>
            <p:spPr>
              <a:xfrm>
                <a:off x="590550" y="5848350"/>
                <a:ext cx="11029950" cy="647700"/>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𝑦</m:t>
                              </m:r>
                            </m:e>
                          </m:acc>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sSub>
                        <m:sSubPr>
                          <m:ctrlPr>
                            <a:rPr i="1">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2</m:t>
                          </m:r>
                        </m:sub>
                      </m:sSub>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𝑖</m:t>
                          </m:r>
                        </m:sub>
                      </m:sSub>
                    </m:oMath>
                  </m:oMathPara>
                </a14:m>
                <a:endParaRPr/>
              </a:p>
            </p:txBody>
          </p:sp>
        </mc:Choice>
        <mc:Fallback>
          <p:sp>
            <p:nvSpPr>
              <p:cNvPr id="9" name="l02-content-44">
                <a:extLst>
                  <a:ext uri="{FF2B5EF4-FFF2-40B4-BE49-F238E27FC236}">
                    <a16:creationId xmlns:a16="http://schemas.microsoft.com/office/drawing/2014/main" id="{D19F6A90-93B5-476D-B6D9-8C0039AD149B}"/>
                  </a:ext>
                </a:extLst>
              </p:cNvPr>
              <p:cNvSpPr>
                <a:spLocks noGrp="1" noRot="1" noChangeAspect="1" noMove="1" noResize="1" noEditPoints="1" noAdjustHandles="1" noChangeArrowheads="1" noChangeShapeType="1" noTextEdit="1"/>
              </p:cNvSpPr>
              <p:nvPr/>
            </p:nvSpPr>
            <p:spPr>
              <a:xfrm>
                <a:off x="590550" y="5848350"/>
                <a:ext cx="11029950" cy="647700"/>
              </a:xfrm>
              <a:prstGeom prst="rect">
                <a:avLst/>
              </a:prstGeom>
              <a:blipFill>
                <a:blip r:embed="rId3"/>
                <a:stretch>
                  <a:fillRect t="-13462"/>
                </a:stretch>
              </a:blipFill>
              <a:ln w="0">
                <a:noFill/>
              </a:ln>
            </p:spPr>
            <p:txBody>
              <a:bodyPr/>
              <a:lstStyle/>
              <a:p>
                <a:r>
                  <a:rPr lang="ru-RU">
                    <a:noFill/>
                  </a:rPr>
                  <a:t> </a:t>
                </a:r>
              </a:p>
            </p:txBody>
          </p:sp>
        </mc:Fallback>
      </mc:AlternateContent>
    </p:spTree>
    <p:extLst>
      <p:ext uri="{BB962C8B-B14F-4D97-AF65-F5344CB8AC3E}">
        <p14:creationId xmlns:p14="http://schemas.microsoft.com/office/powerpoint/2010/main" val="140984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Матричная запись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45">
            <a:extLst>
              <a:ext uri="{FF2B5EF4-FFF2-40B4-BE49-F238E27FC236}">
                <a16:creationId xmlns:a16="http://schemas.microsoft.com/office/drawing/2014/main" id="{9ADC85D1-533D-4EFF-81E3-163B721C8359}"/>
              </a:ext>
            </a:extLst>
          </p:cNvPr>
          <p:cNvSpPr>
            <a:spLocks noGrp="1"/>
          </p:cNvSpPr>
          <p:nvPr/>
        </p:nvSpPr>
        <p:spPr>
          <a:xfrm>
            <a:off x="590550" y="2238375"/>
            <a:ext cx="11029950" cy="10001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F — матрица признаков размера ℓ × d. Добавим столбец единиц</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 обозначим расширенную матрицу через A = [1 F].</a:t>
            </a:r>
          </a:p>
        </p:txBody>
      </p:sp>
      <mc:AlternateContent xmlns:mc="http://schemas.openxmlformats.org/markup-compatibility/2006">
        <mc:Choice xmlns:a14="http://schemas.microsoft.com/office/drawing/2010/main" Requires="a14">
          <p:sp>
            <p:nvSpPr>
              <p:cNvPr id="8" name="l02-content-46">
                <a:extLst>
                  <a:ext uri="{FF2B5EF4-FFF2-40B4-BE49-F238E27FC236}">
                    <a16:creationId xmlns:a16="http://schemas.microsoft.com/office/drawing/2014/main" id="{88E3ED3F-68FB-4EE9-8882-8E0D453F7FF0}"/>
                  </a:ext>
                </a:extLst>
              </p:cNvPr>
              <p:cNvSpPr>
                <a:spLocks noGrp="1"/>
              </p:cNvSpPr>
              <p:nvPr/>
            </p:nvSpPr>
            <p:spPr>
              <a:xfrm>
                <a:off x="590550" y="3533775"/>
                <a:ext cx="6076950" cy="1733550"/>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𝐴</m:t>
                      </m:r>
                      <m:r>
                        <a:rPr>
                          <a:latin typeface="Cambria Math" panose="02040503050406030204" pitchFamily="18" charset="0"/>
                        </a:rPr>
                        <m:t>=</m:t>
                      </m:r>
                      <m:d>
                        <m:dPr>
                          <m:ctrlPr>
                            <a:rPr i="1">
                              <a:latin typeface="Cambria Math" panose="02040503050406030204" pitchFamily="18" charset="0"/>
                            </a:rPr>
                          </m:ctrlPr>
                        </m:dPr>
                        <m:e>
                          <m:m>
                            <m:mPr>
                              <m:mcs>
                                <m:mc>
                                  <m:mcPr>
                                    <m:count m:val="4"/>
                                    <m:mcJc m:val="center"/>
                                  </m:mcPr>
                                </m:mc>
                              </m:mcs>
                              <m:ctrlPr>
                                <a:rPr i="1">
                                  <a:latin typeface="Cambria Math" panose="02040503050406030204" pitchFamily="18" charset="0"/>
                                </a:rPr>
                              </m:ctrlPr>
                            </m:mPr>
                            <m:mr>
                              <m:e>
                                <m:r>
                                  <a:rPr>
                                    <a:latin typeface="Cambria Math" panose="02040503050406030204" pitchFamily="18" charset="0"/>
                                  </a:rPr>
                                  <m:t>1</m:t>
                                </m:r>
                              </m:e>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11</m:t>
                                    </m:r>
                                  </m:sub>
                                </m:sSub>
                              </m:e>
                              <m:e>
                                <m:r>
                                  <a:rPr>
                                    <a:latin typeface="Cambria Math" panose="02040503050406030204" pitchFamily="18" charset="0"/>
                                  </a:rPr>
                                  <m:t>⋯</m:t>
                                </m:r>
                              </m:e>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r>
                                      <a:rPr>
                                        <a:latin typeface="Cambria Math" panose="02040503050406030204" pitchFamily="18" charset="0"/>
                                      </a:rPr>
                                      <m:t>𝑑</m:t>
                                    </m:r>
                                  </m:sub>
                                </m:sSub>
                              </m:e>
                            </m:mr>
                            <m:mr>
                              <m:e>
                                <m:r>
                                  <a:rPr>
                                    <a:latin typeface="Cambria Math" panose="02040503050406030204" pitchFamily="18" charset="0"/>
                                  </a:rPr>
                                  <m:t>⋮</m:t>
                                </m:r>
                              </m:e>
                              <m:e>
                                <m:r>
                                  <a:rPr>
                                    <a:latin typeface="Cambria Math" panose="02040503050406030204" pitchFamily="18" charset="0"/>
                                  </a:rPr>
                                  <m:t>⋮</m:t>
                                </m:r>
                              </m:e>
                              <m:e>
                                <m:r>
                                  <a:rPr>
                                    <a:latin typeface="Cambria Math" panose="02040503050406030204" pitchFamily="18" charset="0"/>
                                  </a:rPr>
                                  <m:t>⋱</m:t>
                                </m:r>
                              </m:e>
                              <m:e>
                                <m:r>
                                  <a:rPr>
                                    <a:latin typeface="Cambria Math" panose="02040503050406030204" pitchFamily="18" charset="0"/>
                                  </a:rPr>
                                  <m:t>⋮</m:t>
                                </m:r>
                              </m:e>
                            </m:mr>
                            <m:mr>
                              <m:e>
                                <m:r>
                                  <a:rPr>
                                    <a:latin typeface="Cambria Math" panose="02040503050406030204" pitchFamily="18" charset="0"/>
                                  </a:rPr>
                                  <m:t>1</m:t>
                                </m:r>
                              </m:e>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ℓ1</m:t>
                                    </m:r>
                                  </m:sub>
                                </m:sSub>
                              </m:e>
                              <m:e>
                                <m:r>
                                  <a:rPr>
                                    <a:latin typeface="Cambria Math" panose="02040503050406030204" pitchFamily="18" charset="0"/>
                                  </a:rPr>
                                  <m:t>⋯</m:t>
                                </m:r>
                              </m:e>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ℓ</m:t>
                                    </m:r>
                                    <m:r>
                                      <a:rPr>
                                        <a:latin typeface="Cambria Math" panose="02040503050406030204" pitchFamily="18" charset="0"/>
                                      </a:rPr>
                                      <m:t>𝑑</m:t>
                                    </m:r>
                                  </m:sub>
                                </m:sSub>
                              </m:e>
                            </m:mr>
                          </m:m>
                        </m:e>
                      </m:d>
                    </m:oMath>
                  </m:oMathPara>
                </a14:m>
                <a:endParaRPr/>
              </a:p>
            </p:txBody>
          </p:sp>
        </mc:Choice>
        <mc:Fallback>
          <p:sp>
            <p:nvSpPr>
              <p:cNvPr id="8" name="l02-content-46">
                <a:extLst>
                  <a:ext uri="{FF2B5EF4-FFF2-40B4-BE49-F238E27FC236}">
                    <a16:creationId xmlns:a16="http://schemas.microsoft.com/office/drawing/2014/main" id="{88E3ED3F-68FB-4EE9-8882-8E0D453F7FF0}"/>
                  </a:ext>
                </a:extLst>
              </p:cNvPr>
              <p:cNvSpPr>
                <a:spLocks noGrp="1" noRot="1" noChangeAspect="1" noMove="1" noResize="1" noEditPoints="1" noAdjustHandles="1" noChangeArrowheads="1" noChangeShapeType="1" noTextEdit="1"/>
              </p:cNvSpPr>
              <p:nvPr/>
            </p:nvSpPr>
            <p:spPr>
              <a:xfrm>
                <a:off x="590550" y="3533775"/>
                <a:ext cx="6076950" cy="1733550"/>
              </a:xfrm>
              <a:prstGeom prst="rect">
                <a:avLst/>
              </a:prstGeom>
              <a:blipFill>
                <a:blip r:embed="rId3"/>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l02-content-47">
                <a:extLst>
                  <a:ext uri="{FF2B5EF4-FFF2-40B4-BE49-F238E27FC236}">
                    <a16:creationId xmlns:a16="http://schemas.microsoft.com/office/drawing/2014/main" id="{1AF826B6-E535-4EA0-AEEE-8C1582C7C134}"/>
                  </a:ext>
                </a:extLst>
              </p:cNvPr>
              <p:cNvSpPr>
                <a:spLocks noGrp="1"/>
              </p:cNvSpPr>
              <p:nvPr/>
            </p:nvSpPr>
            <p:spPr>
              <a:xfrm>
                <a:off x="6934200" y="3524250"/>
                <a:ext cx="4572000" cy="781050"/>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𝑤</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𝑑</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oMath>
                  </m:oMathPara>
                </a14:m>
                <a:endParaRPr/>
              </a:p>
            </p:txBody>
          </p:sp>
        </mc:Choice>
        <mc:Fallback>
          <p:sp>
            <p:nvSpPr>
              <p:cNvPr id="9" name="l02-content-47">
                <a:extLst>
                  <a:ext uri="{FF2B5EF4-FFF2-40B4-BE49-F238E27FC236}">
                    <a16:creationId xmlns:a16="http://schemas.microsoft.com/office/drawing/2014/main" id="{1AF826B6-E535-4EA0-AEEE-8C1582C7C134}"/>
                  </a:ext>
                </a:extLst>
              </p:cNvPr>
              <p:cNvSpPr>
                <a:spLocks noGrp="1" noRot="1" noChangeAspect="1" noMove="1" noResize="1" noEditPoints="1" noAdjustHandles="1" noChangeArrowheads="1" noChangeShapeType="1" noTextEdit="1"/>
              </p:cNvSpPr>
              <p:nvPr/>
            </p:nvSpPr>
            <p:spPr>
              <a:xfrm>
                <a:off x="6934200" y="3524250"/>
                <a:ext cx="4572000" cy="781050"/>
              </a:xfrm>
              <a:prstGeom prst="rect">
                <a:avLst/>
              </a:prstGeom>
              <a:blipFill>
                <a:blip r:embed="rId4"/>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2-content-48">
                <a:extLst>
                  <a:ext uri="{FF2B5EF4-FFF2-40B4-BE49-F238E27FC236}">
                    <a16:creationId xmlns:a16="http://schemas.microsoft.com/office/drawing/2014/main" id="{F6401B2F-ED29-4162-BC33-404DFA2B2563}"/>
                  </a:ext>
                </a:extLst>
              </p:cNvPr>
              <p:cNvSpPr>
                <a:spLocks noGrp="1"/>
              </p:cNvSpPr>
              <p:nvPr/>
            </p:nvSpPr>
            <p:spPr>
              <a:xfrm>
                <a:off x="6791325" y="4714875"/>
                <a:ext cx="4762500" cy="781050"/>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acc>
                        <m:accPr>
                          <m:chr m:val="ˆ"/>
                          <m:ctrlPr>
                            <a:rPr>
                              <a:latin typeface="Cambria Math" panose="02040503050406030204" pitchFamily="18" charset="0"/>
                            </a:rPr>
                          </m:ctrlPr>
                        </m:accPr>
                        <m:e>
                          <m:r>
                            <a:rPr>
                              <a:latin typeface="Cambria Math" panose="02040503050406030204" pitchFamily="18" charset="0"/>
                            </a:rPr>
                            <m:t>𝑦</m:t>
                          </m:r>
                        </m:e>
                      </m:acc>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oMath>
                  </m:oMathPara>
                </a14:m>
                <a:endParaRPr/>
              </a:p>
            </p:txBody>
          </p:sp>
        </mc:Choice>
        <mc:Fallback>
          <p:sp>
            <p:nvSpPr>
              <p:cNvPr id="10" name="l02-content-48">
                <a:extLst>
                  <a:ext uri="{FF2B5EF4-FFF2-40B4-BE49-F238E27FC236}">
                    <a16:creationId xmlns:a16="http://schemas.microsoft.com/office/drawing/2014/main" id="{F6401B2F-ED29-4162-BC33-404DFA2B2563}"/>
                  </a:ext>
                </a:extLst>
              </p:cNvPr>
              <p:cNvSpPr>
                <a:spLocks noGrp="1" noRot="1" noChangeAspect="1" noMove="1" noResize="1" noEditPoints="1" noAdjustHandles="1" noChangeArrowheads="1" noChangeShapeType="1" noTextEdit="1"/>
              </p:cNvSpPr>
              <p:nvPr/>
            </p:nvSpPr>
            <p:spPr>
              <a:xfrm>
                <a:off x="6791325" y="4714875"/>
                <a:ext cx="4762500" cy="781050"/>
              </a:xfrm>
              <a:prstGeom prst="rect">
                <a:avLst/>
              </a:prstGeom>
              <a:blipFill>
                <a:blip r:embed="rId5"/>
                <a:stretch>
                  <a:fillRect t="-8065"/>
                </a:stretch>
              </a:blipFill>
              <a:ln w="0">
                <a:noFill/>
              </a:ln>
            </p:spPr>
            <p:txBody>
              <a:bodyPr/>
              <a:lstStyle/>
              <a:p>
                <a:r>
                  <a:rPr lang="ru-RU">
                    <a:noFill/>
                  </a:rPr>
                  <a:t> </a:t>
                </a:r>
              </a:p>
            </p:txBody>
          </p:sp>
        </mc:Fallback>
      </mc:AlternateContent>
      <p:sp>
        <p:nvSpPr>
          <p:cNvPr id="11" name="l02-content-49">
            <a:extLst>
              <a:ext uri="{FF2B5EF4-FFF2-40B4-BE49-F238E27FC236}">
                <a16:creationId xmlns:a16="http://schemas.microsoft.com/office/drawing/2014/main" id="{991779A4-E37B-4F7B-A2BC-21629A8D1933}"/>
              </a:ext>
            </a:extLst>
          </p:cNvPr>
          <p:cNvSpPr>
            <a:spLocks noGrp="1"/>
          </p:cNvSpPr>
          <p:nvPr/>
        </p:nvSpPr>
        <p:spPr>
          <a:xfrm>
            <a:off x="590550" y="62007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Размер A: ℓ × (d + 1). В w — d + 1 весов; в y, ŷ, r — ℓ значений. X — выборка.</a:t>
            </a:r>
          </a:p>
        </p:txBody>
      </p:sp>
    </p:spTree>
    <p:extLst>
      <p:ext uri="{BB962C8B-B14F-4D97-AF65-F5344CB8AC3E}">
        <p14:creationId xmlns:p14="http://schemas.microsoft.com/office/powerpoint/2010/main" val="140984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Сумма квадратов ошибок в матричной записи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50">
            <a:extLst>
              <a:ext uri="{FF2B5EF4-FFF2-40B4-BE49-F238E27FC236}">
                <a16:creationId xmlns:a16="http://schemas.microsoft.com/office/drawing/2014/main" id="{1BAE3BD8-8632-47A4-8BF8-996A0D1FA8FC}"/>
              </a:ext>
            </a:extLst>
          </p:cNvPr>
          <p:cNvSpPr>
            <a:spLocks noGrp="1"/>
          </p:cNvSpPr>
          <p:nvPr/>
        </p:nvSpPr>
        <p:spPr>
          <a:xfrm>
            <a:off x="590550" y="2238375"/>
            <a:ext cx="11029950" cy="8858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каждого заказа: rᵢ = прогноз − фактическое время.</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Квадрат rᵢ² делает вклад ошибки неотрицательным.</a:t>
            </a:r>
          </a:p>
        </p:txBody>
      </p:sp>
      <p:graphicFrame>
        <p:nvGraphicFramePr>
          <p:cNvPr id="18" name="Таблица 17"/>
          <p:cNvGraphicFramePr/>
          <p:nvPr/>
        </p:nvGraphicFramePr>
        <p:xfrm>
          <a:off x="590550" y="3343275"/>
          <a:ext cx="11029950" cy="1066800"/>
        </p:xfrm>
        <a:graphic>
          <a:graphicData uri="http://schemas.openxmlformats.org/drawingml/2006/table">
            <a:tbl>
              <a:tblPr firstRow="1"/>
              <a:tblGrid>
                <a:gridCol w="39052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2933700">
                  <a:extLst>
                    <a:ext uri="{9D8B030D-6E8A-4147-A177-3AD203B41FA5}">
                      <a16:colId xmlns:a16="http://schemas.microsoft.com/office/drawing/2014/main" val="20002"/>
                    </a:ext>
                  </a:extLst>
                </a:gridCol>
              </a:tblGrid>
              <a:tr h="533400">
                <a:tc>
                  <a:txBody>
                    <a:bodyPr/>
                    <a:lstStyle/>
                    <a:p>
                      <a:r>
                        <a:rPr sz="1950" b="1">
                          <a:solidFill>
                            <a:srgbClr val="FFFFFF"/>
                          </a:solidFill>
                          <a:latin typeface="HSE Sans"/>
                          <a:ea typeface="HSE Sans"/>
                          <a:cs typeface="HSE Sans"/>
                        </a:rPr>
                        <a:t>Пример двух ошибок</a:t>
                      </a:r>
                    </a:p>
                  </a:txBody>
                  <a:tcPr anchor="ctr">
                    <a:solidFill>
                      <a:srgbClr val="102D69"/>
                    </a:solidFill>
                  </a:tcPr>
                </a:tc>
                <a:tc>
                  <a:txBody>
                    <a:bodyPr/>
                    <a:lstStyle/>
                    <a:p>
                      <a:r>
                        <a:rPr sz="1950" b="1">
                          <a:solidFill>
                            <a:srgbClr val="FFFFFF"/>
                          </a:solidFill>
                          <a:latin typeface="HSE Sans"/>
                          <a:ea typeface="HSE Sans"/>
                          <a:cs typeface="HSE Sans"/>
                        </a:rPr>
                        <a:t>Квадраты ошибок</a:t>
                      </a:r>
                    </a:p>
                  </a:txBody>
                  <a:tcPr anchor="ctr">
                    <a:solidFill>
                      <a:srgbClr val="102D69"/>
                    </a:solidFill>
                  </a:tcPr>
                </a:tc>
                <a:tc>
                  <a:txBody>
                    <a:bodyPr/>
                    <a:lstStyle/>
                    <a:p>
                      <a:r>
                        <a:rPr sz="1950" b="1">
                          <a:solidFill>
                            <a:srgbClr val="FFFFFF"/>
                          </a:solidFill>
                          <a:latin typeface="HSE Sans"/>
                          <a:ea typeface="HSE Sans"/>
                          <a:cs typeface="HSE Sans"/>
                        </a:rPr>
                        <a:t>Сумма</a:t>
                      </a:r>
                    </a:p>
                  </a:txBody>
                  <a:tcPr anchor="ctr">
                    <a:solidFill>
                      <a:srgbClr val="102D69"/>
                    </a:solidFill>
                  </a:tcPr>
                </a:tc>
                <a:extLst>
                  <a:ext uri="{0D108BD9-81ED-4DB2-BD59-A6C34878D82A}">
                    <a16:rowId xmlns:a16="http://schemas.microsoft.com/office/drawing/2014/main" val="10000"/>
                  </a:ext>
                </a:extLst>
              </a:tr>
              <a:tr h="533400">
                <a:tc>
                  <a:txBody>
                    <a:bodyPr/>
                    <a:lstStyle/>
                    <a:p>
                      <a:r>
                        <a:rPr sz="1950" b="0">
                          <a:solidFill>
                            <a:srgbClr val="102D69"/>
                          </a:solidFill>
                          <a:latin typeface="HSE Sans"/>
                          <a:ea typeface="HSE Sans"/>
                          <a:cs typeface="HSE Sans"/>
                        </a:rPr>
                        <a:t>r₁ = 2, r₂ = −3</a:t>
                      </a:r>
                    </a:p>
                  </a:txBody>
                  <a:tcPr anchor="ctr">
                    <a:solidFill>
                      <a:srgbClr val="EFF4FB"/>
                    </a:solidFill>
                  </a:tcPr>
                </a:tc>
                <a:tc>
                  <a:txBody>
                    <a:bodyPr/>
                    <a:lstStyle/>
                    <a:p>
                      <a:r>
                        <a:rPr sz="1950" b="0">
                          <a:solidFill>
                            <a:srgbClr val="102D69"/>
                          </a:solidFill>
                          <a:latin typeface="HSE Sans"/>
                          <a:ea typeface="HSE Sans"/>
                          <a:cs typeface="HSE Sans"/>
                        </a:rPr>
                        <a:t>2² = 4, (−3)² = 9</a:t>
                      </a:r>
                    </a:p>
                  </a:txBody>
                  <a:tcPr anchor="ctr">
                    <a:solidFill>
                      <a:srgbClr val="EFF4FB"/>
                    </a:solidFill>
                  </a:tcPr>
                </a:tc>
                <a:tc>
                  <a:txBody>
                    <a:bodyPr/>
                    <a:lstStyle/>
                    <a:p>
                      <a:r>
                        <a:rPr sz="1950" b="0">
                          <a:solidFill>
                            <a:srgbClr val="102D69"/>
                          </a:solidFill>
                          <a:latin typeface="HSE Sans"/>
                          <a:ea typeface="HSE Sans"/>
                          <a:cs typeface="HSE Sans"/>
                        </a:rPr>
                        <a:t>4 + 9 = 13</a:t>
                      </a:r>
                    </a:p>
                  </a:txBody>
                  <a:tcPr anchor="ctr">
                    <a:solidFill>
                      <a:srgbClr val="EFF4FB"/>
                    </a:solidFill>
                  </a:tcPr>
                </a:tc>
                <a:extLst>
                  <a:ext uri="{0D108BD9-81ED-4DB2-BD59-A6C34878D82A}">
                    <a16:rowId xmlns:a16="http://schemas.microsoft.com/office/drawing/2014/main" val="10001"/>
                  </a:ext>
                </a:extLst>
              </a:tr>
            </a:tbl>
          </a:graphicData>
        </a:graphic>
      </p:graphicFrame>
      <mc:AlternateContent xmlns:mc="http://schemas.openxmlformats.org/markup-compatibility/2006">
        <mc:Choice xmlns:a14="http://schemas.microsoft.com/office/drawing/2010/main" Requires="a14">
          <p:sp>
            <p:nvSpPr>
              <p:cNvPr id="9" name="l02-content-51">
                <a:extLst>
                  <a:ext uri="{FF2B5EF4-FFF2-40B4-BE49-F238E27FC236}">
                    <a16:creationId xmlns:a16="http://schemas.microsoft.com/office/drawing/2014/main" id="{B94E443F-B15F-46F3-9037-F6079641490F}"/>
                  </a:ext>
                </a:extLst>
              </p:cNvPr>
              <p:cNvSpPr>
                <a:spLocks noGrp="1"/>
              </p:cNvSpPr>
              <p:nvPr/>
            </p:nvSpPr>
            <p:spPr>
              <a:xfrm>
                <a:off x="590550" y="4686300"/>
                <a:ext cx="11029950" cy="695325"/>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𝑟</m:t>
                          </m:r>
                        </m:e>
                        <m:sup>
                          <m:r>
                            <a:rPr>
                              <a:latin typeface="Cambria Math" panose="02040503050406030204" pitchFamily="18" charset="0"/>
                            </a:rPr>
                            <m:t>𝑇</m:t>
                          </m:r>
                        </m:sup>
                      </m:sSup>
                      <m:r>
                        <a:rPr>
                          <a:latin typeface="Cambria Math" panose="02040503050406030204" pitchFamily="18" charset="0"/>
                        </a:rPr>
                        <m:t>𝑟</m:t>
                      </m:r>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𝑟</m:t>
                          </m:r>
                        </m:e>
                        <m:sub>
                          <m:r>
                            <a:rPr>
                              <a:latin typeface="Cambria Math" panose="02040503050406030204" pitchFamily="18" charset="0"/>
                            </a:rPr>
                            <m:t>1</m:t>
                          </m:r>
                        </m:sub>
                        <m:sup>
                          <m:r>
                            <a:rPr>
                              <a:latin typeface="Cambria Math" panose="02040503050406030204" pitchFamily="18" charset="0"/>
                            </a:rPr>
                            <m:t>2</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𝑟</m:t>
                          </m:r>
                        </m:e>
                        <m:sub>
                          <m:r>
                            <a:rPr>
                              <a:latin typeface="Cambria Math" panose="02040503050406030204" pitchFamily="18" charset="0"/>
                            </a:rPr>
                            <m:t>ℓ</m:t>
                          </m:r>
                        </m:sub>
                        <m:sup>
                          <m:r>
                            <a:rPr>
                              <a:latin typeface="Cambria Math" panose="02040503050406030204" pitchFamily="18" charset="0"/>
                            </a:rPr>
                            <m:t>2</m:t>
                          </m:r>
                        </m:sup>
                      </m:sSubSup>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oMath>
                  </m:oMathPara>
                </a14:m>
                <a:endParaRPr/>
              </a:p>
            </p:txBody>
          </p:sp>
        </mc:Choice>
        <mc:Fallback>
          <p:sp>
            <p:nvSpPr>
              <p:cNvPr id="9" name="l02-content-51">
                <a:extLst>
                  <a:ext uri="{FF2B5EF4-FFF2-40B4-BE49-F238E27FC236}">
                    <a16:creationId xmlns:a16="http://schemas.microsoft.com/office/drawing/2014/main" id="{B94E443F-B15F-46F3-9037-F6079641490F}"/>
                  </a:ext>
                </a:extLst>
              </p:cNvPr>
              <p:cNvSpPr>
                <a:spLocks noGrp="1" noRot="1" noChangeAspect="1" noMove="1" noResize="1" noEditPoints="1" noAdjustHandles="1" noChangeArrowheads="1" noChangeShapeType="1" noTextEdit="1"/>
              </p:cNvSpPr>
              <p:nvPr/>
            </p:nvSpPr>
            <p:spPr>
              <a:xfrm>
                <a:off x="590550" y="4686300"/>
                <a:ext cx="11029950" cy="695325"/>
              </a:xfrm>
              <a:prstGeom prst="rect">
                <a:avLst/>
              </a:prstGeom>
              <a:blipFill>
                <a:blip r:embed="rId3"/>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l02-content-52">
                <a:extLst>
                  <a:ext uri="{FF2B5EF4-FFF2-40B4-BE49-F238E27FC236}">
                    <a16:creationId xmlns:a16="http://schemas.microsoft.com/office/drawing/2014/main" id="{D6FC65D0-1D2B-495F-ACB0-4E2C78876FD4}"/>
                  </a:ext>
                </a:extLst>
              </p:cNvPr>
              <p:cNvSpPr>
                <a:spLocks noGrp="1"/>
              </p:cNvSpPr>
              <p:nvPr/>
            </p:nvSpPr>
            <p:spPr>
              <a:xfrm>
                <a:off x="590550" y="5467350"/>
                <a:ext cx="11029950" cy="771525"/>
              </a:xfrm>
              <a:prstGeom prst="rect">
                <a:avLst/>
              </a:prstGeom>
              <a:noFill/>
              <a:ln w="0">
                <a:noFill/>
              </a:ln>
            </p:spPr>
            <p:txBody>
              <a:bodyPr wrap="square" lIns="0" tIns="0" rIns="0" bIns="0" anchor="t">
                <a:noAutofit/>
              </a:bodyPr>
              <a:lstStyle/>
              <a:p>
                <a:pPr algn="ctr">
                  <a:defRPr sz="24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ℓ</m:t>
                          </m:r>
                        </m:den>
                      </m:f>
                      <m:sSup>
                        <m:sSupPr>
                          <m:ctrlPr>
                            <a:rPr i="1">
                              <a:latin typeface="Cambria Math" panose="02040503050406030204" pitchFamily="18" charset="0"/>
                            </a:rPr>
                          </m:ctrlPr>
                        </m:sSupPr>
                        <m:e>
                          <m:r>
                            <a:rPr>
                              <a:latin typeface="Cambria Math" panose="02040503050406030204" pitchFamily="18" charset="0"/>
                            </a:rPr>
                            <m:t>𝑟</m:t>
                          </m:r>
                        </m:e>
                        <m:sup>
                          <m:r>
                            <a:rPr>
                              <a:latin typeface="Cambria Math" panose="02040503050406030204" pitchFamily="18" charset="0"/>
                            </a:rPr>
                            <m:t>𝑇</m:t>
                          </m:r>
                        </m:sup>
                      </m:sSup>
                      <m:r>
                        <a:rPr>
                          <a:latin typeface="Cambria Math" panose="02040503050406030204" pitchFamily="18" charset="0"/>
                        </a:rPr>
                        <m:t>𝑟</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ℓ</m:t>
                          </m:r>
                        </m:den>
                      </m:f>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r>
                        <a:rPr>
                          <a:latin typeface="Cambria Math" panose="02040503050406030204" pitchFamily="18" charset="0"/>
                        </a:rPr>
                        <m:t>(</m:t>
                      </m:r>
                      <m:r>
                        <a:rPr>
                          <a:latin typeface="Cambria Math" panose="02040503050406030204" pitchFamily="18" charset="0"/>
                        </a:rPr>
                        <m:t>𝐴𝑤</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oMath>
                  </m:oMathPara>
                </a14:m>
                <a:endParaRPr/>
              </a:p>
            </p:txBody>
          </p:sp>
        </mc:Choice>
        <mc:Fallback>
          <p:sp>
            <p:nvSpPr>
              <p:cNvPr id="10" name="l02-content-52">
                <a:extLst>
                  <a:ext uri="{FF2B5EF4-FFF2-40B4-BE49-F238E27FC236}">
                    <a16:creationId xmlns:a16="http://schemas.microsoft.com/office/drawing/2014/main" id="{D6FC65D0-1D2B-495F-ACB0-4E2C78876FD4}"/>
                  </a:ext>
                </a:extLst>
              </p:cNvPr>
              <p:cNvSpPr>
                <a:spLocks noGrp="1" noRot="1" noChangeAspect="1" noMove="1" noResize="1" noEditPoints="1" noAdjustHandles="1" noChangeArrowheads="1" noChangeShapeType="1" noTextEdit="1"/>
              </p:cNvSpPr>
              <p:nvPr/>
            </p:nvSpPr>
            <p:spPr>
              <a:xfrm>
                <a:off x="590550" y="5467350"/>
                <a:ext cx="11029950" cy="771525"/>
              </a:xfrm>
              <a:prstGeom prst="rect">
                <a:avLst/>
              </a:prstGeom>
              <a:blipFill>
                <a:blip r:embed="rId4"/>
                <a:stretch>
                  <a:fillRect t="-1613" b="-8065"/>
                </a:stretch>
              </a:blipFill>
              <a:ln w="0">
                <a:noFill/>
              </a:ln>
            </p:spPr>
            <p:txBody>
              <a:bodyPr/>
              <a:lstStyle/>
              <a:p>
                <a:r>
                  <a:rPr lang="ru-RU">
                    <a:noFill/>
                  </a:rPr>
                  <a:t> </a:t>
                </a:r>
              </a:p>
            </p:txBody>
          </p:sp>
        </mc:Fallback>
      </mc:AlternateContent>
      <p:sp>
        <p:nvSpPr>
          <p:cNvPr id="11" name="l02-content-53">
            <a:extLst>
              <a:ext uri="{FF2B5EF4-FFF2-40B4-BE49-F238E27FC236}">
                <a16:creationId xmlns:a16="http://schemas.microsoft.com/office/drawing/2014/main" id="{22436EF3-F93F-4160-8194-6E76015351AC}"/>
              </a:ext>
            </a:extLst>
          </p:cNvPr>
          <p:cNvSpPr>
            <a:spLocks noGrp="1"/>
          </p:cNvSpPr>
          <p:nvPr/>
        </p:nvSpPr>
        <p:spPr>
          <a:xfrm>
            <a:off x="590550" y="63246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ᵀ означает транспонирование: вектор-столбец превращаем в строку и умножаем на столбец.</a:t>
            </a:r>
          </a:p>
        </p:txBody>
      </p:sp>
    </p:spTree>
    <p:extLst>
      <p:ext uri="{BB962C8B-B14F-4D97-AF65-F5344CB8AC3E}">
        <p14:creationId xmlns:p14="http://schemas.microsoft.com/office/powerpoint/2010/main" val="140984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Условие минимума: нормальные уравнения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54">
            <a:extLst>
              <a:ext uri="{FF2B5EF4-FFF2-40B4-BE49-F238E27FC236}">
                <a16:creationId xmlns:a16="http://schemas.microsoft.com/office/drawing/2014/main" id="{AB4560D9-B60A-44D8-A17A-50F16CE849CF}"/>
              </a:ext>
            </a:extLst>
          </p:cNvPr>
          <p:cNvSpPr>
            <a:spLocks noGrp="1"/>
          </p:cNvSpPr>
          <p:nvPr/>
        </p:nvSpPr>
        <p:spPr>
          <a:xfrm>
            <a:off x="590550" y="2228850"/>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произвольных весов w ошибка равна r = Aw − y.</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Производная по весу wⱼ учитывает столбец j матрицы A:</a:t>
            </a:r>
          </a:p>
        </p:txBody>
      </p:sp>
      <mc:AlternateContent xmlns:mc="http://schemas.openxmlformats.org/markup-compatibility/2006">
        <mc:Choice xmlns:a14="http://schemas.microsoft.com/office/drawing/2010/main" Requires="a14">
          <p:sp>
            <p:nvSpPr>
              <p:cNvPr id="8" name="l02-content-55">
                <a:extLst>
                  <a:ext uri="{FF2B5EF4-FFF2-40B4-BE49-F238E27FC236}">
                    <a16:creationId xmlns:a16="http://schemas.microsoft.com/office/drawing/2014/main" id="{6E05C2A5-7A9C-4128-8EA1-65BB2FC0FCB1}"/>
                  </a:ext>
                </a:extLst>
              </p:cNvPr>
              <p:cNvSpPr>
                <a:spLocks noGrp="1"/>
              </p:cNvSpPr>
              <p:nvPr/>
            </p:nvSpPr>
            <p:spPr>
              <a:xfrm>
                <a:off x="590550" y="3267075"/>
                <a:ext cx="11029950" cy="876300"/>
              </a:xfrm>
              <a:prstGeom prst="rect">
                <a:avLst/>
              </a:prstGeom>
              <a:noFill/>
              <a:ln w="0">
                <a:noFill/>
              </a:ln>
            </p:spPr>
            <p:txBody>
              <a:bodyPr wrap="square" lIns="0" tIns="0" rIns="0" bIns="0" anchor="t">
                <a:noAutofit/>
              </a:bodyPr>
              <a:lstStyle/>
              <a:p>
                <a:pPr algn="ctr">
                  <a:defRPr sz="262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num>
                        <m:den>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𝑗</m:t>
                              </m:r>
                            </m:sub>
                          </m:sSub>
                        </m:den>
                      </m:f>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2</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𝑖𝑗</m:t>
                              </m:r>
                            </m:sub>
                          </m:sSub>
                          <m:sSub>
                            <m:sSubPr>
                              <m:ctrlPr>
                                <a:rPr i="1">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𝑖</m:t>
                              </m:r>
                            </m:sub>
                          </m:sSub>
                        </m:e>
                      </m:nary>
                    </m:oMath>
                  </m:oMathPara>
                </a14:m>
                <a:endParaRPr/>
              </a:p>
            </p:txBody>
          </p:sp>
        </mc:Choice>
        <mc:Fallback>
          <p:sp>
            <p:nvSpPr>
              <p:cNvPr id="8" name="l02-content-55">
                <a:extLst>
                  <a:ext uri="{FF2B5EF4-FFF2-40B4-BE49-F238E27FC236}">
                    <a16:creationId xmlns:a16="http://schemas.microsoft.com/office/drawing/2014/main" id="{6E05C2A5-7A9C-4128-8EA1-65BB2FC0FCB1}"/>
                  </a:ext>
                </a:extLst>
              </p:cNvPr>
              <p:cNvSpPr>
                <a:spLocks noGrp="1" noRot="1" noChangeAspect="1" noMove="1" noResize="1" noEditPoints="1" noAdjustHandles="1" noChangeArrowheads="1" noChangeShapeType="1" noTextEdit="1"/>
              </p:cNvSpPr>
              <p:nvPr/>
            </p:nvSpPr>
            <p:spPr>
              <a:xfrm>
                <a:off x="590550" y="3267075"/>
                <a:ext cx="11029950" cy="876300"/>
              </a:xfrm>
              <a:prstGeom prst="rect">
                <a:avLst/>
              </a:prstGeom>
              <a:blipFill>
                <a:blip r:embed="rId3"/>
                <a:stretch>
                  <a:fillRect t="-161429" b="-240000"/>
                </a:stretch>
              </a:blipFill>
              <a:ln w="0">
                <a:noFill/>
              </a:ln>
            </p:spPr>
            <p:txBody>
              <a:bodyPr/>
              <a:lstStyle/>
              <a:p>
                <a:r>
                  <a:rPr lang="ru-RU">
                    <a:noFill/>
                  </a:rPr>
                  <a:t> </a:t>
                </a:r>
              </a:p>
            </p:txBody>
          </p:sp>
        </mc:Fallback>
      </mc:AlternateContent>
      <p:sp>
        <p:nvSpPr>
          <p:cNvPr id="9" name="l02-content-56">
            <a:extLst>
              <a:ext uri="{FF2B5EF4-FFF2-40B4-BE49-F238E27FC236}">
                <a16:creationId xmlns:a16="http://schemas.microsoft.com/office/drawing/2014/main" id="{DD10DC8B-BDFC-49EB-B50A-BAFE82DBEC3E}"/>
              </a:ext>
            </a:extLst>
          </p:cNvPr>
          <p:cNvSpPr>
            <a:spLocks noGrp="1"/>
          </p:cNvSpPr>
          <p:nvPr/>
        </p:nvSpPr>
        <p:spPr>
          <a:xfrm>
            <a:off x="590550" y="4391025"/>
            <a:ext cx="11029950" cy="46672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Пусть w* — веса в точке минимума. Там все производные равны нулю:</a:t>
            </a:r>
          </a:p>
        </p:txBody>
      </p:sp>
      <mc:AlternateContent xmlns:mc="http://schemas.openxmlformats.org/markup-compatibility/2006">
        <mc:Choice xmlns:a14="http://schemas.microsoft.com/office/drawing/2010/main" Requires="a14">
          <p:sp>
            <p:nvSpPr>
              <p:cNvPr id="10" name="l02-content-57">
                <a:extLst>
                  <a:ext uri="{FF2B5EF4-FFF2-40B4-BE49-F238E27FC236}">
                    <a16:creationId xmlns:a16="http://schemas.microsoft.com/office/drawing/2014/main" id="{AAF73193-AF9D-4F45-8723-189A32142BFC}"/>
                  </a:ext>
                </a:extLst>
              </p:cNvPr>
              <p:cNvSpPr>
                <a:spLocks noGrp="1"/>
              </p:cNvSpPr>
              <p:nvPr/>
            </p:nvSpPr>
            <p:spPr>
              <a:xfrm>
                <a:off x="590550" y="4914900"/>
                <a:ext cx="11029950" cy="628650"/>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𝐴𝑤</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)=0</m:t>
                      </m:r>
                    </m:oMath>
                  </m:oMathPara>
                </a14:m>
                <a:endParaRPr/>
              </a:p>
            </p:txBody>
          </p:sp>
        </mc:Choice>
        <mc:Fallback>
          <p:sp>
            <p:nvSpPr>
              <p:cNvPr id="10" name="l02-content-57">
                <a:extLst>
                  <a:ext uri="{FF2B5EF4-FFF2-40B4-BE49-F238E27FC236}">
                    <a16:creationId xmlns:a16="http://schemas.microsoft.com/office/drawing/2014/main" id="{AAF73193-AF9D-4F45-8723-189A32142BFC}"/>
                  </a:ext>
                </a:extLst>
              </p:cNvPr>
              <p:cNvSpPr>
                <a:spLocks noGrp="1" noRot="1" noChangeAspect="1" noMove="1" noResize="1" noEditPoints="1" noAdjustHandles="1" noChangeArrowheads="1" noChangeShapeType="1" noTextEdit="1"/>
              </p:cNvSpPr>
              <p:nvPr/>
            </p:nvSpPr>
            <p:spPr>
              <a:xfrm>
                <a:off x="590550" y="4914900"/>
                <a:ext cx="11029950" cy="628650"/>
              </a:xfrm>
              <a:prstGeom prst="rect">
                <a:avLst/>
              </a:prstGeom>
              <a:blipFill>
                <a:blip r:embed="rId4"/>
                <a:stretch>
                  <a:fillRect/>
                </a:stretch>
              </a:blipFill>
              <a:ln w="0">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1" name="l02-content-58">
                <a:extLst>
                  <a:ext uri="{FF2B5EF4-FFF2-40B4-BE49-F238E27FC236}">
                    <a16:creationId xmlns:a16="http://schemas.microsoft.com/office/drawing/2014/main" id="{A2AD0134-21BC-4853-B8A5-07761D02CD56}"/>
                  </a:ext>
                </a:extLst>
              </p:cNvPr>
              <p:cNvSpPr>
                <a:spLocks noGrp="1"/>
              </p:cNvSpPr>
              <p:nvPr/>
            </p:nvSpPr>
            <p:spPr>
              <a:xfrm>
                <a:off x="590550" y="5657850"/>
                <a:ext cx="11029950" cy="6096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sSup>
                        <m:sSupPr>
                          <m:ctrlPr>
                            <a:rPr i="1">
                              <a:latin typeface="Cambria Math" panose="02040503050406030204" pitchFamily="18" charset="0"/>
                            </a:rPr>
                          </m:ctrlPr>
                        </m:sSupPr>
                        <m:e>
                          <m:r>
                            <a:rPr>
                              <a:latin typeface="Cambria Math" panose="02040503050406030204" pitchFamily="18" charset="0"/>
                            </a:rPr>
                            <m:t>𝐴𝑤</m:t>
                          </m:r>
                        </m:e>
                        <m:sup>
                          <m:r>
                            <a:rPr>
                              <a:latin typeface="Cambria Math" panose="02040503050406030204" pitchFamily="18" charset="0"/>
                            </a:rPr>
                            <m:t>∗</m:t>
                          </m:r>
                        </m:sup>
                      </m:sSup>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11" name="l02-content-58">
                <a:extLst>
                  <a:ext uri="{FF2B5EF4-FFF2-40B4-BE49-F238E27FC236}">
                    <a16:creationId xmlns:a16="http://schemas.microsoft.com/office/drawing/2014/main" id="{A2AD0134-21BC-4853-B8A5-07761D02CD56}"/>
                  </a:ext>
                </a:extLst>
              </p:cNvPr>
              <p:cNvSpPr>
                <a:spLocks noGrp="1" noRot="1" noChangeAspect="1" noMove="1" noResize="1" noEditPoints="1" noAdjustHandles="1" noChangeArrowheads="1" noChangeShapeType="1" noTextEdit="1"/>
              </p:cNvSpPr>
              <p:nvPr/>
            </p:nvSpPr>
            <p:spPr>
              <a:xfrm>
                <a:off x="590550" y="5657850"/>
                <a:ext cx="11029950" cy="609600"/>
              </a:xfrm>
              <a:prstGeom prst="rect">
                <a:avLst/>
              </a:prstGeom>
              <a:blipFill>
                <a:blip r:embed="rId5"/>
                <a:stretch>
                  <a:fillRect/>
                </a:stretch>
              </a:blipFill>
              <a:ln w="0">
                <a:noFill/>
              </a:ln>
            </p:spPr>
            <p:txBody>
              <a:bodyPr/>
              <a:lstStyle/>
              <a:p>
                <a:r>
                  <a:rPr lang="ru-RU">
                    <a:noFill/>
                  </a:rPr>
                  <a:t> </a:t>
                </a:r>
              </a:p>
            </p:txBody>
          </p:sp>
        </mc:Fallback>
      </mc:AlternateContent>
      <p:sp>
        <p:nvSpPr>
          <p:cNvPr id="12" name="l02-content-59">
            <a:extLst>
              <a:ext uri="{FF2B5EF4-FFF2-40B4-BE49-F238E27FC236}">
                <a16:creationId xmlns:a16="http://schemas.microsoft.com/office/drawing/2014/main" id="{EAEC2E57-ADFD-4A34-833A-B11C38DB3E54}"/>
              </a:ext>
            </a:extLst>
          </p:cNvPr>
          <p:cNvSpPr>
            <a:spLocks noGrp="1"/>
          </p:cNvSpPr>
          <p:nvPr/>
        </p:nvSpPr>
        <p:spPr>
          <a:xfrm>
            <a:off x="590550" y="63627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Aᵢⱼ — элемент строки i и столбца j. Последнее равенство — система уравнений для оптимальных весов.</a:t>
            </a:r>
          </a:p>
        </p:txBody>
      </p:sp>
    </p:spTree>
    <p:extLst>
      <p:ext uri="{BB962C8B-B14F-4D97-AF65-F5344CB8AC3E}">
        <p14:creationId xmlns:p14="http://schemas.microsoft.com/office/powerpoint/2010/main" val="14098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Решение МНК и условие единственности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60">
            <a:extLst>
              <a:ext uri="{FF2B5EF4-FFF2-40B4-BE49-F238E27FC236}">
                <a16:creationId xmlns:a16="http://schemas.microsoft.com/office/drawing/2014/main" id="{CE05B2AC-865A-47F4-9E33-2865C8D7E535}"/>
              </a:ext>
            </a:extLst>
          </p:cNvPr>
          <p:cNvSpPr>
            <a:spLocks noGrp="1"/>
          </p:cNvSpPr>
          <p:nvPr/>
        </p:nvSpPr>
        <p:spPr>
          <a:xfrm>
            <a:off x="590550" y="2209800"/>
            <a:ext cx="11029950" cy="12668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w — произвольные веса; w* — любой набор весов, минимизирующий Q.</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МНК критерий выпуклый: все решения нормальных уравнений</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являются минимумами, и каждый минимум удовлетворяет этим уравнениям.</a:t>
            </a:r>
          </a:p>
        </p:txBody>
      </p:sp>
      <mc:AlternateContent xmlns:mc="http://schemas.openxmlformats.org/markup-compatibility/2006">
        <mc:Choice xmlns:a14="http://schemas.microsoft.com/office/drawing/2010/main" Requires="a14">
          <p:sp>
            <p:nvSpPr>
              <p:cNvPr id="8" name="l02-content-61">
                <a:extLst>
                  <a:ext uri="{FF2B5EF4-FFF2-40B4-BE49-F238E27FC236}">
                    <a16:creationId xmlns:a16="http://schemas.microsoft.com/office/drawing/2014/main" id="{B2DE5112-FEE1-42AD-8FB7-37E947626034}"/>
                  </a:ext>
                </a:extLst>
              </p:cNvPr>
              <p:cNvSpPr>
                <a:spLocks noGrp="1"/>
              </p:cNvSpPr>
              <p:nvPr/>
            </p:nvSpPr>
            <p:spPr>
              <a:xfrm>
                <a:off x="590550" y="3600450"/>
                <a:ext cx="11029950" cy="64770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sSup>
                        <m:sSupPr>
                          <m:ctrlPr>
                            <a:rPr i="1">
                              <a:latin typeface="Cambria Math" panose="02040503050406030204" pitchFamily="18" charset="0"/>
                            </a:rPr>
                          </m:ctrlPr>
                        </m:sSupPr>
                        <m:e>
                          <m:r>
                            <a:rPr>
                              <a:latin typeface="Cambria Math" panose="02040503050406030204" pitchFamily="18" charset="0"/>
                            </a:rPr>
                            <m:t>𝐴𝑤</m:t>
                          </m:r>
                        </m:e>
                        <m:sup>
                          <m:r>
                            <a:rPr>
                              <a:latin typeface="Cambria Math" panose="02040503050406030204" pitchFamily="18" charset="0"/>
                            </a:rPr>
                            <m:t>∗</m:t>
                          </m:r>
                        </m:sup>
                      </m:sSup>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8" name="l02-content-61">
                <a:extLst>
                  <a:ext uri="{FF2B5EF4-FFF2-40B4-BE49-F238E27FC236}">
                    <a16:creationId xmlns:a16="http://schemas.microsoft.com/office/drawing/2014/main" id="{B2DE5112-FEE1-42AD-8FB7-37E947626034}"/>
                  </a:ext>
                </a:extLst>
              </p:cNvPr>
              <p:cNvSpPr>
                <a:spLocks noGrp="1" noRot="1" noChangeAspect="1" noMove="1" noResize="1" noEditPoints="1" noAdjustHandles="1" noChangeArrowheads="1" noChangeShapeType="1" noTextEdit="1"/>
              </p:cNvSpPr>
              <p:nvPr/>
            </p:nvSpPr>
            <p:spPr>
              <a:xfrm>
                <a:off x="590550" y="3600450"/>
                <a:ext cx="11029950" cy="647700"/>
              </a:xfrm>
              <a:prstGeom prst="rect">
                <a:avLst/>
              </a:prstGeom>
              <a:blipFill>
                <a:blip r:embed="rId3"/>
                <a:stretch>
                  <a:fillRect/>
                </a:stretch>
              </a:blipFill>
              <a:ln w="0">
                <a:noFill/>
              </a:ln>
            </p:spPr>
            <p:txBody>
              <a:bodyPr/>
              <a:lstStyle/>
              <a:p>
                <a:r>
                  <a:rPr lang="ru-RU">
                    <a:noFill/>
                  </a:rPr>
                  <a:t> </a:t>
                </a:r>
              </a:p>
            </p:txBody>
          </p:sp>
        </mc:Fallback>
      </mc:AlternateContent>
      <p:sp>
        <p:nvSpPr>
          <p:cNvPr id="9" name="l02-content-62">
            <a:extLst>
              <a:ext uri="{FF2B5EF4-FFF2-40B4-BE49-F238E27FC236}">
                <a16:creationId xmlns:a16="http://schemas.microsoft.com/office/drawing/2014/main" id="{85634344-462F-474A-8822-CD638E284F89}"/>
              </a:ext>
            </a:extLst>
          </p:cNvPr>
          <p:cNvSpPr>
            <a:spLocks noGrp="1"/>
          </p:cNvSpPr>
          <p:nvPr/>
        </p:nvSpPr>
        <p:spPr>
          <a:xfrm>
            <a:off x="590550" y="4514850"/>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Если столбцы A линейно независимы, AᵀA обратима.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Умножаем обе части слева на (AᵀA)⁻¹ и получаем единственное решение:</a:t>
            </a:r>
          </a:p>
        </p:txBody>
      </p:sp>
      <mc:AlternateContent xmlns:mc="http://schemas.openxmlformats.org/markup-compatibility/2006">
        <mc:Choice xmlns:a14="http://schemas.microsoft.com/office/drawing/2010/main" Requires="a14">
          <p:sp>
            <p:nvSpPr>
              <p:cNvPr id="10" name="l02-content-63">
                <a:extLst>
                  <a:ext uri="{FF2B5EF4-FFF2-40B4-BE49-F238E27FC236}">
                    <a16:creationId xmlns:a16="http://schemas.microsoft.com/office/drawing/2014/main" id="{CE0A6D19-AD49-4F29-81E3-5BB641DB3090}"/>
                  </a:ext>
                </a:extLst>
              </p:cNvPr>
              <p:cNvSpPr>
                <a:spLocks noGrp="1"/>
              </p:cNvSpPr>
              <p:nvPr/>
            </p:nvSpPr>
            <p:spPr>
              <a:xfrm>
                <a:off x="590550" y="5524500"/>
                <a:ext cx="11029950" cy="723900"/>
              </a:xfrm>
              <a:prstGeom prst="rect">
                <a:avLst/>
              </a:prstGeom>
              <a:noFill/>
              <a:ln w="0">
                <a:noFill/>
              </a:ln>
            </p:spPr>
            <p:txBody>
              <a:bodyPr wrap="square" lIns="0" tIns="0" rIns="0" bIns="0" anchor="t">
                <a:noAutofit/>
              </a:bodyPr>
              <a:lstStyle/>
              <a:p>
                <a:pPr algn="ctr">
                  <a:defRPr sz="30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𝑤</m:t>
                          </m:r>
                        </m:e>
                        <m:sup>
                          <m:r>
                            <a:rPr>
                              <a:latin typeface="Cambria Math" panose="02040503050406030204" pitchFamily="18" charset="0"/>
                            </a:rPr>
                            <m:t>∗</m:t>
                          </m:r>
                        </m:sup>
                      </m:sSup>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𝐴</m:t>
                      </m: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−1</m:t>
                          </m:r>
                        </m:sup>
                      </m:sSup>
                      <m:sSup>
                        <m:sSupPr>
                          <m:ctrlPr>
                            <a:rPr i="1">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r>
                        <a:rPr>
                          <a:latin typeface="Cambria Math" panose="02040503050406030204" pitchFamily="18" charset="0"/>
                        </a:rPr>
                        <m:t>𝑦</m:t>
                      </m:r>
                    </m:oMath>
                  </m:oMathPara>
                </a14:m>
                <a:endParaRPr/>
              </a:p>
            </p:txBody>
          </p:sp>
        </mc:Choice>
        <mc:Fallback>
          <p:sp>
            <p:nvSpPr>
              <p:cNvPr id="10" name="l02-content-63">
                <a:extLst>
                  <a:ext uri="{FF2B5EF4-FFF2-40B4-BE49-F238E27FC236}">
                    <a16:creationId xmlns:a16="http://schemas.microsoft.com/office/drawing/2014/main" id="{CE0A6D19-AD49-4F29-81E3-5BB641DB3090}"/>
                  </a:ext>
                </a:extLst>
              </p:cNvPr>
              <p:cNvSpPr>
                <a:spLocks noGrp="1" noRot="1" noChangeAspect="1" noMove="1" noResize="1" noEditPoints="1" noAdjustHandles="1" noChangeArrowheads="1" noChangeShapeType="1" noTextEdit="1"/>
              </p:cNvSpPr>
              <p:nvPr/>
            </p:nvSpPr>
            <p:spPr>
              <a:xfrm>
                <a:off x="590550" y="5524500"/>
                <a:ext cx="11029950" cy="723900"/>
              </a:xfrm>
              <a:prstGeom prst="rect">
                <a:avLst/>
              </a:prstGeom>
              <a:blipFill>
                <a:blip r:embed="rId4"/>
                <a:stretch>
                  <a:fillRect/>
                </a:stretch>
              </a:blipFill>
              <a:ln w="0">
                <a:noFill/>
              </a:ln>
            </p:spPr>
            <p:txBody>
              <a:bodyPr/>
              <a:lstStyle/>
              <a:p>
                <a:r>
                  <a:rPr lang="ru-RU">
                    <a:noFill/>
                  </a:rPr>
                  <a:t> </a:t>
                </a:r>
              </a:p>
            </p:txBody>
          </p:sp>
        </mc:Fallback>
      </mc:AlternateContent>
      <p:sp>
        <p:nvSpPr>
          <p:cNvPr id="11" name="l02-content-64">
            <a:extLst>
              <a:ext uri="{FF2B5EF4-FFF2-40B4-BE49-F238E27FC236}">
                <a16:creationId xmlns:a16="http://schemas.microsoft.com/office/drawing/2014/main" id="{C0227C36-EFCA-4DBB-8991-9AE2CBD4508E}"/>
              </a:ext>
            </a:extLst>
          </p:cNvPr>
          <p:cNvSpPr>
            <a:spLocks noGrp="1"/>
          </p:cNvSpPr>
          <p:nvPr/>
        </p:nvSpPr>
        <p:spPr>
          <a:xfrm>
            <a:off x="590550" y="63817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При зависимых столбцах минимум тоже существует, но веса неединственны. Эта формула неприменима.</a:t>
            </a:r>
          </a:p>
        </p:txBody>
      </p:sp>
    </p:spTree>
    <p:extLst>
      <p:ext uri="{BB962C8B-B14F-4D97-AF65-F5344CB8AC3E}">
        <p14:creationId xmlns:p14="http://schemas.microsoft.com/office/powerpoint/2010/main" val="140984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Геометрический смысл МНК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2. Матричное решение МНК</a:t>
            </a:r>
          </a:p>
        </p:txBody>
      </p:sp>
      <p:sp>
        <p:nvSpPr>
          <p:cNvPr id="7" name="l02-content-65">
            <a:extLst>
              <a:ext uri="{FF2B5EF4-FFF2-40B4-BE49-F238E27FC236}">
                <a16:creationId xmlns:a16="http://schemas.microsoft.com/office/drawing/2014/main" id="{2A0A1A32-C240-4DEF-9582-DC4CCA5DF594}"/>
              </a:ext>
            </a:extLst>
          </p:cNvPr>
          <p:cNvSpPr>
            <a:spLocks noGrp="1"/>
          </p:cNvSpPr>
          <p:nvPr/>
        </p:nvSpPr>
        <p:spPr>
          <a:xfrm>
            <a:off x="590550" y="2266950"/>
            <a:ext cx="11029950" cy="9810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всей выборки y — вектор фактических ответов, Aw — вектор прогнозов.</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Изменяя веса, получаем разные допустимые векторы прогнозов.</a:t>
            </a:r>
          </a:p>
        </p:txBody>
      </p:sp>
      <mc:AlternateContent xmlns:mc="http://schemas.openxmlformats.org/markup-compatibility/2006">
        <mc:Choice xmlns:a14="http://schemas.microsoft.com/office/drawing/2010/main" Requires="a14">
          <p:sp>
            <p:nvSpPr>
              <p:cNvPr id="8" name="l02-content-66">
                <a:extLst>
                  <a:ext uri="{FF2B5EF4-FFF2-40B4-BE49-F238E27FC236}">
                    <a16:creationId xmlns:a16="http://schemas.microsoft.com/office/drawing/2014/main" id="{ACC9C338-75D4-4829-9E64-8E13C6A54EB0}"/>
                  </a:ext>
                </a:extLst>
              </p:cNvPr>
              <p:cNvSpPr>
                <a:spLocks noGrp="1"/>
              </p:cNvSpPr>
              <p:nvPr/>
            </p:nvSpPr>
            <p:spPr>
              <a:xfrm>
                <a:off x="590550" y="3543300"/>
                <a:ext cx="11029950" cy="92392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𝑄</m:t>
                      </m:r>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ℓ</m:t>
                          </m:r>
                        </m:den>
                      </m:f>
                      <m:nary>
                        <m:naryPr>
                          <m:chr m:val="∑"/>
                          <m:limLoc m:val="subSup"/>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ℓ</m:t>
                          </m:r>
                        </m:sup>
                        <m:e>
                          <m:r>
                            <a:rPr>
                              <a:latin typeface="Cambria Math" panose="02040503050406030204" pitchFamily="18" charset="0"/>
                            </a:rPr>
                            <m:t>((</m:t>
                          </m:r>
                          <m:r>
                            <a:rPr>
                              <a:latin typeface="Cambria Math" panose="02040503050406030204" pitchFamily="18" charset="0"/>
                            </a:rPr>
                            <m:t>𝐴𝑤</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nary>
                    </m:oMath>
                  </m:oMathPara>
                </a14:m>
                <a:endParaRPr/>
              </a:p>
            </p:txBody>
          </p:sp>
        </mc:Choice>
        <mc:Fallback>
          <p:sp>
            <p:nvSpPr>
              <p:cNvPr id="8" name="l02-content-66">
                <a:extLst>
                  <a:ext uri="{FF2B5EF4-FFF2-40B4-BE49-F238E27FC236}">
                    <a16:creationId xmlns:a16="http://schemas.microsoft.com/office/drawing/2014/main" id="{ACC9C338-75D4-4829-9E64-8E13C6A54EB0}"/>
                  </a:ext>
                </a:extLst>
              </p:cNvPr>
              <p:cNvSpPr>
                <a:spLocks noGrp="1" noRot="1" noChangeAspect="1" noMove="1" noResize="1" noEditPoints="1" noAdjustHandles="1" noChangeArrowheads="1" noChangeShapeType="1" noTextEdit="1"/>
              </p:cNvSpPr>
              <p:nvPr/>
            </p:nvSpPr>
            <p:spPr>
              <a:xfrm>
                <a:off x="590550" y="3543300"/>
                <a:ext cx="11029950" cy="923925"/>
              </a:xfrm>
              <a:prstGeom prst="rect">
                <a:avLst/>
              </a:prstGeom>
              <a:blipFill>
                <a:blip r:embed="rId3"/>
                <a:stretch>
                  <a:fillRect t="-154054" b="-221622"/>
                </a:stretch>
              </a:blipFill>
              <a:ln w="0">
                <a:noFill/>
              </a:ln>
            </p:spPr>
            <p:txBody>
              <a:bodyPr/>
              <a:lstStyle/>
              <a:p>
                <a:r>
                  <a:rPr lang="ru-RU">
                    <a:noFill/>
                  </a:rPr>
                  <a:t> </a:t>
                </a:r>
              </a:p>
            </p:txBody>
          </p:sp>
        </mc:Fallback>
      </mc:AlternateContent>
      <p:sp>
        <p:nvSpPr>
          <p:cNvPr id="9" name="l02-content-67">
            <a:extLst>
              <a:ext uri="{FF2B5EF4-FFF2-40B4-BE49-F238E27FC236}">
                <a16:creationId xmlns:a16="http://schemas.microsoft.com/office/drawing/2014/main" id="{4245CBD3-0D89-4512-AE9D-65DDDD5C769F}"/>
              </a:ext>
            </a:extLst>
          </p:cNvPr>
          <p:cNvSpPr>
            <a:spLocks noGrp="1"/>
          </p:cNvSpPr>
          <p:nvPr/>
        </p:nvSpPr>
        <p:spPr>
          <a:xfrm>
            <a:off x="590550" y="4714875"/>
            <a:ext cx="11029950" cy="952500"/>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Сумма квадратов ошибок — квадрат расстояния между этими векторами.</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Поэтому МНК выбирает ближайший к y допустимый вектор Aw*.</a:t>
            </a:r>
          </a:p>
        </p:txBody>
      </p:sp>
      <p:sp>
        <p:nvSpPr>
          <p:cNvPr id="10" name="l02-content-68">
            <a:extLst>
              <a:ext uri="{FF2B5EF4-FFF2-40B4-BE49-F238E27FC236}">
                <a16:creationId xmlns:a16="http://schemas.microsoft.com/office/drawing/2014/main" id="{683F250B-9B8D-488F-8225-8F08FB479A1B}"/>
              </a:ext>
            </a:extLst>
          </p:cNvPr>
          <p:cNvSpPr>
            <a:spLocks noGrp="1"/>
          </p:cNvSpPr>
          <p:nvPr/>
        </p:nvSpPr>
        <p:spPr>
          <a:xfrm>
            <a:off x="590550" y="620077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Это ортогональная проекция: невязка перпендикулярна пространству допустимых прогнозов.</a:t>
            </a:r>
          </a:p>
        </p:txBody>
      </p:sp>
    </p:spTree>
    <p:extLst>
      <p:ext uri="{BB962C8B-B14F-4D97-AF65-F5344CB8AC3E}">
        <p14:creationId xmlns:p14="http://schemas.microsoft.com/office/powerpoint/2010/main" val="140984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Зависимые признаки и устойчивость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69">
            <a:extLst>
              <a:ext uri="{FF2B5EF4-FFF2-40B4-BE49-F238E27FC236}">
                <a16:creationId xmlns:a16="http://schemas.microsoft.com/office/drawing/2014/main" id="{1CBEA5CD-5FC6-4F04-8133-F86567673306}"/>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03</a:t>
            </a:r>
          </a:p>
        </p:txBody>
      </p:sp>
      <p:sp>
        <p:nvSpPr>
          <p:cNvPr id="8" name="l02-content-70">
            <a:extLst>
              <a:ext uri="{FF2B5EF4-FFF2-40B4-BE49-F238E27FC236}">
                <a16:creationId xmlns:a16="http://schemas.microsoft.com/office/drawing/2014/main" id="{5E4BA4D8-025A-4A6C-8D88-E3B6A3CEC98B}"/>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Линейная зависимость и ранг матрицы</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Неединственность коэффициентов</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Чувствительность решения и способы вычисления</a:t>
            </a:r>
          </a:p>
        </p:txBody>
      </p:sp>
    </p:spTree>
    <p:extLst>
      <p:ext uri="{BB962C8B-B14F-4D97-AF65-F5344CB8AC3E}">
        <p14:creationId xmlns:p14="http://schemas.microsoft.com/office/powerpoint/2010/main" val="140984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Километры и метры: два признака об одном</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71">
            <a:extLst>
              <a:ext uri="{FF2B5EF4-FFF2-40B4-BE49-F238E27FC236}">
                <a16:creationId xmlns:a16="http://schemas.microsoft.com/office/drawing/2014/main" id="{EBEB2B35-2A58-4EF2-9B5E-9F754925B1E4}"/>
              </a:ext>
            </a:extLst>
          </p:cNvPr>
          <p:cNvSpPr>
            <a:spLocks noGrp="1"/>
          </p:cNvSpPr>
          <p:nvPr/>
        </p:nvSpPr>
        <p:spPr>
          <a:xfrm>
            <a:off x="590550" y="2238375"/>
            <a:ext cx="11029950" cy="9525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Пусть s — расстояние в километрах, u = 1000s — то же расстояние в метрах.</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Добавили оба столбца. Как разделить между ними вклад расстояния?</a:t>
            </a:r>
          </a:p>
        </p:txBody>
      </p:sp>
      <p:graphicFrame>
        <p:nvGraphicFramePr>
          <p:cNvPr id="16" name="Таблица 15"/>
          <p:cNvGraphicFramePr/>
          <p:nvPr/>
        </p:nvGraphicFramePr>
        <p:xfrm>
          <a:off x="590550" y="3514725"/>
          <a:ext cx="11029950" cy="1743075"/>
        </p:xfrm>
        <a:graphic>
          <a:graphicData uri="http://schemas.openxmlformats.org/drawingml/2006/table">
            <a:tbl>
              <a:tblPr firstRow="1"/>
              <a:tblGrid>
                <a:gridCol w="328612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581025">
                <a:tc>
                  <a:txBody>
                    <a:bodyPr/>
                    <a:lstStyle/>
                    <a:p>
                      <a:r>
                        <a:rPr sz="1800" b="1">
                          <a:solidFill>
                            <a:srgbClr val="FFFFFF"/>
                          </a:solidFill>
                          <a:latin typeface="HSE Sans"/>
                          <a:ea typeface="HSE Sans"/>
                          <a:cs typeface="HSE Sans"/>
                        </a:rPr>
                        <a:t>Набор весов</a:t>
                      </a:r>
                    </a:p>
                  </a:txBody>
                  <a:tcPr anchor="ctr">
                    <a:solidFill>
                      <a:srgbClr val="102D69"/>
                    </a:solidFill>
                  </a:tcPr>
                </a:tc>
                <a:tc>
                  <a:txBody>
                    <a:bodyPr/>
                    <a:lstStyle/>
                    <a:p>
                      <a:r>
                        <a:rPr sz="1800" b="1">
                          <a:solidFill>
                            <a:srgbClr val="FFFFFF"/>
                          </a:solidFill>
                          <a:latin typeface="HSE Sans"/>
                          <a:ea typeface="HSE Sans"/>
                          <a:cs typeface="HSE Sans"/>
                        </a:rPr>
                        <a:t>Вклад расстояния</a:t>
                      </a:r>
                    </a:p>
                  </a:txBody>
                  <a:tcPr anchor="ctr">
                    <a:solidFill>
                      <a:srgbClr val="102D69"/>
                    </a:solidFill>
                  </a:tcPr>
                </a:tc>
                <a:tc>
                  <a:txBody>
                    <a:bodyPr/>
                    <a:lstStyle/>
                    <a:p>
                      <a:r>
                        <a:rPr sz="1800" b="1">
                          <a:solidFill>
                            <a:srgbClr val="FFFFFF"/>
                          </a:solidFill>
                          <a:latin typeface="HSE Sans"/>
                          <a:ea typeface="HSE Sans"/>
                          <a:cs typeface="HSE Sans"/>
                        </a:rPr>
                        <a:t>Для маршрута 3 км</a:t>
                      </a:r>
                    </a:p>
                  </a:txBody>
                  <a:tcPr anchor="ctr">
                    <a:solidFill>
                      <a:srgbClr val="102D69"/>
                    </a:solidFill>
                  </a:tcPr>
                </a:tc>
                <a:extLst>
                  <a:ext uri="{0D108BD9-81ED-4DB2-BD59-A6C34878D82A}">
                    <a16:rowId xmlns:a16="http://schemas.microsoft.com/office/drawing/2014/main" val="10000"/>
                  </a:ext>
                </a:extLst>
              </a:tr>
              <a:tr h="581025">
                <a:tc>
                  <a:txBody>
                    <a:bodyPr/>
                    <a:lstStyle/>
                    <a:p>
                      <a:r>
                        <a:rPr sz="1800" b="0">
                          <a:solidFill>
                            <a:srgbClr val="102D69"/>
                          </a:solidFill>
                          <a:latin typeface="HSE Sans"/>
                          <a:ea typeface="HSE Sans"/>
                          <a:cs typeface="HSE Sans"/>
                        </a:rPr>
                        <a:t>wₛ = 3,9; wᵤ = 0</a:t>
                      </a:r>
                    </a:p>
                  </a:txBody>
                  <a:tcPr anchor="ctr">
                    <a:solidFill>
                      <a:srgbClr val="EFF4FB"/>
                    </a:solidFill>
                  </a:tcPr>
                </a:tc>
                <a:tc>
                  <a:txBody>
                    <a:bodyPr/>
                    <a:lstStyle/>
                    <a:p>
                      <a:r>
                        <a:rPr sz="1800" b="0">
                          <a:solidFill>
                            <a:srgbClr val="102D69"/>
                          </a:solidFill>
                          <a:latin typeface="HSE Sans"/>
                          <a:ea typeface="HSE Sans"/>
                          <a:cs typeface="HSE Sans"/>
                        </a:rPr>
                        <a:t>3,9s</a:t>
                      </a:r>
                    </a:p>
                  </a:txBody>
                  <a:tcPr anchor="ctr">
                    <a:solidFill>
                      <a:srgbClr val="EFF4FB"/>
                    </a:solidFill>
                  </a:tcPr>
                </a:tc>
                <a:tc>
                  <a:txBody>
                    <a:bodyPr/>
                    <a:lstStyle/>
                    <a:p>
                      <a:r>
                        <a:rPr sz="1800" b="0">
                          <a:solidFill>
                            <a:srgbClr val="102D69"/>
                          </a:solidFill>
                          <a:latin typeface="HSE Sans"/>
                          <a:ea typeface="HSE Sans"/>
                          <a:cs typeface="HSE Sans"/>
                        </a:rPr>
                        <a:t>3,9 · 3 = 11,7 мин</a:t>
                      </a:r>
                    </a:p>
                  </a:txBody>
                  <a:tcPr anchor="ctr">
                    <a:solidFill>
                      <a:srgbClr val="EFF4FB"/>
                    </a:solidFill>
                  </a:tcPr>
                </a:tc>
                <a:extLst>
                  <a:ext uri="{0D108BD9-81ED-4DB2-BD59-A6C34878D82A}">
                    <a16:rowId xmlns:a16="http://schemas.microsoft.com/office/drawing/2014/main" val="10001"/>
                  </a:ext>
                </a:extLst>
              </a:tr>
              <a:tr h="581025">
                <a:tc>
                  <a:txBody>
                    <a:bodyPr/>
                    <a:lstStyle/>
                    <a:p>
                      <a:r>
                        <a:rPr sz="1800" b="0">
                          <a:solidFill>
                            <a:srgbClr val="102D69"/>
                          </a:solidFill>
                          <a:latin typeface="HSE Sans"/>
                          <a:ea typeface="HSE Sans"/>
                          <a:cs typeface="HSE Sans"/>
                        </a:rPr>
                        <a:t>wₛ = 2,9; wᵤ = 0,001</a:t>
                      </a:r>
                    </a:p>
                  </a:txBody>
                  <a:tcPr anchor="ctr">
                    <a:solidFill>
                      <a:srgbClr val="FFFFFF"/>
                    </a:solidFill>
                  </a:tcPr>
                </a:tc>
                <a:tc>
                  <a:txBody>
                    <a:bodyPr/>
                    <a:lstStyle/>
                    <a:p>
                      <a:r>
                        <a:rPr sz="1800" b="0">
                          <a:solidFill>
                            <a:srgbClr val="102D69"/>
                          </a:solidFill>
                          <a:latin typeface="HSE Sans"/>
                          <a:ea typeface="HSE Sans"/>
                          <a:cs typeface="HSE Sans"/>
                        </a:rPr>
                        <a:t>2,9s + 0,001u</a:t>
                      </a:r>
                    </a:p>
                  </a:txBody>
                  <a:tcPr anchor="ctr">
                    <a:solidFill>
                      <a:srgbClr val="FFFFFF"/>
                    </a:solidFill>
                  </a:tcPr>
                </a:tc>
                <a:tc>
                  <a:txBody>
                    <a:bodyPr/>
                    <a:lstStyle/>
                    <a:p>
                      <a:r>
                        <a:rPr sz="1800" b="0">
                          <a:solidFill>
                            <a:srgbClr val="102D69"/>
                          </a:solidFill>
                          <a:latin typeface="HSE Sans"/>
                          <a:ea typeface="HSE Sans"/>
                          <a:cs typeface="HSE Sans"/>
                        </a:rPr>
                        <a:t>2,9 · 3 + 0,001 · 3000 = 11,7 мин</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72">
            <a:extLst>
              <a:ext uri="{FF2B5EF4-FFF2-40B4-BE49-F238E27FC236}">
                <a16:creationId xmlns:a16="http://schemas.microsoft.com/office/drawing/2014/main" id="{B8D003FB-EE79-40E0-96BE-BE7A4D88B74D}"/>
              </a:ext>
            </a:extLst>
          </p:cNvPr>
          <p:cNvSpPr>
            <a:spLocks noGrp="1"/>
          </p:cNvSpPr>
          <p:nvPr/>
        </p:nvSpPr>
        <p:spPr>
          <a:xfrm>
            <a:off x="590550" y="5572125"/>
            <a:ext cx="11029950" cy="9334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 обоих случаях добавляем тот же свободный член 13,3 минуты.</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Прогнозы совпадают при любом расстоянии, хотя веса различаются.</a:t>
            </a:r>
          </a:p>
        </p:txBody>
      </p:sp>
    </p:spTree>
    <p:extLst>
      <p:ext uri="{BB962C8B-B14F-4D97-AF65-F5344CB8AC3E}">
        <p14:creationId xmlns:p14="http://schemas.microsoft.com/office/powerpoint/2010/main" val="14098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нельзя обратить матрицу AᵀA</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73">
            <a:extLst>
              <a:ext uri="{FF2B5EF4-FFF2-40B4-BE49-F238E27FC236}">
                <a16:creationId xmlns:a16="http://schemas.microsoft.com/office/drawing/2014/main" id="{F896F1CE-58C8-4C4B-A0EC-93F10CB457B9}"/>
              </a:ext>
            </a:extLst>
          </p:cNvPr>
          <p:cNvSpPr>
            <a:spLocks noGrp="1"/>
          </p:cNvSpPr>
          <p:nvPr/>
        </p:nvSpPr>
        <p:spPr>
          <a:xfrm>
            <a:off x="590550" y="2238375"/>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 примере с километрами и метрами третий столбец A равен</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второму, умноженному на 1000. Он не добавляет новой информации.</a:t>
            </a:r>
          </a:p>
        </p:txBody>
      </p:sp>
      <mc:AlternateContent xmlns:mc="http://schemas.openxmlformats.org/markup-compatibility/2006">
        <mc:Choice xmlns:a14="http://schemas.microsoft.com/office/drawing/2010/main" Requires="a14">
          <p:sp>
            <p:nvSpPr>
              <p:cNvPr id="8" name="l02-content-74">
                <a:extLst>
                  <a:ext uri="{FF2B5EF4-FFF2-40B4-BE49-F238E27FC236}">
                    <a16:creationId xmlns:a16="http://schemas.microsoft.com/office/drawing/2014/main" id="{7F12A2BB-264D-470D-8DB9-0CE8BB29D42A}"/>
                  </a:ext>
                </a:extLst>
              </p:cNvPr>
              <p:cNvSpPr>
                <a:spLocks noGrp="1"/>
              </p:cNvSpPr>
              <p:nvPr/>
            </p:nvSpPr>
            <p:spPr>
              <a:xfrm>
                <a:off x="590550" y="3400425"/>
                <a:ext cx="11029950" cy="666750"/>
              </a:xfrm>
              <a:prstGeom prst="rect">
                <a:avLst/>
              </a:prstGeom>
              <a:noFill/>
              <a:ln w="0">
                <a:noFill/>
              </a:ln>
            </p:spPr>
            <p:txBody>
              <a:bodyPr wrap="square" lIns="0" tIns="0" rIns="0" bIns="0" anchor="t">
                <a:noAutofit/>
              </a:bodyPr>
              <a:lstStyle/>
              <a:p>
                <a:pPr algn="ctr">
                  <a:defRPr sz="28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2</m:t>
                          </m:r>
                        </m:sub>
                      </m:sSub>
                      <m:r>
                        <a:rPr>
                          <a:latin typeface="Cambria Math" panose="02040503050406030204" pitchFamily="18" charset="0"/>
                        </a:rPr>
                        <m:t>=1000</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1</m:t>
                          </m:r>
                        </m:sub>
                      </m:sSub>
                    </m:oMath>
                  </m:oMathPara>
                </a14:m>
                <a:endParaRPr/>
              </a:p>
            </p:txBody>
          </p:sp>
        </mc:Choice>
        <mc:Fallback>
          <p:sp>
            <p:nvSpPr>
              <p:cNvPr id="8" name="l02-content-74">
                <a:extLst>
                  <a:ext uri="{FF2B5EF4-FFF2-40B4-BE49-F238E27FC236}">
                    <a16:creationId xmlns:a16="http://schemas.microsoft.com/office/drawing/2014/main" id="{7F12A2BB-264D-470D-8DB9-0CE8BB29D42A}"/>
                  </a:ext>
                </a:extLst>
              </p:cNvPr>
              <p:cNvSpPr>
                <a:spLocks noGrp="1" noRot="1" noChangeAspect="1" noMove="1" noResize="1" noEditPoints="1" noAdjustHandles="1" noChangeArrowheads="1" noChangeShapeType="1" noTextEdit="1"/>
              </p:cNvSpPr>
              <p:nvPr/>
            </p:nvSpPr>
            <p:spPr>
              <a:xfrm>
                <a:off x="590550" y="3400425"/>
                <a:ext cx="11029950" cy="666750"/>
              </a:xfrm>
              <a:prstGeom prst="rect">
                <a:avLst/>
              </a:prstGeom>
              <a:blipFill>
                <a:blip r:embed="rId3"/>
                <a:stretch>
                  <a:fillRect/>
                </a:stretch>
              </a:blipFill>
              <a:ln w="0">
                <a:noFill/>
              </a:ln>
            </p:spPr>
            <p:txBody>
              <a:bodyPr/>
              <a:lstStyle/>
              <a:p>
                <a:r>
                  <a:rPr lang="ru-RU">
                    <a:noFill/>
                  </a:rPr>
                  <a:t> </a:t>
                </a:r>
              </a:p>
            </p:txBody>
          </p:sp>
        </mc:Fallback>
      </mc:AlternateContent>
      <p:sp>
        <p:nvSpPr>
          <p:cNvPr id="9" name="l02-content-75">
            <a:extLst>
              <a:ext uri="{FF2B5EF4-FFF2-40B4-BE49-F238E27FC236}">
                <a16:creationId xmlns:a16="http://schemas.microsoft.com/office/drawing/2014/main" id="{7C0BCCB9-C0A9-4A16-B13D-37C3FF98A76B}"/>
              </a:ext>
            </a:extLst>
          </p:cNvPr>
          <p:cNvSpPr>
            <a:spLocks noGrp="1"/>
          </p:cNvSpPr>
          <p:nvPr/>
        </p:nvSpPr>
        <p:spPr>
          <a:xfrm>
            <a:off x="590550" y="4371975"/>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Ранг — максимальное число независимых столбцов. Здесь столбцов три: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единицы, километры, метры, а независимых только два.</a:t>
            </a:r>
          </a:p>
        </p:txBody>
      </p:sp>
      <p:sp>
        <p:nvSpPr>
          <p:cNvPr id="10" name="l02-content-76">
            <a:extLst>
              <a:ext uri="{FF2B5EF4-FFF2-40B4-BE49-F238E27FC236}">
                <a16:creationId xmlns:a16="http://schemas.microsoft.com/office/drawing/2014/main" id="{04F265E3-3596-4FC8-AAB5-38713CEFE11D}"/>
              </a:ext>
            </a:extLst>
          </p:cNvPr>
          <p:cNvSpPr>
            <a:spLocks noGrp="1"/>
          </p:cNvSpPr>
          <p:nvPr/>
        </p:nvSpPr>
        <p:spPr>
          <a:xfrm>
            <a:off x="590550" y="5629275"/>
            <a:ext cx="11029950" cy="8382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 данным нельзя однозначно определить все три веса.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Матрица AᵀA необратима, поэтому формула с (AᵀA)⁻¹ не работает.</a:t>
            </a:r>
          </a:p>
        </p:txBody>
      </p:sp>
    </p:spTree>
    <p:extLst>
      <p:ext uri="{BB962C8B-B14F-4D97-AF65-F5344CB8AC3E}">
        <p14:creationId xmlns:p14="http://schemas.microsoft.com/office/powerpoint/2010/main" val="140984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Близкие признаки могут дать неустойчивые веса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77">
            <a:extLst>
              <a:ext uri="{FF2B5EF4-FFF2-40B4-BE49-F238E27FC236}">
                <a16:creationId xmlns:a16="http://schemas.microsoft.com/office/drawing/2014/main" id="{1D6705DA-07D8-453C-8A87-8C8B7E78C304}"/>
              </a:ext>
            </a:extLst>
          </p:cNvPr>
          <p:cNvSpPr>
            <a:spLocks noGrp="1"/>
          </p:cNvSpPr>
          <p:nvPr/>
        </p:nvSpPr>
        <p:spPr>
          <a:xfrm>
            <a:off x="590550" y="2238375"/>
            <a:ext cx="11029950" cy="9334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Теперь x₁ и x₂ — два почти одинаковых измерения. При обучении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могут появиться большие веса с разными знаками. Рассмотрим пример:</a:t>
            </a:r>
          </a:p>
        </p:txBody>
      </p:sp>
      <mc:AlternateContent xmlns:mc="http://schemas.openxmlformats.org/markup-compatibility/2006">
        <mc:Choice xmlns:a14="http://schemas.microsoft.com/office/drawing/2010/main" Requires="a14">
          <p:sp>
            <p:nvSpPr>
              <p:cNvPr id="8" name="l02-content-78">
                <a:extLst>
                  <a:ext uri="{FF2B5EF4-FFF2-40B4-BE49-F238E27FC236}">
                    <a16:creationId xmlns:a16="http://schemas.microsoft.com/office/drawing/2014/main" id="{3CC26071-D40F-4367-A249-56D52DAD287D}"/>
                  </a:ext>
                </a:extLst>
              </p:cNvPr>
              <p:cNvSpPr>
                <a:spLocks noGrp="1"/>
              </p:cNvSpPr>
              <p:nvPr/>
            </p:nvSpPr>
            <p:spPr>
              <a:xfrm>
                <a:off x="590550" y="3352800"/>
                <a:ext cx="11029950" cy="695325"/>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)=1001</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−1000</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oMath>
                  </m:oMathPara>
                </a14:m>
                <a:endParaRPr/>
              </a:p>
            </p:txBody>
          </p:sp>
        </mc:Choice>
        <mc:Fallback>
          <p:sp>
            <p:nvSpPr>
              <p:cNvPr id="8" name="l02-content-78">
                <a:extLst>
                  <a:ext uri="{FF2B5EF4-FFF2-40B4-BE49-F238E27FC236}">
                    <a16:creationId xmlns:a16="http://schemas.microsoft.com/office/drawing/2014/main" id="{3CC26071-D40F-4367-A249-56D52DAD287D}"/>
                  </a:ext>
                </a:extLst>
              </p:cNvPr>
              <p:cNvSpPr>
                <a:spLocks noGrp="1" noRot="1" noChangeAspect="1" noMove="1" noResize="1" noEditPoints="1" noAdjustHandles="1" noChangeArrowheads="1" noChangeShapeType="1" noTextEdit="1"/>
              </p:cNvSpPr>
              <p:nvPr/>
            </p:nvSpPr>
            <p:spPr>
              <a:xfrm>
                <a:off x="590550" y="3352800"/>
                <a:ext cx="11029950" cy="695325"/>
              </a:xfrm>
              <a:prstGeom prst="rect">
                <a:avLst/>
              </a:prstGeom>
              <a:blipFill>
                <a:blip r:embed="rId3"/>
                <a:stretch>
                  <a:fillRect t="-1818"/>
                </a:stretch>
              </a:blipFill>
              <a:ln w="0">
                <a:noFill/>
              </a:ln>
            </p:spPr>
            <p:txBody>
              <a:bodyPr/>
              <a:lstStyle/>
              <a:p>
                <a:r>
                  <a:rPr lang="ru-RU">
                    <a:noFill/>
                  </a:rPr>
                  <a:t> </a:t>
                </a:r>
              </a:p>
            </p:txBody>
          </p:sp>
        </mc:Fallback>
      </mc:AlternateContent>
      <p:graphicFrame>
        <p:nvGraphicFramePr>
          <p:cNvPr id="18" name="Таблица 17"/>
          <p:cNvGraphicFramePr/>
          <p:nvPr/>
        </p:nvGraphicFramePr>
        <p:xfrm>
          <a:off x="590550" y="4343400"/>
          <a:ext cx="11029950" cy="1581152"/>
        </p:xfrm>
        <a:graphic>
          <a:graphicData uri="http://schemas.openxmlformats.org/drawingml/2006/table">
            <a:tbl>
              <a:tblPr firstRow="1"/>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409950">
                  <a:extLst>
                    <a:ext uri="{9D8B030D-6E8A-4147-A177-3AD203B41FA5}">
                      <a16:colId xmlns:a16="http://schemas.microsoft.com/office/drawing/2014/main" val="20002"/>
                    </a:ext>
                  </a:extLst>
                </a:gridCol>
              </a:tblGrid>
              <a:tr h="395288">
                <a:tc>
                  <a:txBody>
                    <a:bodyPr/>
                    <a:lstStyle/>
                    <a:p>
                      <a:r>
                        <a:rPr sz="1875" b="1">
                          <a:solidFill>
                            <a:srgbClr val="FFFFFF"/>
                          </a:solidFill>
                          <a:latin typeface="HSE Sans"/>
                          <a:ea typeface="HSE Sans"/>
                          <a:cs typeface="HSE Sans"/>
                        </a:rPr>
                        <a:t>Первое измерение x₁</a:t>
                      </a:r>
                    </a:p>
                  </a:txBody>
                  <a:tcPr anchor="ctr">
                    <a:solidFill>
                      <a:srgbClr val="102D69"/>
                    </a:solidFill>
                  </a:tcPr>
                </a:tc>
                <a:tc>
                  <a:txBody>
                    <a:bodyPr/>
                    <a:lstStyle/>
                    <a:p>
                      <a:r>
                        <a:rPr sz="1875" b="1">
                          <a:solidFill>
                            <a:srgbClr val="FFFFFF"/>
                          </a:solidFill>
                          <a:latin typeface="HSE Sans"/>
                          <a:ea typeface="HSE Sans"/>
                          <a:cs typeface="HSE Sans"/>
                        </a:rPr>
                        <a:t>Второе измерение x₂</a:t>
                      </a:r>
                    </a:p>
                  </a:txBody>
                  <a:tcPr anchor="ctr">
                    <a:solidFill>
                      <a:srgbClr val="102D69"/>
                    </a:solidFill>
                  </a:tcPr>
                </a:tc>
                <a:tc>
                  <a:txBody>
                    <a:bodyPr/>
                    <a:lstStyle/>
                    <a:p>
                      <a:r>
                        <a:rPr sz="1875" b="1">
                          <a:solidFill>
                            <a:srgbClr val="FFFFFF"/>
                          </a:solidFill>
                          <a:latin typeface="HSE Sans"/>
                          <a:ea typeface="HSE Sans"/>
                          <a:cs typeface="HSE Sans"/>
                        </a:rPr>
                        <a:t>Прогноз</a:t>
                      </a:r>
                    </a:p>
                  </a:txBody>
                  <a:tcPr anchor="ctr">
                    <a:solidFill>
                      <a:srgbClr val="102D69"/>
                    </a:solidFill>
                  </a:tcPr>
                </a:tc>
                <a:extLst>
                  <a:ext uri="{0D108BD9-81ED-4DB2-BD59-A6C34878D82A}">
                    <a16:rowId xmlns:a16="http://schemas.microsoft.com/office/drawing/2014/main" val="10000"/>
                  </a:ext>
                </a:extLst>
              </a:tr>
              <a:tr h="395288">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1</a:t>
                      </a:r>
                    </a:p>
                  </a:txBody>
                  <a:tcPr anchor="ctr">
                    <a:solidFill>
                      <a:srgbClr val="EFF4FB"/>
                    </a:solidFill>
                  </a:tcPr>
                </a:tc>
                <a:extLst>
                  <a:ext uri="{0D108BD9-81ED-4DB2-BD59-A6C34878D82A}">
                    <a16:rowId xmlns:a16="http://schemas.microsoft.com/office/drawing/2014/main" val="10001"/>
                  </a:ext>
                </a:extLst>
              </a:tr>
              <a:tr h="395288">
                <a:tc>
                  <a:txBody>
                    <a:bodyPr/>
                    <a:lstStyle/>
                    <a:p>
                      <a:r>
                        <a:rPr sz="1875" b="0">
                          <a:solidFill>
                            <a:srgbClr val="102D69"/>
                          </a:solidFill>
                          <a:latin typeface="HSE Sans"/>
                          <a:ea typeface="HSE Sans"/>
                          <a:cs typeface="HSE Sans"/>
                        </a:rPr>
                        <a:t>1</a:t>
                      </a:r>
                    </a:p>
                  </a:txBody>
                  <a:tcPr anchor="ctr">
                    <a:solidFill>
                      <a:srgbClr val="FFFFFF"/>
                    </a:solidFill>
                  </a:tcPr>
                </a:tc>
                <a:tc>
                  <a:txBody>
                    <a:bodyPr/>
                    <a:lstStyle/>
                    <a:p>
                      <a:r>
                        <a:rPr sz="1875" b="0">
                          <a:solidFill>
                            <a:srgbClr val="102D69"/>
                          </a:solidFill>
                          <a:latin typeface="HSE Sans"/>
                          <a:ea typeface="HSE Sans"/>
                          <a:cs typeface="HSE Sans"/>
                        </a:rPr>
                        <a:t>1,001</a:t>
                      </a:r>
                    </a:p>
                  </a:txBody>
                  <a:tcPr anchor="ctr">
                    <a:solidFill>
                      <a:srgbClr val="FFFFFF"/>
                    </a:solidFill>
                  </a:tcPr>
                </a:tc>
                <a:tc>
                  <a:txBody>
                    <a:bodyPr/>
                    <a:lstStyle/>
                    <a:p>
                      <a:r>
                        <a:rPr sz="1875" b="0">
                          <a:solidFill>
                            <a:srgbClr val="102D69"/>
                          </a:solidFill>
                          <a:latin typeface="HSE Sans"/>
                          <a:ea typeface="HSE Sans"/>
                          <a:cs typeface="HSE Sans"/>
                        </a:rPr>
                        <a:t>0</a:t>
                      </a:r>
                    </a:p>
                  </a:txBody>
                  <a:tcPr anchor="ctr">
                    <a:solidFill>
                      <a:srgbClr val="FFFFFF"/>
                    </a:solidFill>
                  </a:tcPr>
                </a:tc>
                <a:extLst>
                  <a:ext uri="{0D108BD9-81ED-4DB2-BD59-A6C34878D82A}">
                    <a16:rowId xmlns:a16="http://schemas.microsoft.com/office/drawing/2014/main" val="10002"/>
                  </a:ext>
                </a:extLst>
              </a:tr>
              <a:tr h="395288">
                <a:tc>
                  <a:txBody>
                    <a:bodyPr/>
                    <a:lstStyle/>
                    <a:p>
                      <a:r>
                        <a:rPr sz="1875" b="0">
                          <a:solidFill>
                            <a:srgbClr val="102D69"/>
                          </a:solidFill>
                          <a:latin typeface="HSE Sans"/>
                          <a:ea typeface="HSE Sans"/>
                          <a:cs typeface="HSE Sans"/>
                        </a:rPr>
                        <a:t>1</a:t>
                      </a:r>
                    </a:p>
                  </a:txBody>
                  <a:tcPr anchor="ctr">
                    <a:solidFill>
                      <a:srgbClr val="EFF4FB"/>
                    </a:solidFill>
                  </a:tcPr>
                </a:tc>
                <a:tc>
                  <a:txBody>
                    <a:bodyPr/>
                    <a:lstStyle/>
                    <a:p>
                      <a:r>
                        <a:rPr sz="1875" b="0">
                          <a:solidFill>
                            <a:srgbClr val="102D69"/>
                          </a:solidFill>
                          <a:latin typeface="HSE Sans"/>
                          <a:ea typeface="HSE Sans"/>
                          <a:cs typeface="HSE Sans"/>
                        </a:rPr>
                        <a:t>0,999</a:t>
                      </a:r>
                    </a:p>
                  </a:txBody>
                  <a:tcPr anchor="ctr">
                    <a:solidFill>
                      <a:srgbClr val="EFF4FB"/>
                    </a:solidFill>
                  </a:tcPr>
                </a:tc>
                <a:tc>
                  <a:txBody>
                    <a:bodyPr/>
                    <a:lstStyle/>
                    <a:p>
                      <a:r>
                        <a:rPr sz="1875" b="0">
                          <a:solidFill>
                            <a:srgbClr val="102D69"/>
                          </a:solidFill>
                          <a:latin typeface="HSE Sans"/>
                          <a:ea typeface="HSE Sans"/>
                          <a:cs typeface="HSE Sans"/>
                        </a:rPr>
                        <a:t>2</a:t>
                      </a:r>
                    </a:p>
                  </a:txBody>
                  <a:tcPr anchor="ctr">
                    <a:solidFill>
                      <a:srgbClr val="EFF4FB"/>
                    </a:solidFill>
                  </a:tcPr>
                </a:tc>
                <a:extLst>
                  <a:ext uri="{0D108BD9-81ED-4DB2-BD59-A6C34878D82A}">
                    <a16:rowId xmlns:a16="http://schemas.microsoft.com/office/drawing/2014/main" val="10003"/>
                  </a:ext>
                </a:extLst>
              </a:tr>
            </a:tbl>
          </a:graphicData>
        </a:graphic>
      </p:graphicFrame>
      <p:sp>
        <p:nvSpPr>
          <p:cNvPr id="10" name="l02-content-79">
            <a:extLst>
              <a:ext uri="{FF2B5EF4-FFF2-40B4-BE49-F238E27FC236}">
                <a16:creationId xmlns:a16="http://schemas.microsoft.com/office/drawing/2014/main" id="{25E8DF38-FBFE-40F3-80EB-FF96075C2C0D}"/>
              </a:ext>
            </a:extLst>
          </p:cNvPr>
          <p:cNvSpPr>
            <a:spLocks noGrp="1"/>
          </p:cNvSpPr>
          <p:nvPr/>
        </p:nvSpPr>
        <p:spPr>
          <a:xfrm>
            <a:off x="590550" y="62674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Изменение измерения всего на 0,001 меняет прогноз на 1. Веса усилили маленькое расхождение.</a:t>
            </a:r>
          </a:p>
        </p:txBody>
      </p:sp>
    </p:spTree>
    <p:extLst>
      <p:ext uri="{BB962C8B-B14F-4D97-AF65-F5344CB8AC3E}">
        <p14:creationId xmlns:p14="http://schemas.microsoft.com/office/powerpoint/2010/main" val="140984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формулу не вычисляют буквально</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80">
            <a:extLst>
              <a:ext uri="{FF2B5EF4-FFF2-40B4-BE49-F238E27FC236}">
                <a16:creationId xmlns:a16="http://schemas.microsoft.com/office/drawing/2014/main" id="{E919A6C1-A724-48F5-8C88-AF504680E0EE}"/>
              </a:ext>
            </a:extLst>
          </p:cNvPr>
          <p:cNvSpPr>
            <a:spLocks noGrp="1"/>
          </p:cNvSpPr>
          <p:nvPr/>
        </p:nvSpPr>
        <p:spPr>
          <a:xfrm>
            <a:off x="590550" y="2238375"/>
            <a:ext cx="11029950" cy="9620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Формула описывает решение, но явное вычисление обратной матрицы</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может усилить ошибки округления и требует дополнительных вычислений.</a:t>
            </a:r>
          </a:p>
        </p:txBody>
      </p:sp>
      <p:graphicFrame>
        <p:nvGraphicFramePr>
          <p:cNvPr id="16" name="Таблица 15"/>
          <p:cNvGraphicFramePr/>
          <p:nvPr/>
        </p:nvGraphicFramePr>
        <p:xfrm>
          <a:off x="590550" y="3533775"/>
          <a:ext cx="11029950" cy="1714500"/>
        </p:xfrm>
        <a:graphic>
          <a:graphicData uri="http://schemas.openxmlformats.org/drawingml/2006/table">
            <a:tbl>
              <a:tblPr firstRow="1"/>
              <a:tblGrid>
                <a:gridCol w="70294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571500">
                <a:tc>
                  <a:txBody>
                    <a:bodyPr/>
                    <a:lstStyle/>
                    <a:p>
                      <a:r>
                        <a:rPr sz="1950" b="1">
                          <a:solidFill>
                            <a:srgbClr val="FFFFFF"/>
                          </a:solidFill>
                          <a:latin typeface="HSE Sans"/>
                          <a:ea typeface="HSE Sans"/>
                          <a:cs typeface="HSE Sans"/>
                        </a:rPr>
                        <a:t>Шаг, p = d + 1 — число весов</a:t>
                      </a:r>
                    </a:p>
                  </a:txBody>
                  <a:tcPr anchor="ctr">
                    <a:solidFill>
                      <a:srgbClr val="102D69"/>
                    </a:solidFill>
                  </a:tcPr>
                </a:tc>
                <a:tc>
                  <a:txBody>
                    <a:bodyPr/>
                    <a:lstStyle/>
                    <a:p>
                      <a:r>
                        <a:rPr sz="1950" b="1">
                          <a:solidFill>
                            <a:srgbClr val="FFFFFF"/>
                          </a:solidFill>
                          <a:latin typeface="HSE Sans"/>
                          <a:ea typeface="HSE Sans"/>
                          <a:cs typeface="HSE Sans"/>
                        </a:rPr>
                        <a:t>Вычислительные затраты</a:t>
                      </a:r>
                    </a:p>
                  </a:txBody>
                  <a:tcPr anchor="ctr">
                    <a:solidFill>
                      <a:srgbClr val="102D69"/>
                    </a:solidFill>
                  </a:tcPr>
                </a:tc>
                <a:extLst>
                  <a:ext uri="{0D108BD9-81ED-4DB2-BD59-A6C34878D82A}">
                    <a16:rowId xmlns:a16="http://schemas.microsoft.com/office/drawing/2014/main" val="10000"/>
                  </a:ext>
                </a:extLst>
              </a:tr>
              <a:tr h="571500">
                <a:tc>
                  <a:txBody>
                    <a:bodyPr/>
                    <a:lstStyle/>
                    <a:p>
                      <a:r>
                        <a:rPr sz="1950" b="0">
                          <a:solidFill>
                            <a:srgbClr val="102D69"/>
                          </a:solidFill>
                          <a:latin typeface="HSE Sans"/>
                          <a:ea typeface="HSE Sans"/>
                          <a:cs typeface="HSE Sans"/>
                        </a:rPr>
                        <a:t>Сформировать AᵀA</a:t>
                      </a:r>
                    </a:p>
                  </a:txBody>
                  <a:tcPr anchor="ctr">
                    <a:solidFill>
                      <a:srgbClr val="EFF4FB"/>
                    </a:solidFill>
                  </a:tcPr>
                </a:tc>
                <a:tc>
                  <a:txBody>
                    <a:bodyPr/>
                    <a:lstStyle/>
                    <a:p>
                      <a:r>
                        <a:rPr sz="1950" b="0">
                          <a:solidFill>
                            <a:srgbClr val="102D69"/>
                          </a:solidFill>
                          <a:latin typeface="HSE Sans"/>
                          <a:ea typeface="HSE Sans"/>
                          <a:cs typeface="HSE Sans"/>
                        </a:rPr>
                        <a:t>Порядка ℓ · p² операций</a:t>
                      </a:r>
                    </a:p>
                  </a:txBody>
                  <a:tcPr anchor="ctr">
                    <a:solidFill>
                      <a:srgbClr val="EFF4FB"/>
                    </a:solidFill>
                  </a:tcPr>
                </a:tc>
                <a:extLst>
                  <a:ext uri="{0D108BD9-81ED-4DB2-BD59-A6C34878D82A}">
                    <a16:rowId xmlns:a16="http://schemas.microsoft.com/office/drawing/2014/main" val="10001"/>
                  </a:ext>
                </a:extLst>
              </a:tr>
              <a:tr h="571500">
                <a:tc>
                  <a:txBody>
                    <a:bodyPr/>
                    <a:lstStyle/>
                    <a:p>
                      <a:r>
                        <a:rPr sz="1950" b="0">
                          <a:solidFill>
                            <a:srgbClr val="102D69"/>
                          </a:solidFill>
                          <a:latin typeface="HSE Sans"/>
                          <a:ea typeface="HSE Sans"/>
                          <a:cs typeface="HSE Sans"/>
                        </a:rPr>
                        <a:t>Вычислить обратную матрицу</a:t>
                      </a:r>
                    </a:p>
                  </a:txBody>
                  <a:tcPr anchor="ctr">
                    <a:solidFill>
                      <a:srgbClr val="FFFFFF"/>
                    </a:solidFill>
                  </a:tcPr>
                </a:tc>
                <a:tc>
                  <a:txBody>
                    <a:bodyPr/>
                    <a:lstStyle/>
                    <a:p>
                      <a:r>
                        <a:rPr sz="1950" b="0">
                          <a:solidFill>
                            <a:srgbClr val="102D69"/>
                          </a:solidFill>
                          <a:latin typeface="HSE Sans"/>
                          <a:ea typeface="HSE Sans"/>
                          <a:cs typeface="HSE Sans"/>
                        </a:rPr>
                        <a:t>Порядка p³ операций</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81">
            <a:extLst>
              <a:ext uri="{FF2B5EF4-FFF2-40B4-BE49-F238E27FC236}">
                <a16:creationId xmlns:a16="http://schemas.microsoft.com/office/drawing/2014/main" id="{A11F092A-B672-4DFC-BBE6-076FCEF22536}"/>
              </a:ext>
            </a:extLst>
          </p:cNvPr>
          <p:cNvSpPr>
            <a:spLocks noGrp="1"/>
          </p:cNvSpPr>
          <p:nvPr/>
        </p:nvSpPr>
        <p:spPr>
          <a:xfrm>
            <a:off x="590550" y="5676900"/>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На практике матрицу A раскладывают на более простые части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 решают преобразованную задачу. Два таких метода — QR и SVD.</a:t>
            </a:r>
          </a:p>
        </p:txBody>
      </p:sp>
    </p:spTree>
    <p:extLst>
      <p:ext uri="{BB962C8B-B14F-4D97-AF65-F5344CB8AC3E}">
        <p14:creationId xmlns:p14="http://schemas.microsoft.com/office/powerpoint/2010/main" val="140984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QR-разложение: удобная система уравнений</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82">
            <a:extLst>
              <a:ext uri="{FF2B5EF4-FFF2-40B4-BE49-F238E27FC236}">
                <a16:creationId xmlns:a16="http://schemas.microsoft.com/office/drawing/2014/main" id="{87108508-9F19-4F01-94CE-501CC2412190}"/>
              </a:ext>
            </a:extLst>
          </p:cNvPr>
          <p:cNvSpPr>
            <a:spLocks noGrp="1"/>
          </p:cNvSpPr>
          <p:nvPr/>
        </p:nvSpPr>
        <p:spPr>
          <a:xfrm>
            <a:off x="590550" y="2257425"/>
            <a:ext cx="11029950" cy="9239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QR представляет A как произведение двух матриц: A = Q · R.</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Буква Q здесь — название матрицы, а не критерия ошибки Q(w).</a:t>
            </a:r>
          </a:p>
        </p:txBody>
      </p:sp>
      <p:graphicFrame>
        <p:nvGraphicFramePr>
          <p:cNvPr id="16" name="Таблица 15"/>
          <p:cNvGraphicFramePr/>
          <p:nvPr/>
        </p:nvGraphicFramePr>
        <p:xfrm>
          <a:off x="590550" y="3533775"/>
          <a:ext cx="11029950" cy="1933575"/>
        </p:xfrm>
        <a:graphic>
          <a:graphicData uri="http://schemas.openxmlformats.org/drawingml/2006/table">
            <a:tbl>
              <a:tblPr firstRow="1"/>
              <a:tblGrid>
                <a:gridCol w="1762125">
                  <a:extLst>
                    <a:ext uri="{9D8B030D-6E8A-4147-A177-3AD203B41FA5}">
                      <a16:colId xmlns:a16="http://schemas.microsoft.com/office/drawing/2014/main" val="20000"/>
                    </a:ext>
                  </a:extLst>
                </a:gridCol>
                <a:gridCol w="9267825">
                  <a:extLst>
                    <a:ext uri="{9D8B030D-6E8A-4147-A177-3AD203B41FA5}">
                      <a16:colId xmlns:a16="http://schemas.microsoft.com/office/drawing/2014/main" val="20001"/>
                    </a:ext>
                  </a:extLst>
                </a:gridCol>
              </a:tblGrid>
              <a:tr h="644525">
                <a:tc>
                  <a:txBody>
                    <a:bodyPr/>
                    <a:lstStyle/>
                    <a:p>
                      <a:r>
                        <a:rPr sz="1950" b="1">
                          <a:solidFill>
                            <a:srgbClr val="FFFFFF"/>
                          </a:solidFill>
                          <a:latin typeface="HSE Sans"/>
                          <a:ea typeface="HSE Sans"/>
                          <a:cs typeface="HSE Sans"/>
                        </a:rPr>
                        <a:t>Часть</a:t>
                      </a:r>
                    </a:p>
                  </a:txBody>
                  <a:tcPr anchor="ctr">
                    <a:solidFill>
                      <a:srgbClr val="102D69"/>
                    </a:solidFill>
                  </a:tcPr>
                </a:tc>
                <a:tc>
                  <a:txBody>
                    <a:bodyPr/>
                    <a:lstStyle/>
                    <a:p>
                      <a:r>
                        <a:rPr sz="1950" b="1">
                          <a:solidFill>
                            <a:srgbClr val="FFFFFF"/>
                          </a:solidFill>
                          <a:latin typeface="HSE Sans"/>
                          <a:ea typeface="HSE Sans"/>
                          <a:cs typeface="HSE Sans"/>
                        </a:rPr>
                        <a:t>Простой смысл</a:t>
                      </a:r>
                    </a:p>
                  </a:txBody>
                  <a:tcPr anchor="ctr">
                    <a:solidFill>
                      <a:srgbClr val="102D69"/>
                    </a:solidFill>
                  </a:tcPr>
                </a:tc>
                <a:extLst>
                  <a:ext uri="{0D108BD9-81ED-4DB2-BD59-A6C34878D82A}">
                    <a16:rowId xmlns:a16="http://schemas.microsoft.com/office/drawing/2014/main" val="10000"/>
                  </a:ext>
                </a:extLst>
              </a:tr>
              <a:tr h="644525">
                <a:tc>
                  <a:txBody>
                    <a:bodyPr/>
                    <a:lstStyle/>
                    <a:p>
                      <a:r>
                        <a:rPr sz="1950" b="0">
                          <a:solidFill>
                            <a:srgbClr val="102D69"/>
                          </a:solidFill>
                          <a:latin typeface="HSE Sans"/>
                          <a:ea typeface="HSE Sans"/>
                          <a:cs typeface="HSE Sans"/>
                        </a:rPr>
                        <a:t>Q</a:t>
                      </a:r>
                    </a:p>
                  </a:txBody>
                  <a:tcPr anchor="ctr">
                    <a:solidFill>
                      <a:srgbClr val="EFF4FB"/>
                    </a:solidFill>
                  </a:tcPr>
                </a:tc>
                <a:tc>
                  <a:txBody>
                    <a:bodyPr/>
                    <a:lstStyle/>
                    <a:p>
                      <a:r>
                        <a:rPr sz="1950" b="0">
                          <a:solidFill>
                            <a:srgbClr val="102D69"/>
                          </a:solidFill>
                          <a:latin typeface="HSE Sans"/>
                          <a:ea typeface="HSE Sans"/>
                          <a:cs typeface="HSE Sans"/>
                        </a:rPr>
                        <a:t>Меняет систему координат, сохраняя расстояния</a:t>
                      </a:r>
                    </a:p>
                  </a:txBody>
                  <a:tcPr anchor="ctr">
                    <a:solidFill>
                      <a:srgbClr val="EFF4FB"/>
                    </a:solidFill>
                  </a:tcPr>
                </a:tc>
                <a:extLst>
                  <a:ext uri="{0D108BD9-81ED-4DB2-BD59-A6C34878D82A}">
                    <a16:rowId xmlns:a16="http://schemas.microsoft.com/office/drawing/2014/main" val="10001"/>
                  </a:ext>
                </a:extLst>
              </a:tr>
              <a:tr h="644525">
                <a:tc>
                  <a:txBody>
                    <a:bodyPr/>
                    <a:lstStyle/>
                    <a:p>
                      <a:r>
                        <a:rPr sz="1950" b="0">
                          <a:solidFill>
                            <a:srgbClr val="102D69"/>
                          </a:solidFill>
                          <a:latin typeface="HSE Sans"/>
                          <a:ea typeface="HSE Sans"/>
                          <a:cs typeface="HSE Sans"/>
                        </a:rPr>
                        <a:t>R</a:t>
                      </a:r>
                    </a:p>
                  </a:txBody>
                  <a:tcPr anchor="ctr">
                    <a:solidFill>
                      <a:srgbClr val="FFFFFF"/>
                    </a:solidFill>
                  </a:tcPr>
                </a:tc>
                <a:tc>
                  <a:txBody>
                    <a:bodyPr/>
                    <a:lstStyle/>
                    <a:p>
                      <a:r>
                        <a:rPr sz="1950" b="0">
                          <a:solidFill>
                            <a:srgbClr val="102D69"/>
                          </a:solidFill>
                          <a:latin typeface="HSE Sans"/>
                          <a:ea typeface="HSE Sans"/>
                          <a:cs typeface="HSE Sans"/>
                        </a:rPr>
                        <a:t>Треугольная матрица: веса находим от последнего к первому</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83">
            <a:extLst>
              <a:ext uri="{FF2B5EF4-FFF2-40B4-BE49-F238E27FC236}">
                <a16:creationId xmlns:a16="http://schemas.microsoft.com/office/drawing/2014/main" id="{CD0A675F-98DC-4EF5-AAEF-9A48EE59293D}"/>
              </a:ext>
            </a:extLst>
          </p:cNvPr>
          <p:cNvSpPr>
            <a:spLocks noGrp="1"/>
          </p:cNvSpPr>
          <p:nvPr/>
        </p:nvSpPr>
        <p:spPr>
          <a:xfrm>
            <a:off x="590550" y="5791200"/>
            <a:ext cx="11029950" cy="8096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Получаем те же МНК-веса при независимых столбцах.</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Явно вычислять (AᵀA)⁻¹ не требуется.</a:t>
            </a:r>
          </a:p>
        </p:txBody>
      </p:sp>
    </p:spTree>
    <p:extLst>
      <p:ext uri="{BB962C8B-B14F-4D97-AF65-F5344CB8AC3E}">
        <p14:creationId xmlns:p14="http://schemas.microsoft.com/office/powerpoint/2010/main" val="140984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SVD: какие направления различают данные</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3. Зависимые признаки и устойчивость</a:t>
            </a:r>
          </a:p>
        </p:txBody>
      </p:sp>
      <p:sp>
        <p:nvSpPr>
          <p:cNvPr id="7" name="l02-content-84">
            <a:extLst>
              <a:ext uri="{FF2B5EF4-FFF2-40B4-BE49-F238E27FC236}">
                <a16:creationId xmlns:a16="http://schemas.microsoft.com/office/drawing/2014/main" id="{982162E6-039A-45E4-B241-E1415E6C4A0C}"/>
              </a:ext>
            </a:extLst>
          </p:cNvPr>
          <p:cNvSpPr>
            <a:spLocks noGrp="1"/>
          </p:cNvSpPr>
          <p:nvPr/>
        </p:nvSpPr>
        <p:spPr>
          <a:xfrm>
            <a:off x="590550" y="2238375"/>
            <a:ext cx="11029950" cy="117157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SVD — сингулярное разложение. Оно выделяет направления изменения весов.</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Сингулярное число показывает, насколько меняется вектор прогнозов Aw</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при изменении весов на единицу в соответствующем направлении.</a:t>
            </a:r>
          </a:p>
        </p:txBody>
      </p:sp>
      <p:graphicFrame>
        <p:nvGraphicFramePr>
          <p:cNvPr id="17" name="Таблица 16"/>
          <p:cNvGraphicFramePr/>
          <p:nvPr/>
        </p:nvGraphicFramePr>
        <p:xfrm>
          <a:off x="590550" y="3667125"/>
          <a:ext cx="11029950" cy="1714500"/>
        </p:xfrm>
        <a:graphic>
          <a:graphicData uri="http://schemas.openxmlformats.org/drawingml/2006/table">
            <a:tbl>
              <a:tblPr firstRow="1"/>
              <a:tblGrid>
                <a:gridCol w="350520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71500">
                <a:tc>
                  <a:txBody>
                    <a:bodyPr/>
                    <a:lstStyle/>
                    <a:p>
                      <a:r>
                        <a:rPr sz="1875" b="1">
                          <a:solidFill>
                            <a:srgbClr val="FFFFFF"/>
                          </a:solidFill>
                          <a:latin typeface="HSE Sans"/>
                          <a:ea typeface="HSE Sans"/>
                          <a:cs typeface="HSE Sans"/>
                        </a:rPr>
                        <a:t>Сингулярное число</a:t>
                      </a:r>
                    </a:p>
                  </a:txBody>
                  <a:tcPr anchor="ctr">
                    <a:solidFill>
                      <a:srgbClr val="102D69"/>
                    </a:solidFill>
                  </a:tcPr>
                </a:tc>
                <a:tc>
                  <a:txBody>
                    <a:bodyPr/>
                    <a:lstStyle/>
                    <a:p>
                      <a:r>
                        <a:rPr sz="1875" b="1">
                          <a:solidFill>
                            <a:srgbClr val="FFFFFF"/>
                          </a:solidFill>
                          <a:latin typeface="HSE Sans"/>
                          <a:ea typeface="HSE Sans"/>
                          <a:cs typeface="HSE Sans"/>
                        </a:rPr>
                        <a:t>Что это означает</a:t>
                      </a:r>
                    </a:p>
                  </a:txBody>
                  <a:tcPr anchor="ctr">
                    <a:solidFill>
                      <a:srgbClr val="102D69"/>
                    </a:solidFill>
                  </a:tcPr>
                </a:tc>
                <a:extLst>
                  <a:ext uri="{0D108BD9-81ED-4DB2-BD59-A6C34878D82A}">
                    <a16:rowId xmlns:a16="http://schemas.microsoft.com/office/drawing/2014/main" val="10000"/>
                  </a:ext>
                </a:extLst>
              </a:tr>
              <a:tr h="571500">
                <a:tc>
                  <a:txBody>
                    <a:bodyPr/>
                    <a:lstStyle/>
                    <a:p>
                      <a:r>
                        <a:rPr sz="1875" b="0">
                          <a:solidFill>
                            <a:srgbClr val="102D69"/>
                          </a:solidFill>
                          <a:latin typeface="HSE Sans"/>
                          <a:ea typeface="HSE Sans"/>
                          <a:cs typeface="HSE Sans"/>
                        </a:rPr>
                        <a:t>Равно нулю</a:t>
                      </a:r>
                    </a:p>
                  </a:txBody>
                  <a:tcPr anchor="ctr">
                    <a:solidFill>
                      <a:srgbClr val="EFF4FB"/>
                    </a:solidFill>
                  </a:tcPr>
                </a:tc>
                <a:tc>
                  <a:txBody>
                    <a:bodyPr/>
                    <a:lstStyle/>
                    <a:p>
                      <a:r>
                        <a:rPr sz="1875" b="0">
                          <a:solidFill>
                            <a:srgbClr val="102D69"/>
                          </a:solidFill>
                          <a:latin typeface="HSE Sans"/>
                          <a:ea typeface="HSE Sans"/>
                          <a:cs typeface="HSE Sans"/>
                        </a:rPr>
                        <a:t>Меняем веса в этом направлении, а прогнозы не меняются</a:t>
                      </a:r>
                    </a:p>
                  </a:txBody>
                  <a:tcPr anchor="ctr">
                    <a:solidFill>
                      <a:srgbClr val="EFF4FB"/>
                    </a:solidFill>
                  </a:tcPr>
                </a:tc>
                <a:extLst>
                  <a:ext uri="{0D108BD9-81ED-4DB2-BD59-A6C34878D82A}">
                    <a16:rowId xmlns:a16="http://schemas.microsoft.com/office/drawing/2014/main" val="10001"/>
                  </a:ext>
                </a:extLst>
              </a:tr>
              <a:tr h="571500">
                <a:tc>
                  <a:txBody>
                    <a:bodyPr/>
                    <a:lstStyle/>
                    <a:p>
                      <a:r>
                        <a:rPr sz="1875" b="0">
                          <a:solidFill>
                            <a:srgbClr val="102D69"/>
                          </a:solidFill>
                          <a:latin typeface="HSE Sans"/>
                          <a:ea typeface="HSE Sans"/>
                          <a:cs typeface="HSE Sans"/>
                        </a:rPr>
                        <a:t>Очень мало</a:t>
                      </a:r>
                    </a:p>
                  </a:txBody>
                  <a:tcPr anchor="ctr">
                    <a:solidFill>
                      <a:srgbClr val="FFFFFF"/>
                    </a:solidFill>
                  </a:tcPr>
                </a:tc>
                <a:tc>
                  <a:txBody>
                    <a:bodyPr/>
                    <a:lstStyle/>
                    <a:p>
                      <a:r>
                        <a:rPr sz="1875" b="0">
                          <a:solidFill>
                            <a:srgbClr val="102D69"/>
                          </a:solidFill>
                          <a:latin typeface="HSE Sans"/>
                          <a:ea typeface="HSE Sans"/>
                          <a:cs typeface="HSE Sans"/>
                        </a:rPr>
                        <a:t>Данные слабо различают веса, решение чувствительно к шуму</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85">
            <a:extLst>
              <a:ext uri="{FF2B5EF4-FFF2-40B4-BE49-F238E27FC236}">
                <a16:creationId xmlns:a16="http://schemas.microsoft.com/office/drawing/2014/main" id="{5DA932FC-49A6-4458-A8E6-ACD15C6D5769}"/>
              </a:ext>
            </a:extLst>
          </p:cNvPr>
          <p:cNvSpPr>
            <a:spLocks noGrp="1"/>
          </p:cNvSpPr>
          <p:nvPr/>
        </p:nvSpPr>
        <p:spPr>
          <a:xfrm>
            <a:off x="590550" y="5638800"/>
            <a:ext cx="11029950" cy="828675"/>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На основе SVD можно решить МНК и при зависимых столбцах.</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Из равноценных решений выбираем веса с наименьшей суммой квадратов.</a:t>
            </a:r>
          </a:p>
        </p:txBody>
      </p:sp>
      <p:sp>
        <p:nvSpPr>
          <p:cNvPr id="10" name="l02-content-86">
            <a:extLst>
              <a:ext uri="{FF2B5EF4-FFF2-40B4-BE49-F238E27FC236}">
                <a16:creationId xmlns:a16="http://schemas.microsoft.com/office/drawing/2014/main" id="{BFEB99ED-61EC-4743-805F-C2C6A93E43AF}"/>
              </a:ext>
            </a:extLst>
          </p:cNvPr>
          <p:cNvSpPr>
            <a:spLocks noGrp="1"/>
          </p:cNvSpPr>
          <p:nvPr/>
        </p:nvSpPr>
        <p:spPr>
          <a:xfrm>
            <a:off x="590550" y="641985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Точный дубликат проще убрать. Численный метод сам по себе не делает признаки информативнее.</a:t>
            </a:r>
          </a:p>
        </p:txBody>
      </p:sp>
    </p:spTree>
    <p:extLst>
      <p:ext uri="{BB962C8B-B14F-4D97-AF65-F5344CB8AC3E}">
        <p14:creationId xmlns:p14="http://schemas.microsoft.com/office/powerpoint/2010/main" val="14098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Обработка признаков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87">
            <a:extLst>
              <a:ext uri="{FF2B5EF4-FFF2-40B4-BE49-F238E27FC236}">
                <a16:creationId xmlns:a16="http://schemas.microsoft.com/office/drawing/2014/main" id="{193B82C5-5B23-4341-B9BF-9EE76FC6DF30}"/>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04</a:t>
            </a:r>
          </a:p>
        </p:txBody>
      </p:sp>
      <p:sp>
        <p:nvSpPr>
          <p:cNvPr id="8" name="l02-content-88">
            <a:extLst>
              <a:ext uri="{FF2B5EF4-FFF2-40B4-BE49-F238E27FC236}">
                <a16:creationId xmlns:a16="http://schemas.microsoft.com/office/drawing/2014/main" id="{575E923D-63F7-4BD8-AB30-3F942EF067F3}"/>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Преобразования числовых признаков</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One-hot encoding и взаимодействия</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Масштабирование и пропуски</a:t>
            </a:r>
          </a:p>
        </p:txBody>
      </p:sp>
    </p:spTree>
    <p:extLst>
      <p:ext uri="{BB962C8B-B14F-4D97-AF65-F5344CB8AC3E}">
        <p14:creationId xmlns:p14="http://schemas.microsoft.com/office/powerpoint/2010/main" val="140984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Рисунок ошибок подсказывает новый признак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89">
            <a:extLst>
              <a:ext uri="{FF2B5EF4-FFF2-40B4-BE49-F238E27FC236}">
                <a16:creationId xmlns:a16="http://schemas.microsoft.com/office/drawing/2014/main" id="{C973BFB9-AE89-4529-8B02-8AD29BE15D0D}"/>
              </a:ext>
            </a:extLst>
          </p:cNvPr>
          <p:cNvSpPr>
            <a:spLocks noGrp="1"/>
          </p:cNvSpPr>
          <p:nvPr/>
        </p:nvSpPr>
        <p:spPr>
          <a:xfrm>
            <a:off x="590550" y="2238375"/>
            <a:ext cx="11029950" cy="523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Построили прямую по расстоянию и посмотрели её ошибки на каждом заказе.</a:t>
            </a:r>
          </a:p>
        </p:txBody>
      </p:sp>
      <p:graphicFrame>
        <p:nvGraphicFramePr>
          <p:cNvPr id="17" name="Chart"/>
          <p:cNvGraphicFramePr/>
          <p:nvPr/>
        </p:nvGraphicFramePr>
        <p:xfrm>
          <a:off x="590550" y="3038475"/>
          <a:ext cx="6429375" cy="2933700"/>
        </p:xfrm>
        <a:graphic>
          <a:graphicData uri="http://schemas.openxmlformats.org/drawingml/2006/chart">
            <c:chart xmlns:c="http://schemas.openxmlformats.org/drawingml/2006/chart" xmlns:r="http://schemas.openxmlformats.org/officeDocument/2006/relationships" r:id="rId3"/>
          </a:graphicData>
        </a:graphic>
      </p:graphicFrame>
      <p:sp>
        <p:nvSpPr>
          <p:cNvPr id="9" name="l02-content-90">
            <a:extLst>
              <a:ext uri="{FF2B5EF4-FFF2-40B4-BE49-F238E27FC236}">
                <a16:creationId xmlns:a16="http://schemas.microsoft.com/office/drawing/2014/main" id="{514736E7-2C07-4EDF-8C6F-DDCABAB38CCB}"/>
              </a:ext>
            </a:extLst>
          </p:cNvPr>
          <p:cNvSpPr>
            <a:spLocks noGrp="1"/>
          </p:cNvSpPr>
          <p:nvPr/>
        </p:nvSpPr>
        <p:spPr>
          <a:xfrm>
            <a:off x="7553325" y="3009900"/>
            <a:ext cx="3981450" cy="2924175"/>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r &gt; 0: время завышено.</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r &lt; 0: время занижено.</a:t>
            </a:r>
          </a:p>
          <a:p>
            <a:endParaRPr sz="1875" b="0">
              <a:solidFill>
                <a:srgbClr val="102D69"/>
              </a:solidFill>
              <a:latin typeface="HSE Sans"/>
              <a:ea typeface="HSE Sans"/>
              <a:cs typeface="HSE Sans"/>
            </a:endParaRP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В середине прямая завышает время,</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по краям занижает: видна кривизна.</a:t>
            </a:r>
          </a:p>
          <a:p>
            <a:endParaRPr sz="1875" b="0">
              <a:solidFill>
                <a:srgbClr val="102D69"/>
              </a:solidFill>
              <a:latin typeface="HSE Sans"/>
              <a:ea typeface="HSE Sans"/>
              <a:cs typeface="HSE Sans"/>
            </a:endParaRP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Добавим x², чтобы модель</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могла описать изгиб.</a:t>
            </a:r>
          </a:p>
        </p:txBody>
      </p:sp>
      <p:sp>
        <p:nvSpPr>
          <p:cNvPr id="10" name="l02-content-91">
            <a:extLst>
              <a:ext uri="{FF2B5EF4-FFF2-40B4-BE49-F238E27FC236}">
                <a16:creationId xmlns:a16="http://schemas.microsoft.com/office/drawing/2014/main" id="{A9CAF496-A21A-488C-B895-78BA05C49B7B}"/>
              </a:ext>
            </a:extLst>
          </p:cNvPr>
          <p:cNvSpPr>
            <a:spLocks noGrp="1"/>
          </p:cNvSpPr>
          <p:nvPr/>
        </p:nvSpPr>
        <p:spPr>
          <a:xfrm>
            <a:off x="590550" y="62960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Изгиб — повод проверить новую модель на отложенных данных. Сам по себе он не гарантирует улучшения.</a:t>
            </a:r>
          </a:p>
        </p:txBody>
      </p:sp>
    </p:spTree>
    <p:extLst>
      <p:ext uri="{BB962C8B-B14F-4D97-AF65-F5344CB8AC3E}">
        <p14:creationId xmlns:p14="http://schemas.microsoft.com/office/powerpoint/2010/main" val="140984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Степени, логарифмы и другие преобразования</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92">
            <a:extLst>
              <a:ext uri="{FF2B5EF4-FFF2-40B4-BE49-F238E27FC236}">
                <a16:creationId xmlns:a16="http://schemas.microsoft.com/office/drawing/2014/main" id="{597CC831-8F23-4E9F-B0A9-E9579F9CCC7E}"/>
              </a:ext>
            </a:extLst>
          </p:cNvPr>
          <p:cNvSpPr>
            <a:spLocks noGrp="1"/>
          </p:cNvSpPr>
          <p:nvPr/>
        </p:nvSpPr>
        <p:spPr>
          <a:xfrm>
            <a:off x="590550" y="2228850"/>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Вместо исходного x или вместе с ним можно добавить преобразования.</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Здесь x ≥ 0: например, расстояние или число активных заказов.</a:t>
            </a:r>
          </a:p>
        </p:txBody>
      </p:sp>
      <p:graphicFrame>
        <p:nvGraphicFramePr>
          <p:cNvPr id="17" name="Таблица 16"/>
          <p:cNvGraphicFramePr/>
          <p:nvPr/>
        </p:nvGraphicFramePr>
        <p:xfrm>
          <a:off x="590550" y="3371850"/>
          <a:ext cx="11029950" cy="2019300"/>
        </p:xfrm>
        <a:graphic>
          <a:graphicData uri="http://schemas.openxmlformats.org/drawingml/2006/table">
            <a:tbl>
              <a:tblPr firstRow="1"/>
              <a:tblGrid>
                <a:gridCol w="3048000">
                  <a:extLst>
                    <a:ext uri="{9D8B030D-6E8A-4147-A177-3AD203B41FA5}">
                      <a16:colId xmlns:a16="http://schemas.microsoft.com/office/drawing/2014/main" val="20000"/>
                    </a:ext>
                  </a:extLst>
                </a:gridCol>
                <a:gridCol w="7981950">
                  <a:extLst>
                    <a:ext uri="{9D8B030D-6E8A-4147-A177-3AD203B41FA5}">
                      <a16:colId xmlns:a16="http://schemas.microsoft.com/office/drawing/2014/main" val="20001"/>
                    </a:ext>
                  </a:extLst>
                </a:gridCol>
              </a:tblGrid>
              <a:tr h="504825">
                <a:tc>
                  <a:txBody>
                    <a:bodyPr/>
                    <a:lstStyle/>
                    <a:p>
                      <a:r>
                        <a:rPr sz="1875" b="1">
                          <a:solidFill>
                            <a:srgbClr val="FFFFFF"/>
                          </a:solidFill>
                          <a:latin typeface="HSE Sans"/>
                          <a:ea typeface="HSE Sans"/>
                          <a:cs typeface="HSE Sans"/>
                        </a:rPr>
                        <a:t>Признак</a:t>
                      </a:r>
                    </a:p>
                  </a:txBody>
                  <a:tcPr anchor="ctr">
                    <a:solidFill>
                      <a:srgbClr val="102D69"/>
                    </a:solidFill>
                  </a:tcPr>
                </a:tc>
                <a:tc>
                  <a:txBody>
                    <a:bodyPr/>
                    <a:lstStyle/>
                    <a:p>
                      <a:r>
                        <a:rPr sz="1875" b="1">
                          <a:solidFill>
                            <a:srgbClr val="FFFFFF"/>
                          </a:solidFill>
                          <a:latin typeface="HSE Sans"/>
                          <a:ea typeface="HSE Sans"/>
                          <a:cs typeface="HSE Sans"/>
                        </a:rPr>
                        <a:t>Какую зависимость позволяет описать</a:t>
                      </a:r>
                    </a:p>
                  </a:txBody>
                  <a:tcPr anchor="ctr">
                    <a:solidFill>
                      <a:srgbClr val="102D69"/>
                    </a:solidFill>
                  </a:tcPr>
                </a:tc>
                <a:extLst>
                  <a:ext uri="{0D108BD9-81ED-4DB2-BD59-A6C34878D82A}">
                    <a16:rowId xmlns:a16="http://schemas.microsoft.com/office/drawing/2014/main" val="10000"/>
                  </a:ext>
                </a:extLst>
              </a:tr>
              <a:tr h="504825">
                <a:tc>
                  <a:txBody>
                    <a:bodyPr/>
                    <a:lstStyle/>
                    <a:p>
                      <a:r>
                        <a:rPr sz="1875" b="0">
                          <a:solidFill>
                            <a:srgbClr val="102D69"/>
                          </a:solidFill>
                          <a:latin typeface="HSE Sans"/>
                          <a:ea typeface="HSE Sans"/>
                          <a:cs typeface="HSE Sans"/>
                        </a:rPr>
                        <a:t>x²</a:t>
                      </a:r>
                    </a:p>
                  </a:txBody>
                  <a:tcPr anchor="ctr">
                    <a:solidFill>
                      <a:srgbClr val="EFF4FB"/>
                    </a:solidFill>
                  </a:tcPr>
                </a:tc>
                <a:tc>
                  <a:txBody>
                    <a:bodyPr/>
                    <a:lstStyle/>
                    <a:p>
                      <a:r>
                        <a:rPr sz="1875" b="0">
                          <a:solidFill>
                            <a:srgbClr val="102D69"/>
                          </a:solidFill>
                          <a:latin typeface="HSE Sans"/>
                          <a:ea typeface="HSE Sans"/>
                          <a:cs typeface="HSE Sans"/>
                        </a:rPr>
                        <a:t>Изгиб: эффект следующей единицы может усиливаться</a:t>
                      </a:r>
                    </a:p>
                  </a:txBody>
                  <a:tcPr anchor="ctr">
                    <a:solidFill>
                      <a:srgbClr val="EFF4FB"/>
                    </a:solidFill>
                  </a:tcPr>
                </a:tc>
                <a:extLst>
                  <a:ext uri="{0D108BD9-81ED-4DB2-BD59-A6C34878D82A}">
                    <a16:rowId xmlns:a16="http://schemas.microsoft.com/office/drawing/2014/main" val="10001"/>
                  </a:ext>
                </a:extLst>
              </a:tr>
              <a:tr h="504825">
                <a:tc>
                  <a:txBody>
                    <a:bodyPr/>
                    <a:lstStyle/>
                    <a:p>
                      <a:r>
                        <a:rPr sz="1875" b="0">
                          <a:solidFill>
                            <a:srgbClr val="102D69"/>
                          </a:solidFill>
                          <a:latin typeface="HSE Sans"/>
                          <a:ea typeface="HSE Sans"/>
                          <a:cs typeface="HSE Sans"/>
                        </a:rPr>
                        <a:t>log(1 + x)</a:t>
                      </a:r>
                    </a:p>
                  </a:txBody>
                  <a:tcPr anchor="ctr">
                    <a:solidFill>
                      <a:srgbClr val="FFFFFF"/>
                    </a:solidFill>
                  </a:tcPr>
                </a:tc>
                <a:tc>
                  <a:txBody>
                    <a:bodyPr/>
                    <a:lstStyle/>
                    <a:p>
                      <a:r>
                        <a:rPr sz="1875" b="0">
                          <a:solidFill>
                            <a:srgbClr val="102D69"/>
                          </a:solidFill>
                          <a:latin typeface="HSE Sans"/>
                          <a:ea typeface="HSE Sans"/>
                          <a:cs typeface="HSE Sans"/>
                        </a:rPr>
                        <a:t>Замедляющийся рост; допустим x = 0</a:t>
                      </a:r>
                    </a:p>
                  </a:txBody>
                  <a:tcPr anchor="ctr">
                    <a:solidFill>
                      <a:srgbClr val="FFFFFF"/>
                    </a:solidFill>
                  </a:tcPr>
                </a:tc>
                <a:extLst>
                  <a:ext uri="{0D108BD9-81ED-4DB2-BD59-A6C34878D82A}">
                    <a16:rowId xmlns:a16="http://schemas.microsoft.com/office/drawing/2014/main" val="10002"/>
                  </a:ext>
                </a:extLst>
              </a:tr>
              <a:tr h="504825">
                <a:tc>
                  <a:txBody>
                    <a:bodyPr/>
                    <a:lstStyle/>
                    <a:p>
                      <a:r>
                        <a:rPr sz="1875" b="0">
                          <a:solidFill>
                            <a:srgbClr val="102D69"/>
                          </a:solidFill>
                          <a:latin typeface="HSE Sans"/>
                          <a:ea typeface="HSE Sans"/>
                          <a:cs typeface="HSE Sans"/>
                        </a:rPr>
                        <a:t>√x</a:t>
                      </a:r>
                    </a:p>
                  </a:txBody>
                  <a:tcPr anchor="ctr">
                    <a:solidFill>
                      <a:srgbClr val="EFF4FB"/>
                    </a:solidFill>
                  </a:tcPr>
                </a:tc>
                <a:tc>
                  <a:txBody>
                    <a:bodyPr/>
                    <a:lstStyle/>
                    <a:p>
                      <a:r>
                        <a:rPr sz="1875" b="0">
                          <a:solidFill>
                            <a:srgbClr val="102D69"/>
                          </a:solidFill>
                          <a:latin typeface="HSE Sans"/>
                          <a:ea typeface="HSE Sans"/>
                          <a:cs typeface="HSE Sans"/>
                        </a:rPr>
                        <a:t>Ещё один вариант замедляющегося роста</a:t>
                      </a:r>
                    </a:p>
                  </a:txBody>
                  <a:tcPr anchor="ctr">
                    <a:solidFill>
                      <a:srgbClr val="EFF4FB"/>
                    </a:solidFill>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a14="http://schemas.microsoft.com/office/drawing/2010/main" Requires="a14">
          <p:sp>
            <p:nvSpPr>
              <p:cNvPr id="9" name="l02-content-93">
                <a:extLst>
                  <a:ext uri="{FF2B5EF4-FFF2-40B4-BE49-F238E27FC236}">
                    <a16:creationId xmlns:a16="http://schemas.microsoft.com/office/drawing/2014/main" id="{1FC37E00-1CA0-4D1A-8233-2ACE57284910}"/>
                  </a:ext>
                </a:extLst>
              </p:cNvPr>
              <p:cNvSpPr>
                <a:spLocks noGrp="1"/>
              </p:cNvSpPr>
              <p:nvPr/>
            </p:nvSpPr>
            <p:spPr>
              <a:xfrm>
                <a:off x="590550" y="5524500"/>
                <a:ext cx="11029950" cy="714375"/>
              </a:xfrm>
              <a:prstGeom prst="rect">
                <a:avLst/>
              </a:prstGeom>
              <a:noFill/>
              <a:ln w="0">
                <a:noFill/>
              </a:ln>
            </p:spPr>
            <p:txBody>
              <a:bodyPr wrap="square" lIns="0" tIns="0" rIns="0" bIns="0" anchor="t">
                <a:noAutofit/>
              </a:bodyPr>
              <a:lstStyle/>
              <a:p>
                <a:pPr algn="ctr">
                  <a:defRPr sz="24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1</m:t>
                          </m:r>
                        </m:sub>
                      </m:sSub>
                      <m:r>
                        <a:rPr>
                          <a:latin typeface="Cambria Math" panose="02040503050406030204" pitchFamily="18" charset="0"/>
                        </a:rPr>
                        <m:t>𝑥</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2</m:t>
                          </m:r>
                        </m:sub>
                      </m:sSub>
                      <m:sSup>
                        <m:sSupPr>
                          <m:ctrlPr>
                            <a:rPr i="1">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3</m:t>
                          </m:r>
                        </m:sub>
                      </m:sSub>
                      <m:r>
                        <a:rPr>
                          <a:latin typeface="Cambria Math" panose="02040503050406030204" pitchFamily="18" charset="0"/>
                        </a:rPr>
                        <m:t>𝑙𝑜𝑔</m:t>
                      </m:r>
                      <m:r>
                        <a:rPr>
                          <a:latin typeface="Cambria Math" panose="02040503050406030204" pitchFamily="18" charset="0"/>
                        </a:rPr>
                        <m:t>(1+</m:t>
                      </m:r>
                      <m:r>
                        <a:rPr>
                          <a:latin typeface="Cambria Math" panose="02040503050406030204" pitchFamily="18" charset="0"/>
                        </a:rPr>
                        <m:t>𝑥</m:t>
                      </m:r>
                      <m:r>
                        <a:rPr>
                          <a:latin typeface="Cambria Math" panose="02040503050406030204" pitchFamily="18" charset="0"/>
                        </a:rPr>
                        <m:t>)</m:t>
                      </m:r>
                    </m:oMath>
                  </m:oMathPara>
                </a14:m>
                <a:endParaRPr/>
              </a:p>
            </p:txBody>
          </p:sp>
        </mc:Choice>
        <mc:Fallback>
          <p:sp>
            <p:nvSpPr>
              <p:cNvPr id="9" name="l02-content-93">
                <a:extLst>
                  <a:ext uri="{FF2B5EF4-FFF2-40B4-BE49-F238E27FC236}">
                    <a16:creationId xmlns:a16="http://schemas.microsoft.com/office/drawing/2014/main" id="{1FC37E00-1CA0-4D1A-8233-2ACE57284910}"/>
                  </a:ext>
                </a:extLst>
              </p:cNvPr>
              <p:cNvSpPr>
                <a:spLocks noGrp="1" noRot="1" noChangeAspect="1" noMove="1" noResize="1" noEditPoints="1" noAdjustHandles="1" noChangeArrowheads="1" noChangeShapeType="1" noTextEdit="1"/>
              </p:cNvSpPr>
              <p:nvPr/>
            </p:nvSpPr>
            <p:spPr>
              <a:xfrm>
                <a:off x="590550" y="5524500"/>
                <a:ext cx="11029950" cy="714375"/>
              </a:xfrm>
              <a:prstGeom prst="rect">
                <a:avLst/>
              </a:prstGeom>
              <a:blipFill>
                <a:blip r:embed="rId3"/>
                <a:stretch>
                  <a:fillRect/>
                </a:stretch>
              </a:blipFill>
              <a:ln w="0">
                <a:noFill/>
              </a:ln>
            </p:spPr>
            <p:txBody>
              <a:bodyPr/>
              <a:lstStyle/>
              <a:p>
                <a:r>
                  <a:rPr lang="ru-RU">
                    <a:noFill/>
                  </a:rPr>
                  <a:t> </a:t>
                </a:r>
              </a:p>
            </p:txBody>
          </p:sp>
        </mc:Fallback>
      </mc:AlternateContent>
      <p:sp>
        <p:nvSpPr>
          <p:cNvPr id="10" name="l02-content-94">
            <a:extLst>
              <a:ext uri="{FF2B5EF4-FFF2-40B4-BE49-F238E27FC236}">
                <a16:creationId xmlns:a16="http://schemas.microsoft.com/office/drawing/2014/main" id="{EF14B6E1-E350-44ED-8C7A-27338128330F}"/>
              </a:ext>
            </a:extLst>
          </p:cNvPr>
          <p:cNvSpPr>
            <a:spLocks noGrp="1"/>
          </p:cNvSpPr>
          <p:nvPr/>
        </p:nvSpPr>
        <p:spPr>
          <a:xfrm>
            <a:off x="590550" y="63341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Линейность относится к весам. Признаки задают допустимую форму зависимости и могут взаимодействовать.</a:t>
            </a:r>
          </a:p>
        </p:txBody>
      </p:sp>
    </p:spTree>
    <p:extLst>
      <p:ext uri="{BB962C8B-B14F-4D97-AF65-F5344CB8AC3E}">
        <p14:creationId xmlns:p14="http://schemas.microsoft.com/office/powerpoint/2010/main" val="140984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One-hot encoding: район в линейной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95">
            <a:extLst>
              <a:ext uri="{FF2B5EF4-FFF2-40B4-BE49-F238E27FC236}">
                <a16:creationId xmlns:a16="http://schemas.microsoft.com/office/drawing/2014/main" id="{167EE849-94D8-48E3-AF31-32121E0B8636}"/>
              </a:ext>
            </a:extLst>
          </p:cNvPr>
          <p:cNvSpPr>
            <a:spLocks noGrp="1"/>
          </p:cNvSpPr>
          <p:nvPr/>
        </p:nvSpPr>
        <p:spPr>
          <a:xfrm>
            <a:off x="590550" y="2238375"/>
            <a:ext cx="11029950" cy="93345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Район — категория. Введём индикаторы: b₂ = 1 для Центра, b₃ = 1 для Юга.</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Для остальных районов соответствующий индикатор равен 0.</a:t>
            </a:r>
          </a:p>
        </p:txBody>
      </p:sp>
      <p:graphicFrame>
        <p:nvGraphicFramePr>
          <p:cNvPr id="17" name="Таблица 16"/>
          <p:cNvGraphicFramePr/>
          <p:nvPr/>
        </p:nvGraphicFramePr>
        <p:xfrm>
          <a:off x="590550" y="3505200"/>
          <a:ext cx="11029950" cy="1905000"/>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4362450">
                  <a:extLst>
                    <a:ext uri="{9D8B030D-6E8A-4147-A177-3AD203B41FA5}">
                      <a16:colId xmlns:a16="http://schemas.microsoft.com/office/drawing/2014/main" val="20003"/>
                    </a:ext>
                  </a:extLst>
                </a:gridCol>
              </a:tblGrid>
              <a:tr h="476250">
                <a:tc>
                  <a:txBody>
                    <a:bodyPr/>
                    <a:lstStyle/>
                    <a:p>
                      <a:r>
                        <a:rPr sz="1950" b="1">
                          <a:solidFill>
                            <a:srgbClr val="FFFFFF"/>
                          </a:solidFill>
                          <a:latin typeface="HSE Sans"/>
                          <a:ea typeface="HSE Sans"/>
                          <a:cs typeface="HSE Sans"/>
                        </a:rPr>
                        <a:t>Район</a:t>
                      </a:r>
                    </a:p>
                  </a:txBody>
                  <a:tcPr anchor="ctr">
                    <a:solidFill>
                      <a:srgbClr val="102D69"/>
                    </a:solidFill>
                  </a:tcPr>
                </a:tc>
                <a:tc>
                  <a:txBody>
                    <a:bodyPr/>
                    <a:lstStyle/>
                    <a:p>
                      <a:r>
                        <a:rPr sz="1950" b="1">
                          <a:solidFill>
                            <a:srgbClr val="FFFFFF"/>
                          </a:solidFill>
                          <a:latin typeface="HSE Sans"/>
                          <a:ea typeface="HSE Sans"/>
                          <a:cs typeface="HSE Sans"/>
                        </a:rPr>
                        <a:t>b₂</a:t>
                      </a:r>
                    </a:p>
                  </a:txBody>
                  <a:tcPr anchor="ctr">
                    <a:solidFill>
                      <a:srgbClr val="102D69"/>
                    </a:solidFill>
                  </a:tcPr>
                </a:tc>
                <a:tc>
                  <a:txBody>
                    <a:bodyPr/>
                    <a:lstStyle/>
                    <a:p>
                      <a:r>
                        <a:rPr sz="1950" b="1">
                          <a:solidFill>
                            <a:srgbClr val="FFFFFF"/>
                          </a:solidFill>
                          <a:latin typeface="HSE Sans"/>
                          <a:ea typeface="HSE Sans"/>
                          <a:cs typeface="HSE Sans"/>
                        </a:rPr>
                        <a:t>b₃</a:t>
                      </a:r>
                    </a:p>
                  </a:txBody>
                  <a:tcPr anchor="ctr">
                    <a:solidFill>
                      <a:srgbClr val="102D69"/>
                    </a:solidFill>
                  </a:tcPr>
                </a:tc>
                <a:tc>
                  <a:txBody>
                    <a:bodyPr/>
                    <a:lstStyle/>
                    <a:p>
                      <a:r>
                        <a:rPr sz="1950" b="1">
                          <a:solidFill>
                            <a:srgbClr val="FFFFFF"/>
                          </a:solidFill>
                          <a:latin typeface="HSE Sans"/>
                          <a:ea typeface="HSE Sans"/>
                          <a:cs typeface="HSE Sans"/>
                        </a:rPr>
                        <a:t>Добавка к прогнозу</a:t>
                      </a:r>
                    </a:p>
                  </a:txBody>
                  <a:tcPr anchor="ctr">
                    <a:solidFill>
                      <a:srgbClr val="102D69"/>
                    </a:solidFill>
                  </a:tcPr>
                </a:tc>
                <a:extLst>
                  <a:ext uri="{0D108BD9-81ED-4DB2-BD59-A6C34878D82A}">
                    <a16:rowId xmlns:a16="http://schemas.microsoft.com/office/drawing/2014/main" val="10000"/>
                  </a:ext>
                </a:extLst>
              </a:tr>
              <a:tr h="476250">
                <a:tc>
                  <a:txBody>
                    <a:bodyPr/>
                    <a:lstStyle/>
                    <a:p>
                      <a:r>
                        <a:rPr sz="1950" b="0">
                          <a:solidFill>
                            <a:srgbClr val="102D69"/>
                          </a:solidFill>
                          <a:latin typeface="HSE Sans"/>
                          <a:ea typeface="HSE Sans"/>
                          <a:cs typeface="HSE Sans"/>
                        </a:rPr>
                        <a:t>Север</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0 минут</a:t>
                      </a:r>
                    </a:p>
                  </a:txBody>
                  <a:tcPr anchor="ctr">
                    <a:solidFill>
                      <a:srgbClr val="EFF4FB"/>
                    </a:solidFill>
                  </a:tcPr>
                </a:tc>
                <a:extLst>
                  <a:ext uri="{0D108BD9-81ED-4DB2-BD59-A6C34878D82A}">
                    <a16:rowId xmlns:a16="http://schemas.microsoft.com/office/drawing/2014/main" val="10001"/>
                  </a:ext>
                </a:extLst>
              </a:tr>
              <a:tr h="476250">
                <a:tc>
                  <a:txBody>
                    <a:bodyPr/>
                    <a:lstStyle/>
                    <a:p>
                      <a:r>
                        <a:rPr sz="1950" b="0">
                          <a:solidFill>
                            <a:srgbClr val="102D69"/>
                          </a:solidFill>
                          <a:latin typeface="HSE Sans"/>
                          <a:ea typeface="HSE Sans"/>
                          <a:cs typeface="HSE Sans"/>
                        </a:rPr>
                        <a:t>Центр</a:t>
                      </a:r>
                    </a:p>
                  </a:txBody>
                  <a:tcPr anchor="ctr">
                    <a:solidFill>
                      <a:srgbClr val="FFFFFF"/>
                    </a:solidFill>
                  </a:tcPr>
                </a:tc>
                <a:tc>
                  <a:txBody>
                    <a:bodyPr/>
                    <a:lstStyle/>
                    <a:p>
                      <a:r>
                        <a:rPr sz="1950" b="0">
                          <a:solidFill>
                            <a:srgbClr val="102D69"/>
                          </a:solidFill>
                          <a:latin typeface="HSE Sans"/>
                          <a:ea typeface="HSE Sans"/>
                          <a:cs typeface="HSE Sans"/>
                        </a:rPr>
                        <a:t>1</a:t>
                      </a:r>
                    </a:p>
                  </a:txBody>
                  <a:tcPr anchor="ctr">
                    <a:solidFill>
                      <a:srgbClr val="FFFFFF"/>
                    </a:solidFill>
                  </a:tcPr>
                </a:tc>
                <a:tc>
                  <a:txBody>
                    <a:bodyPr/>
                    <a:lstStyle/>
                    <a:p>
                      <a:r>
                        <a:rPr sz="1950" b="0">
                          <a:solidFill>
                            <a:srgbClr val="102D69"/>
                          </a:solidFill>
                          <a:latin typeface="HSE Sans"/>
                          <a:ea typeface="HSE Sans"/>
                          <a:cs typeface="HSE Sans"/>
                        </a:rPr>
                        <a:t>0</a:t>
                      </a:r>
                    </a:p>
                  </a:txBody>
                  <a:tcPr anchor="ctr">
                    <a:solidFill>
                      <a:srgbClr val="FFFFFF"/>
                    </a:solidFill>
                  </a:tcPr>
                </a:tc>
                <a:tc>
                  <a:txBody>
                    <a:bodyPr/>
                    <a:lstStyle/>
                    <a:p>
                      <a:r>
                        <a:rPr sz="1950" b="0">
                          <a:solidFill>
                            <a:srgbClr val="102D69"/>
                          </a:solidFill>
                          <a:latin typeface="HSE Sans"/>
                          <a:ea typeface="HSE Sans"/>
                          <a:cs typeface="HSE Sans"/>
                        </a:rPr>
                        <a:t>3 минуты</a:t>
                      </a:r>
                    </a:p>
                  </a:txBody>
                  <a:tcPr anchor="ctr">
                    <a:solidFill>
                      <a:srgbClr val="FFFFFF"/>
                    </a:solidFill>
                  </a:tcPr>
                </a:tc>
                <a:extLst>
                  <a:ext uri="{0D108BD9-81ED-4DB2-BD59-A6C34878D82A}">
                    <a16:rowId xmlns:a16="http://schemas.microsoft.com/office/drawing/2014/main" val="10002"/>
                  </a:ext>
                </a:extLst>
              </a:tr>
              <a:tr h="476250">
                <a:tc>
                  <a:txBody>
                    <a:bodyPr/>
                    <a:lstStyle/>
                    <a:p>
                      <a:r>
                        <a:rPr sz="1950" b="0">
                          <a:solidFill>
                            <a:srgbClr val="102D69"/>
                          </a:solidFill>
                          <a:latin typeface="HSE Sans"/>
                          <a:ea typeface="HSE Sans"/>
                          <a:cs typeface="HSE Sans"/>
                        </a:rPr>
                        <a:t>Юг</a:t>
                      </a:r>
                    </a:p>
                  </a:txBody>
                  <a:tcPr anchor="ctr">
                    <a:solidFill>
                      <a:srgbClr val="EFF4FB"/>
                    </a:solidFill>
                  </a:tcPr>
                </a:tc>
                <a:tc>
                  <a:txBody>
                    <a:bodyPr/>
                    <a:lstStyle/>
                    <a:p>
                      <a:r>
                        <a:rPr sz="1950" b="0">
                          <a:solidFill>
                            <a:srgbClr val="102D69"/>
                          </a:solidFill>
                          <a:latin typeface="HSE Sans"/>
                          <a:ea typeface="HSE Sans"/>
                          <a:cs typeface="HSE Sans"/>
                        </a:rPr>
                        <a:t>0</a:t>
                      </a:r>
                    </a:p>
                  </a:txBody>
                  <a:tcPr anchor="ctr">
                    <a:solidFill>
                      <a:srgbClr val="EFF4FB"/>
                    </a:solidFill>
                  </a:tcPr>
                </a:tc>
                <a:tc>
                  <a:txBody>
                    <a:bodyPr/>
                    <a:lstStyle/>
                    <a:p>
                      <a:r>
                        <a:rPr sz="1950" b="0">
                          <a:solidFill>
                            <a:srgbClr val="102D69"/>
                          </a:solidFill>
                          <a:latin typeface="HSE Sans"/>
                          <a:ea typeface="HSE Sans"/>
                          <a:cs typeface="HSE Sans"/>
                        </a:rPr>
                        <a:t>1</a:t>
                      </a:r>
                    </a:p>
                  </a:txBody>
                  <a:tcPr anchor="ctr">
                    <a:solidFill>
                      <a:srgbClr val="EFF4FB"/>
                    </a:solidFill>
                  </a:tcPr>
                </a:tc>
                <a:tc>
                  <a:txBody>
                    <a:bodyPr/>
                    <a:lstStyle/>
                    <a:p>
                      <a:r>
                        <a:rPr sz="1950" b="0">
                          <a:solidFill>
                            <a:srgbClr val="102D69"/>
                          </a:solidFill>
                          <a:latin typeface="HSE Sans"/>
                          <a:ea typeface="HSE Sans"/>
                          <a:cs typeface="HSE Sans"/>
                        </a:rPr>
                        <a:t>7 минут</a:t>
                      </a:r>
                    </a:p>
                  </a:txBody>
                  <a:tcPr anchor="ctr">
                    <a:solidFill>
                      <a:srgbClr val="EFF4FB"/>
                    </a:solidFill>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a14="http://schemas.microsoft.com/office/drawing/2010/main" Requires="a14">
          <p:sp>
            <p:nvSpPr>
              <p:cNvPr id="9" name="l02-content-96">
                <a:extLst>
                  <a:ext uri="{FF2B5EF4-FFF2-40B4-BE49-F238E27FC236}">
                    <a16:creationId xmlns:a16="http://schemas.microsoft.com/office/drawing/2014/main" id="{E8C5E1CB-3663-4439-89EB-3BF8B32A1B36}"/>
                  </a:ext>
                </a:extLst>
              </p:cNvPr>
              <p:cNvSpPr>
                <a:spLocks noGrp="1"/>
              </p:cNvSpPr>
              <p:nvPr/>
            </p:nvSpPr>
            <p:spPr>
              <a:xfrm>
                <a:off x="590550" y="5562600"/>
                <a:ext cx="11029950" cy="704850"/>
              </a:xfrm>
              <a:prstGeom prst="rect">
                <a:avLst/>
              </a:prstGeom>
              <a:noFill/>
              <a:ln w="0">
                <a:noFill/>
              </a:ln>
            </p:spPr>
            <p:txBody>
              <a:bodyPr wrap="square" lIns="0" tIns="0" rIns="0" bIns="0" anchor="t">
                <a:noAutofit/>
              </a:bodyPr>
              <a:lstStyle/>
              <a:p>
                <a:pPr algn="ctr">
                  <a:defRPr sz="27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)=12+4</m:t>
                      </m:r>
                      <m:r>
                        <a:rPr>
                          <a:latin typeface="Cambria Math" panose="02040503050406030204" pitchFamily="18" charset="0"/>
                        </a:rPr>
                        <m:t>𝑠</m:t>
                      </m:r>
                      <m:r>
                        <a:rPr>
                          <a:latin typeface="Cambria Math" panose="02040503050406030204" pitchFamily="18" charset="0"/>
                        </a:rPr>
                        <m:t>+3</m:t>
                      </m:r>
                      <m:sSub>
                        <m:sSubPr>
                          <m:ctrlPr>
                            <a:rPr i="1">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2</m:t>
                          </m:r>
                        </m:sub>
                      </m:sSub>
                      <m:r>
                        <a:rPr>
                          <a:latin typeface="Cambria Math" panose="02040503050406030204" pitchFamily="18" charset="0"/>
                        </a:rPr>
                        <m:t>+7</m:t>
                      </m:r>
                      <m:sSub>
                        <m:sSubPr>
                          <m:ctrlPr>
                            <a:rPr i="1">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3</m:t>
                          </m:r>
                        </m:sub>
                      </m:sSub>
                    </m:oMath>
                  </m:oMathPara>
                </a14:m>
                <a:endParaRPr/>
              </a:p>
            </p:txBody>
          </p:sp>
        </mc:Choice>
        <mc:Fallback>
          <p:sp>
            <p:nvSpPr>
              <p:cNvPr id="9" name="l02-content-96">
                <a:extLst>
                  <a:ext uri="{FF2B5EF4-FFF2-40B4-BE49-F238E27FC236}">
                    <a16:creationId xmlns:a16="http://schemas.microsoft.com/office/drawing/2014/main" id="{E8C5E1CB-3663-4439-89EB-3BF8B32A1B36}"/>
                  </a:ext>
                </a:extLst>
              </p:cNvPr>
              <p:cNvSpPr>
                <a:spLocks noGrp="1" noRot="1" noChangeAspect="1" noMove="1" noResize="1" noEditPoints="1" noAdjustHandles="1" noChangeArrowheads="1" noChangeShapeType="1" noTextEdit="1"/>
              </p:cNvSpPr>
              <p:nvPr/>
            </p:nvSpPr>
            <p:spPr>
              <a:xfrm>
                <a:off x="590550" y="5562600"/>
                <a:ext cx="11029950" cy="704850"/>
              </a:xfrm>
              <a:prstGeom prst="rect">
                <a:avLst/>
              </a:prstGeom>
              <a:blipFill>
                <a:blip r:embed="rId3"/>
                <a:stretch>
                  <a:fillRect t="-1786"/>
                </a:stretch>
              </a:blipFill>
              <a:ln w="0">
                <a:noFill/>
              </a:ln>
            </p:spPr>
            <p:txBody>
              <a:bodyPr/>
              <a:lstStyle/>
              <a:p>
                <a:r>
                  <a:rPr lang="ru-RU">
                    <a:noFill/>
                  </a:rPr>
                  <a:t> </a:t>
                </a:r>
              </a:p>
            </p:txBody>
          </p:sp>
        </mc:Fallback>
      </mc:AlternateContent>
      <p:sp>
        <p:nvSpPr>
          <p:cNvPr id="10" name="l02-content-97">
            <a:extLst>
              <a:ext uri="{FF2B5EF4-FFF2-40B4-BE49-F238E27FC236}">
                <a16:creationId xmlns:a16="http://schemas.microsoft.com/office/drawing/2014/main" id="{07D1FAEC-BFF8-493E-A2C0-95D0290E45C6}"/>
              </a:ext>
            </a:extLst>
          </p:cNvPr>
          <p:cNvSpPr>
            <a:spLocks noGrp="1"/>
          </p:cNvSpPr>
          <p:nvPr/>
        </p:nvSpPr>
        <p:spPr>
          <a:xfrm>
            <a:off x="590550" y="63341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Север — базовая категория. При одинаковом расстоянии Центр добавляет 3 минуты, Юг — 7.</a:t>
            </a:r>
          </a:p>
        </p:txBody>
      </p:sp>
    </p:spTree>
    <p:extLst>
      <p:ext uri="{BB962C8B-B14F-4D97-AF65-F5344CB8AC3E}">
        <p14:creationId xmlns:p14="http://schemas.microsoft.com/office/powerpoint/2010/main" val="140984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Почему достаточно k − 1 индикаторов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98">
            <a:extLst>
              <a:ext uri="{FF2B5EF4-FFF2-40B4-BE49-F238E27FC236}">
                <a16:creationId xmlns:a16="http://schemas.microsoft.com/office/drawing/2014/main" id="{AB36563D-520E-46E6-9187-884E138B8BC3}"/>
              </a:ext>
            </a:extLst>
          </p:cNvPr>
          <p:cNvSpPr>
            <a:spLocks noGrp="1"/>
          </p:cNvSpPr>
          <p:nvPr/>
        </p:nvSpPr>
        <p:spPr>
          <a:xfrm>
            <a:off x="590550" y="2238375"/>
            <a:ext cx="11029950" cy="9429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Для трёх районов полный one-hot дал бы три столбца.</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каждой строке ровно одна единица:</a:t>
            </a:r>
          </a:p>
        </p:txBody>
      </p:sp>
      <mc:AlternateContent xmlns:mc="http://schemas.openxmlformats.org/markup-compatibility/2006">
        <mc:Choice xmlns:a14="http://schemas.microsoft.com/office/drawing/2010/main" Requires="a14">
          <p:sp>
            <p:nvSpPr>
              <p:cNvPr id="8" name="l02-content-99">
                <a:extLst>
                  <a:ext uri="{FF2B5EF4-FFF2-40B4-BE49-F238E27FC236}">
                    <a16:creationId xmlns:a16="http://schemas.microsoft.com/office/drawing/2014/main" id="{58CAA2FC-B2DA-46E0-B1FC-05BE3A056AE6}"/>
                  </a:ext>
                </a:extLst>
              </p:cNvPr>
              <p:cNvSpPr>
                <a:spLocks noGrp="1"/>
              </p:cNvSpPr>
              <p:nvPr/>
            </p:nvSpPr>
            <p:spPr>
              <a:xfrm>
                <a:off x="590550" y="3371850"/>
                <a:ext cx="11029950" cy="752475"/>
              </a:xfrm>
              <a:prstGeom prst="rect">
                <a:avLst/>
              </a:prstGeom>
              <a:noFill/>
              <a:ln w="0">
                <a:noFill/>
              </a:ln>
            </p:spPr>
            <p:txBody>
              <a:bodyPr wrap="square" lIns="0" tIns="0" rIns="0" bIns="0" anchor="t">
                <a:noAutofit/>
              </a:bodyPr>
              <a:lstStyle/>
              <a:p>
                <a:pPr algn="ctr">
                  <a:defRPr sz="255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𝑏</m:t>
                          </m:r>
                        </m:e>
                        <m:sub>
                          <m:r>
                            <m:rPr>
                              <m:nor/>
                            </m:rPr>
                            <a:rPr/>
                            <m:t>Север</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𝑏</m:t>
                          </m:r>
                        </m:e>
                        <m:sub>
                          <m:r>
                            <m:rPr>
                              <m:nor/>
                            </m:rPr>
                            <a:rPr/>
                            <m:t>Центр</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𝑏</m:t>
                          </m:r>
                        </m:e>
                        <m:sub>
                          <m:r>
                            <m:rPr>
                              <m:nor/>
                            </m:rPr>
                            <a:rPr/>
                            <m:t>Юг</m:t>
                          </m:r>
                        </m:sub>
                      </m:sSub>
                      <m:r>
                        <a:rPr>
                          <a:latin typeface="Cambria Math" panose="02040503050406030204" pitchFamily="18" charset="0"/>
                        </a:rPr>
                        <m:t>=1</m:t>
                      </m:r>
                    </m:oMath>
                  </m:oMathPara>
                </a14:m>
                <a:endParaRPr/>
              </a:p>
            </p:txBody>
          </p:sp>
        </mc:Choice>
        <mc:Fallback>
          <p:sp>
            <p:nvSpPr>
              <p:cNvPr id="8" name="l02-content-99">
                <a:extLst>
                  <a:ext uri="{FF2B5EF4-FFF2-40B4-BE49-F238E27FC236}">
                    <a16:creationId xmlns:a16="http://schemas.microsoft.com/office/drawing/2014/main" id="{58CAA2FC-B2DA-46E0-B1FC-05BE3A056AE6}"/>
                  </a:ext>
                </a:extLst>
              </p:cNvPr>
              <p:cNvSpPr>
                <a:spLocks noGrp="1" noRot="1" noChangeAspect="1" noMove="1" noResize="1" noEditPoints="1" noAdjustHandles="1" noChangeArrowheads="1" noChangeShapeType="1" noTextEdit="1"/>
              </p:cNvSpPr>
              <p:nvPr/>
            </p:nvSpPr>
            <p:spPr>
              <a:xfrm>
                <a:off x="590550" y="3371850"/>
                <a:ext cx="11029950" cy="752475"/>
              </a:xfrm>
              <a:prstGeom prst="rect">
                <a:avLst/>
              </a:prstGeom>
              <a:blipFill>
                <a:blip r:embed="rId3"/>
                <a:stretch>
                  <a:fillRect/>
                </a:stretch>
              </a:blipFill>
              <a:ln w="0">
                <a:noFill/>
              </a:ln>
            </p:spPr>
            <p:txBody>
              <a:bodyPr/>
              <a:lstStyle/>
              <a:p>
                <a:r>
                  <a:rPr lang="ru-RU">
                    <a:noFill/>
                  </a:rPr>
                  <a:t> </a:t>
                </a:r>
              </a:p>
            </p:txBody>
          </p:sp>
        </mc:Fallback>
      </mc:AlternateContent>
      <p:sp>
        <p:nvSpPr>
          <p:cNvPr id="9" name="l02-content-100">
            <a:extLst>
              <a:ext uri="{FF2B5EF4-FFF2-40B4-BE49-F238E27FC236}">
                <a16:creationId xmlns:a16="http://schemas.microsoft.com/office/drawing/2014/main" id="{78AB3F1D-6002-4391-8371-89305207D687}"/>
              </a:ext>
            </a:extLst>
          </p:cNvPr>
          <p:cNvSpPr>
            <a:spLocks noGrp="1"/>
          </p:cNvSpPr>
          <p:nvPr/>
        </p:nvSpPr>
        <p:spPr>
          <a:xfrm>
            <a:off x="590550" y="4362450"/>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Но столбец единиц уже есть в A для свободного члена.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Получается зависимость столбцов, как в примере с километрами и метрами.</a:t>
            </a:r>
          </a:p>
        </p:txBody>
      </p:sp>
      <p:sp>
        <p:nvSpPr>
          <p:cNvPr id="10" name="l02-content-101">
            <a:extLst>
              <a:ext uri="{FF2B5EF4-FFF2-40B4-BE49-F238E27FC236}">
                <a16:creationId xmlns:a16="http://schemas.microsoft.com/office/drawing/2014/main" id="{E5A06504-012E-4A1D-B53A-ED64A883B09F}"/>
              </a:ext>
            </a:extLst>
          </p:cNvPr>
          <p:cNvSpPr>
            <a:spLocks noGrp="1"/>
          </p:cNvSpPr>
          <p:nvPr/>
        </p:nvSpPr>
        <p:spPr>
          <a:xfrm>
            <a:off x="590550" y="5619750"/>
            <a:ext cx="11029950" cy="8667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Убираем индикатор Севера. Его легко восстановить: Север — это (0, 0).</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Для k категорий оставляем k − 1 индикаторов и свободный член.</a:t>
            </a:r>
          </a:p>
        </p:txBody>
      </p:sp>
    </p:spTree>
    <p:extLst>
      <p:ext uri="{BB962C8B-B14F-4D97-AF65-F5344CB8AC3E}">
        <p14:creationId xmlns:p14="http://schemas.microsoft.com/office/powerpoint/2010/main" val="140984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Взаимодействие: разная цена километра</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102">
            <a:extLst>
              <a:ext uri="{FF2B5EF4-FFF2-40B4-BE49-F238E27FC236}">
                <a16:creationId xmlns:a16="http://schemas.microsoft.com/office/drawing/2014/main" id="{DE9A129C-73A5-4699-BB53-665E8F9ABF92}"/>
              </a:ext>
            </a:extLst>
          </p:cNvPr>
          <p:cNvSpPr>
            <a:spLocks noGrp="1"/>
          </p:cNvSpPr>
          <p:nvPr/>
        </p:nvSpPr>
        <p:spPr>
          <a:xfrm>
            <a:off x="590550" y="2238375"/>
            <a:ext cx="11029950" cy="9429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Один индикатор района меняет только добавку ко времени.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Чтобы километр в Центре стоил больше минут, добавим произведение s · b.</a:t>
            </a:r>
          </a:p>
        </p:txBody>
      </p:sp>
      <mc:AlternateContent xmlns:mc="http://schemas.openxmlformats.org/markup-compatibility/2006">
        <mc:Choice xmlns:a14="http://schemas.microsoft.com/office/drawing/2010/main" Requires="a14">
          <p:sp>
            <p:nvSpPr>
              <p:cNvPr id="8" name="l02-content-103">
                <a:extLst>
                  <a:ext uri="{FF2B5EF4-FFF2-40B4-BE49-F238E27FC236}">
                    <a16:creationId xmlns:a16="http://schemas.microsoft.com/office/drawing/2014/main" id="{7C3919DE-7084-4FA6-BA6F-2E7F7C3D09BB}"/>
                  </a:ext>
                </a:extLst>
              </p:cNvPr>
              <p:cNvSpPr>
                <a:spLocks noGrp="1"/>
              </p:cNvSpPr>
              <p:nvPr/>
            </p:nvSpPr>
            <p:spPr>
              <a:xfrm>
                <a:off x="590550" y="3381375"/>
                <a:ext cx="11029950" cy="733425"/>
              </a:xfrm>
              <a:prstGeom prst="rect">
                <a:avLst/>
              </a:prstGeom>
              <a:noFill/>
              <a:ln w="0">
                <a:noFill/>
              </a:ln>
            </p:spPr>
            <p:txBody>
              <a:bodyPr wrap="square" lIns="0" tIns="0" rIns="0" bIns="0" anchor="t">
                <a:noAutofit/>
              </a:bodyPr>
              <a:lstStyle/>
              <a:p>
                <a:pPr algn="ctr">
                  <a:defRPr sz="277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)=12+4</m:t>
                      </m:r>
                      <m:r>
                        <a:rPr>
                          <a:latin typeface="Cambria Math" panose="02040503050406030204" pitchFamily="18" charset="0"/>
                        </a:rPr>
                        <m:t>𝑠</m:t>
                      </m:r>
                      <m:r>
                        <a:rPr>
                          <a:latin typeface="Cambria Math" panose="02040503050406030204" pitchFamily="18" charset="0"/>
                        </a:rPr>
                        <m:t>+3</m:t>
                      </m:r>
                      <m:r>
                        <a:rPr>
                          <a:latin typeface="Cambria Math" panose="02040503050406030204" pitchFamily="18" charset="0"/>
                        </a:rPr>
                        <m:t>𝑏</m:t>
                      </m:r>
                      <m:r>
                        <a:rPr>
                          <a:latin typeface="Cambria Math" panose="02040503050406030204" pitchFamily="18" charset="0"/>
                        </a:rPr>
                        <m:t>+2</m:t>
                      </m:r>
                      <m:r>
                        <a:rPr>
                          <a:latin typeface="Cambria Math" panose="02040503050406030204" pitchFamily="18" charset="0"/>
                        </a:rPr>
                        <m:t>𝑠𝑏</m:t>
                      </m:r>
                    </m:oMath>
                  </m:oMathPara>
                </a14:m>
                <a:endParaRPr/>
              </a:p>
            </p:txBody>
          </p:sp>
        </mc:Choice>
        <mc:Fallback>
          <p:sp>
            <p:nvSpPr>
              <p:cNvPr id="8" name="l02-content-103">
                <a:extLst>
                  <a:ext uri="{FF2B5EF4-FFF2-40B4-BE49-F238E27FC236}">
                    <a16:creationId xmlns:a16="http://schemas.microsoft.com/office/drawing/2014/main" id="{7C3919DE-7084-4FA6-BA6F-2E7F7C3D09BB}"/>
                  </a:ext>
                </a:extLst>
              </p:cNvPr>
              <p:cNvSpPr>
                <a:spLocks noGrp="1" noRot="1" noChangeAspect="1" noMove="1" noResize="1" noEditPoints="1" noAdjustHandles="1" noChangeArrowheads="1" noChangeShapeType="1" noTextEdit="1"/>
              </p:cNvSpPr>
              <p:nvPr/>
            </p:nvSpPr>
            <p:spPr>
              <a:xfrm>
                <a:off x="590550" y="3381375"/>
                <a:ext cx="11029950" cy="733425"/>
              </a:xfrm>
              <a:prstGeom prst="rect">
                <a:avLst/>
              </a:prstGeom>
              <a:blipFill>
                <a:blip r:embed="rId3"/>
                <a:stretch>
                  <a:fillRect t="-1724"/>
                </a:stretch>
              </a:blipFill>
              <a:ln w="0">
                <a:noFill/>
              </a:ln>
            </p:spPr>
            <p:txBody>
              <a:bodyPr/>
              <a:lstStyle/>
              <a:p>
                <a:r>
                  <a:rPr lang="ru-RU">
                    <a:noFill/>
                  </a:rPr>
                  <a:t> </a:t>
                </a:r>
              </a:p>
            </p:txBody>
          </p:sp>
        </mc:Fallback>
      </mc:AlternateContent>
      <p:graphicFrame>
        <p:nvGraphicFramePr>
          <p:cNvPr id="18" name="Таблица 17"/>
          <p:cNvGraphicFramePr/>
          <p:nvPr/>
        </p:nvGraphicFramePr>
        <p:xfrm>
          <a:off x="590550" y="4429125"/>
          <a:ext cx="11029950" cy="1676400"/>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2838450">
                  <a:extLst>
                    <a:ext uri="{9D8B030D-6E8A-4147-A177-3AD203B41FA5}">
                      <a16:colId xmlns:a16="http://schemas.microsoft.com/office/drawing/2014/main" val="20003"/>
                    </a:ext>
                  </a:extLst>
                </a:gridCol>
              </a:tblGrid>
              <a:tr h="558800">
                <a:tc>
                  <a:txBody>
                    <a:bodyPr/>
                    <a:lstStyle/>
                    <a:p>
                      <a:r>
                        <a:rPr sz="1950" b="1">
                          <a:solidFill>
                            <a:srgbClr val="FFFFFF"/>
                          </a:solidFill>
                          <a:latin typeface="HSE Sans"/>
                          <a:ea typeface="HSE Sans"/>
                          <a:cs typeface="HSE Sans"/>
                        </a:rPr>
                        <a:t>Район</a:t>
                      </a:r>
                    </a:p>
                  </a:txBody>
                  <a:tcPr anchor="ctr">
                    <a:solidFill>
                      <a:srgbClr val="102D69"/>
                    </a:solidFill>
                  </a:tcPr>
                </a:tc>
                <a:tc>
                  <a:txBody>
                    <a:bodyPr/>
                    <a:lstStyle/>
                    <a:p>
                      <a:r>
                        <a:rPr sz="1950" b="1">
                          <a:solidFill>
                            <a:srgbClr val="FFFFFF"/>
                          </a:solidFill>
                          <a:latin typeface="HSE Sans"/>
                          <a:ea typeface="HSE Sans"/>
                          <a:cs typeface="HSE Sans"/>
                        </a:rPr>
                        <a:t>Подставляем b</a:t>
                      </a:r>
                    </a:p>
                  </a:txBody>
                  <a:tcPr anchor="ctr">
                    <a:solidFill>
                      <a:srgbClr val="102D69"/>
                    </a:solidFill>
                  </a:tcPr>
                </a:tc>
                <a:tc>
                  <a:txBody>
                    <a:bodyPr/>
                    <a:lstStyle/>
                    <a:p>
                      <a:r>
                        <a:rPr sz="1950" b="1">
                          <a:solidFill>
                            <a:srgbClr val="FFFFFF"/>
                          </a:solidFill>
                          <a:latin typeface="HSE Sans"/>
                          <a:ea typeface="HSE Sans"/>
                          <a:cs typeface="HSE Sans"/>
                        </a:rPr>
                        <a:t>Модель</a:t>
                      </a:r>
                    </a:p>
                  </a:txBody>
                  <a:tcPr anchor="ctr">
                    <a:solidFill>
                      <a:srgbClr val="102D69"/>
                    </a:solidFill>
                  </a:tcPr>
                </a:tc>
                <a:tc>
                  <a:txBody>
                    <a:bodyPr/>
                    <a:lstStyle/>
                    <a:p>
                      <a:r>
                        <a:rPr sz="1950" b="1">
                          <a:solidFill>
                            <a:srgbClr val="FFFFFF"/>
                          </a:solidFill>
                          <a:latin typeface="HSE Sans"/>
                          <a:ea typeface="HSE Sans"/>
                          <a:cs typeface="HSE Sans"/>
                        </a:rPr>
                        <a:t>Ещё 1 км</a:t>
                      </a:r>
                    </a:p>
                  </a:txBody>
                  <a:tcPr anchor="ctr">
                    <a:solidFill>
                      <a:srgbClr val="102D69"/>
                    </a:solidFill>
                  </a:tcPr>
                </a:tc>
                <a:extLst>
                  <a:ext uri="{0D108BD9-81ED-4DB2-BD59-A6C34878D82A}">
                    <a16:rowId xmlns:a16="http://schemas.microsoft.com/office/drawing/2014/main" val="10000"/>
                  </a:ext>
                </a:extLst>
              </a:tr>
              <a:tr h="558800">
                <a:tc>
                  <a:txBody>
                    <a:bodyPr/>
                    <a:lstStyle/>
                    <a:p>
                      <a:r>
                        <a:rPr sz="1950" b="0">
                          <a:solidFill>
                            <a:srgbClr val="102D69"/>
                          </a:solidFill>
                          <a:latin typeface="HSE Sans"/>
                          <a:ea typeface="HSE Sans"/>
                          <a:cs typeface="HSE Sans"/>
                        </a:rPr>
                        <a:t>Север</a:t>
                      </a:r>
                    </a:p>
                  </a:txBody>
                  <a:tcPr anchor="ctr">
                    <a:solidFill>
                      <a:srgbClr val="EFF4FB"/>
                    </a:solidFill>
                  </a:tcPr>
                </a:tc>
                <a:tc>
                  <a:txBody>
                    <a:bodyPr/>
                    <a:lstStyle/>
                    <a:p>
                      <a:r>
                        <a:rPr sz="1950" b="0">
                          <a:solidFill>
                            <a:srgbClr val="102D69"/>
                          </a:solidFill>
                          <a:latin typeface="HSE Sans"/>
                          <a:ea typeface="HSE Sans"/>
                          <a:cs typeface="HSE Sans"/>
                        </a:rPr>
                        <a:t>b = 0</a:t>
                      </a:r>
                    </a:p>
                  </a:txBody>
                  <a:tcPr anchor="ctr">
                    <a:solidFill>
                      <a:srgbClr val="EFF4FB"/>
                    </a:solidFill>
                  </a:tcPr>
                </a:tc>
                <a:tc>
                  <a:txBody>
                    <a:bodyPr/>
                    <a:lstStyle/>
                    <a:p>
                      <a:r>
                        <a:rPr sz="1950" b="0">
                          <a:solidFill>
                            <a:srgbClr val="102D69"/>
                          </a:solidFill>
                          <a:latin typeface="HSE Sans"/>
                          <a:ea typeface="HSE Sans"/>
                          <a:cs typeface="HSE Sans"/>
                        </a:rPr>
                        <a:t>12 + 4s</a:t>
                      </a:r>
                    </a:p>
                  </a:txBody>
                  <a:tcPr anchor="ctr">
                    <a:solidFill>
                      <a:srgbClr val="EFF4FB"/>
                    </a:solidFill>
                  </a:tcPr>
                </a:tc>
                <a:tc>
                  <a:txBody>
                    <a:bodyPr/>
                    <a:lstStyle/>
                    <a:p>
                      <a:r>
                        <a:rPr sz="1950" b="0">
                          <a:solidFill>
                            <a:srgbClr val="102D69"/>
                          </a:solidFill>
                          <a:latin typeface="HSE Sans"/>
                          <a:ea typeface="HSE Sans"/>
                          <a:cs typeface="HSE Sans"/>
                        </a:rPr>
                        <a:t>+4 мин</a:t>
                      </a:r>
                    </a:p>
                  </a:txBody>
                  <a:tcPr anchor="ctr">
                    <a:solidFill>
                      <a:srgbClr val="EFF4FB"/>
                    </a:solidFill>
                  </a:tcPr>
                </a:tc>
                <a:extLst>
                  <a:ext uri="{0D108BD9-81ED-4DB2-BD59-A6C34878D82A}">
                    <a16:rowId xmlns:a16="http://schemas.microsoft.com/office/drawing/2014/main" val="10001"/>
                  </a:ext>
                </a:extLst>
              </a:tr>
              <a:tr h="558800">
                <a:tc>
                  <a:txBody>
                    <a:bodyPr/>
                    <a:lstStyle/>
                    <a:p>
                      <a:r>
                        <a:rPr sz="1950" b="0">
                          <a:solidFill>
                            <a:srgbClr val="102D69"/>
                          </a:solidFill>
                          <a:latin typeface="HSE Sans"/>
                          <a:ea typeface="HSE Sans"/>
                          <a:cs typeface="HSE Sans"/>
                        </a:rPr>
                        <a:t>Центр</a:t>
                      </a:r>
                    </a:p>
                  </a:txBody>
                  <a:tcPr anchor="ctr">
                    <a:solidFill>
                      <a:srgbClr val="FFFFFF"/>
                    </a:solidFill>
                  </a:tcPr>
                </a:tc>
                <a:tc>
                  <a:txBody>
                    <a:bodyPr/>
                    <a:lstStyle/>
                    <a:p>
                      <a:r>
                        <a:rPr sz="1950" b="0">
                          <a:solidFill>
                            <a:srgbClr val="102D69"/>
                          </a:solidFill>
                          <a:latin typeface="HSE Sans"/>
                          <a:ea typeface="HSE Sans"/>
                          <a:cs typeface="HSE Sans"/>
                        </a:rPr>
                        <a:t>b = 1</a:t>
                      </a:r>
                    </a:p>
                  </a:txBody>
                  <a:tcPr anchor="ctr">
                    <a:solidFill>
                      <a:srgbClr val="FFFFFF"/>
                    </a:solidFill>
                  </a:tcPr>
                </a:tc>
                <a:tc>
                  <a:txBody>
                    <a:bodyPr/>
                    <a:lstStyle/>
                    <a:p>
                      <a:r>
                        <a:rPr sz="1950" b="0">
                          <a:solidFill>
                            <a:srgbClr val="102D69"/>
                          </a:solidFill>
                          <a:latin typeface="HSE Sans"/>
                          <a:ea typeface="HSE Sans"/>
                          <a:cs typeface="HSE Sans"/>
                        </a:rPr>
                        <a:t>15 + 6s</a:t>
                      </a:r>
                    </a:p>
                  </a:txBody>
                  <a:tcPr anchor="ctr">
                    <a:solidFill>
                      <a:srgbClr val="FFFFFF"/>
                    </a:solidFill>
                  </a:tcPr>
                </a:tc>
                <a:tc>
                  <a:txBody>
                    <a:bodyPr/>
                    <a:lstStyle/>
                    <a:p>
                      <a:r>
                        <a:rPr sz="1950" b="0">
                          <a:solidFill>
                            <a:srgbClr val="102D69"/>
                          </a:solidFill>
                          <a:latin typeface="HSE Sans"/>
                          <a:ea typeface="HSE Sans"/>
                          <a:cs typeface="HSE Sans"/>
                        </a:rPr>
                        <a:t>+6 мин</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0" name="l02-content-104">
            <a:extLst>
              <a:ext uri="{FF2B5EF4-FFF2-40B4-BE49-F238E27FC236}">
                <a16:creationId xmlns:a16="http://schemas.microsoft.com/office/drawing/2014/main" id="{AA3ADD87-4C9A-4D74-9213-6F7B8588FBD0}"/>
              </a:ext>
            </a:extLst>
          </p:cNvPr>
          <p:cNvSpPr>
            <a:spLocks noGrp="1"/>
          </p:cNvSpPr>
          <p:nvPr/>
        </p:nvSpPr>
        <p:spPr>
          <a:xfrm>
            <a:off x="590550" y="6334125"/>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s — расстояние, b — индикатор Центра. Признак s · b позволяет наклону зависеть от района.</a:t>
            </a:r>
          </a:p>
        </p:txBody>
      </p:sp>
    </p:spTree>
    <p:extLst>
      <p:ext uri="{BB962C8B-B14F-4D97-AF65-F5344CB8AC3E}">
        <p14:creationId xmlns:p14="http://schemas.microsoft.com/office/powerpoint/2010/main" val="14098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Интервальные признаки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sp>
        <p:nvSpPr>
          <p:cNvPr id="7" name="l02-content-105">
            <a:extLst>
              <a:ext uri="{FF2B5EF4-FFF2-40B4-BE49-F238E27FC236}">
                <a16:creationId xmlns:a16="http://schemas.microsoft.com/office/drawing/2014/main" id="{43DDA0FC-9B0A-4E11-99EC-1595419FBDA3}"/>
              </a:ext>
            </a:extLst>
          </p:cNvPr>
          <p:cNvSpPr>
            <a:spLocks noGrp="1"/>
          </p:cNvSpPr>
          <p:nvPr/>
        </p:nvSpPr>
        <p:spPr>
          <a:xfrm>
            <a:off x="590550" y="2238375"/>
            <a:ext cx="11029950" cy="10572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Связь времени доставки с текущей нагрузкой может быть нелинейной.</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Закодируем число активных заказов n через интервалы.</a:t>
            </a:r>
          </a:p>
        </p:txBody>
      </p:sp>
      <mc:AlternateContent xmlns:mc="http://schemas.openxmlformats.org/markup-compatibility/2006">
        <mc:Choice xmlns:a14="http://schemas.microsoft.com/office/drawing/2010/main" Requires="a14">
          <p:sp>
            <p:nvSpPr>
              <p:cNvPr id="8" name="l02-content-106">
                <a:extLst>
                  <a:ext uri="{FF2B5EF4-FFF2-40B4-BE49-F238E27FC236}">
                    <a16:creationId xmlns:a16="http://schemas.microsoft.com/office/drawing/2014/main" id="{143550AE-B27D-4470-9AEA-39E4C4A077C8}"/>
                  </a:ext>
                </a:extLst>
              </p:cNvPr>
              <p:cNvSpPr>
                <a:spLocks noGrp="1"/>
              </p:cNvSpPr>
              <p:nvPr/>
            </p:nvSpPr>
            <p:spPr>
              <a:xfrm>
                <a:off x="590550" y="3543300"/>
                <a:ext cx="11029950" cy="809625"/>
              </a:xfrm>
              <a:prstGeom prst="rect">
                <a:avLst/>
              </a:prstGeom>
              <a:noFill/>
              <a:ln w="0">
                <a:noFill/>
              </a:ln>
            </p:spPr>
            <p:txBody>
              <a:bodyPr wrap="square" lIns="0" tIns="0" rIns="0" bIns="0" anchor="t">
                <a:noAutofit/>
              </a:bodyPr>
              <a:lstStyle/>
              <a:p>
                <a:pPr algn="ctr">
                  <a:defRPr sz="27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𝑗</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m:t>
                      </m:r>
                      <m:sSub>
                        <m:sSubPr>
                          <m:ctrlPr>
                            <a:rPr i="1">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𝑗</m:t>
                          </m:r>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&lt;</m:t>
                      </m:r>
                      <m:sSub>
                        <m:sSubPr>
                          <m:ctrlPr>
                            <a:rPr i="1">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𝑗</m:t>
                          </m:r>
                        </m:sub>
                      </m:sSub>
                      <m:r>
                        <a:rPr>
                          <a:latin typeface="Cambria Math" panose="02040503050406030204" pitchFamily="18" charset="0"/>
                        </a:rPr>
                        <m:t>}</m:t>
                      </m:r>
                    </m:oMath>
                  </m:oMathPara>
                </a14:m>
                <a:endParaRPr/>
              </a:p>
            </p:txBody>
          </p:sp>
        </mc:Choice>
        <mc:Fallback>
          <p:sp>
            <p:nvSpPr>
              <p:cNvPr id="8" name="l02-content-106">
                <a:extLst>
                  <a:ext uri="{FF2B5EF4-FFF2-40B4-BE49-F238E27FC236}">
                    <a16:creationId xmlns:a16="http://schemas.microsoft.com/office/drawing/2014/main" id="{143550AE-B27D-4470-9AEA-39E4C4A077C8}"/>
                  </a:ext>
                </a:extLst>
              </p:cNvPr>
              <p:cNvSpPr>
                <a:spLocks noGrp="1" noRot="1" noChangeAspect="1" noMove="1" noResize="1" noEditPoints="1" noAdjustHandles="1" noChangeArrowheads="1" noChangeShapeType="1" noTextEdit="1"/>
              </p:cNvSpPr>
              <p:nvPr/>
            </p:nvSpPr>
            <p:spPr>
              <a:xfrm>
                <a:off x="590550" y="3543300"/>
                <a:ext cx="11029950" cy="809625"/>
              </a:xfrm>
              <a:prstGeom prst="rect">
                <a:avLst/>
              </a:prstGeom>
              <a:blipFill>
                <a:blip r:embed="rId3"/>
                <a:stretch>
                  <a:fillRect/>
                </a:stretch>
              </a:blipFill>
              <a:ln w="0">
                <a:noFill/>
              </a:ln>
            </p:spPr>
            <p:txBody>
              <a:bodyPr/>
              <a:lstStyle/>
              <a:p>
                <a:r>
                  <a:rPr lang="ru-RU">
                    <a:noFill/>
                  </a:rPr>
                  <a:t> </a:t>
                </a:r>
              </a:p>
            </p:txBody>
          </p:sp>
        </mc:Fallback>
      </mc:AlternateContent>
      <p:graphicFrame>
        <p:nvGraphicFramePr>
          <p:cNvPr id="18" name="Таблица 17"/>
          <p:cNvGraphicFramePr/>
          <p:nvPr/>
        </p:nvGraphicFramePr>
        <p:xfrm>
          <a:off x="590550" y="4714875"/>
          <a:ext cx="11029950" cy="1238250"/>
        </p:xfrm>
        <a:graphic>
          <a:graphicData uri="http://schemas.openxmlformats.org/drawingml/2006/table">
            <a:tbl>
              <a:tblPr firstRow="1"/>
              <a:tblGrid>
                <a:gridCol w="3771900">
                  <a:extLst>
                    <a:ext uri="{9D8B030D-6E8A-4147-A177-3AD203B41FA5}">
                      <a16:colId xmlns:a16="http://schemas.microsoft.com/office/drawing/2014/main" val="20000"/>
                    </a:ext>
                  </a:extLst>
                </a:gridCol>
                <a:gridCol w="2419350">
                  <a:extLst>
                    <a:ext uri="{9D8B030D-6E8A-4147-A177-3AD203B41FA5}">
                      <a16:colId xmlns:a16="http://schemas.microsoft.com/office/drawing/2014/main" val="20001"/>
                    </a:ext>
                  </a:extLst>
                </a:gridCol>
                <a:gridCol w="2419350">
                  <a:extLst>
                    <a:ext uri="{9D8B030D-6E8A-4147-A177-3AD203B41FA5}">
                      <a16:colId xmlns:a16="http://schemas.microsoft.com/office/drawing/2014/main" val="20002"/>
                    </a:ext>
                  </a:extLst>
                </a:gridCol>
                <a:gridCol w="2419350">
                  <a:extLst>
                    <a:ext uri="{9D8B030D-6E8A-4147-A177-3AD203B41FA5}">
                      <a16:colId xmlns:a16="http://schemas.microsoft.com/office/drawing/2014/main" val="20003"/>
                    </a:ext>
                  </a:extLst>
                </a:gridCol>
              </a:tblGrid>
              <a:tr h="619125">
                <a:tc>
                  <a:txBody>
                    <a:bodyPr/>
                    <a:lstStyle/>
                    <a:p>
                      <a:r>
                        <a:rPr sz="1875" b="1">
                          <a:solidFill>
                            <a:srgbClr val="FFFFFF"/>
                          </a:solidFill>
                          <a:latin typeface="HSE Sans"/>
                          <a:ea typeface="HSE Sans"/>
                          <a:cs typeface="HSE Sans"/>
                        </a:rPr>
                        <a:t>Активных заказов</a:t>
                      </a:r>
                    </a:p>
                  </a:txBody>
                  <a:tcPr anchor="ctr">
                    <a:solidFill>
                      <a:srgbClr val="102D69"/>
                    </a:solidFill>
                  </a:tcPr>
                </a:tc>
                <a:tc>
                  <a:txBody>
                    <a:bodyPr/>
                    <a:lstStyle/>
                    <a:p>
                      <a:r>
                        <a:rPr sz="1875" b="1">
                          <a:solidFill>
                            <a:srgbClr val="FFFFFF"/>
                          </a:solidFill>
                          <a:latin typeface="HSE Sans"/>
                          <a:ea typeface="HSE Sans"/>
                          <a:cs typeface="HSE Sans"/>
                        </a:rPr>
                        <a:t>n &lt; 10</a:t>
                      </a:r>
                    </a:p>
                  </a:txBody>
                  <a:tcPr anchor="ctr">
                    <a:solidFill>
                      <a:srgbClr val="102D69"/>
                    </a:solidFill>
                  </a:tcPr>
                </a:tc>
                <a:tc>
                  <a:txBody>
                    <a:bodyPr/>
                    <a:lstStyle/>
                    <a:p>
                      <a:r>
                        <a:rPr sz="1875" b="1">
                          <a:solidFill>
                            <a:srgbClr val="FFFFFF"/>
                          </a:solidFill>
                          <a:latin typeface="HSE Sans"/>
                          <a:ea typeface="HSE Sans"/>
                          <a:cs typeface="HSE Sans"/>
                        </a:rPr>
                        <a:t>10 ≤ n &lt; 20</a:t>
                      </a:r>
                    </a:p>
                  </a:txBody>
                  <a:tcPr anchor="ctr">
                    <a:solidFill>
                      <a:srgbClr val="102D69"/>
                    </a:solidFill>
                  </a:tcPr>
                </a:tc>
                <a:tc>
                  <a:txBody>
                    <a:bodyPr/>
                    <a:lstStyle/>
                    <a:p>
                      <a:r>
                        <a:rPr sz="1875" b="1">
                          <a:solidFill>
                            <a:srgbClr val="FFFFFF"/>
                          </a:solidFill>
                          <a:latin typeface="HSE Sans"/>
                          <a:ea typeface="HSE Sans"/>
                          <a:cs typeface="HSE Sans"/>
                        </a:rPr>
                        <a:t>n ≥ 20</a:t>
                      </a:r>
                    </a:p>
                  </a:txBody>
                  <a:tcPr anchor="ctr">
                    <a:solidFill>
                      <a:srgbClr val="102D69"/>
                    </a:solidFill>
                  </a:tcPr>
                </a:tc>
                <a:extLst>
                  <a:ext uri="{0D108BD9-81ED-4DB2-BD59-A6C34878D82A}">
                    <a16:rowId xmlns:a16="http://schemas.microsoft.com/office/drawing/2014/main" val="10000"/>
                  </a:ext>
                </a:extLst>
              </a:tr>
              <a:tr h="619125">
                <a:tc>
                  <a:txBody>
                    <a:bodyPr/>
                    <a:lstStyle/>
                    <a:p>
                      <a:r>
                        <a:rPr sz="1875" b="0">
                          <a:solidFill>
                            <a:srgbClr val="102D69"/>
                          </a:solidFill>
                          <a:latin typeface="HSE Sans"/>
                          <a:ea typeface="HSE Sans"/>
                          <a:cs typeface="HSE Sans"/>
                        </a:rPr>
                        <a:t>Индикаторы</a:t>
                      </a:r>
                    </a:p>
                  </a:txBody>
                  <a:tcPr anchor="ctr">
                    <a:solidFill>
                      <a:srgbClr val="EFF4FB"/>
                    </a:solidFill>
                  </a:tcPr>
                </a:tc>
                <a:tc>
                  <a:txBody>
                    <a:bodyPr/>
                    <a:lstStyle/>
                    <a:p>
                      <a:r>
                        <a:rPr sz="1875" b="0">
                          <a:solidFill>
                            <a:srgbClr val="102D69"/>
                          </a:solidFill>
                          <a:latin typeface="HSE Sans"/>
                          <a:ea typeface="HSE Sans"/>
                          <a:cs typeface="HSE Sans"/>
                        </a:rPr>
                        <a:t>(1, 0, 0)</a:t>
                      </a:r>
                    </a:p>
                  </a:txBody>
                  <a:tcPr anchor="ctr">
                    <a:solidFill>
                      <a:srgbClr val="EFF4FB"/>
                    </a:solidFill>
                  </a:tcPr>
                </a:tc>
                <a:tc>
                  <a:txBody>
                    <a:bodyPr/>
                    <a:lstStyle/>
                    <a:p>
                      <a:r>
                        <a:rPr sz="1875" b="0">
                          <a:solidFill>
                            <a:srgbClr val="102D69"/>
                          </a:solidFill>
                          <a:latin typeface="HSE Sans"/>
                          <a:ea typeface="HSE Sans"/>
                          <a:cs typeface="HSE Sans"/>
                        </a:rPr>
                        <a:t>(0, 1, 0)</a:t>
                      </a:r>
                    </a:p>
                  </a:txBody>
                  <a:tcPr anchor="ctr">
                    <a:solidFill>
                      <a:srgbClr val="EFF4FB"/>
                    </a:solidFill>
                  </a:tcPr>
                </a:tc>
                <a:tc>
                  <a:txBody>
                    <a:bodyPr/>
                    <a:lstStyle/>
                    <a:p>
                      <a:r>
                        <a:rPr sz="1875" b="0">
                          <a:solidFill>
                            <a:srgbClr val="102D69"/>
                          </a:solidFill>
                          <a:latin typeface="HSE Sans"/>
                          <a:ea typeface="HSE Sans"/>
                          <a:cs typeface="HSE Sans"/>
                        </a:rPr>
                        <a:t>(0, 0, 1)</a:t>
                      </a:r>
                    </a:p>
                  </a:txBody>
                  <a:tcPr anchor="ctr">
                    <a:solidFill>
                      <a:srgbClr val="EFF4FB"/>
                    </a:solidFill>
                  </a:tcPr>
                </a:tc>
                <a:extLst>
                  <a:ext uri="{0D108BD9-81ED-4DB2-BD59-A6C34878D82A}">
                    <a16:rowId xmlns:a16="http://schemas.microsoft.com/office/drawing/2014/main" val="10001"/>
                  </a:ext>
                </a:extLst>
              </a:tr>
            </a:tbl>
          </a:graphicData>
        </a:graphic>
      </p:graphicFrame>
      <p:sp>
        <p:nvSpPr>
          <p:cNvPr id="10" name="l02-content-107">
            <a:extLst>
              <a:ext uri="{FF2B5EF4-FFF2-40B4-BE49-F238E27FC236}">
                <a16:creationId xmlns:a16="http://schemas.microsoft.com/office/drawing/2014/main" id="{0BF6E999-8E9B-4C07-A641-4ED7B6185389}"/>
              </a:ext>
            </a:extLst>
          </p:cNvPr>
          <p:cNvSpPr>
            <a:spLocks noGrp="1"/>
          </p:cNvSpPr>
          <p:nvPr/>
        </p:nvSpPr>
        <p:spPr>
          <a:xfrm>
            <a:off x="590550" y="62103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Пороги здесь заданы для примера. С intercept оставляем один интервал базовым.</a:t>
            </a:r>
          </a:p>
        </p:txBody>
      </p:sp>
    </p:spTree>
    <p:extLst>
      <p:ext uri="{BB962C8B-B14F-4D97-AF65-F5344CB8AC3E}">
        <p14:creationId xmlns:p14="http://schemas.microsoft.com/office/powerpoint/2010/main" val="140984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Масштабирование числовых признаков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mc:AlternateContent xmlns:mc="http://schemas.openxmlformats.org/markup-compatibility/2006">
        <mc:Choice xmlns:a14="http://schemas.microsoft.com/office/drawing/2010/main" Requires="a14">
          <p:sp>
            <p:nvSpPr>
              <p:cNvPr id="7" name="l02-content-108">
                <a:extLst>
                  <a:ext uri="{FF2B5EF4-FFF2-40B4-BE49-F238E27FC236}">
                    <a16:creationId xmlns:a16="http://schemas.microsoft.com/office/drawing/2014/main" id="{CE1E2B9C-0F5E-45B9-820B-FC759285415C}"/>
                  </a:ext>
                </a:extLst>
              </p:cNvPr>
              <p:cNvSpPr>
                <a:spLocks noGrp="1"/>
              </p:cNvSpPr>
              <p:nvPr/>
            </p:nvSpPr>
            <p:spPr>
              <a:xfrm>
                <a:off x="590550" y="2238375"/>
                <a:ext cx="11029950" cy="1076325"/>
              </a:xfrm>
              <a:prstGeom prst="rect">
                <a:avLst/>
              </a:prstGeom>
              <a:noFill/>
              <a:ln w="0">
                <a:noFill/>
              </a:ln>
            </p:spPr>
            <p:txBody>
              <a:bodyPr wrap="square" lIns="0" tIns="0" rIns="0" bIns="0" anchor="t">
                <a:noAutofit/>
              </a:bodyPr>
              <a:lstStyle/>
              <a:p>
                <a:pPr algn="ctr">
                  <a:defRPr sz="2925"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𝑗</m:t>
                          </m:r>
                        </m:sub>
                      </m:sSub>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𝑗</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𝑗</m:t>
                              </m:r>
                            </m:sub>
                          </m:sSub>
                        </m:num>
                        <m:den>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𝑗</m:t>
                              </m:r>
                            </m:sub>
                          </m:sSub>
                        </m:den>
                      </m:f>
                    </m:oMath>
                  </m:oMathPara>
                </a14:m>
                <a:endParaRPr/>
              </a:p>
            </p:txBody>
          </p:sp>
        </mc:Choice>
        <mc:Fallback>
          <p:sp>
            <p:nvSpPr>
              <p:cNvPr id="7" name="l02-content-108">
                <a:extLst>
                  <a:ext uri="{FF2B5EF4-FFF2-40B4-BE49-F238E27FC236}">
                    <a16:creationId xmlns:a16="http://schemas.microsoft.com/office/drawing/2014/main" id="{CE1E2B9C-0F5E-45B9-820B-FC759285415C}"/>
                  </a:ext>
                </a:extLst>
              </p:cNvPr>
              <p:cNvSpPr>
                <a:spLocks noGrp="1" noRot="1" noChangeAspect="1" noMove="1" noResize="1" noEditPoints="1" noAdjustHandles="1" noChangeArrowheads="1" noChangeShapeType="1" noTextEdit="1"/>
              </p:cNvSpPr>
              <p:nvPr/>
            </p:nvSpPr>
            <p:spPr>
              <a:xfrm>
                <a:off x="590550" y="2238375"/>
                <a:ext cx="11029950" cy="1076325"/>
              </a:xfrm>
              <a:prstGeom prst="rect">
                <a:avLst/>
              </a:prstGeom>
              <a:blipFill>
                <a:blip r:embed="rId3"/>
                <a:stretch>
                  <a:fillRect t="-2326"/>
                </a:stretch>
              </a:blipFill>
              <a:ln w="0">
                <a:noFill/>
              </a:ln>
            </p:spPr>
            <p:txBody>
              <a:bodyPr/>
              <a:lstStyle/>
              <a:p>
                <a:r>
                  <a:rPr lang="ru-RU">
                    <a:noFill/>
                  </a:rPr>
                  <a:t> </a:t>
                </a:r>
              </a:p>
            </p:txBody>
          </p:sp>
        </mc:Fallback>
      </mc:AlternateContent>
      <p:sp>
        <p:nvSpPr>
          <p:cNvPr id="8" name="l02-content-109">
            <a:extLst>
              <a:ext uri="{FF2B5EF4-FFF2-40B4-BE49-F238E27FC236}">
                <a16:creationId xmlns:a16="http://schemas.microsoft.com/office/drawing/2014/main" id="{9B1624DA-141F-4152-9654-2C96C36AC979}"/>
              </a:ext>
            </a:extLst>
          </p:cNvPr>
          <p:cNvSpPr>
            <a:spLocks noGrp="1"/>
          </p:cNvSpPr>
          <p:nvPr/>
        </p:nvSpPr>
        <p:spPr>
          <a:xfrm>
            <a:off x="590550" y="3714750"/>
            <a:ext cx="11029950" cy="103822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μⱼ — среднее, σⱼ — стандартное отклонение признака на train.</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Те же значения используем при обработке новых данных.</a:t>
            </a:r>
          </a:p>
        </p:txBody>
      </p:sp>
      <p:sp>
        <p:nvSpPr>
          <p:cNvPr id="9" name="l02-content-110">
            <a:extLst>
              <a:ext uri="{FF2B5EF4-FFF2-40B4-BE49-F238E27FC236}">
                <a16:creationId xmlns:a16="http://schemas.microsoft.com/office/drawing/2014/main" id="{DA069D5C-97E0-40AA-B2EE-10E6997C5DA2}"/>
              </a:ext>
            </a:extLst>
          </p:cNvPr>
          <p:cNvSpPr>
            <a:spLocks noGrp="1"/>
          </p:cNvSpPr>
          <p:nvPr/>
        </p:nvSpPr>
        <p:spPr>
          <a:xfrm>
            <a:off x="590550" y="4914900"/>
            <a:ext cx="11029950" cy="12096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 МНК с intercept обратимое масштабирование меняет веса,</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но сохраняет множество прогнозов. Оно устраняет различие масштабов,</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однако не устраняет линейную зависимость столбцов.</a:t>
            </a:r>
          </a:p>
        </p:txBody>
      </p:sp>
      <p:sp>
        <p:nvSpPr>
          <p:cNvPr id="10" name="l02-content-111">
            <a:extLst>
              <a:ext uri="{FF2B5EF4-FFF2-40B4-BE49-F238E27FC236}">
                <a16:creationId xmlns:a16="http://schemas.microsoft.com/office/drawing/2014/main" id="{0C174D0E-37C6-4EB7-8372-663652DE879E}"/>
              </a:ext>
            </a:extLst>
          </p:cNvPr>
          <p:cNvSpPr>
            <a:spLocks noGrp="1"/>
          </p:cNvSpPr>
          <p:nvPr/>
        </p:nvSpPr>
        <p:spPr>
          <a:xfrm>
            <a:off x="590550" y="62865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При σⱼ = 0 признак константный; при наличии intercept его можно убрать.</a:t>
            </a:r>
          </a:p>
        </p:txBody>
      </p:sp>
    </p:spTree>
    <p:extLst>
      <p:ext uri="{BB962C8B-B14F-4D97-AF65-F5344CB8AC3E}">
        <p14:creationId xmlns:p14="http://schemas.microsoft.com/office/powerpoint/2010/main" val="140984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Пропуски и применение преобразований</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4. Обработка признаков</a:t>
            </a:r>
          </a:p>
        </p:txBody>
      </p:sp>
      <p:graphicFrame>
        <p:nvGraphicFramePr>
          <p:cNvPr id="14" name="Таблица 13"/>
          <p:cNvGraphicFramePr/>
          <p:nvPr/>
        </p:nvGraphicFramePr>
        <p:xfrm>
          <a:off x="590550" y="2333625"/>
          <a:ext cx="11029950" cy="3000375"/>
        </p:xfrm>
        <a:graphic>
          <a:graphicData uri="http://schemas.openxmlformats.org/drawingml/2006/table">
            <a:tbl>
              <a:tblPr firstRow="1"/>
              <a:tblGrid>
                <a:gridCol w="3762375">
                  <a:extLst>
                    <a:ext uri="{9D8B030D-6E8A-4147-A177-3AD203B41FA5}">
                      <a16:colId xmlns:a16="http://schemas.microsoft.com/office/drawing/2014/main" val="20000"/>
                    </a:ext>
                  </a:extLst>
                </a:gridCol>
                <a:gridCol w="7267575">
                  <a:extLst>
                    <a:ext uri="{9D8B030D-6E8A-4147-A177-3AD203B41FA5}">
                      <a16:colId xmlns:a16="http://schemas.microsoft.com/office/drawing/2014/main" val="20001"/>
                    </a:ext>
                  </a:extLst>
                </a:gridCol>
              </a:tblGrid>
              <a:tr h="600075">
                <a:tc>
                  <a:txBody>
                    <a:bodyPr/>
                    <a:lstStyle/>
                    <a:p>
                      <a:r>
                        <a:rPr sz="1875" b="1">
                          <a:solidFill>
                            <a:srgbClr val="FFFFFF"/>
                          </a:solidFill>
                          <a:latin typeface="HSE Sans"/>
                          <a:ea typeface="HSE Sans"/>
                          <a:cs typeface="HSE Sans"/>
                        </a:rPr>
                        <a:t>Шаг</a:t>
                      </a:r>
                    </a:p>
                  </a:txBody>
                  <a:tcPr anchor="ctr">
                    <a:solidFill>
                      <a:srgbClr val="102D69"/>
                    </a:solidFill>
                  </a:tcPr>
                </a:tc>
                <a:tc>
                  <a:txBody>
                    <a:bodyPr/>
                    <a:lstStyle/>
                    <a:p>
                      <a:r>
                        <a:rPr sz="1875" b="1">
                          <a:solidFill>
                            <a:srgbClr val="FFFFFF"/>
                          </a:solidFill>
                          <a:latin typeface="HSE Sans"/>
                          <a:ea typeface="HSE Sans"/>
                          <a:cs typeface="HSE Sans"/>
                        </a:rPr>
                        <a:t>Пример для нагрузки сервиса</a:t>
                      </a:r>
                    </a:p>
                  </a:txBody>
                  <a:tcPr anchor="ctr">
                    <a:solidFill>
                      <a:srgbClr val="102D69"/>
                    </a:solidFill>
                  </a:tcPr>
                </a:tc>
                <a:extLst>
                  <a:ext uri="{0D108BD9-81ED-4DB2-BD59-A6C34878D82A}">
                    <a16:rowId xmlns:a16="http://schemas.microsoft.com/office/drawing/2014/main" val="10000"/>
                  </a:ext>
                </a:extLst>
              </a:tr>
              <a:tr h="600075">
                <a:tc>
                  <a:txBody>
                    <a:bodyPr/>
                    <a:lstStyle/>
                    <a:p>
                      <a:r>
                        <a:rPr sz="1875" b="0">
                          <a:solidFill>
                            <a:srgbClr val="102D69"/>
                          </a:solidFill>
                          <a:latin typeface="HSE Sans"/>
                          <a:ea typeface="HSE Sans"/>
                          <a:cs typeface="HSE Sans"/>
                        </a:rPr>
                        <a:t>Обработать пропуск</a:t>
                      </a:r>
                    </a:p>
                  </a:txBody>
                  <a:tcPr anchor="ctr">
                    <a:solidFill>
                      <a:srgbClr val="EFF4FB"/>
                    </a:solidFill>
                  </a:tcPr>
                </a:tc>
                <a:tc>
                  <a:txBody>
                    <a:bodyPr/>
                    <a:lstStyle/>
                    <a:p>
                      <a:r>
                        <a:rPr sz="1875" b="0">
                          <a:solidFill>
                            <a:srgbClr val="102D69"/>
                          </a:solidFill>
                          <a:latin typeface="HSE Sans"/>
                          <a:ea typeface="HSE Sans"/>
                          <a:cs typeface="HSE Sans"/>
                        </a:rPr>
                        <a:t>Заменить неизвестную нагрузку медианой train</a:t>
                      </a:r>
                    </a:p>
                  </a:txBody>
                  <a:tcPr anchor="ctr">
                    <a:solidFill>
                      <a:srgbClr val="EFF4FB"/>
                    </a:solidFill>
                  </a:tcPr>
                </a:tc>
                <a:extLst>
                  <a:ext uri="{0D108BD9-81ED-4DB2-BD59-A6C34878D82A}">
                    <a16:rowId xmlns:a16="http://schemas.microsoft.com/office/drawing/2014/main" val="10001"/>
                  </a:ext>
                </a:extLst>
              </a:tr>
              <a:tr h="600075">
                <a:tc>
                  <a:txBody>
                    <a:bodyPr/>
                    <a:lstStyle/>
                    <a:p>
                      <a:r>
                        <a:rPr sz="1875" b="0">
                          <a:solidFill>
                            <a:srgbClr val="102D69"/>
                          </a:solidFill>
                          <a:latin typeface="HSE Sans"/>
                          <a:ea typeface="HSE Sans"/>
                          <a:cs typeface="HSE Sans"/>
                        </a:rPr>
                        <a:t>Сохранить информацию</a:t>
                      </a:r>
                    </a:p>
                  </a:txBody>
                  <a:tcPr anchor="ctr">
                    <a:solidFill>
                      <a:srgbClr val="FFFFFF"/>
                    </a:solidFill>
                  </a:tcPr>
                </a:tc>
                <a:tc>
                  <a:txBody>
                    <a:bodyPr/>
                    <a:lstStyle/>
                    <a:p>
                      <a:r>
                        <a:rPr sz="1875" b="0">
                          <a:solidFill>
                            <a:srgbClr val="102D69"/>
                          </a:solidFill>
                          <a:latin typeface="HSE Sans"/>
                          <a:ea typeface="HSE Sans"/>
                          <a:cs typeface="HSE Sans"/>
                        </a:rPr>
                        <a:t>Добавить индикатор «нагрузка неизвестна»</a:t>
                      </a:r>
                    </a:p>
                  </a:txBody>
                  <a:tcPr anchor="ctr">
                    <a:solidFill>
                      <a:srgbClr val="FFFFFF"/>
                    </a:solidFill>
                  </a:tcPr>
                </a:tc>
                <a:extLst>
                  <a:ext uri="{0D108BD9-81ED-4DB2-BD59-A6C34878D82A}">
                    <a16:rowId xmlns:a16="http://schemas.microsoft.com/office/drawing/2014/main" val="10002"/>
                  </a:ext>
                </a:extLst>
              </a:tr>
              <a:tr h="600075">
                <a:tc>
                  <a:txBody>
                    <a:bodyPr/>
                    <a:lstStyle/>
                    <a:p>
                      <a:r>
                        <a:rPr sz="1875" b="0">
                          <a:solidFill>
                            <a:srgbClr val="102D69"/>
                          </a:solidFill>
                          <a:latin typeface="HSE Sans"/>
                          <a:ea typeface="HSE Sans"/>
                          <a:cs typeface="HSE Sans"/>
                        </a:rPr>
                        <a:t>Зафиксировать параметры</a:t>
                      </a:r>
                    </a:p>
                  </a:txBody>
                  <a:tcPr anchor="ctr">
                    <a:solidFill>
                      <a:srgbClr val="EFF4FB"/>
                    </a:solidFill>
                  </a:tcPr>
                </a:tc>
                <a:tc>
                  <a:txBody>
                    <a:bodyPr/>
                    <a:lstStyle/>
                    <a:p>
                      <a:r>
                        <a:rPr sz="1875" b="0">
                          <a:solidFill>
                            <a:srgbClr val="102D69"/>
                          </a:solidFill>
                          <a:latin typeface="HSE Sans"/>
                          <a:ea typeface="HSE Sans"/>
                          <a:cs typeface="HSE Sans"/>
                        </a:rPr>
                        <a:t>Сохранить медиану, масштабы, категории и пороги</a:t>
                      </a:r>
                    </a:p>
                  </a:txBody>
                  <a:tcPr anchor="ctr">
                    <a:solidFill>
                      <a:srgbClr val="EFF4FB"/>
                    </a:solidFill>
                  </a:tcPr>
                </a:tc>
                <a:extLst>
                  <a:ext uri="{0D108BD9-81ED-4DB2-BD59-A6C34878D82A}">
                    <a16:rowId xmlns:a16="http://schemas.microsoft.com/office/drawing/2014/main" val="10003"/>
                  </a:ext>
                </a:extLst>
              </a:tr>
              <a:tr h="600075">
                <a:tc>
                  <a:txBody>
                    <a:bodyPr/>
                    <a:lstStyle/>
                    <a:p>
                      <a:r>
                        <a:rPr sz="1875" b="0">
                          <a:solidFill>
                            <a:srgbClr val="102D69"/>
                          </a:solidFill>
                          <a:latin typeface="HSE Sans"/>
                          <a:ea typeface="HSE Sans"/>
                          <a:cs typeface="HSE Sans"/>
                        </a:rPr>
                        <a:t>Применить к новым заказам</a:t>
                      </a:r>
                    </a:p>
                  </a:txBody>
                  <a:tcPr anchor="ctr">
                    <a:solidFill>
                      <a:srgbClr val="FFFFFF"/>
                    </a:solidFill>
                  </a:tcPr>
                </a:tc>
                <a:tc>
                  <a:txBody>
                    <a:bodyPr/>
                    <a:lstStyle/>
                    <a:p>
                      <a:r>
                        <a:rPr sz="1875" b="0">
                          <a:solidFill>
                            <a:srgbClr val="102D69"/>
                          </a:solidFill>
                          <a:latin typeface="HSE Sans"/>
                          <a:ea typeface="HSE Sans"/>
                          <a:cs typeface="HSE Sans"/>
                        </a:rPr>
                        <a:t>Выполнить те же преобразования без переоценки по новым данным</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2-content-112">
            <a:extLst>
              <a:ext uri="{FF2B5EF4-FFF2-40B4-BE49-F238E27FC236}">
                <a16:creationId xmlns:a16="http://schemas.microsoft.com/office/drawing/2014/main" id="{4D60A063-A80D-47DF-A823-7DAD788F5481}"/>
              </a:ext>
            </a:extLst>
          </p:cNvPr>
          <p:cNvSpPr>
            <a:spLocks noGrp="1"/>
          </p:cNvSpPr>
          <p:nvPr/>
        </p:nvSpPr>
        <p:spPr>
          <a:xfrm>
            <a:off x="590550" y="5600700"/>
            <a:ext cx="11029950" cy="80962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После обработки получаем числовую матрицу F.</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Добавляем столбец единиц и обучаем уже изученный МНК.</a:t>
            </a:r>
          </a:p>
        </p:txBody>
      </p:sp>
    </p:spTree>
    <p:extLst>
      <p:ext uri="{BB962C8B-B14F-4D97-AF65-F5344CB8AC3E}">
        <p14:creationId xmlns:p14="http://schemas.microsoft.com/office/powerpoint/2010/main" val="140984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Интерпретация и проверка модели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5. Интерпретация и проверка модели</a:t>
            </a:r>
          </a:p>
        </p:txBody>
      </p:sp>
      <p:sp>
        <p:nvSpPr>
          <p:cNvPr id="7" name="l02-content-113">
            <a:extLst>
              <a:ext uri="{FF2B5EF4-FFF2-40B4-BE49-F238E27FC236}">
                <a16:creationId xmlns:a16="http://schemas.microsoft.com/office/drawing/2014/main" id="{37B148D4-4243-4E5E-BA78-21F07A8BC1E8}"/>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05</a:t>
            </a:r>
          </a:p>
        </p:txBody>
      </p:sp>
      <p:sp>
        <p:nvSpPr>
          <p:cNvPr id="8" name="l02-content-114">
            <a:extLst>
              <a:ext uri="{FF2B5EF4-FFF2-40B4-BE49-F238E27FC236}">
                <a16:creationId xmlns:a16="http://schemas.microsoft.com/office/drawing/2014/main" id="{AC8A5D3B-DF05-4C3C-A9C8-D0A4642D707B}"/>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Смысл коэффициентов модели</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Структура невязок</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Качество на отложенных данных</a:t>
            </a:r>
          </a:p>
        </p:txBody>
      </p:sp>
    </p:spTree>
    <p:extLst>
      <p:ext uri="{BB962C8B-B14F-4D97-AF65-F5344CB8AC3E}">
        <p14:creationId xmlns:p14="http://schemas.microsoft.com/office/powerpoint/2010/main" val="140984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Интерпретация коэффициентов</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5. Интерпретация и проверка модели</a:t>
            </a:r>
          </a:p>
        </p:txBody>
      </p:sp>
      <mc:AlternateContent xmlns:mc="http://schemas.openxmlformats.org/markup-compatibility/2006">
        <mc:Choice xmlns:a14="http://schemas.microsoft.com/office/drawing/2010/main" Requires="a14">
          <p:sp>
            <p:nvSpPr>
              <p:cNvPr id="7" name="l02-content-115">
                <a:extLst>
                  <a:ext uri="{FF2B5EF4-FFF2-40B4-BE49-F238E27FC236}">
                    <a16:creationId xmlns:a16="http://schemas.microsoft.com/office/drawing/2014/main" id="{C0AEA1BF-192F-4F2F-9CB1-A67C3296C542}"/>
                  </a:ext>
                </a:extLst>
              </p:cNvPr>
              <p:cNvSpPr>
                <a:spLocks noGrp="1"/>
              </p:cNvSpPr>
              <p:nvPr/>
            </p:nvSpPr>
            <p:spPr>
              <a:xfrm>
                <a:off x="590550" y="2266950"/>
                <a:ext cx="11029950" cy="828675"/>
              </a:xfrm>
              <a:prstGeom prst="rect">
                <a:avLst/>
              </a:prstGeom>
              <a:noFill/>
              <a:ln w="0">
                <a:noFill/>
              </a:ln>
            </p:spPr>
            <p:txBody>
              <a:bodyPr wrap="square" lIns="0" tIns="0" rIns="0" bIns="0" anchor="t">
                <a:noAutofit/>
              </a:bodyPr>
              <a:lstStyle/>
              <a:p>
                <a:pPr algn="ctr">
                  <a:defRPr sz="3000" b="0">
                    <a:solidFill>
                      <a:srgbClr val="102D69"/>
                    </a:solidFill>
                    <a:latin typeface="Cambria Math"/>
                    <a:ea typeface="Cambria Math"/>
                    <a:cs typeface="Cambria Math"/>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)=13.3+3.9</m:t>
                      </m:r>
                      <m:r>
                        <a:rPr>
                          <a:latin typeface="Cambria Math" panose="02040503050406030204" pitchFamily="18" charset="0"/>
                        </a:rPr>
                        <m:t>𝑥</m:t>
                      </m:r>
                    </m:oMath>
                  </m:oMathPara>
                </a14:m>
                <a:endParaRPr/>
              </a:p>
            </p:txBody>
          </p:sp>
        </mc:Choice>
        <mc:Fallback>
          <p:sp>
            <p:nvSpPr>
              <p:cNvPr id="7" name="l02-content-115">
                <a:extLst>
                  <a:ext uri="{FF2B5EF4-FFF2-40B4-BE49-F238E27FC236}">
                    <a16:creationId xmlns:a16="http://schemas.microsoft.com/office/drawing/2014/main" id="{C0AEA1BF-192F-4F2F-9CB1-A67C3296C542}"/>
                  </a:ext>
                </a:extLst>
              </p:cNvPr>
              <p:cNvSpPr>
                <a:spLocks noGrp="1" noRot="1" noChangeAspect="1" noMove="1" noResize="1" noEditPoints="1" noAdjustHandles="1" noChangeArrowheads="1" noChangeShapeType="1" noTextEdit="1"/>
              </p:cNvSpPr>
              <p:nvPr/>
            </p:nvSpPr>
            <p:spPr>
              <a:xfrm>
                <a:off x="590550" y="2266950"/>
                <a:ext cx="11029950" cy="828675"/>
              </a:xfrm>
              <a:prstGeom prst="rect">
                <a:avLst/>
              </a:prstGeom>
              <a:blipFill>
                <a:blip r:embed="rId3"/>
                <a:stretch>
                  <a:fillRect/>
                </a:stretch>
              </a:blipFill>
              <a:ln w="0">
                <a:noFill/>
              </a:ln>
            </p:spPr>
            <p:txBody>
              <a:bodyPr/>
              <a:lstStyle/>
              <a:p>
                <a:r>
                  <a:rPr lang="ru-RU">
                    <a:noFill/>
                  </a:rPr>
                  <a:t> </a:t>
                </a:r>
              </a:p>
            </p:txBody>
          </p:sp>
        </mc:Fallback>
      </mc:AlternateContent>
      <p:sp>
        <p:nvSpPr>
          <p:cNvPr id="8" name="l02-content-116">
            <a:extLst>
              <a:ext uri="{FF2B5EF4-FFF2-40B4-BE49-F238E27FC236}">
                <a16:creationId xmlns:a16="http://schemas.microsoft.com/office/drawing/2014/main" id="{744D226D-62AD-4F70-81D7-ED1461136D1A}"/>
              </a:ext>
            </a:extLst>
          </p:cNvPr>
          <p:cNvSpPr>
            <a:spLocks noGrp="1"/>
          </p:cNvSpPr>
          <p:nvPr/>
        </p:nvSpPr>
        <p:spPr>
          <a:xfrm>
            <a:off x="590550" y="354330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3,9 мин/км — изменение прогноза при увеличении расстояния на 1 км.</a:t>
            </a:r>
          </a:p>
        </p:txBody>
      </p:sp>
      <p:sp>
        <p:nvSpPr>
          <p:cNvPr id="9" name="l02-content-117">
            <a:extLst>
              <a:ext uri="{FF2B5EF4-FFF2-40B4-BE49-F238E27FC236}">
                <a16:creationId xmlns:a16="http://schemas.microsoft.com/office/drawing/2014/main" id="{71D58ED2-9BF5-4A31-AB40-860551950EE7}"/>
              </a:ext>
            </a:extLst>
          </p:cNvPr>
          <p:cNvSpPr>
            <a:spLocks noGrp="1"/>
          </p:cNvSpPr>
          <p:nvPr/>
        </p:nvSpPr>
        <p:spPr>
          <a:xfrm>
            <a:off x="590550" y="453390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13,3 мин — значение прямой при x = 0. В выборке нет таких маршрутов,</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поэтому этот прогноз требует осторожной интерпретации.</a:t>
            </a:r>
          </a:p>
        </p:txBody>
      </p:sp>
      <p:sp>
        <p:nvSpPr>
          <p:cNvPr id="10" name="l02-content-118">
            <a:extLst>
              <a:ext uri="{FF2B5EF4-FFF2-40B4-BE49-F238E27FC236}">
                <a16:creationId xmlns:a16="http://schemas.microsoft.com/office/drawing/2014/main" id="{2CF98B16-E979-4295-97C0-7D6E916D635D}"/>
              </a:ext>
            </a:extLst>
          </p:cNvPr>
          <p:cNvSpPr>
            <a:spLocks noGrp="1"/>
          </p:cNvSpPr>
          <p:nvPr/>
        </p:nvSpPr>
        <p:spPr>
          <a:xfrm>
            <a:off x="590550" y="5524500"/>
            <a:ext cx="11029950" cy="904875"/>
          </a:xfrm>
          <a:prstGeom prst="rect">
            <a:avLst/>
          </a:prstGeom>
          <a:noFill/>
          <a:ln w="0">
            <a:noFill/>
          </a:ln>
        </p:spPr>
        <p:txBody>
          <a:bodyPr wrap="square" lIns="0" tIns="0" rIns="0" bIns="0" anchor="t">
            <a:noAutofit/>
          </a:bodyPr>
          <a:lstStyle/>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Коэффициент описывает зависимость в модели.</a:t>
            </a:r>
          </a:p>
          <a:p>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Причинный эффект изменения маршрута из него не следует.</a:t>
            </a:r>
          </a:p>
        </p:txBody>
      </p:sp>
    </p:spTree>
    <p:extLst>
      <p:ext uri="{BB962C8B-B14F-4D97-AF65-F5344CB8AC3E}">
        <p14:creationId xmlns:p14="http://schemas.microsoft.com/office/powerpoint/2010/main" val="140984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Проверка обученной регрессии</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5. Интерпретация и проверка модели</a:t>
            </a:r>
          </a:p>
        </p:txBody>
      </p:sp>
      <p:graphicFrame>
        <p:nvGraphicFramePr>
          <p:cNvPr id="14" name="Таблица 13"/>
          <p:cNvGraphicFramePr/>
          <p:nvPr/>
        </p:nvGraphicFramePr>
        <p:xfrm>
          <a:off x="590550" y="2286000"/>
          <a:ext cx="11029950" cy="3238500"/>
        </p:xfrm>
        <a:graphic>
          <a:graphicData uri="http://schemas.openxmlformats.org/drawingml/2006/table">
            <a:tbl>
              <a:tblPr firstRow="1"/>
              <a:tblGrid>
                <a:gridCol w="4524375">
                  <a:extLst>
                    <a:ext uri="{9D8B030D-6E8A-4147-A177-3AD203B41FA5}">
                      <a16:colId xmlns:a16="http://schemas.microsoft.com/office/drawing/2014/main" val="20000"/>
                    </a:ext>
                  </a:extLst>
                </a:gridCol>
                <a:gridCol w="6505575">
                  <a:extLst>
                    <a:ext uri="{9D8B030D-6E8A-4147-A177-3AD203B41FA5}">
                      <a16:colId xmlns:a16="http://schemas.microsoft.com/office/drawing/2014/main" val="20001"/>
                    </a:ext>
                  </a:extLst>
                </a:gridCol>
              </a:tblGrid>
              <a:tr h="643890">
                <a:tc>
                  <a:txBody>
                    <a:bodyPr/>
                    <a:lstStyle/>
                    <a:p>
                      <a:r>
                        <a:rPr sz="1875" b="1">
                          <a:solidFill>
                            <a:srgbClr val="FFFFFF"/>
                          </a:solidFill>
                          <a:latin typeface="HSE Sans"/>
                          <a:ea typeface="HSE Sans"/>
                          <a:cs typeface="HSE Sans"/>
                        </a:rPr>
                        <a:t>Проверка</a:t>
                      </a:r>
                    </a:p>
                  </a:txBody>
                  <a:tcPr anchor="ctr">
                    <a:solidFill>
                      <a:srgbClr val="102D69"/>
                    </a:solidFill>
                  </a:tcPr>
                </a:tc>
                <a:tc>
                  <a:txBody>
                    <a:bodyPr/>
                    <a:lstStyle/>
                    <a:p>
                      <a:r>
                        <a:rPr sz="1875" b="1">
                          <a:solidFill>
                            <a:srgbClr val="FFFFFF"/>
                          </a:solidFill>
                          <a:latin typeface="HSE Sans"/>
                          <a:ea typeface="HSE Sans"/>
                          <a:cs typeface="HSE Sans"/>
                        </a:rPr>
                        <a:t>Что она выявляет</a:t>
                      </a:r>
                    </a:p>
                  </a:txBody>
                  <a:tcPr anchor="ctr">
                    <a:solidFill>
                      <a:srgbClr val="102D69"/>
                    </a:solidFill>
                  </a:tcPr>
                </a:tc>
                <a:extLst>
                  <a:ext uri="{0D108BD9-81ED-4DB2-BD59-A6C34878D82A}">
                    <a16:rowId xmlns:a16="http://schemas.microsoft.com/office/drawing/2014/main" val="10000"/>
                  </a:ext>
                </a:extLst>
              </a:tr>
              <a:tr h="643890">
                <a:tc>
                  <a:txBody>
                    <a:bodyPr/>
                    <a:lstStyle/>
                    <a:p>
                      <a:r>
                        <a:rPr sz="1875" b="0">
                          <a:solidFill>
                            <a:srgbClr val="102D69"/>
                          </a:solidFill>
                          <a:latin typeface="HSE Sans"/>
                          <a:ea typeface="HSE Sans"/>
                          <a:cs typeface="HSE Sans"/>
                        </a:rPr>
                        <a:t>Отложенная выборка или кросс-валидация</a:t>
                      </a:r>
                    </a:p>
                  </a:txBody>
                  <a:tcPr anchor="ctr">
                    <a:solidFill>
                      <a:srgbClr val="EFF4FB"/>
                    </a:solidFill>
                  </a:tcPr>
                </a:tc>
                <a:tc>
                  <a:txBody>
                    <a:bodyPr/>
                    <a:lstStyle/>
                    <a:p>
                      <a:r>
                        <a:rPr sz="1875" b="0">
                          <a:solidFill>
                            <a:srgbClr val="102D69"/>
                          </a:solidFill>
                          <a:latin typeface="HSE Sans"/>
                          <a:ea typeface="HSE Sans"/>
                          <a:cs typeface="HSE Sans"/>
                        </a:rPr>
                        <a:t>Помогли ли новые признаки по выбранной метрике</a:t>
                      </a:r>
                    </a:p>
                  </a:txBody>
                  <a:tcPr anchor="ctr">
                    <a:solidFill>
                      <a:srgbClr val="EFF4FB"/>
                    </a:solidFill>
                  </a:tcPr>
                </a:tc>
                <a:extLst>
                  <a:ext uri="{0D108BD9-81ED-4DB2-BD59-A6C34878D82A}">
                    <a16:rowId xmlns:a16="http://schemas.microsoft.com/office/drawing/2014/main" val="10001"/>
                  </a:ext>
                </a:extLst>
              </a:tr>
              <a:tr h="643890">
                <a:tc>
                  <a:txBody>
                    <a:bodyPr/>
                    <a:lstStyle/>
                    <a:p>
                      <a:r>
                        <a:rPr sz="1875" b="0">
                          <a:solidFill>
                            <a:srgbClr val="102D69"/>
                          </a:solidFill>
                          <a:latin typeface="HSE Sans"/>
                          <a:ea typeface="HSE Sans"/>
                          <a:cs typeface="HSE Sans"/>
                        </a:rPr>
                        <a:t>Невязки по районам и нагрузке</a:t>
                      </a:r>
                    </a:p>
                  </a:txBody>
                  <a:tcPr anchor="ctr">
                    <a:solidFill>
                      <a:srgbClr val="FFFFFF"/>
                    </a:solidFill>
                  </a:tcPr>
                </a:tc>
                <a:tc>
                  <a:txBody>
                    <a:bodyPr/>
                    <a:lstStyle/>
                    <a:p>
                      <a:r>
                        <a:rPr sz="1875" b="0">
                          <a:solidFill>
                            <a:srgbClr val="102D69"/>
                          </a:solidFill>
                          <a:latin typeface="HSE Sans"/>
                          <a:ea typeface="HSE Sans"/>
                          <a:cs typeface="HSE Sans"/>
                        </a:rPr>
                        <a:t>Где модель систематически завышает или занижает время</a:t>
                      </a:r>
                    </a:p>
                  </a:txBody>
                  <a:tcPr anchor="ctr">
                    <a:solidFill>
                      <a:srgbClr val="FFFFFF"/>
                    </a:solidFill>
                  </a:tcPr>
                </a:tc>
                <a:extLst>
                  <a:ext uri="{0D108BD9-81ED-4DB2-BD59-A6C34878D82A}">
                    <a16:rowId xmlns:a16="http://schemas.microsoft.com/office/drawing/2014/main" val="10002"/>
                  </a:ext>
                </a:extLst>
              </a:tr>
              <a:tr h="643890">
                <a:tc>
                  <a:txBody>
                    <a:bodyPr/>
                    <a:lstStyle/>
                    <a:p>
                      <a:r>
                        <a:rPr sz="1875" b="0">
                          <a:solidFill>
                            <a:srgbClr val="102D69"/>
                          </a:solidFill>
                          <a:latin typeface="HSE Sans"/>
                          <a:ea typeface="HSE Sans"/>
                          <a:cs typeface="HSE Sans"/>
                        </a:rPr>
                        <a:t>Веса при изменении выборки</a:t>
                      </a:r>
                    </a:p>
                  </a:txBody>
                  <a:tcPr anchor="ctr">
                    <a:solidFill>
                      <a:srgbClr val="EFF4FB"/>
                    </a:solidFill>
                  </a:tcPr>
                </a:tc>
                <a:tc>
                  <a:txBody>
                    <a:bodyPr/>
                    <a:lstStyle/>
                    <a:p>
                      <a:r>
                        <a:rPr sz="1875" b="0">
                          <a:solidFill>
                            <a:srgbClr val="102D69"/>
                          </a:solidFill>
                          <a:latin typeface="HSE Sans"/>
                          <a:ea typeface="HSE Sans"/>
                          <a:cs typeface="HSE Sans"/>
                        </a:rPr>
                        <a:t>Есть ли неустойчивость и компенсирующие коэффициенты</a:t>
                      </a:r>
                    </a:p>
                  </a:txBody>
                  <a:tcPr anchor="ctr">
                    <a:solidFill>
                      <a:srgbClr val="EFF4FB"/>
                    </a:solidFill>
                  </a:tcPr>
                </a:tc>
                <a:extLst>
                  <a:ext uri="{0D108BD9-81ED-4DB2-BD59-A6C34878D82A}">
                    <a16:rowId xmlns:a16="http://schemas.microsoft.com/office/drawing/2014/main" val="10003"/>
                  </a:ext>
                </a:extLst>
              </a:tr>
              <a:tr h="643890">
                <a:tc>
                  <a:txBody>
                    <a:bodyPr/>
                    <a:lstStyle/>
                    <a:p>
                      <a:r>
                        <a:rPr sz="1875" b="0">
                          <a:solidFill>
                            <a:srgbClr val="102D69"/>
                          </a:solidFill>
                          <a:latin typeface="HSE Sans"/>
                          <a:ea typeface="HSE Sans"/>
                          <a:cs typeface="HSE Sans"/>
                        </a:rPr>
                        <a:t>Диапазон новых признаков</a:t>
                      </a:r>
                    </a:p>
                  </a:txBody>
                  <a:tcPr anchor="ctr">
                    <a:solidFill>
                      <a:srgbClr val="FFFFFF"/>
                    </a:solidFill>
                  </a:tcPr>
                </a:tc>
                <a:tc>
                  <a:txBody>
                    <a:bodyPr/>
                    <a:lstStyle/>
                    <a:p>
                      <a:r>
                        <a:rPr sz="1875" b="0">
                          <a:solidFill>
                            <a:srgbClr val="102D69"/>
                          </a:solidFill>
                          <a:latin typeface="HSE Sans"/>
                          <a:ea typeface="HSE Sans"/>
                          <a:cs typeface="HSE Sans"/>
                        </a:rPr>
                        <a:t>Не перешли ли мы от интерполяции к экстраполяции</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2-content-119">
            <a:extLst>
              <a:ext uri="{FF2B5EF4-FFF2-40B4-BE49-F238E27FC236}">
                <a16:creationId xmlns:a16="http://schemas.microsoft.com/office/drawing/2014/main" id="{5E6064F8-A023-4BEB-86BE-09BD150BF31F}"/>
              </a:ext>
            </a:extLst>
          </p:cNvPr>
          <p:cNvSpPr>
            <a:spLocks noGrp="1"/>
          </p:cNvSpPr>
          <p:nvPr/>
        </p:nvSpPr>
        <p:spPr>
          <a:xfrm>
            <a:off x="590550" y="5905500"/>
            <a:ext cx="11029950" cy="781050"/>
          </a:xfrm>
          <a:prstGeom prst="rect">
            <a:avLst/>
          </a:prstGeom>
          <a:noFill/>
          <a:ln w="0">
            <a:noFill/>
          </a:ln>
        </p:spPr>
        <p:txBody>
          <a:bodyPr wrap="square" lIns="0" tIns="0" rIns="0" bIns="0" anchor="t">
            <a:noAutofit/>
          </a:bodyPr>
          <a:lstStyle/>
          <a:p>
            <a:pPr algn="l">
              <a:lnSpc>
                <a:spcPct val="112000"/>
              </a:lnSpc>
              <a:buNone/>
              <a:defRPr sz="1725" b="0">
                <a:solidFill>
                  <a:srgbClr val="102D69"/>
                </a:solidFill>
                <a:latin typeface="HSE Sans"/>
                <a:ea typeface="HSE Sans"/>
                <a:cs typeface="HSE Sans"/>
              </a:defRPr>
            </a:pPr>
            <a:r>
              <a:rPr sz="1725" b="0">
                <a:solidFill>
                  <a:srgbClr val="102D69"/>
                </a:solidFill>
                <a:latin typeface="HSE Sans"/>
                <a:ea typeface="HSE Sans"/>
                <a:cs typeface="HSE Sans"/>
              </a:rPr>
              <a:t>Кросс-валидация повторяет обучение на нескольких разбиениях. Для доставки сохраняем порядок</a:t>
            </a:r>
          </a:p>
          <a:p>
            <a:pPr algn="l">
              <a:lnSpc>
                <a:spcPct val="112000"/>
              </a:lnSpc>
              <a:buNone/>
              <a:defRPr sz="1725" b="0">
                <a:solidFill>
                  <a:srgbClr val="102D69"/>
                </a:solidFill>
                <a:latin typeface="HSE Sans"/>
                <a:ea typeface="HSE Sans"/>
                <a:cs typeface="HSE Sans"/>
              </a:defRPr>
            </a:pPr>
            <a:r>
              <a:rPr sz="1725" b="0">
                <a:solidFill>
                  <a:srgbClr val="102D69"/>
                </a:solidFill>
                <a:latin typeface="HSE Sans"/>
                <a:ea typeface="HSE Sans"/>
                <a:cs typeface="HSE Sans"/>
              </a:rPr>
              <a:t>времени; обработку признаков обучаем заново внутри каждого train.</a:t>
            </a:r>
          </a:p>
        </p:txBody>
      </p:sp>
    </p:spTree>
    <p:extLst>
      <p:ext uri="{BB962C8B-B14F-4D97-AF65-F5344CB8AC3E}">
        <p14:creationId xmlns:p14="http://schemas.microsoft.com/office/powerpoint/2010/main" val="140984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Линейная регрессия в Python</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sp>
        <p:nvSpPr>
          <p:cNvPr id="7" name="l02-content-120">
            <a:extLst>
              <a:ext uri="{FF2B5EF4-FFF2-40B4-BE49-F238E27FC236}">
                <a16:creationId xmlns:a16="http://schemas.microsoft.com/office/drawing/2014/main" id="{232AE22B-C64D-4E90-B516-AEB1A84871B9}"/>
              </a:ext>
            </a:extLst>
          </p:cNvPr>
          <p:cNvSpPr>
            <a:spLocks noGrp="1"/>
          </p:cNvSpPr>
          <p:nvPr/>
        </p:nvSpPr>
        <p:spPr>
          <a:xfrm>
            <a:off x="590550" y="2714625"/>
            <a:ext cx="1428750" cy="1047750"/>
          </a:xfrm>
          <a:prstGeom prst="rect">
            <a:avLst/>
          </a:prstGeom>
          <a:noFill/>
          <a:ln w="0">
            <a:noFill/>
          </a:ln>
        </p:spPr>
        <p:txBody>
          <a:bodyPr wrap="square" lIns="0" tIns="0" rIns="0" bIns="0" anchor="t">
            <a:noAutofit/>
          </a:bodyPr>
          <a:lstStyle/>
          <a:p>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06</a:t>
            </a:r>
          </a:p>
        </p:txBody>
      </p:sp>
      <p:sp>
        <p:nvSpPr>
          <p:cNvPr id="8" name="l02-content-121">
            <a:extLst>
              <a:ext uri="{FF2B5EF4-FFF2-40B4-BE49-F238E27FC236}">
                <a16:creationId xmlns:a16="http://schemas.microsoft.com/office/drawing/2014/main" id="{15182E09-09F8-4050-9F24-DBD931BE7594}"/>
              </a:ext>
            </a:extLst>
          </p:cNvPr>
          <p:cNvSpPr>
            <a:spLocks noGrp="1"/>
          </p:cNvSpPr>
          <p:nvPr/>
        </p:nvSpPr>
        <p:spPr>
          <a:xfrm>
            <a:off x="2333625" y="2781300"/>
            <a:ext cx="9048750" cy="2333625"/>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LinearRegression в scikit-learn</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OLS и статистический отчёт в statsmodels</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Прогнозирование и анализ коэффициентов</a:t>
            </a:r>
          </a:p>
        </p:txBody>
      </p:sp>
    </p:spTree>
    <p:extLst>
      <p:ext uri="{BB962C8B-B14F-4D97-AF65-F5344CB8AC3E}">
        <p14:creationId xmlns:p14="http://schemas.microsoft.com/office/powerpoint/2010/main" val="140984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LinearRegression: обучить и получить прогноз</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sp>
        <p:nvSpPr>
          <p:cNvPr id="7" name="l02-content-122">
            <a:extLst>
              <a:ext uri="{FF2B5EF4-FFF2-40B4-BE49-F238E27FC236}">
                <a16:creationId xmlns:a16="http://schemas.microsoft.com/office/drawing/2014/main" id="{74D4C69B-69AC-4BA5-ACD2-51F8C998B886}"/>
              </a:ext>
            </a:extLst>
          </p:cNvPr>
          <p:cNvSpPr>
            <a:spLocks noGrp="1"/>
          </p:cNvSpPr>
          <p:nvPr/>
        </p:nvSpPr>
        <p:spPr>
          <a:xfrm>
            <a:off x="590550" y="2238375"/>
            <a:ext cx="11029950" cy="9048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Повторим расчёт для пяти доставок. F содержит признаки без столбца единиц.</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LinearRegression по умолчанию обучает свободный член сама.</a:t>
            </a:r>
          </a:p>
        </p:txBody>
      </p:sp>
      <p:sp>
        <p:nvSpPr>
          <p:cNvPr id="8" name="l02-content-123">
            <a:extLst>
              <a:ext uri="{FF2B5EF4-FFF2-40B4-BE49-F238E27FC236}">
                <a16:creationId xmlns:a16="http://schemas.microsoft.com/office/drawing/2014/main" id="{ACEDA19B-E67A-4CFA-8493-654F225E77CC}"/>
              </a:ext>
            </a:extLst>
          </p:cNvPr>
          <p:cNvSpPr>
            <a:spLocks noGrp="1"/>
          </p:cNvSpPr>
          <p:nvPr/>
        </p:nvSpPr>
        <p:spPr>
          <a:xfrm>
            <a:off x="590550" y="3495675"/>
            <a:ext cx="11029950" cy="2238375"/>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from sklearn.linear_model import LinearRegression</a:t>
            </a:r>
          </a:p>
          <a:p>
            <a:endParaRPr sz="2025" b="0">
              <a:solidFill>
                <a:srgbClr val="102D69"/>
              </a:solidFill>
              <a:latin typeface="HSE Sans"/>
              <a:ea typeface="HSE Sans"/>
              <a:cs typeface="HSE Sans"/>
            </a:endParaRP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F = [[1], [2], [3], [4], [5]]</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y = [18, 20, 25, 29, 33]</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model = LinearRegression().fit(F, y)</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model.predict([[3.5]])</a:t>
            </a:r>
          </a:p>
        </p:txBody>
      </p:sp>
      <p:sp>
        <p:nvSpPr>
          <p:cNvPr id="9" name="l02-content-124">
            <a:extLst>
              <a:ext uri="{FF2B5EF4-FFF2-40B4-BE49-F238E27FC236}">
                <a16:creationId xmlns:a16="http://schemas.microsoft.com/office/drawing/2014/main" id="{BC9A8F28-3B08-4C7C-9694-64F3377EA21F}"/>
              </a:ext>
            </a:extLst>
          </p:cNvPr>
          <p:cNvSpPr>
            <a:spLocks noGrp="1"/>
          </p:cNvSpPr>
          <p:nvPr/>
        </p:nvSpPr>
        <p:spPr>
          <a:xfrm>
            <a:off x="590550" y="5924550"/>
            <a:ext cx="11029950" cy="723900"/>
          </a:xfrm>
          <a:prstGeom prst="rect">
            <a:avLst/>
          </a:prstGeom>
          <a:noFill/>
          <a:ln w="0">
            <a:noFill/>
          </a:ln>
        </p:spPr>
        <p:txBody>
          <a:bodyPr wrap="square" lIns="0" tIns="0" rIns="0" bIns="0" anchor="t">
            <a:noAutofit/>
          </a:bodyPr>
          <a:lstStyle/>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Результат: intercept_ = 13,3; coef_ = [3,9].</a:t>
            </a:r>
          </a:p>
          <a:p>
            <a:pPr algn="l">
              <a:lnSpc>
                <a:spcPct val="112000"/>
              </a:lnSpc>
              <a:buNone/>
              <a:defRPr sz="1875" b="0">
                <a:solidFill>
                  <a:srgbClr val="102D69"/>
                </a:solidFill>
                <a:latin typeface="HSE Sans"/>
                <a:ea typeface="HSE Sans"/>
                <a:cs typeface="HSE Sans"/>
              </a:defRPr>
            </a:pPr>
            <a:r>
              <a:rPr sz="1875" b="0">
                <a:solidFill>
                  <a:srgbClr val="102D69"/>
                </a:solidFill>
                <a:latin typeface="HSE Sans"/>
                <a:ea typeface="HSE Sans"/>
                <a:cs typeface="HSE Sans"/>
              </a:rPr>
              <a:t>Для 3,5 км прогноз равен 26,95 минуты, как при ручном расчёте.</a:t>
            </a:r>
          </a:p>
        </p:txBody>
      </p:sp>
    </p:spTree>
    <p:extLst>
      <p:ext uri="{BB962C8B-B14F-4D97-AF65-F5344CB8AC3E}">
        <p14:creationId xmlns:p14="http://schemas.microsoft.com/office/powerpoint/2010/main" val="1409846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statsmodels: коэффициенты и их неопределённость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sp>
        <p:nvSpPr>
          <p:cNvPr id="7" name="l02-content-125">
            <a:extLst>
              <a:ext uri="{FF2B5EF4-FFF2-40B4-BE49-F238E27FC236}">
                <a16:creationId xmlns:a16="http://schemas.microsoft.com/office/drawing/2014/main" id="{566A3C0A-BB95-49CA-847A-74462F21EA8E}"/>
              </a:ext>
            </a:extLst>
          </p:cNvPr>
          <p:cNvSpPr>
            <a:spLocks noGrp="1"/>
          </p:cNvSpPr>
          <p:nvPr/>
        </p:nvSpPr>
        <p:spPr>
          <a:xfrm>
            <a:off x="590550" y="2238375"/>
            <a:ext cx="11029950" cy="8763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Используем те же F и y. В матричном интерфейсе OLS столбец единиц</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добавляем явно: A = [1 F].</a:t>
            </a:r>
          </a:p>
        </p:txBody>
      </p:sp>
      <p:sp>
        <p:nvSpPr>
          <p:cNvPr id="8" name="l02-content-126">
            <a:extLst>
              <a:ext uri="{FF2B5EF4-FFF2-40B4-BE49-F238E27FC236}">
                <a16:creationId xmlns:a16="http://schemas.microsoft.com/office/drawing/2014/main" id="{51C22A03-F464-499B-AFFB-FD4370B48093}"/>
              </a:ext>
            </a:extLst>
          </p:cNvPr>
          <p:cNvSpPr>
            <a:spLocks noGrp="1"/>
          </p:cNvSpPr>
          <p:nvPr/>
        </p:nvSpPr>
        <p:spPr>
          <a:xfrm>
            <a:off x="590550" y="3267075"/>
            <a:ext cx="11029950" cy="1447800"/>
          </a:xfrm>
          <a:prstGeom prst="rect">
            <a:avLst/>
          </a:prstGeom>
          <a:noFill/>
          <a:ln w="0">
            <a:noFill/>
          </a:ln>
        </p:spPr>
        <p:txBody>
          <a:bodyPr wrap="square" lIns="0" tIns="0" rIns="0" bIns="0" anchor="t">
            <a:noAutofit/>
          </a:bodyPr>
          <a:lstStyle/>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import statsmodels.api as sm</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A = sm.add_constant(F, has_constant="add")</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result = sm.OLS(y, A).fit()</a:t>
            </a:r>
          </a:p>
          <a:p>
            <a:pPr algn="l">
              <a:lnSpc>
                <a:spcPct val="112000"/>
              </a:lnSpc>
              <a:buNone/>
              <a:defRPr sz="1950" b="0">
                <a:solidFill>
                  <a:srgbClr val="102D69"/>
                </a:solidFill>
                <a:latin typeface="HSE Sans"/>
                <a:ea typeface="HSE Sans"/>
                <a:cs typeface="HSE Sans"/>
              </a:defRPr>
            </a:pPr>
            <a:r>
              <a:rPr sz="1950" b="0">
                <a:solidFill>
                  <a:srgbClr val="102D69"/>
                </a:solidFill>
                <a:latin typeface="HSE Sans"/>
                <a:ea typeface="HSE Sans"/>
                <a:cs typeface="HSE Sans"/>
              </a:rPr>
              <a:t>print(result.summary())</a:t>
            </a:r>
          </a:p>
        </p:txBody>
      </p:sp>
      <p:graphicFrame>
        <p:nvGraphicFramePr>
          <p:cNvPr id="18" name="Таблица 17"/>
          <p:cNvGraphicFramePr/>
          <p:nvPr/>
        </p:nvGraphicFramePr>
        <p:xfrm>
          <a:off x="590550" y="4819650"/>
          <a:ext cx="11029950" cy="1438276"/>
        </p:xfrm>
        <a:graphic>
          <a:graphicData uri="http://schemas.openxmlformats.org/drawingml/2006/table">
            <a:tbl>
              <a:tblPr firstRow="1"/>
              <a:tblGrid>
                <a:gridCol w="3381375">
                  <a:extLst>
                    <a:ext uri="{9D8B030D-6E8A-4147-A177-3AD203B41FA5}">
                      <a16:colId xmlns:a16="http://schemas.microsoft.com/office/drawing/2014/main" val="20000"/>
                    </a:ext>
                  </a:extLst>
                </a:gridCol>
                <a:gridCol w="7648575">
                  <a:extLst>
                    <a:ext uri="{9D8B030D-6E8A-4147-A177-3AD203B41FA5}">
                      <a16:colId xmlns:a16="http://schemas.microsoft.com/office/drawing/2014/main" val="20001"/>
                    </a:ext>
                  </a:extLst>
                </a:gridCol>
              </a:tblGrid>
              <a:tr h="359569">
                <a:tc>
                  <a:txBody>
                    <a:bodyPr/>
                    <a:lstStyle/>
                    <a:p>
                      <a:r>
                        <a:rPr sz="1725" b="1">
                          <a:solidFill>
                            <a:srgbClr val="FFFFFF"/>
                          </a:solidFill>
                          <a:latin typeface="HSE Sans"/>
                          <a:ea typeface="HSE Sans"/>
                          <a:cs typeface="HSE Sans"/>
                        </a:rPr>
                        <a:t>В отчёте</a:t>
                      </a:r>
                    </a:p>
                  </a:txBody>
                  <a:tcPr anchor="ctr">
                    <a:solidFill>
                      <a:srgbClr val="102D69"/>
                    </a:solidFill>
                  </a:tcPr>
                </a:tc>
                <a:tc>
                  <a:txBody>
                    <a:bodyPr/>
                    <a:lstStyle/>
                    <a:p>
                      <a:r>
                        <a:rPr sz="1725" b="1">
                          <a:solidFill>
                            <a:srgbClr val="FFFFFF"/>
                          </a:solidFill>
                          <a:latin typeface="HSE Sans"/>
                          <a:ea typeface="HSE Sans"/>
                          <a:cs typeface="HSE Sans"/>
                        </a:rPr>
                        <a:t>Что читаем</a:t>
                      </a:r>
                    </a:p>
                  </a:txBody>
                  <a:tcPr anchor="ctr">
                    <a:solidFill>
                      <a:srgbClr val="102D69"/>
                    </a:solidFill>
                  </a:tcPr>
                </a:tc>
                <a:extLst>
                  <a:ext uri="{0D108BD9-81ED-4DB2-BD59-A6C34878D82A}">
                    <a16:rowId xmlns:a16="http://schemas.microsoft.com/office/drawing/2014/main" val="10000"/>
                  </a:ext>
                </a:extLst>
              </a:tr>
              <a:tr h="359569">
                <a:tc>
                  <a:txBody>
                    <a:bodyPr/>
                    <a:lstStyle/>
                    <a:p>
                      <a:r>
                        <a:rPr sz="1725" b="0">
                          <a:solidFill>
                            <a:srgbClr val="102D69"/>
                          </a:solidFill>
                          <a:latin typeface="HSE Sans"/>
                          <a:ea typeface="HSE Sans"/>
                          <a:cs typeface="HSE Sans"/>
                        </a:rPr>
                        <a:t>coef</a:t>
                      </a:r>
                    </a:p>
                  </a:txBody>
                  <a:tcPr anchor="ctr">
                    <a:solidFill>
                      <a:srgbClr val="EFF4FB"/>
                    </a:solidFill>
                  </a:tcPr>
                </a:tc>
                <a:tc>
                  <a:txBody>
                    <a:bodyPr/>
                    <a:lstStyle/>
                    <a:p>
                      <a:r>
                        <a:rPr sz="1725" b="0">
                          <a:solidFill>
                            <a:srgbClr val="102D69"/>
                          </a:solidFill>
                          <a:latin typeface="HSE Sans"/>
                          <a:ea typeface="HSE Sans"/>
                          <a:cs typeface="HSE Sans"/>
                        </a:rPr>
                        <a:t>Оценки коэффициентов: 13,3 и 3,9</a:t>
                      </a:r>
                    </a:p>
                  </a:txBody>
                  <a:tcPr anchor="ctr">
                    <a:solidFill>
                      <a:srgbClr val="EFF4FB"/>
                    </a:solidFill>
                  </a:tcPr>
                </a:tc>
                <a:extLst>
                  <a:ext uri="{0D108BD9-81ED-4DB2-BD59-A6C34878D82A}">
                    <a16:rowId xmlns:a16="http://schemas.microsoft.com/office/drawing/2014/main" val="10001"/>
                  </a:ext>
                </a:extLst>
              </a:tr>
              <a:tr h="359569">
                <a:tc>
                  <a:txBody>
                    <a:bodyPr/>
                    <a:lstStyle/>
                    <a:p>
                      <a:r>
                        <a:rPr sz="1725" b="0">
                          <a:solidFill>
                            <a:srgbClr val="102D69"/>
                          </a:solidFill>
                          <a:latin typeface="HSE Sans"/>
                          <a:ea typeface="HSE Sans"/>
                          <a:cs typeface="HSE Sans"/>
                        </a:rPr>
                        <a:t>std err, интервалы, p-value</a:t>
                      </a:r>
                    </a:p>
                  </a:txBody>
                  <a:tcPr anchor="ctr">
                    <a:solidFill>
                      <a:srgbClr val="FFFFFF"/>
                    </a:solidFill>
                  </a:tcPr>
                </a:tc>
                <a:tc>
                  <a:txBody>
                    <a:bodyPr/>
                    <a:lstStyle/>
                    <a:p>
                      <a:r>
                        <a:rPr sz="1725" b="0">
                          <a:solidFill>
                            <a:srgbClr val="102D69"/>
                          </a:solidFill>
                          <a:latin typeface="HSE Sans"/>
                          <a:ea typeface="HSE Sans"/>
                          <a:cs typeface="HSE Sans"/>
                        </a:rPr>
                        <a:t>Неопределённость оценок и проверка нулевого коэффициента</a:t>
                      </a:r>
                    </a:p>
                  </a:txBody>
                  <a:tcPr anchor="ctr">
                    <a:solidFill>
                      <a:srgbClr val="FFFFFF"/>
                    </a:solidFill>
                  </a:tcPr>
                </a:tc>
                <a:extLst>
                  <a:ext uri="{0D108BD9-81ED-4DB2-BD59-A6C34878D82A}">
                    <a16:rowId xmlns:a16="http://schemas.microsoft.com/office/drawing/2014/main" val="10002"/>
                  </a:ext>
                </a:extLst>
              </a:tr>
              <a:tr h="359569">
                <a:tc>
                  <a:txBody>
                    <a:bodyPr/>
                    <a:lstStyle/>
                    <a:p>
                      <a:r>
                        <a:rPr sz="1725" b="0">
                          <a:solidFill>
                            <a:srgbClr val="102D69"/>
                          </a:solidFill>
                          <a:latin typeface="HSE Sans"/>
                          <a:ea typeface="HSE Sans"/>
                          <a:cs typeface="HSE Sans"/>
                        </a:rPr>
                        <a:t>R-squared</a:t>
                      </a:r>
                    </a:p>
                  </a:txBody>
                  <a:tcPr anchor="ctr">
                    <a:solidFill>
                      <a:srgbClr val="EFF4FB"/>
                    </a:solidFill>
                  </a:tcPr>
                </a:tc>
                <a:tc>
                  <a:txBody>
                    <a:bodyPr/>
                    <a:lstStyle/>
                    <a:p>
                      <a:r>
                        <a:rPr sz="1725" b="0">
                          <a:solidFill>
                            <a:srgbClr val="102D69"/>
                          </a:solidFill>
                          <a:latin typeface="HSE Sans"/>
                          <a:ea typeface="HSE Sans"/>
                          <a:cs typeface="HSE Sans"/>
                        </a:rPr>
                        <a:t>R² на данных, использованных при обучении</a:t>
                      </a:r>
                    </a:p>
                  </a:txBody>
                  <a:tcPr anchor="ctr">
                    <a:solidFill>
                      <a:srgbClr val="EFF4FB"/>
                    </a:solidFill>
                  </a:tcPr>
                </a:tc>
                <a:extLst>
                  <a:ext uri="{0D108BD9-81ED-4DB2-BD59-A6C34878D82A}">
                    <a16:rowId xmlns:a16="http://schemas.microsoft.com/office/drawing/2014/main" val="10003"/>
                  </a:ext>
                </a:extLst>
              </a:tr>
            </a:tbl>
          </a:graphicData>
        </a:graphic>
      </p:graphicFrame>
      <p:sp>
        <p:nvSpPr>
          <p:cNvPr id="10" name="l02-content-127">
            <a:extLst>
              <a:ext uri="{FF2B5EF4-FFF2-40B4-BE49-F238E27FC236}">
                <a16:creationId xmlns:a16="http://schemas.microsoft.com/office/drawing/2014/main" id="{33E0E805-BFAA-4698-A474-4D834BAD481B}"/>
              </a:ext>
            </a:extLst>
          </p:cNvPr>
          <p:cNvSpPr>
            <a:spLocks noGrp="1"/>
          </p:cNvSpPr>
          <p:nvPr/>
        </p:nvSpPr>
        <p:spPr>
          <a:xfrm>
            <a:off x="590550" y="63627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Интервалы и p-value зависят от предпосылок о данных. Они не доказывают причинность.</a:t>
            </a:r>
          </a:p>
        </p:txBody>
      </p:sp>
    </p:spTree>
    <p:extLst>
      <p:ext uri="{BB962C8B-B14F-4D97-AF65-F5344CB8AC3E}">
        <p14:creationId xmlns:p14="http://schemas.microsoft.com/office/powerpoint/2010/main" val="140984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Две библиотеки, одна задача МНК</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6. Линейная регрессия в Python</a:t>
            </a:r>
          </a:p>
        </p:txBody>
      </p:sp>
      <p:graphicFrame>
        <p:nvGraphicFramePr>
          <p:cNvPr id="15" name="Таблица 14"/>
          <p:cNvGraphicFramePr/>
          <p:nvPr/>
        </p:nvGraphicFramePr>
        <p:xfrm>
          <a:off x="590550" y="2362200"/>
          <a:ext cx="11029950" cy="2534604"/>
        </p:xfrm>
        <a:graphic>
          <a:graphicData uri="http://schemas.openxmlformats.org/drawingml/2006/table">
            <a:tbl>
              <a:tblPr firstRow="1"/>
              <a:tblGrid>
                <a:gridCol w="2714625">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219575">
                  <a:extLst>
                    <a:ext uri="{9D8B030D-6E8A-4147-A177-3AD203B41FA5}">
                      <a16:colId xmlns:a16="http://schemas.microsoft.com/office/drawing/2014/main" val="20002"/>
                    </a:ext>
                  </a:extLst>
                </a:gridCol>
              </a:tblGrid>
              <a:tr h="623888">
                <a:tc>
                  <a:txBody>
                    <a:bodyPr/>
                    <a:lstStyle/>
                    <a:p>
                      <a:endParaRPr/>
                    </a:p>
                  </a:txBody>
                  <a:tcPr anchor="ctr">
                    <a:solidFill>
                      <a:srgbClr val="102D69"/>
                    </a:solidFill>
                  </a:tcPr>
                </a:tc>
                <a:tc>
                  <a:txBody>
                    <a:bodyPr/>
                    <a:lstStyle/>
                    <a:p>
                      <a:r>
                        <a:rPr sz="1875" b="1">
                          <a:solidFill>
                            <a:srgbClr val="FFFFFF"/>
                          </a:solidFill>
                          <a:latin typeface="HSE Sans"/>
                          <a:ea typeface="HSE Sans"/>
                          <a:cs typeface="HSE Sans"/>
                        </a:rPr>
                        <a:t>scikit-learn</a:t>
                      </a:r>
                    </a:p>
                  </a:txBody>
                  <a:tcPr anchor="ctr">
                    <a:solidFill>
                      <a:srgbClr val="102D69"/>
                    </a:solidFill>
                  </a:tcPr>
                </a:tc>
                <a:tc>
                  <a:txBody>
                    <a:bodyPr/>
                    <a:lstStyle/>
                    <a:p>
                      <a:r>
                        <a:rPr sz="1875" b="1">
                          <a:solidFill>
                            <a:srgbClr val="FFFFFF"/>
                          </a:solidFill>
                          <a:latin typeface="HSE Sans"/>
                          <a:ea typeface="HSE Sans"/>
                          <a:cs typeface="HSE Sans"/>
                        </a:rPr>
                        <a:t>statsmodels</a:t>
                      </a:r>
                    </a:p>
                  </a:txBody>
                  <a:tcPr anchor="ctr">
                    <a:solidFill>
                      <a:srgbClr val="102D69"/>
                    </a:solidFill>
                  </a:tcPr>
                </a:tc>
                <a:extLst>
                  <a:ext uri="{0D108BD9-81ED-4DB2-BD59-A6C34878D82A}">
                    <a16:rowId xmlns:a16="http://schemas.microsoft.com/office/drawing/2014/main" val="10000"/>
                  </a:ext>
                </a:extLst>
              </a:tr>
              <a:tr h="623888">
                <a:tc>
                  <a:txBody>
                    <a:bodyPr/>
                    <a:lstStyle/>
                    <a:p>
                      <a:r>
                        <a:rPr sz="1875" b="0">
                          <a:solidFill>
                            <a:srgbClr val="102D69"/>
                          </a:solidFill>
                          <a:latin typeface="HSE Sans"/>
                          <a:ea typeface="HSE Sans"/>
                          <a:cs typeface="HSE Sans"/>
                        </a:rPr>
                        <a:t>Основная работа</a:t>
                      </a:r>
                    </a:p>
                  </a:txBody>
                  <a:tcPr anchor="ctr">
                    <a:solidFill>
                      <a:srgbClr val="EFF4FB"/>
                    </a:solidFill>
                  </a:tcPr>
                </a:tc>
                <a:tc>
                  <a:txBody>
                    <a:bodyPr/>
                    <a:lstStyle/>
                    <a:p>
                      <a:r>
                        <a:rPr sz="1875" b="0">
                          <a:solidFill>
                            <a:srgbClr val="102D69"/>
                          </a:solidFill>
                          <a:latin typeface="HSE Sans"/>
                          <a:ea typeface="HSE Sans"/>
                          <a:cs typeface="HSE Sans"/>
                        </a:rPr>
                        <a:t>Прогнозы, Pipeline, проверка качества</a:t>
                      </a:r>
                    </a:p>
                  </a:txBody>
                  <a:tcPr anchor="ctr">
                    <a:solidFill>
                      <a:srgbClr val="EFF4FB"/>
                    </a:solidFill>
                  </a:tcPr>
                </a:tc>
                <a:tc>
                  <a:txBody>
                    <a:bodyPr/>
                    <a:lstStyle/>
                    <a:p>
                      <a:r>
                        <a:rPr sz="1875" b="0">
                          <a:solidFill>
                            <a:srgbClr val="102D69"/>
                          </a:solidFill>
                          <a:latin typeface="HSE Sans"/>
                          <a:ea typeface="HSE Sans"/>
                          <a:cs typeface="HSE Sans"/>
                        </a:rPr>
                        <a:t>Анализ коэффициентов и статистический отчёт</a:t>
                      </a:r>
                    </a:p>
                  </a:txBody>
                  <a:tcPr anchor="ctr">
                    <a:solidFill>
                      <a:srgbClr val="EFF4FB"/>
                    </a:solidFill>
                  </a:tcPr>
                </a:tc>
                <a:extLst>
                  <a:ext uri="{0D108BD9-81ED-4DB2-BD59-A6C34878D82A}">
                    <a16:rowId xmlns:a16="http://schemas.microsoft.com/office/drawing/2014/main" val="10001"/>
                  </a:ext>
                </a:extLst>
              </a:tr>
              <a:tr h="623888">
                <a:tc>
                  <a:txBody>
                    <a:bodyPr/>
                    <a:lstStyle/>
                    <a:p>
                      <a:r>
                        <a:rPr sz="1875" b="0">
                          <a:solidFill>
                            <a:srgbClr val="102D69"/>
                          </a:solidFill>
                          <a:latin typeface="HSE Sans"/>
                          <a:ea typeface="HSE Sans"/>
                          <a:cs typeface="HSE Sans"/>
                        </a:rPr>
                        <a:t>Свободный член</a:t>
                      </a:r>
                    </a:p>
                  </a:txBody>
                  <a:tcPr anchor="ctr">
                    <a:solidFill>
                      <a:srgbClr val="FFFFFF"/>
                    </a:solidFill>
                  </a:tcPr>
                </a:tc>
                <a:tc>
                  <a:txBody>
                    <a:bodyPr/>
                    <a:lstStyle/>
                    <a:p>
                      <a:r>
                        <a:rPr sz="1875" b="0">
                          <a:solidFill>
                            <a:srgbClr val="102D69"/>
                          </a:solidFill>
                          <a:latin typeface="HSE Sans"/>
                          <a:ea typeface="HSE Sans"/>
                          <a:cs typeface="HSE Sans"/>
                        </a:rPr>
                        <a:t>fit_intercept=True по умолчанию</a:t>
                      </a:r>
                    </a:p>
                  </a:txBody>
                  <a:tcPr anchor="ctr">
                    <a:solidFill>
                      <a:srgbClr val="FFFFFF"/>
                    </a:solidFill>
                  </a:tcPr>
                </a:tc>
                <a:tc>
                  <a:txBody>
                    <a:bodyPr/>
                    <a:lstStyle/>
                    <a:p>
                      <a:r>
                        <a:rPr sz="1875" b="0">
                          <a:solidFill>
                            <a:srgbClr val="102D69"/>
                          </a:solidFill>
                          <a:latin typeface="HSE Sans"/>
                          <a:ea typeface="HSE Sans"/>
                          <a:cs typeface="HSE Sans"/>
                        </a:rPr>
                        <a:t>Добавить в матричном API</a:t>
                      </a:r>
                    </a:p>
                  </a:txBody>
                  <a:tcPr anchor="ctr">
                    <a:solidFill>
                      <a:srgbClr val="FFFFFF"/>
                    </a:solidFill>
                  </a:tcPr>
                </a:tc>
                <a:extLst>
                  <a:ext uri="{0D108BD9-81ED-4DB2-BD59-A6C34878D82A}">
                    <a16:rowId xmlns:a16="http://schemas.microsoft.com/office/drawing/2014/main" val="10002"/>
                  </a:ext>
                </a:extLst>
              </a:tr>
              <a:tr h="623888">
                <a:tc>
                  <a:txBody>
                    <a:bodyPr/>
                    <a:lstStyle/>
                    <a:p>
                      <a:r>
                        <a:rPr sz="1875" b="0">
                          <a:solidFill>
                            <a:srgbClr val="102D69"/>
                          </a:solidFill>
                          <a:latin typeface="HSE Sans"/>
                          <a:ea typeface="HSE Sans"/>
                          <a:cs typeface="HSE Sans"/>
                        </a:rPr>
                        <a:t>Результат</a:t>
                      </a:r>
                    </a:p>
                  </a:txBody>
                  <a:tcPr anchor="ctr">
                    <a:solidFill>
                      <a:srgbClr val="EFF4FB"/>
                    </a:solidFill>
                  </a:tcPr>
                </a:tc>
                <a:tc>
                  <a:txBody>
                    <a:bodyPr/>
                    <a:lstStyle/>
                    <a:p>
                      <a:r>
                        <a:rPr sz="1875" b="0">
                          <a:solidFill>
                            <a:srgbClr val="102D69"/>
                          </a:solidFill>
                          <a:latin typeface="HSE Sans"/>
                          <a:ea typeface="HSE Sans"/>
                          <a:cs typeface="HSE Sans"/>
                        </a:rPr>
                        <a:t>predict, coef_, intercept_</a:t>
                      </a:r>
                    </a:p>
                  </a:txBody>
                  <a:tcPr anchor="ctr">
                    <a:solidFill>
                      <a:srgbClr val="EFF4FB"/>
                    </a:solidFill>
                  </a:tcPr>
                </a:tc>
                <a:tc>
                  <a:txBody>
                    <a:bodyPr/>
                    <a:lstStyle/>
                    <a:p>
                      <a:r>
                        <a:rPr sz="1875" b="0">
                          <a:solidFill>
                            <a:srgbClr val="102D69"/>
                          </a:solidFill>
                          <a:latin typeface="HSE Sans"/>
                          <a:ea typeface="HSE Sans"/>
                          <a:cs typeface="HSE Sans"/>
                        </a:rPr>
                        <a:t>params, summary, интервалы</a:t>
                      </a:r>
                    </a:p>
                  </a:txBody>
                  <a:tcPr anchor="ctr">
                    <a:solidFill>
                      <a:srgbClr val="EFF4FB"/>
                    </a:solidFill>
                  </a:tcPr>
                </a:tc>
                <a:extLst>
                  <a:ext uri="{0D108BD9-81ED-4DB2-BD59-A6C34878D82A}">
                    <a16:rowId xmlns:a16="http://schemas.microsoft.com/office/drawing/2014/main" val="10003"/>
                  </a:ext>
                </a:extLst>
              </a:tr>
            </a:tbl>
          </a:graphicData>
        </a:graphic>
      </p:graphicFrame>
      <p:sp>
        <p:nvSpPr>
          <p:cNvPr id="8" name="l02-content-128">
            <a:extLst>
              <a:ext uri="{FF2B5EF4-FFF2-40B4-BE49-F238E27FC236}">
                <a16:creationId xmlns:a16="http://schemas.microsoft.com/office/drawing/2014/main" id="{5F1B7330-C3F6-4A1E-BF95-603181D009C6}"/>
              </a:ext>
            </a:extLst>
          </p:cNvPr>
          <p:cNvSpPr>
            <a:spLocks noGrp="1"/>
          </p:cNvSpPr>
          <p:nvPr/>
        </p:nvSpPr>
        <p:spPr>
          <a:xfrm>
            <a:off x="590550" y="5248275"/>
            <a:ext cx="11029950" cy="87630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При одинаковых признаках, свободном члене и единственном решении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получаем одинаковые МНК-веса с точностью до округления.</a:t>
            </a:r>
          </a:p>
        </p:txBody>
      </p:sp>
      <p:sp>
        <p:nvSpPr>
          <p:cNvPr id="9" name="l02-content-129">
            <a:extLst>
              <a:ext uri="{FF2B5EF4-FFF2-40B4-BE49-F238E27FC236}">
                <a16:creationId xmlns:a16="http://schemas.microsoft.com/office/drawing/2014/main" id="{AA051F66-3857-44C6-9078-E1F1DEC848A0}"/>
              </a:ext>
            </a:extLst>
          </p:cNvPr>
          <p:cNvSpPr>
            <a:spLocks noGrp="1"/>
          </p:cNvSpPr>
          <p:nvPr/>
        </p:nvSpPr>
        <p:spPr>
          <a:xfrm>
            <a:off x="590550" y="6324600"/>
            <a:ext cx="11001375" cy="457200"/>
          </a:xfrm>
          <a:prstGeom prst="rect">
            <a:avLst/>
          </a:prstGeom>
          <a:noFill/>
          <a:ln w="0">
            <a:noFill/>
          </a:ln>
        </p:spPr>
        <p:txBody>
          <a:bodyPr wrap="square" lIns="0" tIns="0" rIns="0" bIns="0" anchor="t">
            <a:noAutofit/>
          </a:bodyPr>
          <a:lstStyle/>
          <a:p>
            <a:pPr algn="l">
              <a:lnSpc>
                <a:spcPct val="112000"/>
              </a:lnSpc>
              <a:buNone/>
              <a:defRPr sz="1650" b="0">
                <a:solidFill>
                  <a:srgbClr val="5F6B7A"/>
                </a:solidFill>
                <a:latin typeface="HSE Sans"/>
                <a:ea typeface="HSE Sans"/>
                <a:cs typeface="HSE Sans"/>
              </a:defRPr>
            </a:pPr>
            <a:r>
              <a:rPr sz="1650" b="0">
                <a:solidFill>
                  <a:srgbClr val="5F6B7A"/>
                </a:solidFill>
                <a:latin typeface="HSE Sans"/>
                <a:ea typeface="HSE Sans"/>
                <a:cs typeface="HSE Sans"/>
              </a:rPr>
              <a:t>Качество на новых данных проверяем отдельно в обоих случаях. Высокий R² на train этого не заменяет.</a:t>
            </a:r>
          </a:p>
        </p:txBody>
      </p:sp>
    </p:spTree>
    <p:extLst>
      <p:ext uri="{BB962C8B-B14F-4D97-AF65-F5344CB8AC3E}">
        <p14:creationId xmlns:p14="http://schemas.microsoft.com/office/powerpoint/2010/main" val="1409846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Линейная регрессия: полный путь</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Итоги лекции</a:t>
            </a:r>
          </a:p>
        </p:txBody>
      </p:sp>
      <p:graphicFrame>
        <p:nvGraphicFramePr>
          <p:cNvPr id="14" name="Таблица 13"/>
          <p:cNvGraphicFramePr/>
          <p:nvPr/>
        </p:nvGraphicFramePr>
        <p:xfrm>
          <a:off x="590550" y="2324100"/>
          <a:ext cx="11029950" cy="3028950"/>
        </p:xfrm>
        <a:graphic>
          <a:graphicData uri="http://schemas.openxmlformats.org/drawingml/2006/table">
            <a:tbl>
              <a:tblPr firstRow="1"/>
              <a:tblGrid>
                <a:gridCol w="3962400">
                  <a:extLst>
                    <a:ext uri="{9D8B030D-6E8A-4147-A177-3AD203B41FA5}">
                      <a16:colId xmlns:a16="http://schemas.microsoft.com/office/drawing/2014/main" val="20000"/>
                    </a:ext>
                  </a:extLst>
                </a:gridCol>
                <a:gridCol w="7067550">
                  <a:extLst>
                    <a:ext uri="{9D8B030D-6E8A-4147-A177-3AD203B41FA5}">
                      <a16:colId xmlns:a16="http://schemas.microsoft.com/office/drawing/2014/main" val="20001"/>
                    </a:ext>
                  </a:extLst>
                </a:gridCol>
              </a:tblGrid>
              <a:tr h="605790">
                <a:tc>
                  <a:txBody>
                    <a:bodyPr/>
                    <a:lstStyle/>
                    <a:p>
                      <a:r>
                        <a:rPr sz="1950" b="1">
                          <a:solidFill>
                            <a:srgbClr val="FFFFFF"/>
                          </a:solidFill>
                          <a:latin typeface="HSE Sans"/>
                          <a:ea typeface="HSE Sans"/>
                          <a:cs typeface="HSE Sans"/>
                        </a:rPr>
                        <a:t>Шаг</a:t>
                      </a:r>
                    </a:p>
                  </a:txBody>
                  <a:tcPr anchor="ctr">
                    <a:solidFill>
                      <a:srgbClr val="102D69"/>
                    </a:solidFill>
                  </a:tcPr>
                </a:tc>
                <a:tc>
                  <a:txBody>
                    <a:bodyPr/>
                    <a:lstStyle/>
                    <a:p>
                      <a:r>
                        <a:rPr sz="1950" b="1">
                          <a:solidFill>
                            <a:srgbClr val="FFFFFF"/>
                          </a:solidFill>
                          <a:latin typeface="HSE Sans"/>
                          <a:ea typeface="HSE Sans"/>
                          <a:cs typeface="HSE Sans"/>
                        </a:rPr>
                        <a:t>Что получаем</a:t>
                      </a:r>
                    </a:p>
                  </a:txBody>
                  <a:tcPr anchor="ctr">
                    <a:solidFill>
                      <a:srgbClr val="102D69"/>
                    </a:solidFill>
                  </a:tcPr>
                </a:tc>
                <a:extLst>
                  <a:ext uri="{0D108BD9-81ED-4DB2-BD59-A6C34878D82A}">
                    <a16:rowId xmlns:a16="http://schemas.microsoft.com/office/drawing/2014/main" val="10000"/>
                  </a:ext>
                </a:extLst>
              </a:tr>
              <a:tr h="605790">
                <a:tc>
                  <a:txBody>
                    <a:bodyPr/>
                    <a:lstStyle/>
                    <a:p>
                      <a:r>
                        <a:rPr sz="1950" b="0">
                          <a:solidFill>
                            <a:srgbClr val="102D69"/>
                          </a:solidFill>
                          <a:latin typeface="HSE Sans"/>
                          <a:ea typeface="HSE Sans"/>
                          <a:cs typeface="HSE Sans"/>
                        </a:rPr>
                        <a:t>1. Подготовить признаки</a:t>
                      </a:r>
                    </a:p>
                  </a:txBody>
                  <a:tcPr anchor="ctr">
                    <a:solidFill>
                      <a:srgbClr val="EFF4FB"/>
                    </a:solidFill>
                  </a:tcPr>
                </a:tc>
                <a:tc>
                  <a:txBody>
                    <a:bodyPr/>
                    <a:lstStyle/>
                    <a:p>
                      <a:r>
                        <a:rPr sz="1950" b="0">
                          <a:solidFill>
                            <a:srgbClr val="102D69"/>
                          </a:solidFill>
                          <a:latin typeface="HSE Sans"/>
                          <a:ea typeface="HSE Sans"/>
                          <a:cs typeface="HSE Sans"/>
                        </a:rPr>
                        <a:t>Числовая матрица F; затем A = [1 F]</a:t>
                      </a:r>
                    </a:p>
                  </a:txBody>
                  <a:tcPr anchor="ctr">
                    <a:solidFill>
                      <a:srgbClr val="EFF4FB"/>
                    </a:solidFill>
                  </a:tcPr>
                </a:tc>
                <a:extLst>
                  <a:ext uri="{0D108BD9-81ED-4DB2-BD59-A6C34878D82A}">
                    <a16:rowId xmlns:a16="http://schemas.microsoft.com/office/drawing/2014/main" val="10001"/>
                  </a:ext>
                </a:extLst>
              </a:tr>
              <a:tr h="605790">
                <a:tc>
                  <a:txBody>
                    <a:bodyPr/>
                    <a:lstStyle/>
                    <a:p>
                      <a:r>
                        <a:rPr sz="1950" b="0">
                          <a:solidFill>
                            <a:srgbClr val="102D69"/>
                          </a:solidFill>
                          <a:latin typeface="HSE Sans"/>
                          <a:ea typeface="HSE Sans"/>
                          <a:cs typeface="HSE Sans"/>
                        </a:rPr>
                        <a:t>2. Обучить МНК</a:t>
                      </a:r>
                    </a:p>
                  </a:txBody>
                  <a:tcPr anchor="ctr">
                    <a:solidFill>
                      <a:srgbClr val="FFFFFF"/>
                    </a:solidFill>
                  </a:tcPr>
                </a:tc>
                <a:tc>
                  <a:txBody>
                    <a:bodyPr/>
                    <a:lstStyle/>
                    <a:p>
                      <a:r>
                        <a:rPr sz="1950" b="0">
                          <a:solidFill>
                            <a:srgbClr val="102D69"/>
                          </a:solidFill>
                          <a:latin typeface="HSE Sans"/>
                          <a:ea typeface="HSE Sans"/>
                          <a:cs typeface="HSE Sans"/>
                        </a:rPr>
                        <a:t>Решаем задачу численно; QR/SVD учитывают структуру A</a:t>
                      </a:r>
                    </a:p>
                  </a:txBody>
                  <a:tcPr anchor="ctr">
                    <a:solidFill>
                      <a:srgbClr val="FFFFFF"/>
                    </a:solidFill>
                  </a:tcPr>
                </a:tc>
                <a:extLst>
                  <a:ext uri="{0D108BD9-81ED-4DB2-BD59-A6C34878D82A}">
                    <a16:rowId xmlns:a16="http://schemas.microsoft.com/office/drawing/2014/main" val="10002"/>
                  </a:ext>
                </a:extLst>
              </a:tr>
              <a:tr h="605790">
                <a:tc>
                  <a:txBody>
                    <a:bodyPr/>
                    <a:lstStyle/>
                    <a:p>
                      <a:r>
                        <a:rPr sz="1950" b="0">
                          <a:solidFill>
                            <a:srgbClr val="102D69"/>
                          </a:solidFill>
                          <a:latin typeface="HSE Sans"/>
                          <a:ea typeface="HSE Sans"/>
                          <a:cs typeface="HSE Sans"/>
                        </a:rPr>
                        <a:t>3. Интерпретировать результат</a:t>
                      </a:r>
                    </a:p>
                  </a:txBody>
                  <a:tcPr anchor="ctr">
                    <a:solidFill>
                      <a:srgbClr val="EFF4FB"/>
                    </a:solidFill>
                  </a:tcPr>
                </a:tc>
                <a:tc>
                  <a:txBody>
                    <a:bodyPr/>
                    <a:lstStyle/>
                    <a:p>
                      <a:r>
                        <a:rPr sz="1950" b="0">
                          <a:solidFill>
                            <a:srgbClr val="102D69"/>
                          </a:solidFill>
                          <a:latin typeface="HSE Sans"/>
                          <a:ea typeface="HSE Sans"/>
                          <a:cs typeface="HSE Sans"/>
                        </a:rPr>
                        <a:t>Смысл коэффициентов и структура невязок</a:t>
                      </a:r>
                    </a:p>
                  </a:txBody>
                  <a:tcPr anchor="ctr">
                    <a:solidFill>
                      <a:srgbClr val="EFF4FB"/>
                    </a:solidFill>
                  </a:tcPr>
                </a:tc>
                <a:extLst>
                  <a:ext uri="{0D108BD9-81ED-4DB2-BD59-A6C34878D82A}">
                    <a16:rowId xmlns:a16="http://schemas.microsoft.com/office/drawing/2014/main" val="10003"/>
                  </a:ext>
                </a:extLst>
              </a:tr>
              <a:tr h="605790">
                <a:tc>
                  <a:txBody>
                    <a:bodyPr/>
                    <a:lstStyle/>
                    <a:p>
                      <a:r>
                        <a:rPr sz="1950" b="0">
                          <a:solidFill>
                            <a:srgbClr val="102D69"/>
                          </a:solidFill>
                          <a:latin typeface="HSE Sans"/>
                          <a:ea typeface="HSE Sans"/>
                          <a:cs typeface="HSE Sans"/>
                        </a:rPr>
                        <a:t>4. Проверить модель</a:t>
                      </a:r>
                    </a:p>
                  </a:txBody>
                  <a:tcPr anchor="ctr">
                    <a:solidFill>
                      <a:srgbClr val="FFFFFF"/>
                    </a:solidFill>
                  </a:tcPr>
                </a:tc>
                <a:tc>
                  <a:txBody>
                    <a:bodyPr/>
                    <a:lstStyle/>
                    <a:p>
                      <a:r>
                        <a:rPr sz="1950" b="0">
                          <a:solidFill>
                            <a:srgbClr val="102D69"/>
                          </a:solidFill>
                          <a:latin typeface="HSE Sans"/>
                          <a:ea typeface="HSE Sans"/>
                          <a:cs typeface="HSE Sans"/>
                        </a:rPr>
                        <a:t>Невязки, интерпретация и ошибка на новых данных</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l02-content-130">
            <a:extLst>
              <a:ext uri="{FF2B5EF4-FFF2-40B4-BE49-F238E27FC236}">
                <a16:creationId xmlns:a16="http://schemas.microsoft.com/office/drawing/2014/main" id="{E7ECB5FD-AFE3-4E6C-96B7-8EB0562B774E}"/>
              </a:ext>
            </a:extLst>
          </p:cNvPr>
          <p:cNvSpPr>
            <a:spLocks noGrp="1"/>
          </p:cNvSpPr>
          <p:nvPr/>
        </p:nvSpPr>
        <p:spPr>
          <a:xfrm>
            <a:off x="590550" y="5686425"/>
            <a:ext cx="11029950" cy="8191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Обработка признаков задаёт допустимые зависимости.</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МНК выбирает лучшую из них по квадратичному критерию на train.</a:t>
            </a:r>
          </a:p>
        </p:txBody>
      </p:sp>
    </p:spTree>
    <p:extLst>
      <p:ext uri="{BB962C8B-B14F-4D97-AF65-F5344CB8AC3E}">
        <p14:creationId xmlns:p14="http://schemas.microsoft.com/office/powerpoint/2010/main" val="1409846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02-content-131">
            <a:extLst>
              <a:ext uri="{FF2B5EF4-FFF2-40B4-BE49-F238E27FC236}">
                <a16:creationId xmlns:a16="http://schemas.microsoft.com/office/drawing/2014/main" id="{692D2FF1-9A96-4069-A99C-D5B1DBF48E06}"/>
              </a:ext>
            </a:extLst>
          </p:cNvPr>
          <p:cNvSpPr>
            <a:spLocks noGrp="1"/>
          </p:cNvSpPr>
          <p:nvPr/>
        </p:nvSpPr>
        <p:spPr>
          <a:xfrm>
            <a:off x="590550" y="5162550"/>
            <a:ext cx="11010900" cy="666750"/>
          </a:xfrm>
          <a:prstGeom prst="rect">
            <a:avLst/>
          </a:prstGeom>
          <a:noFill/>
          <a:ln w="0">
            <a:noFill/>
          </a:ln>
        </p:spPr>
        <p:txBody>
          <a:bodyPr wrap="square" lIns="0" tIns="0" rIns="0" bIns="0" anchor="t">
            <a:noAutofit/>
          </a:bodyPr>
          <a:lstStyle/>
          <a:p>
            <a:pPr algn="ctr">
              <a:lnSpc>
                <a:spcPct val="112000"/>
              </a:lnSpc>
              <a:buNone/>
              <a:defRPr sz="2700" b="0">
                <a:solidFill>
                  <a:srgbClr val="FFFFFF"/>
                </a:solidFill>
                <a:latin typeface="HSE Sans"/>
                <a:ea typeface="HSE Sans"/>
                <a:cs typeface="HSE Sans"/>
              </a:defRPr>
            </a:pPr>
            <a:r>
              <a:rPr sz="2700" b="0">
                <a:solidFill>
                  <a:srgbClr val="FFFFFF"/>
                </a:solidFill>
                <a:latin typeface="HSE Sans"/>
                <a:ea typeface="HSE Sans"/>
                <a:cs typeface="HSE Sans"/>
              </a:rPr>
              <a:t>Вопросы</a:t>
            </a:r>
          </a:p>
        </p:txBody>
      </p:sp>
    </p:spTree>
    <p:extLst>
      <p:ext uri="{BB962C8B-B14F-4D97-AF65-F5344CB8AC3E}">
        <p14:creationId xmlns:p14="http://schemas.microsoft.com/office/powerpoint/2010/main" val="1282161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idx="13"/>
          </p:nvPr>
        </p:nvSpPr>
        <p:spPr>
          <a:xfrm>
            <a:off x="1143689" y="540904"/>
            <a:ext cx="2007884" cy="415925"/>
          </a:xfrm>
        </p:spPr>
        <p:txBody>
          <a:bodyPr lIns="0" tIns="0" rIns="0" bIns="0"/>
          <a:lstStyle/>
          <a:p>
            <a:pPr>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a:pPr>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a:pPr>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idx="14"/>
          </p:nvPr>
        </p:nvSpPr>
        <p:spPr/>
        <p:txBody>
          <a:bodyPr/>
          <a:lstStyle/>
          <a:p>
            <a:r>
              <a:t>Линейная регрессия</a:t>
            </a:r>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a:xfrm>
            <a:off x="585788" y="1438275"/>
            <a:ext cx="11058525" cy="647700"/>
          </a:xfrm>
        </p:spPr>
        <p:txBody>
          <a:bodyPr lIns="0" tIns="0" rIns="0" bIns="0">
            <a:noAutofit/>
          </a:bodyPr>
          <a:lstStyle/>
          <a:p>
            <a:pPr>
              <a:defRPr sz="3200" b="1">
                <a:solidFill>
                  <a:srgbClr val="102D69"/>
                </a:solidFill>
                <a:latin typeface="HSE Sans"/>
                <a:ea typeface="HSE Sans"/>
                <a:cs typeface="HSE Sans"/>
              </a:defRPr>
            </a:pPr>
            <a:r>
              <a:rPr sz="3200" b="1">
                <a:solidFill>
                  <a:srgbClr val="102D69"/>
                </a:solidFill>
                <a:latin typeface="HSE Sans"/>
                <a:ea typeface="HSE Sans"/>
                <a:cs typeface="HSE Sans"/>
              </a:rPr>
              <a:t>Регрессия к среднему</a:t>
            </a:r>
            <a:endParaRPr sz="3200" b="1"/>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idx="15"/>
          </p:nvPr>
        </p:nvSpPr>
        <p:spPr/>
        <p:txBody>
          <a:bodyPr/>
          <a:lstStyle/>
          <a:p>
            <a:r>
              <a:t>Приложение. История термина</a:t>
            </a:r>
          </a:p>
        </p:txBody>
      </p:sp>
      <p:sp>
        <p:nvSpPr>
          <p:cNvPr id="7" name="l02-content-132">
            <a:extLst>
              <a:ext uri="{FF2B5EF4-FFF2-40B4-BE49-F238E27FC236}">
                <a16:creationId xmlns:a16="http://schemas.microsoft.com/office/drawing/2014/main" id="{842B961F-6850-49F2-AF47-C8D0E42A8FD5}"/>
              </a:ext>
            </a:extLst>
          </p:cNvPr>
          <p:cNvSpPr>
            <a:spLocks noGrp="1"/>
          </p:cNvSpPr>
          <p:nvPr/>
        </p:nvSpPr>
        <p:spPr>
          <a:xfrm>
            <a:off x="590550" y="2257425"/>
            <a:ext cx="11029950" cy="971550"/>
          </a:xfrm>
          <a:prstGeom prst="rect">
            <a:avLst/>
          </a:prstGeom>
          <a:noFill/>
          <a:ln w="0">
            <a:noFill/>
          </a:ln>
        </p:spPr>
        <p:txBody>
          <a:bodyPr wrap="square" lIns="0" tIns="0" rIns="0" bIns="0" anchor="t">
            <a:noAutofit/>
          </a:bodyPr>
          <a:lstStyle/>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Название связано с работой Фрэнсиса Гальтона 1886 года</a:t>
            </a:r>
          </a:p>
          <a:p>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о росте родителей и их взрослых детей.</a:t>
            </a:r>
          </a:p>
        </p:txBody>
      </p:sp>
      <p:graphicFrame>
        <p:nvGraphicFramePr>
          <p:cNvPr id="16" name="Таблица 15"/>
          <p:cNvGraphicFramePr/>
          <p:nvPr/>
        </p:nvGraphicFramePr>
        <p:xfrm>
          <a:off x="590550" y="3638550"/>
          <a:ext cx="11029950" cy="1714500"/>
        </p:xfrm>
        <a:graphic>
          <a:graphicData uri="http://schemas.openxmlformats.org/drawingml/2006/table">
            <a:tbl>
              <a:tblPr firstRow="1"/>
              <a:tblGrid>
                <a:gridCol w="4572000">
                  <a:extLst>
                    <a:ext uri="{9D8B030D-6E8A-4147-A177-3AD203B41FA5}">
                      <a16:colId xmlns:a16="http://schemas.microsoft.com/office/drawing/2014/main" val="20000"/>
                    </a:ext>
                  </a:extLst>
                </a:gridCol>
                <a:gridCol w="6457950">
                  <a:extLst>
                    <a:ext uri="{9D8B030D-6E8A-4147-A177-3AD203B41FA5}">
                      <a16:colId xmlns:a16="http://schemas.microsoft.com/office/drawing/2014/main" val="20001"/>
                    </a:ext>
                  </a:extLst>
                </a:gridCol>
              </a:tblGrid>
              <a:tr h="571500">
                <a:tc>
                  <a:txBody>
                    <a:bodyPr/>
                    <a:lstStyle/>
                    <a:p>
                      <a:r>
                        <a:rPr sz="2025" b="1">
                          <a:solidFill>
                            <a:srgbClr val="FFFFFF"/>
                          </a:solidFill>
                          <a:latin typeface="HSE Sans"/>
                          <a:ea typeface="HSE Sans"/>
                          <a:cs typeface="HSE Sans"/>
                        </a:rPr>
                        <a:t>Наблюдение</a:t>
                      </a:r>
                    </a:p>
                  </a:txBody>
                  <a:tcPr anchor="ctr">
                    <a:solidFill>
                      <a:srgbClr val="102D69"/>
                    </a:solidFill>
                  </a:tcPr>
                </a:tc>
                <a:tc>
                  <a:txBody>
                    <a:bodyPr/>
                    <a:lstStyle/>
                    <a:p>
                      <a:r>
                        <a:rPr sz="2025" b="1">
                          <a:solidFill>
                            <a:srgbClr val="FFFFFF"/>
                          </a:solidFill>
                          <a:latin typeface="HSE Sans"/>
                          <a:ea typeface="HSE Sans"/>
                          <a:cs typeface="HSE Sans"/>
                        </a:rPr>
                        <a:t>Средний результат в группе</a:t>
                      </a:r>
                    </a:p>
                  </a:txBody>
                  <a:tcPr anchor="ctr">
                    <a:solidFill>
                      <a:srgbClr val="102D69"/>
                    </a:solidFill>
                  </a:tcPr>
                </a:tc>
                <a:extLst>
                  <a:ext uri="{0D108BD9-81ED-4DB2-BD59-A6C34878D82A}">
                    <a16:rowId xmlns:a16="http://schemas.microsoft.com/office/drawing/2014/main" val="10000"/>
                  </a:ext>
                </a:extLst>
              </a:tr>
              <a:tr h="571500">
                <a:tc>
                  <a:txBody>
                    <a:bodyPr/>
                    <a:lstStyle/>
                    <a:p>
                      <a:r>
                        <a:rPr sz="2025" b="0">
                          <a:solidFill>
                            <a:srgbClr val="102D69"/>
                          </a:solidFill>
                          <a:latin typeface="HSE Sans"/>
                          <a:ea typeface="HSE Sans"/>
                          <a:cs typeface="HSE Sans"/>
                        </a:rPr>
                        <a:t>Очень высокие родители</a:t>
                      </a:r>
                    </a:p>
                  </a:txBody>
                  <a:tcPr anchor="ctr">
                    <a:solidFill>
                      <a:srgbClr val="EFF4FB"/>
                    </a:solidFill>
                  </a:tcPr>
                </a:tc>
                <a:tc>
                  <a:txBody>
                    <a:bodyPr/>
                    <a:lstStyle/>
                    <a:p>
                      <a:r>
                        <a:rPr sz="2025" b="0">
                          <a:solidFill>
                            <a:srgbClr val="102D69"/>
                          </a:solidFill>
                          <a:latin typeface="HSE Sans"/>
                          <a:ea typeface="HSE Sans"/>
                          <a:cs typeface="HSE Sans"/>
                        </a:rPr>
                        <a:t>Рост детей обычно менее далеко от среднего роста</a:t>
                      </a:r>
                    </a:p>
                  </a:txBody>
                  <a:tcPr anchor="ctr">
                    <a:solidFill>
                      <a:srgbClr val="EFF4FB"/>
                    </a:solidFill>
                  </a:tcPr>
                </a:tc>
                <a:extLst>
                  <a:ext uri="{0D108BD9-81ED-4DB2-BD59-A6C34878D82A}">
                    <a16:rowId xmlns:a16="http://schemas.microsoft.com/office/drawing/2014/main" val="10001"/>
                  </a:ext>
                </a:extLst>
              </a:tr>
              <a:tr h="571500">
                <a:tc>
                  <a:txBody>
                    <a:bodyPr/>
                    <a:lstStyle/>
                    <a:p>
                      <a:r>
                        <a:rPr sz="2025" b="0">
                          <a:solidFill>
                            <a:srgbClr val="102D69"/>
                          </a:solidFill>
                          <a:latin typeface="HSE Sans"/>
                          <a:ea typeface="HSE Sans"/>
                          <a:cs typeface="HSE Sans"/>
                        </a:rPr>
                        <a:t>Очень низкие родители</a:t>
                      </a:r>
                    </a:p>
                  </a:txBody>
                  <a:tcPr anchor="ctr">
                    <a:solidFill>
                      <a:srgbClr val="FFFFFF"/>
                    </a:solidFill>
                  </a:tcPr>
                </a:tc>
                <a:tc>
                  <a:txBody>
                    <a:bodyPr/>
                    <a:lstStyle/>
                    <a:p>
                      <a:r>
                        <a:rPr sz="2025" b="0">
                          <a:solidFill>
                            <a:srgbClr val="102D69"/>
                          </a:solidFill>
                          <a:latin typeface="HSE Sans"/>
                          <a:ea typeface="HSE Sans"/>
                          <a:cs typeface="HSE Sans"/>
                        </a:rPr>
                        <a:t>Рост детей обычно тоже ближе к среднему</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l02-content-133">
            <a:extLst>
              <a:ext uri="{FF2B5EF4-FFF2-40B4-BE49-F238E27FC236}">
                <a16:creationId xmlns:a16="http://schemas.microsoft.com/office/drawing/2014/main" id="{0CD1F117-E3AF-487F-A4FD-68705780CCD0}"/>
              </a:ext>
            </a:extLst>
          </p:cNvPr>
          <p:cNvSpPr>
            <a:spLocks noGrp="1"/>
          </p:cNvSpPr>
          <p:nvPr/>
        </p:nvSpPr>
        <p:spPr>
          <a:xfrm>
            <a:off x="590550" y="5791200"/>
            <a:ext cx="11029950" cy="819150"/>
          </a:xfrm>
          <a:prstGeom prst="rect">
            <a:avLst/>
          </a:prstGeom>
          <a:noFill/>
          <a:ln w="0">
            <a:noFill/>
          </a:ln>
        </p:spPr>
        <p:txBody>
          <a:bodyPr wrap="square" lIns="0" tIns="0" rIns="0" bIns="0" anchor="t">
            <a:noAutofit/>
          </a:bodyPr>
          <a:lstStyle/>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Речь о статистической закономерности в группах, а не о каждом ребёнке.</a:t>
            </a:r>
          </a:p>
          <a:p>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Современная регрессия в ML — предсказание числовой целевой переменной.</a:t>
            </a:r>
          </a:p>
        </p:txBody>
      </p:sp>
    </p:spTree>
    <p:extLst>
      <p:ext uri="{BB962C8B-B14F-4D97-AF65-F5344CB8AC3E}">
        <p14:creationId xmlns:p14="http://schemas.microsoft.com/office/powerpoint/2010/main" val="140984671"/>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5484</Words>
  <Application>Microsoft Macintosh PowerPoint</Application>
  <DocSecurity>0</DocSecurity>
  <PresentationFormat>Широкоэкранный</PresentationFormat>
  <Paragraphs>818</Paragraphs>
  <Slides>44</Slides>
  <Notes>44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44</vt:i4>
      </vt:variant>
    </vt:vector>
  </HeadingPairs>
  <TitlesOfParts>
    <vt:vector size="50" baseType="lpstr">
      <vt:lpstr>Arial</vt:lpstr>
      <vt:lpstr>Calibri</vt:lpstr>
      <vt:lpstr>Calibri Light</vt:lpstr>
      <vt:lpstr>Cambria Math</vt:lpstr>
      <vt:lpstr>HSE Sans</vt:lpstr>
      <vt:lpstr>Office Theme</vt:lpstr>
      <vt:lpstr>Линейная регрессия</vt:lpstr>
      <vt:lpstr>Формула оценки:</vt:lpstr>
      <vt:lpstr>Содержание</vt:lpstr>
      <vt:lpstr>МНК для одного признака</vt:lpstr>
      <vt:lpstr>Обучение линейной модели</vt:lpstr>
      <vt:lpstr>Данные задачи доставки</vt:lpstr>
      <vt:lpstr>Невязки и квадратичный критерий</vt:lpstr>
      <vt:lpstr>Условие минимума по свободному члену</vt:lpstr>
      <vt:lpstr>Условие минимума по наклону</vt:lpstr>
      <vt:lpstr>Расчёт коэффициентов по выборке</vt:lpstr>
      <vt:lpstr>Невязки найденного решения</vt:lpstr>
      <vt:lpstr>Матричное решение МНК</vt:lpstr>
      <vt:lpstr>Несколько признаков одного заказа</vt:lpstr>
      <vt:lpstr>Матричная запись линейной модели</vt:lpstr>
      <vt:lpstr>Сумма квадратов ошибок в матричной записи</vt:lpstr>
      <vt:lpstr>Условие минимума: нормальные уравнения</vt:lpstr>
      <vt:lpstr>Решение МНК и условие единственности</vt:lpstr>
      <vt:lpstr>Геометрический смысл МНК</vt:lpstr>
      <vt:lpstr>Зависимые признаки и устойчивость</vt:lpstr>
      <vt:lpstr>Километры и метры: два признака об одном</vt:lpstr>
      <vt:lpstr>Почему нельзя обратить матрицу AᵀA</vt:lpstr>
      <vt:lpstr>Близкие признаки могут дать неустойчивые веса</vt:lpstr>
      <vt:lpstr>Почему формулу не вычисляют буквально</vt:lpstr>
      <vt:lpstr>QR-разложение: удобная система уравнений</vt:lpstr>
      <vt:lpstr>SVD: какие направления различают данные</vt:lpstr>
      <vt:lpstr>Обработка признаков</vt:lpstr>
      <vt:lpstr>Рисунок ошибок подсказывает новый признак</vt:lpstr>
      <vt:lpstr>Степени, логарифмы и другие преобразования</vt:lpstr>
      <vt:lpstr>One-hot encoding: район в линейной модели</vt:lpstr>
      <vt:lpstr>Почему достаточно k − 1 индикаторов</vt:lpstr>
      <vt:lpstr>Взаимодействие: разная цена километра</vt:lpstr>
      <vt:lpstr>Интервальные признаки</vt:lpstr>
      <vt:lpstr>Масштабирование числовых признаков</vt:lpstr>
      <vt:lpstr>Пропуски и применение преобразований</vt:lpstr>
      <vt:lpstr>Интерпретация и проверка модели</vt:lpstr>
      <vt:lpstr>Интерпретация коэффициентов</vt:lpstr>
      <vt:lpstr>Проверка обученной регрессии</vt:lpstr>
      <vt:lpstr>Линейная регрессия в Python</vt:lpstr>
      <vt:lpstr>LinearRegression: обучить и получить прогноз</vt:lpstr>
      <vt:lpstr>statsmodels: коэффициенты и их неопределённость</vt:lpstr>
      <vt:lpstr>Две библиотеки, одна задача МНК</vt:lpstr>
      <vt:lpstr>Линейная регрессия: полный путь</vt:lpstr>
      <vt:lpstr>Презентация PowerPoint</vt:lpstr>
      <vt:lpstr>Регрессия к среднему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 vasilev</cp:lastModifiedBy>
  <cp:revision>2</cp:revision>
  <dcterms:created xsi:type="dcterms:W3CDTF">2026-09-15T22:50:58Z</dcterms:created>
  <dcterms:modified xsi:type="dcterms:W3CDTF">2026-09-16T12:55:30Z</dcterms:modified>
</cp:coreProperties>
</file>