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charts/chart1.xml" ContentType="application/vnd.openxmlformats-officedocument.drawingml.chart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slides/charts/chart2.xml" ContentType="application/vnd.openxmlformats-officedocument.drawingml.chart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slides/charts/chart3.xml" ContentType="application/vnd.openxmlformats-officedocument.drawingml.chart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ce972d3a754e16" /><Relationship Type="http://schemas.openxmlformats.org/officeDocument/2006/relationships/extended-properties" Target="/docProps/app.xml" Id="R6193be35fea941f6" /><Relationship Type="http://schemas.openxmlformats.org/officeDocument/2006/relationships/officeDocument" Target="/ppt/presentation.xml" Id="R1b258567070f4f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350b0653e04b84"/>
  </p:sldMasterIdLst>
  <p:notesMasterIdLst>
    <p:notesMasterId xmlns:r="http://schemas.openxmlformats.org/officeDocument/2006/relationships" r:id="R9d418f025da54fc9"/>
  </p:notesMasterIdLst>
  <p:sldIdLst>
    <p:sldId xmlns:r="http://schemas.openxmlformats.org/officeDocument/2006/relationships" id="256" r:id="R18d0043a0f82418c"/>
    <p:sldId xmlns:r="http://schemas.openxmlformats.org/officeDocument/2006/relationships" id="257" r:id="Rac557107dc7c412b"/>
    <p:sldId xmlns:r="http://schemas.openxmlformats.org/officeDocument/2006/relationships" id="258" r:id="Rf90f734095d44f0d"/>
    <p:sldId xmlns:r="http://schemas.openxmlformats.org/officeDocument/2006/relationships" id="259" r:id="Rd033b778144f4abf"/>
    <p:sldId xmlns:r="http://schemas.openxmlformats.org/officeDocument/2006/relationships" id="260" r:id="R23cfd1a676294551"/>
    <p:sldId xmlns:r="http://schemas.openxmlformats.org/officeDocument/2006/relationships" id="261" r:id="R7b24e082881844c3"/>
    <p:sldId xmlns:r="http://schemas.openxmlformats.org/officeDocument/2006/relationships" id="262" r:id="Rdb4802dc1e454072"/>
    <p:sldId xmlns:r="http://schemas.openxmlformats.org/officeDocument/2006/relationships" id="263" r:id="Rf11a99fd46d144c8"/>
    <p:sldId xmlns:r="http://schemas.openxmlformats.org/officeDocument/2006/relationships" id="264" r:id="Rb41f3e58db434302"/>
    <p:sldId xmlns:r="http://schemas.openxmlformats.org/officeDocument/2006/relationships" id="265" r:id="R19f42d42ac874607"/>
    <p:sldId xmlns:r="http://schemas.openxmlformats.org/officeDocument/2006/relationships" id="266" r:id="Rcb41c82802a2409f"/>
    <p:sldId xmlns:r="http://schemas.openxmlformats.org/officeDocument/2006/relationships" id="267" r:id="Rb2d55ab8c987414d"/>
    <p:sldId xmlns:r="http://schemas.openxmlformats.org/officeDocument/2006/relationships" id="268" r:id="R5599709e9c1b4612"/>
    <p:sldId xmlns:r="http://schemas.openxmlformats.org/officeDocument/2006/relationships" id="269" r:id="Rbb631892aac74340"/>
    <p:sldId xmlns:r="http://schemas.openxmlformats.org/officeDocument/2006/relationships" id="270" r:id="R9246d2a2343a46e5"/>
    <p:sldId xmlns:r="http://schemas.openxmlformats.org/officeDocument/2006/relationships" id="271" r:id="Rb8ff10a81a344ec1"/>
    <p:sldId xmlns:r="http://schemas.openxmlformats.org/officeDocument/2006/relationships" id="272" r:id="Rd8aa325a180745bf"/>
    <p:sldId xmlns:r="http://schemas.openxmlformats.org/officeDocument/2006/relationships" id="273" r:id="R03cb34af50094ac3"/>
    <p:sldId xmlns:r="http://schemas.openxmlformats.org/officeDocument/2006/relationships" id="274" r:id="R808c430a61fa44b2"/>
    <p:sldId xmlns:r="http://schemas.openxmlformats.org/officeDocument/2006/relationships" id="275" r:id="R2e22320c3e604b69"/>
    <p:sldId xmlns:r="http://schemas.openxmlformats.org/officeDocument/2006/relationships" id="276" r:id="Ra811847017114b6b"/>
    <p:sldId xmlns:r="http://schemas.openxmlformats.org/officeDocument/2006/relationships" id="277" r:id="R4925ef99a9cb43ff"/>
    <p:sldId xmlns:r="http://schemas.openxmlformats.org/officeDocument/2006/relationships" id="278" r:id="R13de69159b2d4ca9"/>
    <p:sldId xmlns:r="http://schemas.openxmlformats.org/officeDocument/2006/relationships" id="279" r:id="R3404bb7141914edd"/>
    <p:sldId xmlns:r="http://schemas.openxmlformats.org/officeDocument/2006/relationships" id="280" r:id="R513b20b2b3294790"/>
    <p:sldId xmlns:r="http://schemas.openxmlformats.org/officeDocument/2006/relationships" id="281" r:id="Rde3d878f056e4b1b"/>
    <p:sldId xmlns:r="http://schemas.openxmlformats.org/officeDocument/2006/relationships" id="282" r:id="Ref4f453134a1465f"/>
    <p:sldId xmlns:r="http://schemas.openxmlformats.org/officeDocument/2006/relationships" id="283" r:id="Rdd59aa6fbaa24c42"/>
    <p:sldId xmlns:r="http://schemas.openxmlformats.org/officeDocument/2006/relationships" id="284" r:id="Rf0af0853d00649d5"/>
    <p:sldId xmlns:r="http://schemas.openxmlformats.org/officeDocument/2006/relationships" id="285" r:id="R9054f8374ad146da"/>
    <p:sldId xmlns:r="http://schemas.openxmlformats.org/officeDocument/2006/relationships" id="286" r:id="Rbc1ed03a6fad4b72"/>
    <p:sldId xmlns:r="http://schemas.openxmlformats.org/officeDocument/2006/relationships" id="287" r:id="R76e78c95e183413f"/>
    <p:sldId xmlns:r="http://schemas.openxmlformats.org/officeDocument/2006/relationships" id="288" r:id="R7059ddf9bd544837"/>
    <p:sldId xmlns:r="http://schemas.openxmlformats.org/officeDocument/2006/relationships" id="289" r:id="Rd798c16af0f745c6"/>
    <p:sldId xmlns:r="http://schemas.openxmlformats.org/officeDocument/2006/relationships" id="290" r:id="R4914b8af26bd4f71"/>
    <p:sldId xmlns:r="http://schemas.openxmlformats.org/officeDocument/2006/relationships" id="291" r:id="R3c15ef91dfbc41a1"/>
    <p:sldId xmlns:r="http://schemas.openxmlformats.org/officeDocument/2006/relationships" id="292" r:id="R78de8ff435fc412a"/>
    <p:sldId xmlns:r="http://schemas.openxmlformats.org/officeDocument/2006/relationships" id="293" r:id="Ra178fcc1fcb74c97"/>
    <p:sldId xmlns:r="http://schemas.openxmlformats.org/officeDocument/2006/relationships" id="294" r:id="R9de894a928e74a80"/>
    <p:sldId xmlns:r="http://schemas.openxmlformats.org/officeDocument/2006/relationships" id="295" r:id="Rcad62553004649e5"/>
    <p:sldId xmlns:r="http://schemas.openxmlformats.org/officeDocument/2006/relationships" id="296" r:id="Rf8ed43c0aae04818"/>
    <p:sldId xmlns:r="http://schemas.openxmlformats.org/officeDocument/2006/relationships" id="297" r:id="R7ca206fa7b11481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7b1d3e1acd4992" /><Relationship Type="http://schemas.openxmlformats.org/officeDocument/2006/relationships/slideMaster" Target="/ppt/slideMasters/slideMaster1.xml" Id="R8b350b0653e04b84" /><Relationship Type="http://schemas.openxmlformats.org/officeDocument/2006/relationships/notesMaster" Target="/ppt/notesMasters/notesMaster1.xml" Id="R9d418f025da54fc9" /><Relationship Type="http://schemas.openxmlformats.org/officeDocument/2006/relationships/presProps" Target="/ppt/presProps.xml" Id="R19e72c0fdd2441a7" /><Relationship Type="http://schemas.openxmlformats.org/officeDocument/2006/relationships/viewProps" Target="/ppt/viewProps.xml" Id="R740caa7737f04bb1" /><Relationship Type="http://schemas.openxmlformats.org/officeDocument/2006/relationships/tableStyles" Target="/ppt/tableStyles.xml" Id="R3dea3880a7e14d16" /><Relationship Type="http://schemas.openxmlformats.org/officeDocument/2006/relationships/slide" Target="/ppt/slides/slide1.xml" Id="R18d0043a0f82418c" /><Relationship Type="http://schemas.openxmlformats.org/officeDocument/2006/relationships/slide" Target="/ppt/slides/slide2.xml" Id="Rac557107dc7c412b" /><Relationship Type="http://schemas.openxmlformats.org/officeDocument/2006/relationships/slide" Target="/ppt/slides/slide3.xml" Id="Rf90f734095d44f0d" /><Relationship Type="http://schemas.openxmlformats.org/officeDocument/2006/relationships/slide" Target="/ppt/slides/slide4.xml" Id="Rd033b778144f4abf" /><Relationship Type="http://schemas.openxmlformats.org/officeDocument/2006/relationships/slide" Target="/ppt/slides/slide5.xml" Id="R23cfd1a676294551" /><Relationship Type="http://schemas.openxmlformats.org/officeDocument/2006/relationships/slide" Target="/ppt/slides/slide6.xml" Id="R7b24e082881844c3" /><Relationship Type="http://schemas.openxmlformats.org/officeDocument/2006/relationships/slide" Target="/ppt/slides/slide7.xml" Id="Rdb4802dc1e454072" /><Relationship Type="http://schemas.openxmlformats.org/officeDocument/2006/relationships/slide" Target="/ppt/slides/slide8.xml" Id="Rf11a99fd46d144c8" /><Relationship Type="http://schemas.openxmlformats.org/officeDocument/2006/relationships/slide" Target="/ppt/slides/slide9.xml" Id="Rb41f3e58db434302" /><Relationship Type="http://schemas.openxmlformats.org/officeDocument/2006/relationships/slide" Target="/ppt/slides/slide10.xml" Id="R19f42d42ac874607" /><Relationship Type="http://schemas.openxmlformats.org/officeDocument/2006/relationships/slide" Target="/ppt/slides/slide11.xml" Id="Rcb41c82802a2409f" /><Relationship Type="http://schemas.openxmlformats.org/officeDocument/2006/relationships/slide" Target="/ppt/slides/slide12.xml" Id="Rb2d55ab8c987414d" /><Relationship Type="http://schemas.openxmlformats.org/officeDocument/2006/relationships/slide" Target="/ppt/slides/slide13.xml" Id="R5599709e9c1b4612" /><Relationship Type="http://schemas.openxmlformats.org/officeDocument/2006/relationships/slide" Target="/ppt/slides/slide14.xml" Id="Rbb631892aac74340" /><Relationship Type="http://schemas.openxmlformats.org/officeDocument/2006/relationships/slide" Target="/ppt/slides/slide15.xml" Id="R9246d2a2343a46e5" /><Relationship Type="http://schemas.openxmlformats.org/officeDocument/2006/relationships/slide" Target="/ppt/slides/slide16.xml" Id="Rb8ff10a81a344ec1" /><Relationship Type="http://schemas.openxmlformats.org/officeDocument/2006/relationships/slide" Target="/ppt/slides/slide17.xml" Id="Rd8aa325a180745bf" /><Relationship Type="http://schemas.openxmlformats.org/officeDocument/2006/relationships/slide" Target="/ppt/slides/slide18.xml" Id="R03cb34af50094ac3" /><Relationship Type="http://schemas.openxmlformats.org/officeDocument/2006/relationships/slide" Target="/ppt/slides/slide19.xml" Id="R808c430a61fa44b2" /><Relationship Type="http://schemas.openxmlformats.org/officeDocument/2006/relationships/slide" Target="/ppt/slides/slide20.xml" Id="R2e22320c3e604b69" /><Relationship Type="http://schemas.openxmlformats.org/officeDocument/2006/relationships/slide" Target="/ppt/slides/slide21.xml" Id="Ra811847017114b6b" /><Relationship Type="http://schemas.openxmlformats.org/officeDocument/2006/relationships/slide" Target="/ppt/slides/slide22.xml" Id="R4925ef99a9cb43ff" /><Relationship Type="http://schemas.openxmlformats.org/officeDocument/2006/relationships/slide" Target="/ppt/slides/slide23.xml" Id="R13de69159b2d4ca9" /><Relationship Type="http://schemas.openxmlformats.org/officeDocument/2006/relationships/slide" Target="/ppt/slides/slide24.xml" Id="R3404bb7141914edd" /><Relationship Type="http://schemas.openxmlformats.org/officeDocument/2006/relationships/slide" Target="/ppt/slides/slide25.xml" Id="R513b20b2b3294790" /><Relationship Type="http://schemas.openxmlformats.org/officeDocument/2006/relationships/slide" Target="/ppt/slides/slide26.xml" Id="Rde3d878f056e4b1b" /><Relationship Type="http://schemas.openxmlformats.org/officeDocument/2006/relationships/slide" Target="/ppt/slides/slide27.xml" Id="Ref4f453134a1465f" /><Relationship Type="http://schemas.openxmlformats.org/officeDocument/2006/relationships/slide" Target="/ppt/slides/slide28.xml" Id="Rdd59aa6fbaa24c42" /><Relationship Type="http://schemas.openxmlformats.org/officeDocument/2006/relationships/slide" Target="/ppt/slides/slide29.xml" Id="Rf0af0853d00649d5" /><Relationship Type="http://schemas.openxmlformats.org/officeDocument/2006/relationships/slide" Target="/ppt/slides/slide30.xml" Id="R9054f8374ad146da" /><Relationship Type="http://schemas.openxmlformats.org/officeDocument/2006/relationships/slide" Target="/ppt/slides/slide31.xml" Id="Rbc1ed03a6fad4b72" /><Relationship Type="http://schemas.openxmlformats.org/officeDocument/2006/relationships/slide" Target="/ppt/slides/slide32.xml" Id="R76e78c95e183413f" /><Relationship Type="http://schemas.openxmlformats.org/officeDocument/2006/relationships/slide" Target="/ppt/slides/slide33.xml" Id="R7059ddf9bd544837" /><Relationship Type="http://schemas.openxmlformats.org/officeDocument/2006/relationships/slide" Target="/ppt/slides/slide34.xml" Id="Rd798c16af0f745c6" /><Relationship Type="http://schemas.openxmlformats.org/officeDocument/2006/relationships/slide" Target="/ppt/slides/slide35.xml" Id="R4914b8af26bd4f71" /><Relationship Type="http://schemas.openxmlformats.org/officeDocument/2006/relationships/slide" Target="/ppt/slides/slide36.xml" Id="R3c15ef91dfbc41a1" /><Relationship Type="http://schemas.openxmlformats.org/officeDocument/2006/relationships/slide" Target="/ppt/slides/slide37.xml" Id="R78de8ff435fc412a" /><Relationship Type="http://schemas.openxmlformats.org/officeDocument/2006/relationships/slide" Target="/ppt/slides/slide38.xml" Id="Ra178fcc1fcb74c97" /><Relationship Type="http://schemas.openxmlformats.org/officeDocument/2006/relationships/slide" Target="/ppt/slides/slide39.xml" Id="R9de894a928e74a80" /><Relationship Type="http://schemas.openxmlformats.org/officeDocument/2006/relationships/slide" Target="/ppt/slides/slide40.xml" Id="Rcad62553004649e5" /><Relationship Type="http://schemas.openxmlformats.org/officeDocument/2006/relationships/slide" Target="/ppt/slides/slide41.xml" Id="Rf8ed43c0aae04818" /><Relationship Type="http://schemas.openxmlformats.org/officeDocument/2006/relationships/slide" Target="/ppt/slides/slide42.xml" Id="R7ca206fa7b11481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2df24b81b044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Пользовательские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6f91d353c1a4748" /><Relationship Type="http://schemas.openxmlformats.org/officeDocument/2006/relationships/notesMaster" Target="/ppt/notesMasters/notesMaster1.xml" Id="R9fece3feb7fe436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f3874c0f584cbc" /><Relationship Type="http://schemas.openxmlformats.org/officeDocument/2006/relationships/notesMaster" Target="/ppt/notesMasters/notesMaster1.xml" Id="R8726599a05f3481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0ee1f63843498d" /><Relationship Type="http://schemas.openxmlformats.org/officeDocument/2006/relationships/notesMaster" Target="/ppt/notesMasters/notesMaster1.xml" Id="R8daa9caa796945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b27ac03cc54c9d" /><Relationship Type="http://schemas.openxmlformats.org/officeDocument/2006/relationships/notesMaster" Target="/ppt/notesMasters/notesMaster1.xml" Id="R347c7aa833604a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097d8523b6a453e" /><Relationship Type="http://schemas.openxmlformats.org/officeDocument/2006/relationships/notesMaster" Target="/ppt/notesMasters/notesMaster1.xml" Id="R05d1245702664a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c39a1d7cb64f73" /><Relationship Type="http://schemas.openxmlformats.org/officeDocument/2006/relationships/notesMaster" Target="/ppt/notesMasters/notesMaster1.xml" Id="R3d06932791784d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c986d399d4e48bb" /><Relationship Type="http://schemas.openxmlformats.org/officeDocument/2006/relationships/notesMaster" Target="/ppt/notesMasters/notesMaster1.xml" Id="R7a1c884f98fe45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69232dff164353" /><Relationship Type="http://schemas.openxmlformats.org/officeDocument/2006/relationships/notesMaster" Target="/ppt/notesMasters/notesMaster1.xml" Id="R499af605172a4a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4d19d3f2f8c40d0" /><Relationship Type="http://schemas.openxmlformats.org/officeDocument/2006/relationships/notesMaster" Target="/ppt/notesMasters/notesMaster1.xml" Id="R46fa0cd46f5646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5a32671f284a26" /><Relationship Type="http://schemas.openxmlformats.org/officeDocument/2006/relationships/notesMaster" Target="/ppt/notesMasters/notesMaster1.xml" Id="Rd4e127fbb7024c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b8eccaaa134e3d" /><Relationship Type="http://schemas.openxmlformats.org/officeDocument/2006/relationships/notesMaster" Target="/ppt/notesMasters/notesMaster1.xml" Id="R83b4f340dae4415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523b039a62c44d2" /><Relationship Type="http://schemas.openxmlformats.org/officeDocument/2006/relationships/notesMaster" Target="/ppt/notesMasters/notesMaster1.xml" Id="Rdf38299a5940494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8c4b3568be4981" /><Relationship Type="http://schemas.openxmlformats.org/officeDocument/2006/relationships/notesMaster" Target="/ppt/notesMasters/notesMaster1.xml" Id="R1cbd3323427e464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bf6b07257545d5" /><Relationship Type="http://schemas.openxmlformats.org/officeDocument/2006/relationships/notesMaster" Target="/ppt/notesMasters/notesMaster1.xml" Id="R5d5b89ab27674d9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3492f362c394730" /><Relationship Type="http://schemas.openxmlformats.org/officeDocument/2006/relationships/notesMaster" Target="/ppt/notesMasters/notesMaster1.xml" Id="Rc2c30d65a366488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9f463e0019f4cf0" /><Relationship Type="http://schemas.openxmlformats.org/officeDocument/2006/relationships/notesMaster" Target="/ppt/notesMasters/notesMaster1.xml" Id="R1c65dda1e8374f3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00cb964ea324359" /><Relationship Type="http://schemas.openxmlformats.org/officeDocument/2006/relationships/notesMaster" Target="/ppt/notesMasters/notesMaster1.xml" Id="Reb4647742a14437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29d7154f83e44e2" /><Relationship Type="http://schemas.openxmlformats.org/officeDocument/2006/relationships/notesMaster" Target="/ppt/notesMasters/notesMaster1.xml" Id="R1051cb01fea74d8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57506f6c898410c" /><Relationship Type="http://schemas.openxmlformats.org/officeDocument/2006/relationships/notesMaster" Target="/ppt/notesMasters/notesMaster1.xml" Id="Rdf4a629c0ff5487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019c1047dcc4ac8" /><Relationship Type="http://schemas.openxmlformats.org/officeDocument/2006/relationships/notesMaster" Target="/ppt/notesMasters/notesMaster1.xml" Id="R2f959259c230441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d7026fedf7741a5" /><Relationship Type="http://schemas.openxmlformats.org/officeDocument/2006/relationships/notesMaster" Target="/ppt/notesMasters/notesMaster1.xml" Id="R0c6a520fb0f64b9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9e54978261a4f5f" /><Relationship Type="http://schemas.openxmlformats.org/officeDocument/2006/relationships/notesMaster" Target="/ppt/notesMasters/notesMaster1.xml" Id="Rd6cf4160ab54404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5c46a1f794f47c7" /><Relationship Type="http://schemas.openxmlformats.org/officeDocument/2006/relationships/notesMaster" Target="/ppt/notesMasters/notesMaster1.xml" Id="Raed4ee797b4e41a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e4d6f2e6f624abe" /><Relationship Type="http://schemas.openxmlformats.org/officeDocument/2006/relationships/notesMaster" Target="/ppt/notesMasters/notesMaster1.xml" Id="R18ce25c2038c43e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879092ee93d4bff" /><Relationship Type="http://schemas.openxmlformats.org/officeDocument/2006/relationships/notesMaster" Target="/ppt/notesMasters/notesMaster1.xml" Id="Raf363dec2ac7432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67ba6977632456f" /><Relationship Type="http://schemas.openxmlformats.org/officeDocument/2006/relationships/notesMaster" Target="/ppt/notesMasters/notesMaster1.xml" Id="R600de10789144d7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0c18d42607d4580" /><Relationship Type="http://schemas.openxmlformats.org/officeDocument/2006/relationships/notesMaster" Target="/ppt/notesMasters/notesMaster1.xml" Id="R8f089fb188604d6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b78db9ea7bb74d10" /><Relationship Type="http://schemas.openxmlformats.org/officeDocument/2006/relationships/notesMaster" Target="/ppt/notesMasters/notesMaster1.xml" Id="R5b70b53df31a4f8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60d8840c8d64a47" /><Relationship Type="http://schemas.openxmlformats.org/officeDocument/2006/relationships/notesMaster" Target="/ppt/notesMasters/notesMaster1.xml" Id="R278f0e0a576640f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6fa309d0c514b3a" /><Relationship Type="http://schemas.openxmlformats.org/officeDocument/2006/relationships/notesMaster" Target="/ppt/notesMasters/notesMaster1.xml" Id="R47654e740c704c6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f08ba4ef36ae41c2" /><Relationship Type="http://schemas.openxmlformats.org/officeDocument/2006/relationships/notesMaster" Target="/ppt/notesMasters/notesMaster1.xml" Id="R856d0b98f6c9417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b68847fcd36b4264" /><Relationship Type="http://schemas.openxmlformats.org/officeDocument/2006/relationships/notesMaster" Target="/ppt/notesMasters/notesMaster1.xml" Id="R6e135f02725c472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80c7a016ffe4e1a" /><Relationship Type="http://schemas.openxmlformats.org/officeDocument/2006/relationships/notesMaster" Target="/ppt/notesMasters/notesMaster1.xml" Id="Rd9365150e8ed4b5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c150057b4954ae6" /><Relationship Type="http://schemas.openxmlformats.org/officeDocument/2006/relationships/notesMaster" Target="/ppt/notesMasters/notesMaster1.xml" Id="Rbd0ebcaa6dc8451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e96d1dfbae4497e" /><Relationship Type="http://schemas.openxmlformats.org/officeDocument/2006/relationships/notesMaster" Target="/ppt/notesMasters/notesMaster1.xml" Id="Ra172ab9ce7ae471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e63249fa4c54461" /><Relationship Type="http://schemas.openxmlformats.org/officeDocument/2006/relationships/notesMaster" Target="/ppt/notesMasters/notesMaster1.xml" Id="R327234dc8971464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79b9bd4e3de043d8" /><Relationship Type="http://schemas.openxmlformats.org/officeDocument/2006/relationships/notesMaster" Target="/ppt/notesMasters/notesMaster1.xml" Id="Re125a41ba9634eb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5184f430b524b9c" /><Relationship Type="http://schemas.openxmlformats.org/officeDocument/2006/relationships/notesMaster" Target="/ppt/notesMasters/notesMaster1.xml" Id="R9caffcbb9d4c43a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4c43f2bb64349fe" /><Relationship Type="http://schemas.openxmlformats.org/officeDocument/2006/relationships/notesMaster" Target="/ppt/notesMasters/notesMaster1.xml" Id="Rc877a88593814ee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c538e12706f4d8d" /><Relationship Type="http://schemas.openxmlformats.org/officeDocument/2006/relationships/notesMaster" Target="/ppt/notesMasters/notesMaster1.xml" Id="R3fe361bfafc447f2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e62e85b9e32f4270" /><Relationship Type="http://schemas.openxmlformats.org/officeDocument/2006/relationships/notesMaster" Target="/ppt/notesMasters/notesMaster1.xml" Id="R8e1c9c8adcf743f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7df3ba4f22d4b1b" /><Relationship Type="http://schemas.openxmlformats.org/officeDocument/2006/relationships/notesMaster" Target="/ppt/notesMasters/notesMaster1.xml" Id="Raa1d925446a24c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обучение. Математическая постановка: пространства объектов и ответов, признаки, выборка, семейство моделей, функция потерь, эмпирический риск и задача обучения. Шаблон исходной лекции Вышки.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Объект, целевой ответ и назначение прогноза.</a:t>
            </a:r>
          </a:p>
          <a:p xmlns:a="http://schemas.openxmlformats.org/drawingml/2006/main">
            <a:r>
              <a:t>Математические пространства объектов и ответов.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Авторский учебный пример. Все заказы и числа синтетические. Идея сквозного расчёта адаптирована из ЦУ, неделя 1, слайды 25–31 и 41–43; исходные данные, формулировки и рисунки не копируются. Учебная постановка ограничена завершёнными доставками. В рабочей системе следует отдельно определить обработку отмен и незавершённых заказов.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задаче доставки: один объект — один заказ с состоянием, зафиксированным в момент подтверждения. Таргет измеряется после вручения.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Функции признаков и числовое кодирование.</a:t>
            </a:r>
          </a:p>
          <a:p xmlns:a="http://schemas.openxmlformats.org/drawingml/2006/main">
            <a:r>
              <a:t>Выборка и матрица признаков.</a:t>
            </a:r>
          </a:p>
          <a:p xmlns:a="http://schemas.openxmlformats.org/drawingml/2006/main">
            <a:r>
              <a:t>Доступность информации при прогнозе.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Признак сопоставляет объекту характеристику. После кодирования объект представляется числовым вектором. Один категориальный признак может дать несколько координат.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4, 5,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Для порядкового признака задаётся отношение порядка, числовая метрика при этом не следует автоматически. Для set-valued признак принимает подмножество C, а не единственный элемент C. Индикаторы присутствия категорий дают multi-hot-представление. Эти уточнения устраняют неточности исходного слайда 5 без сокращения его содержания.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Авторский пример кодирования. Условные районы не имеют естественного порядка. One-hot даёт симметричное представление трёх категорий и само по себе не описывает географические расстояния. Вопрос линейной зависимости столбцов при добавлении свободного члена относится к лекции о линейной регрессии.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4, 5,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 обозначает обучающую выборку, 𝕏 обозначает пространство объектов. Матрица признаков обозначается F. Далее рассматривается числовое представление объекта после кодирования; индекс i нумерует объекты, j — признаки.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Авторский учебный пример. Все заказы и числа синтетические. Идея сквозного расчёта адаптирована из ЦУ, неделя 1, слайды 25–31 и 41–43; исходные данные, формулировки и рисунки не копируются. Адаптация ЦУ, неделя 1, слайды 7–9: доступность признаков при применении и data leakage. Историческая таблица должна воспроизводить срез информации на момент прогноза, а не состояние заказа после завершения.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4,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Способ обучения и структура ответа.</a:t>
            </a:r>
          </a:p>
          <a:p xmlns:a="http://schemas.openxmlformats.org/drawingml/2006/main">
            <a:r>
              <a:t>Регрессия, классификация, ранжирование, прогнозирование.</a:t>
            </a:r>
          </a:p>
          <a:p xmlns:a="http://schemas.openxmlformats.org/drawingml/2006/main">
            <a:r>
              <a:t>Структурированные ответы и задачи без разметки.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Самоконтролируемое обучение (self-supervised learning) строит целевые ответы из самих данных. Термин не означает self-training с псевдометками. Режимы не взаимоисключают комбинации: самоконтролируемое предобучение может предшествовать обучению с учителем. Обучение с подкреплением оптимизирует ожидаемую совокупную награду. Обзор расширяет исходную постановку Вышки, слайд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Расширение обзора по ЦУ, неделя 1, слайд 17. В многомерной регрессии ответом является вектор вещественных величин. Координаты могут иметь разный масштаб, поэтому агрегирование ошибок требует отдельного выбора.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Обзор расширен по ЦУ, неделя 1, слайд 17. Для многоклассовой задачи классы взаимоисключают друг друга, в многометочной возможны несколько меток одновременно. Вероятностные прогнозы и выбор порога относятся к лекции о классификации.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неделя 1, слайд 17. Прогнозирование может быть скалярной или многомерной регрессией. История задаёт доступные наблюдения, горизонт — расстояние до прогнозируемого периода. Календарь будущего периода известен заранее.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неделя 1, слайд 6. В ранжировании результатом служит порядок кандидатов в контексте запроса. Рекомендательные системы могут использовать разные постановки, в том числе ранжирование.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Развитие обзора ЦУ, неделя 1, слайды 18 и 20. Ответ может состоять из взаимосвязанных компонентов и иметь переменную длину.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Вышка, слайд 7; дополнение к обзору постановок. Оценивание плотности и детекция аномалий расширяют кластеризацию и снижение размерности. Аномалии также можно искать в supervised и semi-supervised постановке, если есть соответствующая разметка.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Семейство моделей и алгоритм обучения.</a:t>
            </a:r>
          </a:p>
          <a:p xmlns:a="http://schemas.openxmlformats.org/drawingml/2006/main">
            <a:r>
              <a:t>Ограничения на допустимые зависимости.</a:t>
            </a:r>
          </a:p>
          <a:p xmlns:a="http://schemas.openxmlformats.org/drawingml/2006/main">
            <a:r>
              <a:t>Потеря на одном объекте.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исходной постановке модель отображает пространство объектов в пространство ответов. Здесь рассматриваем прогноз самого ответа: числа, класса или структуры. Вероятностные прогнозы будут введены в лекции о классификации.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исходной лекции линейная модель служит примером параметрического семейства. Координаты x — признаки после числового кодирования. Лекции 2–3 посвящены линейной регрессии и её обучению.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8,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Функция потерь соответствует исходной постановке. Индикатор равен единице, если условие выполнено, и нулю иначе. Свойства конкретных потерь разбираются в следующем блоке.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8,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5.1. Эмпирический риск и оптимизация</a:t>
            </a:r>
          </a:p>
          <a:p xmlns:a="http://schemas.openxmlformats.org/drawingml/2006/main">
            <a:r>
              <a:t>5.2. Метрики и выбор функции потерь</a:t>
            </a:r>
          </a:p>
          <a:p xmlns:a="http://schemas.openxmlformats.org/drawingml/2006/main">
            <a:r>
              <a:t>5.3. Обобщение и протокол оценки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Адаптация ЦУ, неделя 1, слайды 23–24. Различаем роль функции: штраф на объекте, оптимизируемый критерий и измеряемое качество. Одна формула может выполнять несколько ролей.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8,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Средняя потеря и минимизация по семейству соответствуют исходной лекции. argmin обозначает модель, на которой достигается наименьшее значение критерия. Если решений несколько, запись с принадлежностью выбирает одно из них.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9,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неделя 1, слайды 27–28 и 34. MSE и RMSE на одной и той же выборке упорядочивают модели одинаково. На нескольких фолдах среднее RMSE и корень из среднего MSE не тождественны. Ни MAE, ни RMSE сами по себе не описывают распределение ошибок.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Авторский учебный пример. Все заказы и числа синтетические. Идея сквозного расчёта адаптирована из ЦУ, неделя 1, слайды 25–31 и 41–43; исходные данные, формулировки и рисунки не копируются. Новый числовой пример на фиксированной контрольной выборке. y=[20,30,40,50,60], A=[20,30,40,50,75], B=[24,34,44,54,64]. MAE A=3,B=4; MSE A=45,B=16; RMSE A≈6.708,B=4. Сравнение не связано с обучением линейной модели.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неделя 1, слайд 35. R² определяется по среднему истинных ответов именно на оцениваемой выборке. Этот знаменатель не равен ошибке рабочей модели, предсказывающей среднее train. При постоянном y знаменатель нулевой, базовая формула не определена.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неделя 1, слайды 36–37. MAPE и WAPE приведены в долях, для процентов умножаем на 100. Для неотрицательных y WAPE является средним относительных ошибок с весами, пропорциональными y, если все y&gt;0.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неделя 1, слайды 37 и 42. Область применения здесь ограничена y,z≥0. RMSLE приблизительно отражает логарифм отношения при больших y,z, но из-за добавления 1 не является чистой процентной ошибкой и зависит от единиц.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Адаптация ЦУ, неделя 1, слайды 29–33. При фиксированном наборе признаков, свободном выборе прогноза и существовании нужных моментов минимум ожидаемой квадратичной потери достигается на условном среднем, абсолютной — на условной медиане. Ограниченное семейство приближает эту зависимость. Источник: https://scikit-learn.org/stable/modules/linear_model.html#quantile-regression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8,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неделя 1, слайд 32. r=z−y. Lδ(r)=r²/2 при |r|≤δ, иначе δ(|r|−δ/2). На графике δ=1,5. Порог зависит от масштаба ответа. Потеря ограничивает влияние больших остатков по сравнению с квадратичной, но не гарантирует устойчивость к выбросам в признаках.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8,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ЦУ, неделя 1, слайды 33 и 41–43. Quantile loss, также pinball loss. τ∈(0,1). При свободном выборе прогноза минимум ожидаемой потери достигается на условной τ-квантили. Для цен недооценки 4 и переоценки 1 получаем τ=0,8; стоимость равна 5Lτ. На графике показана сама Lτ. При атомах распределения точное покрытие может отличаться от τ. Источник: https://scikit-learn.org/stable/modules/generated/sklearn.metrics.mean_pinball_loss.html 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3, 8,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Учебный пример с синтетическими числами. Среди 1000 заказов 950 вовремя и 50 с опозданием. Модель правильно распознала 930 первых и 30 вторых. Accuracy=(930+30)/1000=0,96. Подробные метрики классификации рассматриваются позднее.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8,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Применение функций из этого блока к исходной постановке доставки. Дополнение по ЦУ, неделя 1, слайды 40–43. Средняя стоимость является правильной целью только при обоснованной модели затрат.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3, 8,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Дополнение по ЦУ, неделя 1, слайды 8–10. Обобщение означает способность модели сохранять качество на новых данных. Для выбора вариантов и итоговой оценки используются разные части данных. Конкретная схема разбиения зависит от задачи.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Авторский учебный пример. Все заказы и числа синтетические. Идея сквозного расчёта адаптирована из ЦУ, неделя 1, слайды 25–31 и 41–43; исходные данные, формулировки и рисунки не копируются. Синтетическая демонстрация. Пять обучающих точек: x=[1,2,3,4,5],y=[18,20,25,29,33]. Гибкая функция a₁=a₀+∏(x−xᵢ), где a₀ полином Лагранжа. Прямая оценена по train. Valid x=[1.5,2.5,3.5,4.5],y=[19.5,23.2,26.4,31.1]. Вычисления: MSEtrain .38 и 0, MSEvalid .1275 и 6.58390869140625.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Дополнение по ЦУ, неделя 1, слайды 8–10. Гиперпараметры управляют настройкой алгоритма или семейства, параметры модели оцениваются по train. Test не используется для выбора решения. Преобразования с обучаемыми параметрами оцениваются только на train.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Авторский учебный пример. Все заказы и числа синтетические. Идея сквозного расчёта адаптирована из ЦУ, неделя 1, слайды 25–31 и 41–43; исходные данные, формулировки и рисунки не копируются. Адаптация ЦУ, неделя 1, слайды 8–10: валидация должна отражать применение. Месяцы и интервалы условны. Для этого сценария задан хронологический протокол; это не универсальное требование для всех ML-задач. Все признаки формируются по историческим срезам, а преобразования оцениваются только на train.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Полная исходная цепочка: пространства объектов и ответов, размеченная выборка, семейство моделей, функция потерь, функционал ошибки и минимизация. Конкретная модель получается после выбора семейства, критерия и процедуры оптимизации.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Опора: Вышка, «Введение в машинное обучение», исходная лекция 1, слайды 3, 6, 8, 9,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c39c4ada2b411e" /><Relationship Type="http://schemas.openxmlformats.org/officeDocument/2006/relationships/image" Target="/ppt/media/image.jpeg" Id="Rba9d5540b77d4b58" /><Relationship Type="http://schemas.openxmlformats.org/officeDocument/2006/relationships/image" Target="/ppt/media/image.png" Id="R573dc03add8b46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381921fdd34683" /><Relationship Type="http://schemas.openxmlformats.org/officeDocument/2006/relationships/image" Target="/ppt/media/image2.jpeg" Id="R326319631b4e44ae" /><Relationship Type="http://schemas.openxmlformats.org/officeDocument/2006/relationships/image" Target="/ppt/media/image2.png" Id="Raa08cb4872624a1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7ffb8dbcc7443a" /><Relationship Type="http://schemas.openxmlformats.org/officeDocument/2006/relationships/image" Target="/ppt/media/image2.jpeg" Id="Re0a4c83e1c4c421a" /><Relationship Type="http://schemas.openxmlformats.org/officeDocument/2006/relationships/image" Target="/ppt/media/image2.png" Id="R6ef13b0eab88469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8c874a152a4927" /><Relationship Type="http://schemas.openxmlformats.org/officeDocument/2006/relationships/image" Target="/ppt/media/image2.jpeg" Id="Ra79dd2760b3343cd" /><Relationship Type="http://schemas.openxmlformats.org/officeDocument/2006/relationships/image" Target="/ppt/media/image2.png" Id="R27885a9c09a74ad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47d44d71804aa6" /><Relationship Type="http://schemas.openxmlformats.org/officeDocument/2006/relationships/image" Target="/ppt/media/image2.jpeg" Id="R82fa87655d104808" /><Relationship Type="http://schemas.openxmlformats.org/officeDocument/2006/relationships/image" Target="/ppt/media/image2.png" Id="Rdf442750528b49f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1e4455128f4d69" /><Relationship Type="http://schemas.openxmlformats.org/officeDocument/2006/relationships/image" Target="/ppt/media/image2.jpeg" Id="Rcb73315c827742b1" /><Relationship Type="http://schemas.openxmlformats.org/officeDocument/2006/relationships/image" Target="/ppt/media/image2.png" Id="R1450c1eceb5c4ac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ee6f5de1d949aa" /><Relationship Type="http://schemas.openxmlformats.org/officeDocument/2006/relationships/image" Target="/ppt/media/image2.jpeg" Id="Rbbb4f78c4d21438e" /><Relationship Type="http://schemas.openxmlformats.org/officeDocument/2006/relationships/image" Target="/ppt/media/image2.png" Id="Rf0849adf2bdd4d1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901c1419ae4253" /><Relationship Type="http://schemas.openxmlformats.org/officeDocument/2006/relationships/image" Target="/ppt/media/image2.jpeg" Id="Rc5f0ef82c8a340ff" /><Relationship Type="http://schemas.openxmlformats.org/officeDocument/2006/relationships/image" Target="/ppt/media/image2.png" Id="R0e0067e94358411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ff0ead39a94356" /><Relationship Type="http://schemas.openxmlformats.org/officeDocument/2006/relationships/image" Target="/ppt/media/image2.jpeg" Id="Rdc0839c4cf6a4a27" /><Relationship Type="http://schemas.openxmlformats.org/officeDocument/2006/relationships/image" Target="/ppt/media/image2.png" Id="R0842e41e1706407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cffb3d786495d" /><Relationship Type="http://schemas.openxmlformats.org/officeDocument/2006/relationships/image" Target="/ppt/media/image2.jpeg" Id="R37a560b3a9d84b28" /><Relationship Type="http://schemas.openxmlformats.org/officeDocument/2006/relationships/image" Target="/ppt/media/image2.png" Id="Rc465be3c4ea443a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43059985a7485f" /><Relationship Type="http://schemas.openxmlformats.org/officeDocument/2006/relationships/image" Target="/ppt/media/image2.jpeg" Id="Ref82b0e8d96c4119" /><Relationship Type="http://schemas.openxmlformats.org/officeDocument/2006/relationships/image" Target="/ppt/media/image2.png" Id="R4784f9f492bb4eb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f87425321b47ff" /><Relationship Type="http://schemas.openxmlformats.org/officeDocument/2006/relationships/image" Target="/ppt/media/image2.jpeg" Id="R55ce29b17e3d46f4" /><Relationship Type="http://schemas.openxmlformats.org/officeDocument/2006/relationships/image" Target="/ppt/media/image3.png" Id="Rc02fdb7bdbcf4b6b" /></Relationships>
</file>

<file path=ppt/slideLayouts/slideLayout1.xml><?xml version="1.0" encoding="utf-8"?>
<p:sldLayout xmlns:p="http://schemas.openxmlformats.org/presentationml/2006/main" preserve="1" userDrawn="1">
  <p:cSld name="Обложка">
    <p:bg>
      <p:bgPr>
        <a:blipFill xmlns:a="http://schemas.openxmlformats.org/drawingml/2006/main" rotWithShape="1">
          <a:blip xmlns:r="http://schemas.openxmlformats.org/officeDocument/2006/relationships" r:embed="Rba9d5540b77d4b5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" name="Picture 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3dc03add8b46e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3859" y="962173"/>
            <a:ext cx="886499" cy="886499"/>
          </a:xfrm>
          <a:prstGeom xmlns:a="http://schemas.openxmlformats.org/drawingml/2006/main" prst="rect">
            <a:avLst/>
          </a:prstGeom>
        </p:spPr>
      </p:pic>
      <p:sp>
        <p:nvSpPr>
          <p:cNvPr id="11" name="Straight Connector 48">
            <a:extLst xmlns:a="http://schemas.openxmlformats.org/drawingml/2006/main">
              <a:ext uri="{FF2B5EF4-FFF2-40B4-BE49-F238E27FC236}">
                <a16:creationId xmlns:a16="http://schemas.microsoft.com/office/drawing/2014/main" id="{AD27FFAE-41D4-438B-B936-34B7FC741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0212" y="985336"/>
            <a:ext cx="0" cy="840173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50">
            <a:extLst xmlns:a="http://schemas.openxmlformats.org/drawingml/2006/main">
              <a:ext uri="{FF2B5EF4-FFF2-40B4-BE49-F238E27FC236}">
                <a16:creationId xmlns:a16="http://schemas.microsoft.com/office/drawing/2014/main" id="{F1DCAE26-316C-4321-8D49-C5EB0B394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2581" y="985336"/>
            <a:ext cx="0" cy="840173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Straight Connector 51">
            <a:extLst xmlns:a="http://schemas.openxmlformats.org/drawingml/2006/main">
              <a:ext uri="{FF2B5EF4-FFF2-40B4-BE49-F238E27FC236}">
                <a16:creationId xmlns:a16="http://schemas.microsoft.com/office/drawing/2014/main" id="{364B15ED-4B8C-4EB3-853F-5B5239A9E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9047" y="985336"/>
            <a:ext cx="0" cy="840173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Заголовок 15">
            <a:extLst xmlns:a="http://schemas.openxmlformats.org/drawingml/2006/main">
              <a:ext uri="{FF2B5EF4-FFF2-40B4-BE49-F238E27FC236}">
                <a16:creationId xmlns:a16="http://schemas.microsoft.com/office/drawing/2014/main" id="{6007C52F-2E27-E24A-B9DC-AAAB052DBD5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27967" y="2404670"/>
            <a:ext cx="7634059" cy="1978323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4300" b="0" i="0" baseline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Название презентации</a:t>
            </a:r>
            <a:br/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может быть набрано в две </a:t>
            </a:r>
            <a:br/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или три строки (43 </a:t>
            </a:r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4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4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18109844-C2E7-354F-9C01-8834E4DCE37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2074947" y="1187841"/>
            <a:ext cx="3848717" cy="435163"/>
          </a:xfr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600" b="0" i="0">
                <a:latin typeface="HSE Sans"/>
                <a:ea typeface="HSE Sans"/>
                <a:cs typeface="HSE Sans"/>
              </a:defRPr>
            </a:lvl1pPr>
            <a:lvl2pPr marL="457200" indent="0" algn="l">
              <a:buNone/>
              <a:defRPr sz="1600" b="0" i="0">
                <a:latin typeface="HSE Sans"/>
                <a:ea typeface="HSE Sans"/>
                <a:cs typeface="HSE Sans"/>
              </a:defRPr>
            </a:lvl2pPr>
            <a:lvl3pPr marL="914400" indent="0" algn="l">
              <a:buNone/>
              <a:defRPr sz="1600" b="0" i="0">
                <a:latin typeface="HSE Sans"/>
                <a:ea typeface="HSE Sans"/>
                <a:cs typeface="HSE Sans"/>
              </a:defRPr>
            </a:lvl3pPr>
            <a:lvl4pPr marL="1371600" indent="0" algn="l">
              <a:buNone/>
              <a:defRPr sz="1600" b="0" i="0">
                <a:latin typeface="HSE Sans"/>
                <a:ea typeface="HSE Sans"/>
                <a:cs typeface="HSE Sans"/>
              </a:defRPr>
            </a:lvl4pPr>
            <a:lvl5pPr marL="1828800" indent="0" algn="l">
              <a:buNone/>
              <a:defRPr sz="16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>
                <a:latin typeface="HSE Sans"/>
                <a:ea typeface="HSE Sans"/>
                <a:cs typeface="HSE Sans"/>
              </a:rPr>
              <a:t>Название факультета</a:t>
            </a:r>
            <a:br/>
            <a:r>
              <a:rPr>
                <a:latin typeface="HSE Sans"/>
                <a:ea typeface="HSE Sans"/>
                <a:cs typeface="HSE Sans"/>
              </a:rPr>
              <a:t>в две строки</a:t>
            </a:r>
            <a:r>
              <a:rPr>
                <a:latin typeface="HSE Sans"/>
                <a:ea typeface="HSE Sans"/>
                <a:cs typeface="HSE Sans"/>
              </a:rPr>
              <a:t> (16 </a:t>
            </a:r>
            <a:r>
              <a:rPr>
                <a:latin typeface="HSE Sans"/>
                <a:ea typeface="HSE Sans"/>
                <a:cs typeface="HSE Sans"/>
              </a:rPr>
              <a:t>pt</a:t>
            </a:r>
            <a:r>
              <a:rPr>
                <a:latin typeface="HSE Sans"/>
                <a:ea typeface="HSE Sans"/>
                <a:cs typeface="HSE Sans"/>
              </a:rPr>
              <a:t>)</a:t>
            </a:r>
            <a:endParaRPr>
              <a:latin typeface="HSE Sans"/>
              <a:ea typeface="HSE Sans"/>
              <a:cs typeface="HSE Sans"/>
            </a:endParaRPr>
          </a:p>
        </p:txBody>
      </p:sp>
      <p:sp>
        <p:nvSpPr>
          <p:cNvPr id="25" name="Текст 24">
            <a:extLst xmlns:a="http://schemas.openxmlformats.org/drawingml/2006/main">
              <a:ext uri="{FF2B5EF4-FFF2-40B4-BE49-F238E27FC236}">
                <a16:creationId xmlns:a16="http://schemas.microsoft.com/office/drawing/2014/main" id="{40A04329-C800-BB42-BFE0-7E3C68848DA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259420" y="1173829"/>
            <a:ext cx="2278063" cy="463186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2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2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2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200">
                <a:latin typeface="HSE Sans"/>
                <a:ea typeface="HSE Sans"/>
                <a:cs typeface="HSE Sans"/>
              </a:rPr>
              <a:t> (12pt)</a:t>
            </a:r>
            <a:endParaRPr sz="1200">
              <a:latin typeface="HSE Sans"/>
              <a:ea typeface="HSE Sans"/>
              <a:cs typeface="HSE Sans"/>
            </a:endParaRPr>
          </a:p>
        </p:txBody>
      </p:sp>
      <p:sp>
        <p:nvSpPr>
          <p:cNvPr id="27" name="Текст 26">
            <a:extLst xmlns:a="http://schemas.openxmlformats.org/drawingml/2006/main">
              <a:ext uri="{FF2B5EF4-FFF2-40B4-BE49-F238E27FC236}">
                <a16:creationId xmlns:a16="http://schemas.microsoft.com/office/drawing/2014/main" id="{98337931-3EC2-F348-99EA-860F4FFDC18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786720" y="1173829"/>
            <a:ext cx="2217738" cy="463186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2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200">
                <a:latin typeface="HSE Sans"/>
                <a:ea typeface="HSE Sans"/>
                <a:cs typeface="HSE Sans"/>
              </a:rPr>
              <a:t>Москва</a:t>
            </a:r>
            <a:br/>
            <a:r>
              <a:rPr sz="1200">
                <a:latin typeface="HSE Sans"/>
                <a:ea typeface="HSE Sans"/>
                <a:cs typeface="HSE Sans"/>
              </a:rPr>
              <a:t>2022</a:t>
            </a:r>
            <a:r>
              <a:rPr sz="1200">
                <a:latin typeface="HSE Sans"/>
                <a:ea typeface="HSE Sans"/>
                <a:cs typeface="HSE Sans"/>
              </a:rPr>
              <a:t> (12pt)</a:t>
            </a:r>
            <a:endParaRPr sz="1200">
              <a:latin typeface="HSE Sans"/>
              <a:ea typeface="HSE Sans"/>
              <a:cs typeface="HSE Sans"/>
            </a:endParaRPr>
          </a:p>
        </p:txBody>
      </p:sp>
      <p:sp>
        <p:nvSpPr>
          <p:cNvPr id="29" name="Текст 28">
            <a:extLst xmlns:a="http://schemas.openxmlformats.org/drawingml/2006/main">
              <a:ext uri="{FF2B5EF4-FFF2-40B4-BE49-F238E27FC236}">
                <a16:creationId xmlns:a16="http://schemas.microsoft.com/office/drawing/2014/main" id="{EEA7A79B-D410-B44F-BF32-C3EAEFC20A6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027967" y="4824914"/>
            <a:ext cx="7625267" cy="652860"/>
          </a:xfr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600">
                <a:latin typeface="HSE Sans"/>
                <a:ea typeface="HSE Sans"/>
                <a:cs typeface="HSE Sans"/>
              </a:rPr>
              <a:t>Если нужно больше места, то используйте подзаголовок</a:t>
            </a:r>
            <a:r>
              <a:rPr sz="1600">
                <a:latin typeface="HSE Sans"/>
                <a:ea typeface="HSE Sans"/>
                <a:cs typeface="HSE Sans"/>
              </a:rPr>
              <a:t> (16 </a:t>
            </a:r>
            <a:r>
              <a:rPr sz="1600">
                <a:latin typeface="HSE Sans"/>
                <a:ea typeface="HSE Sans"/>
                <a:cs typeface="HSE Sans"/>
              </a:rPr>
              <a:t>pt</a:t>
            </a:r>
            <a:r>
              <a:rPr sz="1600">
                <a:latin typeface="HSE Sans"/>
                <a:ea typeface="HSE Sans"/>
                <a:cs typeface="HSE Sans"/>
              </a:rPr>
              <a:t>)</a:t>
            </a:r>
            <a:endParaRPr sz="16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Текст_1">
    <p:bg>
      <p:bgPr>
        <a:blipFill xmlns:a="http://schemas.openxmlformats.org/drawingml/2006/main" rotWithShape="1">
          <a:blip xmlns:r="http://schemas.openxmlformats.org/officeDocument/2006/relationships" r:embed="R326319631b4e44a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08cb4872624a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11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4F55888C-DCDF-45F8-8DA9-28FFD847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1D8FD5D3-A99D-46E3-91DE-7023C455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23605B96-0E91-40F6-B5C4-D2862DA8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4D3A12E-0E10-C441-81D2-C3C1EB6A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9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C5EE7344-83B3-436A-9D74-A235040A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Рисунок 23">
            <a:extLst xmlns:a="http://schemas.openxmlformats.org/drawingml/2006/main">
              <a:ext uri="{FF2B5EF4-FFF2-40B4-BE49-F238E27FC236}">
                <a16:creationId xmlns:a16="http://schemas.microsoft.com/office/drawing/2014/main" id="{61115A7A-23E5-E442-9551-F72F1CDA57B9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684653" y="1447790"/>
            <a:ext cx="4325167" cy="43251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marR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200">
                <a:solidFill>
                  <a:schemeClr val="bg2">
                    <a:lumMod val="10000"/>
                  </a:schemeClr>
                </a:solidFill>
              </a:defRPr>
            </a:lvl1pPr>
          </a:lstStyle>
          <a:p xmlns:a="http://schemas.openxmlformats.org/drawingml/2006/main">
            <a:pPr marL="0" marR="0" lvl="0" indent="0" algn="ctr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2800">
                <a:solidFill>
                  <a:schemeClr val="tx1"/>
                </a:solidFill>
                <a:latin typeface="HSE Sans"/>
                <a:ea typeface="HSE Sans"/>
                <a:cs typeface="HSE Sans"/>
              </a:rPr>
              <a:t>Чтобы слайд не выглядел пустым, сюда можно поставить иллюстрацию или фотографию</a:t>
            </a:r>
            <a:endParaRPr sz="2800">
              <a:solidFill>
                <a:schemeClr val="tx1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32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9ED7AA97-D972-DF4F-B662-A65F2A544CC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8" y="1447790"/>
            <a:ext cx="5245560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</a:t>
            </a:r>
            <a:br/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3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9E35E54-2B19-7441-876F-1C6A84F4F156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7" y="2379663"/>
            <a:ext cx="5245561" cy="3393234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t>Небольшие куски текста (13</a:t>
            </a:r>
            <a:r>
              <a:t>pt</a:t>
            </a:r>
            <a:r>
              <a:t>) </a:t>
            </a:r>
            <a: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38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7FB4A275-856E-364D-8AA4-2071AADC6AAA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40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58FBA0EA-8BE0-A643-B258-4E5C3446717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41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0BEC062F-1BEB-DE4C-B7EE-C552C9D45F1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Текст_2">
    <p:bg>
      <p:bgPr>
        <a:blipFill xmlns:a="http://schemas.openxmlformats.org/drawingml/2006/main" rotWithShape="1">
          <a:blip xmlns:r="http://schemas.openxmlformats.org/officeDocument/2006/relationships" r:embed="Re0a4c83e1c4c421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f13b0eab8846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8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2EB50072-C0F2-4FB7-BE0E-C41A5BAF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117FBF4D-3BE6-4D88-9542-FEBBA2E7C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7ED61F46-5C83-48B3-96D4-DAAB6559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5E88681-53A8-3B45-B80A-372EDFB5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FB073A36-64FB-4D98-B94A-A92F492B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5026DBD8-54A3-1446-9D3B-BA2B38460F1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E8AA3569-5054-7D47-AB14-BCFB0440D0A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6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76942483-EB13-0A4B-8060-DB65024C294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7" y="1447790"/>
            <a:ext cx="11057955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 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8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8A048480-30C9-044E-8C2E-0F67398FEE1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Текст_3">
    <p:bg>
      <p:bgPr>
        <a:blipFill xmlns:a="http://schemas.openxmlformats.org/drawingml/2006/main" rotWithShape="1">
          <a:blip xmlns:r="http://schemas.openxmlformats.org/officeDocument/2006/relationships" r:embed="Ra79dd2760b3343c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85a9c09a74a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8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8DC3D8C6-E757-4D70-9954-702430ED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BFBF89CD-AE39-403B-9F0A-57B0A5EE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78EDE143-4E3A-4E08-A418-AB7EF5AC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05ECCF8F-5855-7943-B503-5573887A5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594A1C15-C3FE-409D-94FA-A1D29CC7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C2D710AE-3CBE-5940-A7EB-F96132E6592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FCC5A33D-0A3C-F140-B745-367744A5F308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163BE0A-A745-414A-AF21-D968BD69D2D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8" y="2379663"/>
            <a:ext cx="4322531" cy="239937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t>Небольшие куски текста (13</a:t>
            </a:r>
            <a:r>
              <a:t>pt</a:t>
            </a:r>
            <a:r>
              <a:t>) </a:t>
            </a:r>
            <a:r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3D47CF6-5FC1-2346-8894-A7CC39063DE3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85897" y="5183249"/>
            <a:ext cx="3934345" cy="553998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sz="1000">
                <a:latin typeface="HSE Sans"/>
                <a:ea typeface="HSE Sans"/>
                <a:cs typeface="HSE Sans"/>
              </a:rPr>
              <a:t>pt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3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CD14B8F3-89C2-9F45-809E-D1EAF85AC566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6259892" y="2379663"/>
            <a:ext cx="5383968" cy="3451794"/>
          </a:xfr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32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32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Небольшую фразу, с важной информацией, можно выделить, набрав ее более крупным кеглем, чем обычный  текст. Делать это часто не рекомендуется.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3BE4279A-8109-B244-B721-18F10C696B1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5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B32DC3D4-97A5-3E4F-A29B-422D5E3129B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7" y="1447790"/>
            <a:ext cx="11057955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 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График_1">
    <p:bg>
      <p:bgPr>
        <a:blipFill xmlns:a="http://schemas.openxmlformats.org/drawingml/2006/main" rotWithShape="1">
          <a:blip xmlns:r="http://schemas.openxmlformats.org/officeDocument/2006/relationships" r:embed="R82fa87655d10480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42750528b49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8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B1E5E6A8-8B0A-4416-B01F-34D5920B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68AFDDC0-7FC2-4CAE-875E-4EC9A2428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13A32F42-9B4C-455B-AF6A-C36C6E55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6DF89EC-1E7C-3B40-85F4-6D19A7D2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863DE736-1588-47EC-A054-C6D11584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A9BD5ADD-B3F2-C342-82F7-83683F040D2F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4F15CBC0-FC8B-744E-95A7-C9863CDC31B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6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BC3B54AA-A0BD-E646-B3B7-C0E724D26D23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B3F16318-C9C3-B948-A508-4BC53D0B771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9" y="1447790"/>
            <a:ext cx="4322530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 </a:t>
            </a:r>
            <a:br/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3B3E5FB-BBCE-4149-AD9A-8CAB06CC9FC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8" y="2379663"/>
            <a:ext cx="4322531" cy="239937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Lorem ipsum </a:t>
            </a:r>
            <a:r>
              <a:rPr sz="1300">
                <a:latin typeface="HSE Sans"/>
                <a:ea typeface="HSE Sans"/>
                <a:cs typeface="HSE Sans"/>
              </a:rPr>
              <a:t>dolor</a:t>
            </a:r>
            <a:r>
              <a:rPr sz="1300">
                <a:latin typeface="HSE Sans"/>
                <a:ea typeface="HSE Sans"/>
                <a:cs typeface="HSE Sans"/>
              </a:rPr>
              <a:t> sit </a:t>
            </a:r>
            <a:r>
              <a:rPr sz="1300">
                <a:latin typeface="HSE Sans"/>
                <a:ea typeface="HSE Sans"/>
                <a:cs typeface="HSE Sans"/>
              </a:rPr>
              <a:t>amet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consectetur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adipiscing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elit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sed</a:t>
            </a:r>
            <a:r>
              <a:rPr sz="1300">
                <a:latin typeface="HSE Sans"/>
                <a:ea typeface="HSE Sans"/>
                <a:cs typeface="HSE Sans"/>
              </a:rPr>
              <a:t> do </a:t>
            </a:r>
            <a:r>
              <a:rPr sz="1300">
                <a:latin typeface="HSE Sans"/>
                <a:ea typeface="HSE Sans"/>
                <a:cs typeface="HSE Sans"/>
              </a:rPr>
              <a:t>eiusmod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tempor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incididunt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ut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labore</a:t>
            </a:r>
            <a:r>
              <a:rPr sz="1300">
                <a:latin typeface="HSE Sans"/>
                <a:ea typeface="HSE Sans"/>
                <a:cs typeface="HSE Sans"/>
              </a:rPr>
              <a:t> et dolore magna </a:t>
            </a:r>
            <a:r>
              <a:rPr sz="1300">
                <a:latin typeface="HSE Sans"/>
                <a:ea typeface="HSE Sans"/>
                <a:cs typeface="HSE Sans"/>
              </a:rPr>
              <a:t>aliqua</a:t>
            </a:r>
            <a:r>
              <a:rPr sz="1300">
                <a:latin typeface="HSE Sans"/>
                <a:ea typeface="HSE Sans"/>
                <a:cs typeface="HSE Sans"/>
              </a:rPr>
              <a:t>. Ut </a:t>
            </a:r>
            <a:r>
              <a:rPr sz="1300">
                <a:latin typeface="HSE Sans"/>
                <a:ea typeface="HSE Sans"/>
                <a:cs typeface="HSE Sans"/>
              </a:rPr>
              <a:t>enim</a:t>
            </a:r>
            <a:r>
              <a:rPr sz="1300">
                <a:latin typeface="HSE Sans"/>
                <a:ea typeface="HSE Sans"/>
                <a:cs typeface="HSE Sans"/>
              </a:rPr>
              <a:t> ad minim </a:t>
            </a:r>
            <a:r>
              <a:rPr sz="1300">
                <a:latin typeface="HSE Sans"/>
                <a:ea typeface="HSE Sans"/>
                <a:cs typeface="HSE Sans"/>
              </a:rPr>
              <a:t>veniam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quis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nostrud</a:t>
            </a:r>
            <a:r>
              <a:rPr sz="1300">
                <a:latin typeface="HSE Sans"/>
                <a:ea typeface="HSE Sans"/>
                <a:cs typeface="HSE Sans"/>
              </a:rPr>
              <a:t> exercitation </a:t>
            </a:r>
            <a:r>
              <a:rPr sz="1300">
                <a:latin typeface="HSE Sans"/>
                <a:ea typeface="HSE Sans"/>
                <a:cs typeface="HSE Sans"/>
              </a:rPr>
              <a:t>ullamco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laboris</a:t>
            </a:r>
            <a:r>
              <a:rPr sz="1300">
                <a:latin typeface="HSE Sans"/>
                <a:ea typeface="HSE Sans"/>
                <a:cs typeface="HSE Sans"/>
              </a:rPr>
              <a:t> nisi </a:t>
            </a:r>
            <a:r>
              <a:rPr sz="1300">
                <a:latin typeface="HSE Sans"/>
                <a:ea typeface="HSE Sans"/>
                <a:cs typeface="HSE Sans"/>
              </a:rPr>
              <a:t>ut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aliquip</a:t>
            </a:r>
            <a:r>
              <a:rPr sz="1300">
                <a:latin typeface="HSE Sans"/>
                <a:ea typeface="HSE Sans"/>
                <a:cs typeface="HSE Sans"/>
              </a:rPr>
              <a:t> ex </a:t>
            </a:r>
            <a:r>
              <a:rPr sz="1300">
                <a:latin typeface="HSE Sans"/>
                <a:ea typeface="HSE Sans"/>
                <a:cs typeface="HSE Sans"/>
              </a:rPr>
              <a:t>ea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commodo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consequat</a:t>
            </a:r>
            <a:r>
              <a:rPr sz="1300">
                <a:latin typeface="HSE Sans"/>
                <a:ea typeface="HSE Sans"/>
                <a:cs typeface="HSE Sans"/>
              </a:rPr>
              <a:t>. Duis </a:t>
            </a:r>
            <a:r>
              <a:rPr sz="1300">
                <a:latin typeface="HSE Sans"/>
                <a:ea typeface="HSE Sans"/>
                <a:cs typeface="HSE Sans"/>
              </a:rPr>
              <a:t>aute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irure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dolor</a:t>
            </a:r>
            <a:r>
              <a:rPr sz="1300">
                <a:latin typeface="HSE Sans"/>
                <a:ea typeface="HSE Sans"/>
                <a:cs typeface="HSE Sans"/>
              </a:rPr>
              <a:t> in </a:t>
            </a:r>
            <a:r>
              <a:rPr sz="1300">
                <a:latin typeface="HSE Sans"/>
                <a:ea typeface="HSE Sans"/>
                <a:cs typeface="HSE Sans"/>
              </a:rPr>
              <a:t>reprehenderit</a:t>
            </a:r>
            <a:r>
              <a:rPr sz="1300">
                <a:latin typeface="HSE Sans"/>
                <a:ea typeface="HSE Sans"/>
                <a:cs typeface="HSE Sans"/>
              </a:rPr>
              <a:t> in </a:t>
            </a:r>
            <a:r>
              <a:rPr sz="1300">
                <a:latin typeface="HSE Sans"/>
                <a:ea typeface="HSE Sans"/>
                <a:cs typeface="HSE Sans"/>
              </a:rPr>
              <a:t>voluptate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velit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esse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cillum</a:t>
            </a:r>
            <a:r>
              <a:rPr sz="1300">
                <a:latin typeface="HSE Sans"/>
                <a:ea typeface="HSE Sans"/>
                <a:cs typeface="HSE Sans"/>
              </a:rPr>
              <a:t> dolore </a:t>
            </a:r>
            <a:r>
              <a:rPr sz="1300">
                <a:latin typeface="HSE Sans"/>
                <a:ea typeface="HSE Sans"/>
                <a:cs typeface="HSE Sans"/>
              </a:rPr>
              <a:t>eu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fugiat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nulla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pariatur</a:t>
            </a:r>
            <a:r>
              <a:rPr sz="1300">
                <a:latin typeface="HSE Sans"/>
                <a:ea typeface="HSE Sans"/>
                <a:cs typeface="HSE Sans"/>
              </a:rPr>
              <a:t>. </a:t>
            </a:r>
            <a:r>
              <a:rPr sz="1300">
                <a:latin typeface="HSE Sans"/>
                <a:ea typeface="HSE Sans"/>
                <a:cs typeface="HSE Sans"/>
              </a:rPr>
              <a:t>Excepteur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sint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occaecat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cupidatat</a:t>
            </a:r>
            <a:r>
              <a:rPr sz="1300">
                <a:latin typeface="HSE Sans"/>
                <a:ea typeface="HSE Sans"/>
                <a:cs typeface="HSE Sans"/>
              </a:rPr>
              <a:t> non </a:t>
            </a:r>
            <a:r>
              <a:rPr sz="1300">
                <a:latin typeface="HSE Sans"/>
                <a:ea typeface="HSE Sans"/>
                <a:cs typeface="HSE Sans"/>
              </a:rPr>
              <a:t>proident</a:t>
            </a:r>
            <a:r>
              <a:rPr sz="1300">
                <a:latin typeface="HSE Sans"/>
                <a:ea typeface="HSE Sans"/>
                <a:cs typeface="HSE Sans"/>
              </a:rPr>
              <a:t>, sunt in culpa qui </a:t>
            </a:r>
            <a:r>
              <a:rPr sz="1300">
                <a:latin typeface="HSE Sans"/>
                <a:ea typeface="HSE Sans"/>
                <a:cs typeface="HSE Sans"/>
              </a:rPr>
              <a:t>officia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deserunt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mollit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anim</a:t>
            </a:r>
            <a:r>
              <a:rPr sz="1300">
                <a:latin typeface="HSE Sans"/>
                <a:ea typeface="HSE Sans"/>
                <a:cs typeface="HSE Sans"/>
              </a:rPr>
              <a:t> id </a:t>
            </a:r>
            <a:r>
              <a:rPr sz="1300">
                <a:latin typeface="HSE Sans"/>
                <a:ea typeface="HSE Sans"/>
                <a:cs typeface="HSE Sans"/>
              </a:rPr>
              <a:t>est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laborum</a:t>
            </a:r>
            <a:r>
              <a:rPr sz="1300">
                <a:latin typeface="HSE Sans"/>
                <a:ea typeface="HSE Sans"/>
                <a:cs typeface="HSE Sans"/>
              </a:rPr>
              <a:t>.</a:t>
            </a:r>
            <a:endParaRPr sz="1300">
              <a:latin typeface="HSE Sans"/>
              <a:ea typeface="HSE Sans"/>
              <a:cs typeface="HSE Sans"/>
            </a:endParaRP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8542D3-7E45-6E46-8039-27C4C43DD61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85897" y="5183249"/>
            <a:ext cx="3934345" cy="553998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sz="1000">
                <a:latin typeface="HSE Sans"/>
                <a:ea typeface="HSE Sans"/>
                <a:cs typeface="HSE Sans"/>
              </a:rPr>
              <a:t>pt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1" name="Диаграмма 7">
            <a:extLst xmlns:a="http://schemas.openxmlformats.org/drawingml/2006/main">
              <a:ext uri="{FF2B5EF4-FFF2-40B4-BE49-F238E27FC236}">
                <a16:creationId xmlns:a16="http://schemas.microsoft.com/office/drawing/2014/main" id="{57965DCA-4776-7546-97FD-A69317A34CF2}"/>
              </a:ext>
            </a:extLst>
          </p:cNvPr>
          <p:cNvSpPr>
            <a:spLocks xmlns:a="http://schemas.openxmlformats.org/drawingml/2006/main" noGrp="1"/>
          </p:cNvSpPr>
          <p:nvPr>
            <p:ph type="chart" idx="10"/>
          </p:nvPr>
        </p:nvSpPr>
        <p:spPr>
          <a:xfrm xmlns:a="http://schemas.openxmlformats.org/drawingml/2006/main">
            <a:off x="5272097" y="1447790"/>
            <a:ext cx="6371768" cy="428945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График_2">
    <p:bg>
      <p:bgPr>
        <a:blipFill xmlns:a="http://schemas.openxmlformats.org/drawingml/2006/main" rotWithShape="1">
          <a:blip xmlns:r="http://schemas.openxmlformats.org/officeDocument/2006/relationships" r:embed="Rcb73315c827742b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0c1eceb5c4a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9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F33FF81F-8E61-40AB-B03F-AD49F2B0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C4A77136-8B7E-429B-8C06-D7682CB0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7432E35A-F526-4D23-BC14-2D27FE05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65A5D7C-EB12-9D4D-A99A-4B26C81B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3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54603A14-39C0-4780-8E0F-9197A37E2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3E0AB43B-5E98-6042-A282-C61E0C5A37B9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7388A8DF-D130-5445-A3F8-F96E1202BA19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02CBC466-1703-7541-94E4-AC76F4E6D938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812BF3C-1D24-3640-84D2-BFFCA525AE5F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85897" y="5183249"/>
            <a:ext cx="3934345" cy="553998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Примечания, или любая другая пояснительная или дополнительная информация набираются шрифтом размером 10 </a:t>
            </a:r>
            <a:r>
              <a:rPr sz="1000">
                <a:latin typeface="HSE Sans"/>
                <a:ea typeface="HSE Sans"/>
                <a:cs typeface="HSE Sans"/>
              </a:rPr>
              <a:t>pt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21" name="Диаграмма 7">
            <a:extLst xmlns:a="http://schemas.openxmlformats.org/drawingml/2006/main">
              <a:ext uri="{FF2B5EF4-FFF2-40B4-BE49-F238E27FC236}">
                <a16:creationId xmlns:a16="http://schemas.microsoft.com/office/drawing/2014/main" id="{BCBBDD44-9DC9-F74E-979F-120A7BBD4EE1}"/>
              </a:ext>
            </a:extLst>
          </p:cNvPr>
          <p:cNvSpPr>
            <a:spLocks xmlns:a="http://schemas.openxmlformats.org/drawingml/2006/main" noGrp="1"/>
          </p:cNvSpPr>
          <p:nvPr>
            <p:ph type="chart" idx="10"/>
          </p:nvPr>
        </p:nvSpPr>
        <p:spPr>
          <a:xfrm xmlns:a="http://schemas.openxmlformats.org/drawingml/2006/main">
            <a:off x="5272097" y="1447790"/>
            <a:ext cx="6371768" cy="428945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7C68DF7B-E804-E44B-83DF-5DC36AF76F43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85788" y="1447064"/>
            <a:ext cx="4322762" cy="703205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Название графика. Обратите внимание, что название графика набирается меньшим кеглем, чем заголовок</a:t>
            </a:r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(16pt)</a:t>
            </a:r>
            <a:endParaRPr sz="16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9E931D8-2901-A54D-86EA-096E47B8188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8" y="2379663"/>
            <a:ext cx="4322531" cy="239937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Lorem ipsum </a:t>
            </a:r>
            <a:r>
              <a:rPr sz="1300">
                <a:latin typeface="HSE Sans"/>
                <a:ea typeface="HSE Sans"/>
                <a:cs typeface="HSE Sans"/>
              </a:rPr>
              <a:t>dolor</a:t>
            </a:r>
            <a:r>
              <a:rPr sz="1300">
                <a:latin typeface="HSE Sans"/>
                <a:ea typeface="HSE Sans"/>
                <a:cs typeface="HSE Sans"/>
              </a:rPr>
              <a:t> sit </a:t>
            </a:r>
            <a:r>
              <a:rPr sz="1300">
                <a:latin typeface="HSE Sans"/>
                <a:ea typeface="HSE Sans"/>
                <a:cs typeface="HSE Sans"/>
              </a:rPr>
              <a:t>amet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consectetur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adipiscing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elit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sed</a:t>
            </a:r>
            <a:r>
              <a:rPr sz="1300">
                <a:latin typeface="HSE Sans"/>
                <a:ea typeface="HSE Sans"/>
                <a:cs typeface="HSE Sans"/>
              </a:rPr>
              <a:t> do </a:t>
            </a:r>
            <a:r>
              <a:rPr sz="1300">
                <a:latin typeface="HSE Sans"/>
                <a:ea typeface="HSE Sans"/>
                <a:cs typeface="HSE Sans"/>
              </a:rPr>
              <a:t>eiusmod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tempor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incididunt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ut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labore</a:t>
            </a:r>
            <a:r>
              <a:rPr sz="1300">
                <a:latin typeface="HSE Sans"/>
                <a:ea typeface="HSE Sans"/>
                <a:cs typeface="HSE Sans"/>
              </a:rPr>
              <a:t> et dolore magna </a:t>
            </a:r>
            <a:r>
              <a:rPr sz="1300">
                <a:latin typeface="HSE Sans"/>
                <a:ea typeface="HSE Sans"/>
                <a:cs typeface="HSE Sans"/>
              </a:rPr>
              <a:t>aliqua</a:t>
            </a:r>
            <a:r>
              <a:rPr sz="1300">
                <a:latin typeface="HSE Sans"/>
                <a:ea typeface="HSE Sans"/>
                <a:cs typeface="HSE Sans"/>
              </a:rPr>
              <a:t>. Ut </a:t>
            </a:r>
            <a:r>
              <a:rPr sz="1300">
                <a:latin typeface="HSE Sans"/>
                <a:ea typeface="HSE Sans"/>
                <a:cs typeface="HSE Sans"/>
              </a:rPr>
              <a:t>enim</a:t>
            </a:r>
            <a:r>
              <a:rPr sz="1300">
                <a:latin typeface="HSE Sans"/>
                <a:ea typeface="HSE Sans"/>
                <a:cs typeface="HSE Sans"/>
              </a:rPr>
              <a:t> ad minim </a:t>
            </a:r>
            <a:r>
              <a:rPr sz="1300">
                <a:latin typeface="HSE Sans"/>
                <a:ea typeface="HSE Sans"/>
                <a:cs typeface="HSE Sans"/>
              </a:rPr>
              <a:t>veniam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quis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nostrud</a:t>
            </a:r>
            <a:r>
              <a:rPr sz="1300">
                <a:latin typeface="HSE Sans"/>
                <a:ea typeface="HSE Sans"/>
                <a:cs typeface="HSE Sans"/>
              </a:rPr>
              <a:t> exercitation </a:t>
            </a:r>
            <a:r>
              <a:rPr sz="1300">
                <a:latin typeface="HSE Sans"/>
                <a:ea typeface="HSE Sans"/>
                <a:cs typeface="HSE Sans"/>
              </a:rPr>
              <a:t>ullamco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laboris</a:t>
            </a:r>
            <a:r>
              <a:rPr sz="1300">
                <a:latin typeface="HSE Sans"/>
                <a:ea typeface="HSE Sans"/>
                <a:cs typeface="HSE Sans"/>
              </a:rPr>
              <a:t> nisi </a:t>
            </a:r>
            <a:r>
              <a:rPr sz="1300">
                <a:latin typeface="HSE Sans"/>
                <a:ea typeface="HSE Sans"/>
                <a:cs typeface="HSE Sans"/>
              </a:rPr>
              <a:t>ut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aliquip</a:t>
            </a:r>
            <a:r>
              <a:rPr sz="1300">
                <a:latin typeface="HSE Sans"/>
                <a:ea typeface="HSE Sans"/>
                <a:cs typeface="HSE Sans"/>
              </a:rPr>
              <a:t> ex </a:t>
            </a:r>
            <a:r>
              <a:rPr sz="1300">
                <a:latin typeface="HSE Sans"/>
                <a:ea typeface="HSE Sans"/>
                <a:cs typeface="HSE Sans"/>
              </a:rPr>
              <a:t>ea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commodo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consequat</a:t>
            </a:r>
            <a:r>
              <a:rPr sz="1300">
                <a:latin typeface="HSE Sans"/>
                <a:ea typeface="HSE Sans"/>
                <a:cs typeface="HSE Sans"/>
              </a:rPr>
              <a:t>. Duis </a:t>
            </a:r>
            <a:r>
              <a:rPr sz="1300">
                <a:latin typeface="HSE Sans"/>
                <a:ea typeface="HSE Sans"/>
                <a:cs typeface="HSE Sans"/>
              </a:rPr>
              <a:t>aute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irure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dolor</a:t>
            </a:r>
            <a:r>
              <a:rPr sz="1300">
                <a:latin typeface="HSE Sans"/>
                <a:ea typeface="HSE Sans"/>
                <a:cs typeface="HSE Sans"/>
              </a:rPr>
              <a:t> in </a:t>
            </a:r>
            <a:r>
              <a:rPr sz="1300">
                <a:latin typeface="HSE Sans"/>
                <a:ea typeface="HSE Sans"/>
                <a:cs typeface="HSE Sans"/>
              </a:rPr>
              <a:t>reprehenderit</a:t>
            </a:r>
            <a:r>
              <a:rPr sz="1300">
                <a:latin typeface="HSE Sans"/>
                <a:ea typeface="HSE Sans"/>
                <a:cs typeface="HSE Sans"/>
              </a:rPr>
              <a:t> in </a:t>
            </a:r>
            <a:r>
              <a:rPr sz="1300">
                <a:latin typeface="HSE Sans"/>
                <a:ea typeface="HSE Sans"/>
                <a:cs typeface="HSE Sans"/>
              </a:rPr>
              <a:t>voluptate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velit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esse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cillum</a:t>
            </a:r>
            <a:r>
              <a:rPr sz="1300">
                <a:latin typeface="HSE Sans"/>
                <a:ea typeface="HSE Sans"/>
                <a:cs typeface="HSE Sans"/>
              </a:rPr>
              <a:t> dolore </a:t>
            </a:r>
            <a:r>
              <a:rPr sz="1300">
                <a:latin typeface="HSE Sans"/>
                <a:ea typeface="HSE Sans"/>
                <a:cs typeface="HSE Sans"/>
              </a:rPr>
              <a:t>eu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fugiat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nulla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pariatur</a:t>
            </a:r>
            <a:r>
              <a:rPr sz="1300">
                <a:latin typeface="HSE Sans"/>
                <a:ea typeface="HSE Sans"/>
                <a:cs typeface="HSE Sans"/>
              </a:rPr>
              <a:t>. </a:t>
            </a:r>
            <a:r>
              <a:rPr sz="1300">
                <a:latin typeface="HSE Sans"/>
                <a:ea typeface="HSE Sans"/>
                <a:cs typeface="HSE Sans"/>
              </a:rPr>
              <a:t>Excepteur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sint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occaecat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cupidatat</a:t>
            </a:r>
            <a:r>
              <a:rPr sz="1300">
                <a:latin typeface="HSE Sans"/>
                <a:ea typeface="HSE Sans"/>
                <a:cs typeface="HSE Sans"/>
              </a:rPr>
              <a:t> non </a:t>
            </a:r>
            <a:r>
              <a:rPr sz="1300">
                <a:latin typeface="HSE Sans"/>
                <a:ea typeface="HSE Sans"/>
                <a:cs typeface="HSE Sans"/>
              </a:rPr>
              <a:t>proident</a:t>
            </a:r>
            <a:r>
              <a:rPr sz="1300">
                <a:latin typeface="HSE Sans"/>
                <a:ea typeface="HSE Sans"/>
                <a:cs typeface="HSE Sans"/>
              </a:rPr>
              <a:t>, sunt in culpa qui </a:t>
            </a:r>
            <a:r>
              <a:rPr sz="1300">
                <a:latin typeface="HSE Sans"/>
                <a:ea typeface="HSE Sans"/>
                <a:cs typeface="HSE Sans"/>
              </a:rPr>
              <a:t>officia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deserunt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mollit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anim</a:t>
            </a:r>
            <a:r>
              <a:rPr sz="1300">
                <a:latin typeface="HSE Sans"/>
                <a:ea typeface="HSE Sans"/>
                <a:cs typeface="HSE Sans"/>
              </a:rPr>
              <a:t> id </a:t>
            </a:r>
            <a:r>
              <a:rPr sz="1300">
                <a:latin typeface="HSE Sans"/>
                <a:ea typeface="HSE Sans"/>
                <a:cs typeface="HSE Sans"/>
              </a:rPr>
              <a:t>est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laborum</a:t>
            </a:r>
            <a:r>
              <a:rPr sz="1300">
                <a:latin typeface="HSE Sans"/>
                <a:ea typeface="HSE Sans"/>
                <a:cs typeface="HSE Sans"/>
              </a:rPr>
              <a:t>.</a:t>
            </a:r>
            <a:endParaRPr sz="13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Цифры">
    <p:bg>
      <p:bgPr>
        <a:blipFill xmlns:a="http://schemas.openxmlformats.org/drawingml/2006/main" rotWithShape="1">
          <a:blip xmlns:r="http://schemas.openxmlformats.org/officeDocument/2006/relationships" r:embed="Rbbb4f78c4d21438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849adf2bdd4d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7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FBBEE137-DEFE-4241-86E6-D77D8B54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BEE69C4D-B3E7-42B8-BD06-5EE3EF5A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A93F926F-60E5-457A-9EF5-688619621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0460EF6-ECAD-8941-8132-1B3E005D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1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1391ADF8-95E2-44E7-AE45-6BDFB39D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D9986185-6D5E-FD48-A5CA-AF2D5B58A3E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3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5DBFD327-E3A8-944A-AABF-7D813AD0F13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D206FCE0-05C3-2C45-A7D6-1FC287C017B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3B28B62E-5EE9-834C-9BB6-BD66079B816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7" y="1447790"/>
            <a:ext cx="11057955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Заголовок может быть набран в две или три строки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 (24 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24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2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1215DE-C1FD-2B4C-B236-AF679CF906B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75076" y="4103994"/>
            <a:ext cx="2758143" cy="156966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BC2F90D-0CE0-574C-A7C1-EAA3E6F1AB56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7007" y="4103994"/>
            <a:ext cx="2757612" cy="156966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39E188B-2696-8A48-9F8A-36223EEF61E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7518938" y="4103994"/>
            <a:ext cx="2757612" cy="156966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аккуратно.</a:t>
            </a:r>
          </a:p>
        </p:txBody>
      </p:sp>
      <p:sp>
        <p:nvSpPr>
          <p:cNvPr id="28" name="Текст 27">
            <a:extLst xmlns:a="http://schemas.openxmlformats.org/drawingml/2006/main">
              <a:ext uri="{FF2B5EF4-FFF2-40B4-BE49-F238E27FC236}">
                <a16:creationId xmlns:a16="http://schemas.microsoft.com/office/drawing/2014/main" id="{379BF4C6-F899-294C-B88E-8363AFBEEC2A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575076" y="2710235"/>
            <a:ext cx="2758143" cy="1164116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9600">
                <a:latin typeface="HSE Sans"/>
                <a:ea typeface="HSE Sans"/>
                <a:cs typeface="HSE Sans"/>
              </a:defRPr>
            </a:lvl1pPr>
            <a:lvl2pPr>
              <a:buNone/>
              <a:defRPr sz="9600">
                <a:latin typeface="HSE Sans"/>
                <a:ea typeface="HSE Sans"/>
                <a:cs typeface="HSE Sans"/>
              </a:defRPr>
            </a:lvl2pPr>
            <a:lvl3pPr>
              <a:buNone/>
              <a:defRPr sz="9600">
                <a:latin typeface="HSE Sans"/>
                <a:ea typeface="HSE Sans"/>
                <a:cs typeface="HSE Sans"/>
              </a:defRPr>
            </a:lvl3pPr>
            <a:lvl4pPr>
              <a:buNone/>
              <a:defRPr sz="9600">
                <a:latin typeface="HSE Sans"/>
                <a:ea typeface="HSE Sans"/>
                <a:cs typeface="HSE Sans"/>
              </a:defRPr>
            </a:lvl4pPr>
            <a:lvl5pPr>
              <a:buNone/>
              <a:defRPr sz="960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rPr sz="9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152</a:t>
            </a:r>
            <a:endParaRPr/>
          </a:p>
        </p:txBody>
      </p:sp>
      <p:sp>
        <p:nvSpPr>
          <p:cNvPr id="29" name="Текст 27">
            <a:extLst xmlns:a="http://schemas.openxmlformats.org/drawingml/2006/main">
              <a:ext uri="{FF2B5EF4-FFF2-40B4-BE49-F238E27FC236}">
                <a16:creationId xmlns:a16="http://schemas.microsoft.com/office/drawing/2014/main" id="{DE7F352B-F6D9-B545-A835-443A55956E74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4047007" y="2710235"/>
            <a:ext cx="2758143" cy="1164116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9600">
                <a:latin typeface="HSE Sans"/>
                <a:ea typeface="HSE Sans"/>
                <a:cs typeface="HSE Sans"/>
              </a:defRPr>
            </a:lvl1pPr>
            <a:lvl2pPr>
              <a:buNone/>
              <a:defRPr sz="9600">
                <a:latin typeface="HSE Sans"/>
                <a:ea typeface="HSE Sans"/>
                <a:cs typeface="HSE Sans"/>
              </a:defRPr>
            </a:lvl2pPr>
            <a:lvl3pPr>
              <a:buNone/>
              <a:defRPr sz="9600">
                <a:latin typeface="HSE Sans"/>
                <a:ea typeface="HSE Sans"/>
                <a:cs typeface="HSE Sans"/>
              </a:defRPr>
            </a:lvl3pPr>
            <a:lvl4pPr>
              <a:buNone/>
              <a:defRPr sz="9600">
                <a:latin typeface="HSE Sans"/>
                <a:ea typeface="HSE Sans"/>
                <a:cs typeface="HSE Sans"/>
              </a:defRPr>
            </a:lvl4pPr>
            <a:lvl5pPr>
              <a:buNone/>
              <a:defRPr sz="960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rPr sz="9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95</a:t>
            </a:r>
            <a:endParaRPr/>
          </a:p>
        </p:txBody>
      </p:sp>
      <p:sp>
        <p:nvSpPr>
          <p:cNvPr id="30" name="Текст 27">
            <a:extLst xmlns:a="http://schemas.openxmlformats.org/drawingml/2006/main">
              <a:ext uri="{FF2B5EF4-FFF2-40B4-BE49-F238E27FC236}">
                <a16:creationId xmlns:a16="http://schemas.microsoft.com/office/drawing/2014/main" id="{D1D5AF9F-C1B0-7842-8789-1DB8963D981B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7518938" y="2710235"/>
            <a:ext cx="2758143" cy="1164116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9600">
                <a:latin typeface="HSE Sans"/>
                <a:ea typeface="HSE Sans"/>
                <a:cs typeface="HSE Sans"/>
              </a:defRPr>
            </a:lvl1pPr>
            <a:lvl2pPr>
              <a:buNone/>
              <a:defRPr sz="9600">
                <a:latin typeface="HSE Sans"/>
                <a:ea typeface="HSE Sans"/>
                <a:cs typeface="HSE Sans"/>
              </a:defRPr>
            </a:lvl2pPr>
            <a:lvl3pPr>
              <a:buNone/>
              <a:defRPr sz="9600">
                <a:latin typeface="HSE Sans"/>
                <a:ea typeface="HSE Sans"/>
                <a:cs typeface="HSE Sans"/>
              </a:defRPr>
            </a:lvl3pPr>
            <a:lvl4pPr>
              <a:buNone/>
              <a:defRPr sz="9600">
                <a:latin typeface="HSE Sans"/>
                <a:ea typeface="HSE Sans"/>
                <a:cs typeface="HSE Sans"/>
              </a:defRPr>
            </a:lvl4pPr>
            <a:lvl5pPr>
              <a:buNone/>
              <a:defRPr sz="960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lvl="0">
              <a:buNone/>
            </a:pPr>
            <a:r>
              <a:rPr sz="9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284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Таблица_1">
    <p:bg>
      <p:bgPr>
        <a:blipFill xmlns:a="http://schemas.openxmlformats.org/drawingml/2006/main" rotWithShape="1">
          <a:blip xmlns:r="http://schemas.openxmlformats.org/officeDocument/2006/relationships" r:embed="Rc5f0ef82c8a340f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0067e9435841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6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CFA60BFD-0BC5-4000-A072-C0616138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DCB32993-19B4-4B2B-A225-07C178C7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F81C53A4-8C29-4B9B-91A1-D22451A6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64502F5-56EE-354B-A3B1-E79F8B00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0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2DB28C9E-8C40-412D-BB87-F05122EAD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6EC59AAD-5962-8D49-BF4D-7DA5D573073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2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49041ACC-EEF4-D34B-A7DE-87B1AF2ED38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BF93B2CC-81A4-0943-AF6C-C86576792995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51340CB4-0355-3640-A212-F684523CDCCF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85787" y="1447065"/>
            <a:ext cx="11058065" cy="307778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16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8C6F2EA4-CEDC-324C-9C06-8713118041EB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585788" y="5739189"/>
            <a:ext cx="6824303" cy="703205"/>
          </a:xfr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>
                <a:ln>
                  <a:noFill/>
                </a:ln>
                <a:latin typeface="HSE Sans"/>
                <a:ea typeface="HSE Sans"/>
                <a:cs typeface="HSE Sans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sz="1300">
                <a:latin typeface="HSE Sans"/>
                <a:ea typeface="HSE Sans"/>
                <a:cs typeface="HSE Sans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sz="1300" b="0">
              <a:ln>
                <a:noFill/>
              </a:ln>
              <a:latin typeface="HSE Sans"/>
              <a:ea typeface="HSE Sans"/>
              <a:cs typeface="HSE Sans"/>
            </a:endParaRPr>
          </a:p>
        </p:txBody>
      </p:sp>
      <p:sp>
        <p:nvSpPr>
          <p:cNvPr id="19" name="Таблица 18">
            <a:extLst xmlns:a="http://schemas.openxmlformats.org/drawingml/2006/main">
              <a:ext uri="{FF2B5EF4-FFF2-40B4-BE49-F238E27FC236}">
                <a16:creationId xmlns:a16="http://schemas.microsoft.com/office/drawing/2014/main" id="{7B291085-A9B9-D842-B1A7-96258FAF012C}"/>
              </a:ext>
            </a:extLst>
          </p:cNvPr>
          <p:cNvSpPr>
            <a:spLocks xmlns:a="http://schemas.openxmlformats.org/drawingml/2006/main" noGrp="1"/>
          </p:cNvSpPr>
          <p:nvPr>
            <p:ph type="tbl" idx="19"/>
          </p:nvPr>
        </p:nvSpPr>
        <p:spPr>
          <a:xfrm xmlns:a="http://schemas.openxmlformats.org/drawingml/2006/main">
            <a:off x="585787" y="1984076"/>
            <a:ext cx="11058527" cy="351957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Таблица_2">
    <p:bg>
      <p:bgPr>
        <a:blipFill xmlns:a="http://schemas.openxmlformats.org/drawingml/2006/main" rotWithShape="1">
          <a:blip xmlns:r="http://schemas.openxmlformats.org/officeDocument/2006/relationships" r:embed="Rdc0839c4cf6a4a2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42e41e170640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9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9EB86EFE-0DC4-40C1-BD1E-EEF36A41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82476CD7-B8A2-4651-8623-70AB70DC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6B922301-CC39-4D27-8567-8A3206A38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33F65D6-1072-F140-B6A5-758D7B59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3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CD3920A7-757D-4F91-BFF6-CDFC1F86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44D0326E-FD7A-3541-A998-62A1C30E2738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279CCCA0-F959-5245-8321-106D3C5E837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8B839C6B-8494-8841-9714-4C8F710F8400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8" name="Текст 22">
            <a:extLst xmlns:a="http://schemas.openxmlformats.org/drawingml/2006/main">
              <a:ext uri="{FF2B5EF4-FFF2-40B4-BE49-F238E27FC236}">
                <a16:creationId xmlns:a16="http://schemas.microsoft.com/office/drawing/2014/main" id="{4D940599-2B77-CE47-91E6-CDB51ADE1840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85787" y="1447064"/>
            <a:ext cx="7617877" cy="537011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6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Название таблицы. Обратите внимание, что название графика набирается меньшим кеглем, чем заголовок (16</a:t>
            </a:r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pt</a:t>
            </a:r>
            <a:r>
              <a:rPr sz="16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)</a:t>
            </a:r>
            <a:endParaRPr sz="16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9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A7333712-9DED-4F4B-B209-2F13075EDB3F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585788" y="5739189"/>
            <a:ext cx="6824303" cy="703205"/>
          </a:xfr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300" b="0">
                <a:ln>
                  <a:noFill/>
                </a:ln>
                <a:latin typeface="HSE Sans"/>
                <a:ea typeface="HSE Sans"/>
                <a:cs typeface="HSE Sans"/>
              </a:rPr>
              <a:t>Мы рекомендуем очень аккуратно использовать жирное начертание, старайтесь выделять жирным самое важное. </a:t>
            </a:r>
            <a:r>
              <a:rPr sz="1300">
                <a:latin typeface="HSE Sans"/>
                <a:ea typeface="HSE Sans"/>
                <a:cs typeface="HSE Sans"/>
              </a:rPr>
              <a:t>Также старайтесь не использовать выделение жирным начертанием вместе с заливкой ячеек каким-либо цветом, достаточно и одного акцента.</a:t>
            </a:r>
            <a:endParaRPr sz="1300" b="0">
              <a:ln>
                <a:noFill/>
              </a:ln>
              <a:latin typeface="HSE Sans"/>
              <a:ea typeface="HSE Sans"/>
              <a:cs typeface="HSE Sans"/>
            </a:endParaRPr>
          </a:p>
        </p:txBody>
      </p:sp>
      <p:sp>
        <p:nvSpPr>
          <p:cNvPr id="20" name="Таблица 18">
            <a:extLst xmlns:a="http://schemas.openxmlformats.org/drawingml/2006/main">
              <a:ext uri="{FF2B5EF4-FFF2-40B4-BE49-F238E27FC236}">
                <a16:creationId xmlns:a16="http://schemas.microsoft.com/office/drawing/2014/main" id="{DD467C42-8209-B740-8419-DBB6A6F7D5EE}"/>
              </a:ext>
            </a:extLst>
          </p:cNvPr>
          <p:cNvSpPr>
            <a:spLocks xmlns:a="http://schemas.openxmlformats.org/drawingml/2006/main" noGrp="1"/>
          </p:cNvSpPr>
          <p:nvPr>
            <p:ph type="tbl" idx="19"/>
          </p:nvPr>
        </p:nvSpPr>
        <p:spPr>
          <a:xfrm xmlns:a="http://schemas.openxmlformats.org/drawingml/2006/main">
            <a:off x="585787" y="2208362"/>
            <a:ext cx="7617895" cy="329529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4309850-76EA-224C-A9E2-B6BBDBF99DE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686807" y="2208363"/>
            <a:ext cx="2930666" cy="2570672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Lorem ipsum </a:t>
            </a:r>
            <a:r>
              <a:rPr sz="1300">
                <a:latin typeface="HSE Sans"/>
                <a:ea typeface="HSE Sans"/>
                <a:cs typeface="HSE Sans"/>
              </a:rPr>
              <a:t>dolor</a:t>
            </a:r>
            <a:r>
              <a:rPr sz="1300">
                <a:latin typeface="HSE Sans"/>
                <a:ea typeface="HSE Sans"/>
                <a:cs typeface="HSE Sans"/>
              </a:rPr>
              <a:t> sit </a:t>
            </a:r>
            <a:r>
              <a:rPr sz="1300">
                <a:latin typeface="HSE Sans"/>
                <a:ea typeface="HSE Sans"/>
                <a:cs typeface="HSE Sans"/>
              </a:rPr>
              <a:t>amet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consectetur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adipiscing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elit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sed</a:t>
            </a:r>
            <a:r>
              <a:rPr sz="1300">
                <a:latin typeface="HSE Sans"/>
                <a:ea typeface="HSE Sans"/>
                <a:cs typeface="HSE Sans"/>
              </a:rPr>
              <a:t> do </a:t>
            </a:r>
            <a:r>
              <a:rPr sz="1300">
                <a:latin typeface="HSE Sans"/>
                <a:ea typeface="HSE Sans"/>
                <a:cs typeface="HSE Sans"/>
              </a:rPr>
              <a:t>eiusmod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tempor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incididunt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ut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labore</a:t>
            </a:r>
            <a:r>
              <a:rPr sz="1300">
                <a:latin typeface="HSE Sans"/>
                <a:ea typeface="HSE Sans"/>
                <a:cs typeface="HSE Sans"/>
              </a:rPr>
              <a:t> et dolore magna </a:t>
            </a:r>
            <a:r>
              <a:rPr sz="1300">
                <a:latin typeface="HSE Sans"/>
                <a:ea typeface="HSE Sans"/>
                <a:cs typeface="HSE Sans"/>
              </a:rPr>
              <a:t>aliqua</a:t>
            </a:r>
            <a:r>
              <a:rPr sz="1300">
                <a:latin typeface="HSE Sans"/>
                <a:ea typeface="HSE Sans"/>
                <a:cs typeface="HSE Sans"/>
              </a:rPr>
              <a:t>. Ut </a:t>
            </a:r>
            <a:r>
              <a:rPr sz="1300">
                <a:latin typeface="HSE Sans"/>
                <a:ea typeface="HSE Sans"/>
                <a:cs typeface="HSE Sans"/>
              </a:rPr>
              <a:t>enim</a:t>
            </a:r>
            <a:r>
              <a:rPr sz="1300">
                <a:latin typeface="HSE Sans"/>
                <a:ea typeface="HSE Sans"/>
                <a:cs typeface="HSE Sans"/>
              </a:rPr>
              <a:t> ad minim </a:t>
            </a:r>
            <a:r>
              <a:rPr sz="1300">
                <a:latin typeface="HSE Sans"/>
                <a:ea typeface="HSE Sans"/>
                <a:cs typeface="HSE Sans"/>
              </a:rPr>
              <a:t>veniam</a:t>
            </a:r>
            <a:r>
              <a:rPr sz="1300">
                <a:latin typeface="HSE Sans"/>
                <a:ea typeface="HSE Sans"/>
                <a:cs typeface="HSE Sans"/>
              </a:rPr>
              <a:t>, </a:t>
            </a:r>
            <a:r>
              <a:rPr sz="1300">
                <a:latin typeface="HSE Sans"/>
                <a:ea typeface="HSE Sans"/>
                <a:cs typeface="HSE Sans"/>
              </a:rPr>
              <a:t>quis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nostrud</a:t>
            </a:r>
            <a:r>
              <a:rPr sz="1300">
                <a:latin typeface="HSE Sans"/>
                <a:ea typeface="HSE Sans"/>
                <a:cs typeface="HSE Sans"/>
              </a:rPr>
              <a:t> exercitation </a:t>
            </a:r>
            <a:r>
              <a:rPr sz="1300">
                <a:latin typeface="HSE Sans"/>
                <a:ea typeface="HSE Sans"/>
                <a:cs typeface="HSE Sans"/>
              </a:rPr>
              <a:t>ullamco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laboris</a:t>
            </a:r>
            <a:r>
              <a:rPr sz="1300">
                <a:latin typeface="HSE Sans"/>
                <a:ea typeface="HSE Sans"/>
                <a:cs typeface="HSE Sans"/>
              </a:rPr>
              <a:t> nisi </a:t>
            </a:r>
            <a:r>
              <a:rPr sz="1300">
                <a:latin typeface="HSE Sans"/>
                <a:ea typeface="HSE Sans"/>
                <a:cs typeface="HSE Sans"/>
              </a:rPr>
              <a:t>ut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aliquip</a:t>
            </a:r>
            <a:r>
              <a:rPr sz="1300">
                <a:latin typeface="HSE Sans"/>
                <a:ea typeface="HSE Sans"/>
                <a:cs typeface="HSE Sans"/>
              </a:rPr>
              <a:t> ex </a:t>
            </a:r>
            <a:r>
              <a:rPr sz="1300">
                <a:latin typeface="HSE Sans"/>
                <a:ea typeface="HSE Sans"/>
                <a:cs typeface="HSE Sans"/>
              </a:rPr>
              <a:t>ea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commodo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consequat</a:t>
            </a:r>
            <a:r>
              <a:rPr sz="1300">
                <a:latin typeface="HSE Sans"/>
                <a:ea typeface="HSE Sans"/>
                <a:cs typeface="HSE Sans"/>
              </a:rPr>
              <a:t>. Duis </a:t>
            </a:r>
            <a:r>
              <a:rPr sz="1300">
                <a:latin typeface="HSE Sans"/>
                <a:ea typeface="HSE Sans"/>
                <a:cs typeface="HSE Sans"/>
              </a:rPr>
              <a:t>aute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irure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dolor</a:t>
            </a:r>
            <a:r>
              <a:rPr sz="1300">
                <a:latin typeface="HSE Sans"/>
                <a:ea typeface="HSE Sans"/>
                <a:cs typeface="HSE Sans"/>
              </a:rPr>
              <a:t> in </a:t>
            </a:r>
            <a:r>
              <a:rPr sz="1300">
                <a:latin typeface="HSE Sans"/>
                <a:ea typeface="HSE Sans"/>
                <a:cs typeface="HSE Sans"/>
              </a:rPr>
              <a:t>reprehenderit</a:t>
            </a:r>
            <a:r>
              <a:rPr sz="1300">
                <a:latin typeface="HSE Sans"/>
                <a:ea typeface="HSE Sans"/>
                <a:cs typeface="HSE Sans"/>
              </a:rPr>
              <a:t> in </a:t>
            </a:r>
            <a:r>
              <a:rPr sz="1300">
                <a:latin typeface="HSE Sans"/>
                <a:ea typeface="HSE Sans"/>
                <a:cs typeface="HSE Sans"/>
              </a:rPr>
              <a:t>voluptate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velit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esse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cillum</a:t>
            </a:r>
            <a:r>
              <a:rPr sz="1300">
                <a:latin typeface="HSE Sans"/>
                <a:ea typeface="HSE Sans"/>
                <a:cs typeface="HSE Sans"/>
              </a:rPr>
              <a:t> dolore </a:t>
            </a:r>
            <a:r>
              <a:rPr sz="1300">
                <a:latin typeface="HSE Sans"/>
                <a:ea typeface="HSE Sans"/>
                <a:cs typeface="HSE Sans"/>
              </a:rPr>
              <a:t>eu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fugiat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nulla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pariatur</a:t>
            </a:r>
            <a:r>
              <a:rPr sz="1300">
                <a:latin typeface="HSE Sans"/>
                <a:ea typeface="HSE Sans"/>
                <a:cs typeface="HSE Sans"/>
              </a:rPr>
              <a:t>. </a:t>
            </a:r>
            <a:r>
              <a:rPr sz="1300">
                <a:latin typeface="HSE Sans"/>
                <a:ea typeface="HSE Sans"/>
                <a:cs typeface="HSE Sans"/>
              </a:rPr>
              <a:t>Excepteur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sint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occaecat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cupidatat</a:t>
            </a:r>
            <a:r>
              <a:rPr sz="1300">
                <a:latin typeface="HSE Sans"/>
                <a:ea typeface="HSE Sans"/>
                <a:cs typeface="HSE Sans"/>
              </a:rPr>
              <a:t> non </a:t>
            </a:r>
            <a:r>
              <a:rPr sz="1300">
                <a:latin typeface="HSE Sans"/>
                <a:ea typeface="HSE Sans"/>
                <a:cs typeface="HSE Sans"/>
              </a:rPr>
              <a:t>proident</a:t>
            </a:r>
            <a:r>
              <a:rPr sz="1300">
                <a:latin typeface="HSE Sans"/>
                <a:ea typeface="HSE Sans"/>
                <a:cs typeface="HSE Sans"/>
              </a:rPr>
              <a:t>, sunt in culpa qui </a:t>
            </a:r>
            <a:r>
              <a:rPr sz="1300">
                <a:latin typeface="HSE Sans"/>
                <a:ea typeface="HSE Sans"/>
                <a:cs typeface="HSE Sans"/>
              </a:rPr>
              <a:t>officia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deserunt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mollit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anim</a:t>
            </a:r>
            <a:r>
              <a:rPr sz="1300">
                <a:latin typeface="HSE Sans"/>
                <a:ea typeface="HSE Sans"/>
                <a:cs typeface="HSE Sans"/>
              </a:rPr>
              <a:t> id </a:t>
            </a:r>
            <a:r>
              <a:rPr sz="1300">
                <a:latin typeface="HSE Sans"/>
                <a:ea typeface="HSE Sans"/>
                <a:cs typeface="HSE Sans"/>
              </a:rPr>
              <a:t>est</a:t>
            </a:r>
            <a:r>
              <a:rPr sz="1300">
                <a:latin typeface="HSE Sans"/>
                <a:ea typeface="HSE Sans"/>
                <a:cs typeface="HSE Sans"/>
              </a:rPr>
              <a:t> </a:t>
            </a:r>
            <a:r>
              <a:rPr sz="1300">
                <a:latin typeface="HSE Sans"/>
                <a:ea typeface="HSE Sans"/>
                <a:cs typeface="HSE Sans"/>
              </a:rPr>
              <a:t>laborum</a:t>
            </a:r>
            <a:r>
              <a:rPr sz="1300">
                <a:latin typeface="HSE Sans"/>
                <a:ea typeface="HSE Sans"/>
                <a:cs typeface="HSE Sans"/>
              </a:rPr>
              <a:t>.</a:t>
            </a:r>
            <a:endParaRPr sz="13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цвет">
    <p:bg>
      <p:bgPr>
        <a:blipFill xmlns:a="http://schemas.openxmlformats.org/drawingml/2006/main" rotWithShape="1">
          <a:blip xmlns:r="http://schemas.openxmlformats.org/officeDocument/2006/relationships" r:embed="R37a560b3a9d84b2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65be3c4ea443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8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88C79988-F8D5-461E-88B3-339C6EE4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CAB512F4-11A1-47AE-9B72-3478EF69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45C0313C-3990-4939-B2C2-95F0EECD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A39D099-B515-F343-BF7A-A95468DA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2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9E00CD97-9F0C-4D51-9413-6A6C5AC7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9C21DFE9-C3B2-C54E-9275-7776355F736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4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5A73F99D-6D58-724E-ADB3-150D9B24F8CB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6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7E89E360-BE39-5041-BAD6-C7B708340AA2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9" name="Заголовок 31">
            <a:extLst xmlns:a="http://schemas.openxmlformats.org/drawingml/2006/main">
              <a:ext uri="{FF2B5EF4-FFF2-40B4-BE49-F238E27FC236}">
                <a16:creationId xmlns:a16="http://schemas.microsoft.com/office/drawing/2014/main" id="{1C20890C-BC1C-0745-9AF3-46700BA27C4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85899" y="1447790"/>
            <a:ext cx="4322530" cy="777025"/>
          </a:xfrm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2400" b="0" i="0">
                <a:latin typeface="HSE Sans"/>
                <a:ea typeface="HSE Sans"/>
                <a:cs typeface="HSE Sans"/>
              </a:defRPr>
            </a:lvl1pPr>
          </a:lstStyle>
          <a:p xmlns:a="http://schemas.openxmlformats.org/drawingml/2006/main"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Дополнительная </a:t>
            </a:r>
            <a:br/>
            <a:r>
              <a:rPr sz="24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цветовая гамма</a:t>
            </a:r>
          </a:p>
        </p:txBody>
      </p:sp>
      <p:sp>
        <p:nvSpPr>
          <p:cNvPr id="2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A2589F7-4500-024F-8E07-D726629A599C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85898" y="2379663"/>
            <a:ext cx="4322531" cy="2399371"/>
          </a:xfrm>
        </p:spPr>
        <p:txBody>
          <a:bodyPr xmlns:a="http://schemas.openxmlformats.org/drawingml/2006/main" lIns="0" tIns="0" rIns="0">
            <a:norm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/>
              <a:buNone/>
              <a:defRPr sz="13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300">
                <a:latin typeface="HSE Sans"/>
                <a:ea typeface="HSE Sans"/>
                <a:cs typeface="HSE Sans"/>
              </a:rPr>
              <a:t>Для оформления графиков, таблиц, диаграмм могут потребоваться дополнительные цвета и вы совершенно правы, задавая вопрос, какие цвета использовать и где их взять. Мы предлагаем использовать палитру цветов Вышки для этих целей.</a:t>
            </a:r>
          </a:p>
        </p:txBody>
      </p:sp>
      <p:sp>
        <p:nvSpPr>
          <p:cNvPr id="21" name="Oval 5">
            <a:extLst xmlns:a="http://schemas.openxmlformats.org/drawingml/2006/main">
              <a:ext uri="{FF2B5EF4-FFF2-40B4-BE49-F238E27FC236}">
                <a16:creationId xmlns:a16="http://schemas.microsoft.com/office/drawing/2014/main" id="{D2CA403A-98E7-6C42-8F44-30AB6622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2D69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Oval 20">
            <a:extLst xmlns:a="http://schemas.openxmlformats.org/drawingml/2006/main">
              <a:ext uri="{FF2B5EF4-FFF2-40B4-BE49-F238E27FC236}">
                <a16:creationId xmlns:a16="http://schemas.microsoft.com/office/drawing/2014/main" id="{42ABAA5D-E7AB-6E48-9D43-A48178C9B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A9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209F185A-8F67-9C42-A7C5-87E483F4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0D7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279AE0F6-4E37-6C4D-AF45-824EEE48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9C6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Oval 26">
            <a:extLst xmlns:a="http://schemas.openxmlformats.org/drawingml/2006/main">
              <a:ext uri="{FF2B5EF4-FFF2-40B4-BE49-F238E27FC236}">
                <a16:creationId xmlns:a16="http://schemas.microsoft.com/office/drawing/2014/main" id="{330C0EA4-7FD1-CE4D-AC95-8C484C5AC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1447790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681F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Oval 29">
            <a:extLst xmlns:a="http://schemas.openxmlformats.org/drawingml/2006/main">
              <a:ext uri="{FF2B5EF4-FFF2-40B4-BE49-F238E27FC236}">
                <a16:creationId xmlns:a16="http://schemas.microsoft.com/office/drawing/2014/main" id="{4C53CF3D-7EFB-DF4F-8EA6-5644574E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4EB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Oval 33">
            <a:extLst xmlns:a="http://schemas.openxmlformats.org/drawingml/2006/main">
              <a:ext uri="{FF2B5EF4-FFF2-40B4-BE49-F238E27FC236}">
                <a16:creationId xmlns:a16="http://schemas.microsoft.com/office/drawing/2014/main" id="{B42CE88A-E9A3-2A4E-BD50-EB37311F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1F3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Oval 34">
            <a:extLst xmlns:a="http://schemas.openxmlformats.org/drawingml/2006/main">
              <a:ext uri="{FF2B5EF4-FFF2-40B4-BE49-F238E27FC236}">
                <a16:creationId xmlns:a16="http://schemas.microsoft.com/office/drawing/2014/main" id="{B699EFDF-DB9D-3C4F-9D1F-46150801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BA0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Oval 35">
            <a:extLst xmlns:a="http://schemas.openxmlformats.org/drawingml/2006/main">
              <a:ext uri="{FF2B5EF4-FFF2-40B4-BE49-F238E27FC236}">
                <a16:creationId xmlns:a16="http://schemas.microsoft.com/office/drawing/2014/main" id="{5DF3131C-EEA1-5446-B567-C9DA0A2A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A0D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0" name="Oval 36">
            <a:extLst xmlns:a="http://schemas.openxmlformats.org/drawingml/2006/main">
              <a:ext uri="{FF2B5EF4-FFF2-40B4-BE49-F238E27FC236}">
                <a16:creationId xmlns:a16="http://schemas.microsoft.com/office/drawing/2014/main" id="{6D03B317-B61D-2945-8C0A-A6EBD87AC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270869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7A0A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Oval 37">
            <a:extLst xmlns:a="http://schemas.openxmlformats.org/drawingml/2006/main">
              <a:ext uri="{FF2B5EF4-FFF2-40B4-BE49-F238E27FC236}">
                <a16:creationId xmlns:a16="http://schemas.microsoft.com/office/drawing/2014/main" id="{9C0266F1-C0B7-624A-A873-5F2C8801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8C3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2" name="Oval 38">
            <a:extLst xmlns:a="http://schemas.openxmlformats.org/drawingml/2006/main">
              <a:ext uri="{FF2B5EF4-FFF2-40B4-BE49-F238E27FC236}">
                <a16:creationId xmlns:a16="http://schemas.microsoft.com/office/drawing/2014/main" id="{30C0C10E-388C-9843-8270-19D471BD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62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Oval 39">
            <a:extLst xmlns:a="http://schemas.openxmlformats.org/drawingml/2006/main">
              <a:ext uri="{FF2B5EF4-FFF2-40B4-BE49-F238E27FC236}">
                <a16:creationId xmlns:a16="http://schemas.microsoft.com/office/drawing/2014/main" id="{87047EA3-79D2-8644-A568-E64AA1D7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5A5A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4" name="Oval 40">
            <a:extLst xmlns:a="http://schemas.openxmlformats.org/drawingml/2006/main">
              <a:ext uri="{FF2B5EF4-FFF2-40B4-BE49-F238E27FC236}">
                <a16:creationId xmlns:a16="http://schemas.microsoft.com/office/drawing/2014/main" id="{7F5D1C6B-4E6B-0346-A5DC-C511DB14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746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Oval 41">
            <a:extLst xmlns:a="http://schemas.openxmlformats.org/drawingml/2006/main">
              <a:ext uri="{FF2B5EF4-FFF2-40B4-BE49-F238E27FC236}">
                <a16:creationId xmlns:a16="http://schemas.microsoft.com/office/drawing/2014/main" id="{EB421DBA-35DE-2C4F-A89E-27F0998E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396960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DDDF0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6" name="Oval 42">
            <a:extLst xmlns:a="http://schemas.openxmlformats.org/drawingml/2006/main">
              <a:ext uri="{FF2B5EF4-FFF2-40B4-BE49-F238E27FC236}">
                <a16:creationId xmlns:a16="http://schemas.microsoft.com/office/drawing/2014/main" id="{081BD842-A9A1-5B44-81ED-A97BA390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2982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BB4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Oval 43">
            <a:extLst xmlns:a="http://schemas.openxmlformats.org/drawingml/2006/main">
              <a:ext uri="{FF2B5EF4-FFF2-40B4-BE49-F238E27FC236}">
                <a16:creationId xmlns:a16="http://schemas.microsoft.com/office/drawing/2014/main" id="{036EE7D2-A33A-434C-B272-C82E2CDD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2925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C9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Oval 44">
            <a:extLst xmlns:a="http://schemas.openxmlformats.org/drawingml/2006/main">
              <a:ext uri="{FF2B5EF4-FFF2-40B4-BE49-F238E27FC236}">
                <a16:creationId xmlns:a16="http://schemas.microsoft.com/office/drawing/2014/main" id="{7DD65DA4-F076-C242-813E-8C17DCAB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868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C3F1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Oval 45">
            <a:extLst xmlns:a="http://schemas.openxmlformats.org/drawingml/2006/main">
              <a:ext uri="{FF2B5EF4-FFF2-40B4-BE49-F238E27FC236}">
                <a16:creationId xmlns:a16="http://schemas.microsoft.com/office/drawing/2014/main" id="{8A44D99D-BF66-2848-B460-F59D8ECF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2811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C3C3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0" name="Oval 46">
            <a:extLst xmlns:a="http://schemas.openxmlformats.org/drawingml/2006/main">
              <a:ext uri="{FF2B5EF4-FFF2-40B4-BE49-F238E27FC236}">
                <a16:creationId xmlns:a16="http://schemas.microsoft.com/office/drawing/2014/main" id="{9B130CEB-3D74-B647-BA6B-32F7D70F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2754" y="5249769"/>
            <a:ext cx="830997" cy="8309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7D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чистый_2">
    <p:bg>
      <p:bgPr>
        <a:blipFill xmlns:a="http://schemas.openxmlformats.org/drawingml/2006/main" rotWithShape="1">
          <a:blip xmlns:r="http://schemas.openxmlformats.org/officeDocument/2006/relationships" r:embed="Ref82b0e8d96c411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4f9f492bb4e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7199" y="464363"/>
            <a:ext cx="448276" cy="448276"/>
          </a:xfrm>
          <a:prstGeom xmlns:a="http://schemas.openxmlformats.org/drawingml/2006/main" prst="rect">
            <a:avLst/>
          </a:prstGeom>
        </p:spPr>
      </p:pic>
      <p:sp>
        <p:nvSpPr>
          <p:cNvPr id="9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13A6E534-1424-4E51-82B4-A8D7D87B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868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5E12E0-066B-4068-B28B-DEEAB5CC2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416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Straight Connector 25">
            <a:extLst xmlns:a="http://schemas.openxmlformats.org/drawingml/2006/main">
              <a:ext uri="{FF2B5EF4-FFF2-40B4-BE49-F238E27FC236}">
                <a16:creationId xmlns:a16="http://schemas.microsoft.com/office/drawing/2014/main" id="{CF2B6D49-BB0C-417E-98D4-948F9323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081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62171D1-2A5B-7A4A-9760-17CCE51B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201" y="532278"/>
            <a:ext cx="67197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fld id="{32AF94B5-93D7-5247-B727-C7089232F508}" type="slidenum">
              <a:rPr sz="2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‹#›</a:t>
            </a:fld>
            <a:endParaRPr sz="2000">
              <a:solidFill>
                <a:srgbClr val="102D69"/>
              </a:solidFill>
              <a:latin typeface="HSE Sans"/>
              <a:ea typeface="HSE Sans"/>
              <a:cs typeface="HSE Sans"/>
            </a:endParaRPr>
          </a:p>
        </p:txBody>
      </p:sp>
      <p:sp>
        <p:nvSpPr>
          <p:cNvPr id="13" name="Straight Connector 59">
            <a:extLst xmlns:a="http://schemas.openxmlformats.org/drawingml/2006/main">
              <a:ext uri="{FF2B5EF4-FFF2-40B4-BE49-F238E27FC236}">
                <a16:creationId xmlns:a16="http://schemas.microsoft.com/office/drawing/2014/main" id="{BB89A9BB-68B2-4823-9FF0-8C0E2B74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3868" y="464363"/>
            <a:ext cx="0" cy="5862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102D6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Текст 37">
            <a:extLst xmlns:a="http://schemas.openxmlformats.org/drawingml/2006/main">
              <a:ext uri="{FF2B5EF4-FFF2-40B4-BE49-F238E27FC236}">
                <a16:creationId xmlns:a16="http://schemas.microsoft.com/office/drawing/2014/main" id="{9856D01B-EC9A-6047-B7FB-D47084AB3F5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143689" y="540904"/>
            <a:ext cx="1901825" cy="415925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1000" b="0" i="0">
                <a:latin typeface="HSE Sans"/>
                <a:ea typeface="HSE Sans"/>
                <a:cs typeface="HSE Sans"/>
              </a:defRPr>
            </a:lvl1pPr>
            <a:lvl2pPr marL="4572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2pPr>
            <a:lvl3pPr marL="9144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3pPr>
            <a:lvl4pPr marL="13716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4pPr>
            <a:lvl5pPr marL="1828800" indent="0">
              <a:lnSpc>
                <a:spcPct val="100000"/>
              </a:lnSpc>
              <a:buNone/>
              <a:defRPr sz="1000" b="0" i="0"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rPr sz="1000">
                <a:latin typeface="HSE Sans"/>
                <a:ea typeface="HSE Sans"/>
                <a:cs typeface="HSE Sans"/>
              </a:rPr>
              <a:t>Название подразделения</a:t>
            </a:r>
            <a:br/>
            <a:r>
              <a:rPr sz="1000">
                <a:latin typeface="HSE Sans"/>
                <a:ea typeface="HSE Sans"/>
                <a:cs typeface="HSE Sans"/>
              </a:rPr>
              <a:t>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5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83E23342-AC91-354A-9A28-A14FF7BADCD2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3459163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презентации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  <p:sp>
        <p:nvSpPr>
          <p:cNvPr id="17" name="Текст 39">
            <a:extLst xmlns:a="http://schemas.openxmlformats.org/drawingml/2006/main">
              <a:ext uri="{FF2B5EF4-FFF2-40B4-BE49-F238E27FC236}">
                <a16:creationId xmlns:a16="http://schemas.microsoft.com/office/drawing/2014/main" id="{BB1CCE68-8F57-1A41-BC43-633D2EFC801E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259892" y="548720"/>
            <a:ext cx="2070100" cy="408109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1pPr>
            <a:lvl2pPr marL="4572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2pPr>
            <a:lvl3pPr marL="9144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3pPr>
            <a:lvl4pPr marL="13716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4pPr>
            <a:lvl5pPr marL="1828800" indent="0">
              <a:buNone/>
              <a:defRPr sz="1000" b="0" i="0">
                <a:solidFill>
                  <a:srgbClr val="0E2D69"/>
                </a:solidFill>
                <a:latin typeface="HSE Sans"/>
                <a:ea typeface="HSE Sans"/>
                <a:cs typeface="HSE Sans"/>
              </a:defRPr>
            </a:lvl5pPr>
          </a:lstStyle>
          <a:p xmlns:a="http://schemas.openxmlformats.org/drawingml/2006/main">
            <a:r>
              <a:rPr sz="1000">
                <a:latin typeface="HSE Sans"/>
                <a:ea typeface="HSE Sans"/>
                <a:cs typeface="HSE Sans"/>
              </a:rPr>
              <a:t>Название раздела может быть набрано в две или три строки</a:t>
            </a:r>
            <a:r>
              <a:rPr sz="1000">
                <a:latin typeface="HSE Sans"/>
                <a:ea typeface="HSE Sans"/>
                <a:cs typeface="HSE Sans"/>
              </a:rPr>
              <a:t> (10pt)</a:t>
            </a:r>
            <a:endParaRPr sz="1000">
              <a:latin typeface="HSE Sans"/>
              <a:ea typeface="HSE Sans"/>
              <a:cs typeface="HSE Sans"/>
            </a:endParaRP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чистый">
    <p:bg>
      <p:bgPr>
        <a:blipFill xmlns:a="http://schemas.openxmlformats.org/drawingml/2006/main" rotWithShape="1">
          <a:blip xmlns:r="http://schemas.openxmlformats.org/officeDocument/2006/relationships" r:embed="R55ce29b17e3d46f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5234703-C735-5D41-99C2-019C7EBE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dk1">
              <a:shade val="50000"/>
            </a:schemeClr>
          </a:lnRef>
          <a:fillRef xmlns:a="http://schemas.openxmlformats.org/drawingml/2006/main" idx="1">
            <a:schemeClr val="dk1"/>
          </a:fillRef>
          <a:effectRef xmlns:a="http://schemas.openxmlformats.org/drawingml/2006/main" idx="0">
            <a:schemeClr val="dk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2fdb7bdbcf4b6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310809" y="2643809"/>
            <a:ext cx="1570383" cy="1570383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3767f5cbdf4e0f" /><Relationship Type="http://schemas.openxmlformats.org/officeDocument/2006/relationships/slideLayout" Target="/ppt/slideLayouts/slideLayout1.xml" Id="R7002909b6a3f4e65" /><Relationship Type="http://schemas.openxmlformats.org/officeDocument/2006/relationships/slideLayout" Target="/ppt/slideLayouts/slideLayout2.xml" Id="Ra770222bde664644" /><Relationship Type="http://schemas.openxmlformats.org/officeDocument/2006/relationships/slideLayout" Target="/ppt/slideLayouts/slideLayout3.xml" Id="R4857bb6ff17444f4" /><Relationship Type="http://schemas.openxmlformats.org/officeDocument/2006/relationships/slideLayout" Target="/ppt/slideLayouts/slideLayout4.xml" Id="R040c7e9b47e24209" /><Relationship Type="http://schemas.openxmlformats.org/officeDocument/2006/relationships/slideLayout" Target="/ppt/slideLayouts/slideLayout5.xml" Id="Rce6cdc5f1160441a" /><Relationship Type="http://schemas.openxmlformats.org/officeDocument/2006/relationships/slideLayout" Target="/ppt/slideLayouts/slideLayout6.xml" Id="R0b81cbfb0a1c4407" /><Relationship Type="http://schemas.openxmlformats.org/officeDocument/2006/relationships/slideLayout" Target="/ppt/slideLayouts/slideLayout7.xml" Id="R61492cc40467425d" /><Relationship Type="http://schemas.openxmlformats.org/officeDocument/2006/relationships/slideLayout" Target="/ppt/slideLayouts/slideLayout8.xml" Id="R4d86432476cd4d50" /><Relationship Type="http://schemas.openxmlformats.org/officeDocument/2006/relationships/slideLayout" Target="/ppt/slideLayouts/slideLayout9.xml" Id="R910dc21086d545d0" /><Relationship Type="http://schemas.openxmlformats.org/officeDocument/2006/relationships/slideLayout" Target="/ppt/slideLayouts/slideLayout10.xml" Id="R3a7b646fb1a84ba6" /><Relationship Type="http://schemas.openxmlformats.org/officeDocument/2006/relationships/slideLayout" Target="/ppt/slideLayouts/slideLayout11.xml" Id="Rae75952c98fe4b58" /><Relationship Type="http://schemas.openxmlformats.org/officeDocument/2006/relationships/slideLayout" Target="/ppt/slideLayouts/slideLayout12.xml" Id="Rbafe2079a4f2486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D33F8FDE-7383-E947-8568-FF6B7A7765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8E6541-45CA-8B42-98B4-D42737B850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E70645B-C5D9-8544-BBF2-E4A13F8E405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3063DFB-8595-A44B-9F09-A50FA310E559}" type="datetimeFigureOut">
              <a:t>07/21/2025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1F52289-7F57-544F-95EE-F8B2E106276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11C5F56-F795-5643-ABE3-DDED2186989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C20F133-126C-5944-A0E4-6A9616EDC0DA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02909b6a3f4e65"/>
    <p:sldLayoutId xmlns:r="http://schemas.openxmlformats.org/officeDocument/2006/relationships" id="2147483650" r:id="Ra770222bde664644"/>
    <p:sldLayoutId xmlns:r="http://schemas.openxmlformats.org/officeDocument/2006/relationships" id="2147483651" r:id="R4857bb6ff17444f4"/>
    <p:sldLayoutId xmlns:r="http://schemas.openxmlformats.org/officeDocument/2006/relationships" id="2147483652" r:id="R040c7e9b47e24209"/>
    <p:sldLayoutId xmlns:r="http://schemas.openxmlformats.org/officeDocument/2006/relationships" id="2147483653" r:id="Rce6cdc5f1160441a"/>
    <p:sldLayoutId xmlns:r="http://schemas.openxmlformats.org/officeDocument/2006/relationships" id="2147483654" r:id="R0b81cbfb0a1c4407"/>
    <p:sldLayoutId xmlns:r="http://schemas.openxmlformats.org/officeDocument/2006/relationships" id="2147483655" r:id="R61492cc40467425d"/>
    <p:sldLayoutId xmlns:r="http://schemas.openxmlformats.org/officeDocument/2006/relationships" id="2147483656" r:id="R4d86432476cd4d50"/>
    <p:sldLayoutId xmlns:r="http://schemas.openxmlformats.org/officeDocument/2006/relationships" id="2147483657" r:id="R910dc21086d545d0"/>
    <p:sldLayoutId xmlns:r="http://schemas.openxmlformats.org/officeDocument/2006/relationships" id="2147483658" r:id="R3a7b646fb1a84ba6"/>
    <p:sldLayoutId xmlns:r="http://schemas.openxmlformats.org/officeDocument/2006/relationships" id="2147483659" r:id="Rae75952c98fe4b58"/>
    <p:sldLayoutId xmlns:r="http://schemas.openxmlformats.org/officeDocument/2006/relationships" id="2147483660" r:id="Rbafe2079a4f2486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Пользовательские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6afad290e4b8d" /><Relationship Type="http://schemas.openxmlformats.org/officeDocument/2006/relationships/notesSlide" Target="/ppt/notesSlides/notesSlide1.xml" Id="R902a5f9159644a8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f5e31c2cb5745b4" /><Relationship Type="http://schemas.openxmlformats.org/officeDocument/2006/relationships/notesSlide" Target="/ppt/notesSlides/notesSlide2.xml" Id="R6f1028dd54784c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96bd5ee2dc4e98" /><Relationship Type="http://schemas.openxmlformats.org/officeDocument/2006/relationships/notesSlide" Target="/ppt/notesSlides/notesSlide3.xml" Id="R9661f5c7ab8d4e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fca642707e14f31" /><Relationship Type="http://schemas.openxmlformats.org/officeDocument/2006/relationships/notesSlide" Target="/ppt/notesSlides/notesSlide4.xml" Id="Rf451a4e68a3f4e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cfcb045c09d468c" /><Relationship Type="http://schemas.openxmlformats.org/officeDocument/2006/relationships/notesSlide" Target="/ppt/notesSlides/notesSlide5.xml" Id="R5e2b404b402e4f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3add4ea16b34f59" /><Relationship Type="http://schemas.openxmlformats.org/officeDocument/2006/relationships/notesSlide" Target="/ppt/notesSlides/notesSlide6.xml" Id="R24234b152dc546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a843d33a6fd42b9" /><Relationship Type="http://schemas.openxmlformats.org/officeDocument/2006/relationships/notesSlide" Target="/ppt/notesSlides/notesSlide7.xml" Id="Rfe26db6db116475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3777439af643d6" /><Relationship Type="http://schemas.openxmlformats.org/officeDocument/2006/relationships/notesSlide" Target="/ppt/notesSlides/notesSlide8.xml" Id="R1bd072554cc446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24a6426967f4aed" /><Relationship Type="http://schemas.openxmlformats.org/officeDocument/2006/relationships/notesSlide" Target="/ppt/notesSlides/notesSlide9.xml" Id="Rd4aeec4b2ac94a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ecb105180234293" /><Relationship Type="http://schemas.openxmlformats.org/officeDocument/2006/relationships/notesSlide" Target="/ppt/notesSlides/notesSlide10.xml" Id="R9db08f43d7394f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bc6588ecbdf4399" /><Relationship Type="http://schemas.openxmlformats.org/officeDocument/2006/relationships/notesSlide" Target="/ppt/notesSlides/notesSlide11.xml" Id="R3e706a8bf4f041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a64f4575a894d9a" /><Relationship Type="http://schemas.openxmlformats.org/officeDocument/2006/relationships/notesSlide" Target="/ppt/notesSlides/notesSlide12.xml" Id="R47044110dacb43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3276f370e234305" /><Relationship Type="http://schemas.openxmlformats.org/officeDocument/2006/relationships/notesSlide" Target="/ppt/notesSlides/notesSlide13.xml" Id="Re75b80a5bca1435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cc099b9d9504ae3" /><Relationship Type="http://schemas.openxmlformats.org/officeDocument/2006/relationships/notesSlide" Target="/ppt/notesSlides/notesSlide14.xml" Id="Rde59c5e3c850431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587da5c11d54392" /><Relationship Type="http://schemas.openxmlformats.org/officeDocument/2006/relationships/notesSlide" Target="/ppt/notesSlides/notesSlide15.xml" Id="R199eae0c9cf941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ddfac92683a413c" /><Relationship Type="http://schemas.openxmlformats.org/officeDocument/2006/relationships/notesSlide" Target="/ppt/notesSlides/notesSlide16.xml" Id="R0b426dec5d7242c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5bd12050c5d476a" /><Relationship Type="http://schemas.openxmlformats.org/officeDocument/2006/relationships/notesSlide" Target="/ppt/notesSlides/notesSlide17.xml" Id="R1be0343747fc48e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37d97781e0c4846" /><Relationship Type="http://schemas.openxmlformats.org/officeDocument/2006/relationships/notesSlide" Target="/ppt/notesSlides/notesSlide18.xml" Id="R26bf80ec73b2444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1986d4a39b84d5e" /><Relationship Type="http://schemas.openxmlformats.org/officeDocument/2006/relationships/notesSlide" Target="/ppt/notesSlides/notesSlide19.xml" Id="R65eb4bc39af0478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e2065254f4342ae" /><Relationship Type="http://schemas.openxmlformats.org/officeDocument/2006/relationships/notesSlide" Target="/ppt/notesSlides/notesSlide20.xml" Id="R70282ac9a080423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dc84f5f98ff44b1" /><Relationship Type="http://schemas.openxmlformats.org/officeDocument/2006/relationships/notesSlide" Target="/ppt/notesSlides/notesSlide21.xml" Id="R57437b16955a468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b0b96c71a874205" /><Relationship Type="http://schemas.openxmlformats.org/officeDocument/2006/relationships/notesSlide" Target="/ppt/notesSlides/notesSlide22.xml" Id="R72998f611cc9449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533736f4bcc4dbe" /><Relationship Type="http://schemas.openxmlformats.org/officeDocument/2006/relationships/notesSlide" Target="/ppt/notesSlides/notesSlide23.xml" Id="Rf94e1296f00f453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408bd672b45460e" /><Relationship Type="http://schemas.openxmlformats.org/officeDocument/2006/relationships/notesSlide" Target="/ppt/notesSlides/notesSlide24.xml" Id="Rf04c34427ce9421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ac2b40b004a4ea8" /><Relationship Type="http://schemas.openxmlformats.org/officeDocument/2006/relationships/notesSlide" Target="/ppt/notesSlides/notesSlide25.xml" Id="R1eaa489d841a409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49bc65a061849c4" /><Relationship Type="http://schemas.openxmlformats.org/officeDocument/2006/relationships/notesSlide" Target="/ppt/notesSlides/notesSlide26.xml" Id="Rc9ad57cb24d24bc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f58c48c5d4e4716" /><Relationship Type="http://schemas.openxmlformats.org/officeDocument/2006/relationships/notesSlide" Target="/ppt/notesSlides/notesSlide27.xml" Id="R5b646074b0e94dc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d5570ca2876402d" /><Relationship Type="http://schemas.openxmlformats.org/officeDocument/2006/relationships/notesSlide" Target="/ppt/notesSlides/notesSlide28.xml" Id="Rc873aa3f4d6a43b1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46c551d046c4bef" /><Relationship Type="http://schemas.openxmlformats.org/officeDocument/2006/relationships/notesSlide" Target="/ppt/notesSlides/notesSlide29.xml" Id="Ra9351254fe0443a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5530a7c18094a0e" /><Relationship Type="http://schemas.openxmlformats.org/officeDocument/2006/relationships/notesSlide" Target="/ppt/notesSlides/notesSlide30.xml" Id="R0cd91acfc11243b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58c01c434b4307" /><Relationship Type="http://schemas.openxmlformats.org/officeDocument/2006/relationships/notesSlide" Target="/ppt/notesSlides/notesSlide31.xml" Id="R66bcc6cb5a7d44e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8e0e27e5b5f41a4" /><Relationship Type="http://schemas.openxmlformats.org/officeDocument/2006/relationships/notesSlide" Target="/ppt/notesSlides/notesSlide32.xml" Id="R564daab3ad914c7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88047a6c11443bd" /><Relationship Type="http://schemas.openxmlformats.org/officeDocument/2006/relationships/chart" Target="/ppt/slides/charts/chart1.xml" Id="Reed769b3ddb745a9" /><Relationship Type="http://schemas.openxmlformats.org/officeDocument/2006/relationships/notesSlide" Target="/ppt/notesSlides/notesSlide33.xml" Id="R31bd64e9b273421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a7e192db9e845e0" /><Relationship Type="http://schemas.openxmlformats.org/officeDocument/2006/relationships/chart" Target="/ppt/slides/charts/chart2.xml" Id="R43be70c474aa47e6" /><Relationship Type="http://schemas.openxmlformats.org/officeDocument/2006/relationships/notesSlide" Target="/ppt/notesSlides/notesSlide34.xml" Id="R94c3b1397bcc445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83bd624ce844280" /><Relationship Type="http://schemas.openxmlformats.org/officeDocument/2006/relationships/notesSlide" Target="/ppt/notesSlides/notesSlide35.xml" Id="R4d5c5626caea40ba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735956e2e7e4591" /><Relationship Type="http://schemas.openxmlformats.org/officeDocument/2006/relationships/notesSlide" Target="/ppt/notesSlides/notesSlide36.xml" Id="R71c5cfba98ce483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6af6b273e5a4ce5" /><Relationship Type="http://schemas.openxmlformats.org/officeDocument/2006/relationships/notesSlide" Target="/ppt/notesSlides/notesSlide37.xml" Id="R998ace7b38b04fc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6fecb6cb804376" /><Relationship Type="http://schemas.openxmlformats.org/officeDocument/2006/relationships/chart" Target="/ppt/slides/charts/chart3.xml" Id="Rb73e81f55dae429a" /><Relationship Type="http://schemas.openxmlformats.org/officeDocument/2006/relationships/notesSlide" Target="/ppt/notesSlides/notesSlide38.xml" Id="R95e0e5d8307d4ae2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86887e7c18a4489" /><Relationship Type="http://schemas.openxmlformats.org/officeDocument/2006/relationships/notesSlide" Target="/ppt/notesSlides/notesSlide39.xml" Id="R3e74ad00ac1f48da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a1b65741def443a" /><Relationship Type="http://schemas.openxmlformats.org/officeDocument/2006/relationships/notesSlide" Target="/ppt/notesSlides/notesSlide40.xml" Id="Rc041a960204f4ab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5d09a6a062f41be" /><Relationship Type="http://schemas.openxmlformats.org/officeDocument/2006/relationships/notesSlide" Target="/ppt/notesSlides/notesSlide41.xml" Id="R69a61df700104991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e2bd00d28174bef" /><Relationship Type="http://schemas.openxmlformats.org/officeDocument/2006/relationships/notesSlide" Target="/ppt/notesSlides/notesSlide42.xml" Id="R7150957df6ab4cd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Квадратичная</c:v>
          </c:tx>
          <c:spPr>
            <a:solidFill xmlns:a="http://schemas.openxmlformats.org/drawingml/2006/main">
              <a:srgbClr val="234A9B"/>
            </a:solidFill>
            <a:ln xmlns:a="http://schemas.openxmlformats.org/drawingml/2006/main" w="28575">
              <a:solidFill>
                <a:srgbClr val="234A9B"/>
              </a:solidFill>
            </a:ln>
          </c:spPr>
          <c:marker>
            <c:symbol val="none"/>
            <c:size val="3"/>
          </c:marker>
          <c:xVal>
            <c:numRef>
              <c:f>'Chart Data'!$A$2:$A$82</c:f>
              <c:numCache>
                <c:formatCode>0.00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Data'!$B$2:$B$82</c:f>
              <c:numCache>
                <c:formatCode>0.00</c:formatCode>
                <c:ptCount val="81"/>
                <c:pt idx="0">
                  <c:v>8</c:v>
                </c:pt>
                <c:pt idx="1">
                  <c:v>7.605</c:v>
                </c:pt>
                <c:pt idx="2">
                  <c:v>7.22</c:v>
                </c:pt>
                <c:pt idx="3">
                  <c:v>6.845</c:v>
                </c:pt>
                <c:pt idx="4">
                  <c:v>6.48</c:v>
                </c:pt>
                <c:pt idx="5">
                  <c:v>6.125</c:v>
                </c:pt>
                <c:pt idx="6">
                  <c:v>5.78</c:v>
                </c:pt>
                <c:pt idx="7">
                  <c:v>5.445</c:v>
                </c:pt>
                <c:pt idx="8">
                  <c:v>5.12</c:v>
                </c:pt>
                <c:pt idx="9">
                  <c:v>4.805</c:v>
                </c:pt>
                <c:pt idx="10">
                  <c:v>4.5</c:v>
                </c:pt>
                <c:pt idx="11">
                  <c:v>4.205</c:v>
                </c:pt>
                <c:pt idx="12">
                  <c:v>3.92</c:v>
                </c:pt>
                <c:pt idx="13">
                  <c:v>3.645</c:v>
                </c:pt>
                <c:pt idx="14">
                  <c:v>3.38</c:v>
                </c:pt>
                <c:pt idx="15">
                  <c:v>3.125</c:v>
                </c:pt>
                <c:pt idx="16">
                  <c:v>2.88</c:v>
                </c:pt>
                <c:pt idx="17">
                  <c:v>2.645</c:v>
                </c:pt>
                <c:pt idx="18">
                  <c:v>2.42</c:v>
                </c:pt>
                <c:pt idx="19">
                  <c:v>2.205</c:v>
                </c:pt>
                <c:pt idx="20">
                  <c:v>2</c:v>
                </c:pt>
                <c:pt idx="21">
                  <c:v>1.805</c:v>
                </c:pt>
                <c:pt idx="22">
                  <c:v>1.62</c:v>
                </c:pt>
                <c:pt idx="23">
                  <c:v>1.445</c:v>
                </c:pt>
                <c:pt idx="24">
                  <c:v>1.28</c:v>
                </c:pt>
                <c:pt idx="25">
                  <c:v>1.125</c:v>
                </c:pt>
                <c:pt idx="26">
                  <c:v>0.98</c:v>
                </c:pt>
                <c:pt idx="27">
                  <c:v>0.845</c:v>
                </c:pt>
                <c:pt idx="28">
                  <c:v>0.72</c:v>
                </c:pt>
                <c:pt idx="29">
                  <c:v>0.605</c:v>
                </c:pt>
                <c:pt idx="30">
                  <c:v>0.5</c:v>
                </c:pt>
                <c:pt idx="31">
                  <c:v>0.405</c:v>
                </c:pt>
                <c:pt idx="32">
                  <c:v>0.32</c:v>
                </c:pt>
                <c:pt idx="33">
                  <c:v>0.245</c:v>
                </c:pt>
                <c:pt idx="34">
                  <c:v>0.18</c:v>
                </c:pt>
                <c:pt idx="35">
                  <c:v>0.125</c:v>
                </c:pt>
                <c:pt idx="36">
                  <c:v>0.08</c:v>
                </c:pt>
                <c:pt idx="37">
                  <c:v>0.045</c:v>
                </c:pt>
                <c:pt idx="38">
                  <c:v>0.02</c:v>
                </c:pt>
                <c:pt idx="39">
                  <c:v>0.005</c:v>
                </c:pt>
                <c:pt idx="40">
                  <c:v>0</c:v>
                </c:pt>
                <c:pt idx="41">
                  <c:v>0.005</c:v>
                </c:pt>
                <c:pt idx="42">
                  <c:v>0.02</c:v>
                </c:pt>
                <c:pt idx="43">
                  <c:v>0.045</c:v>
                </c:pt>
                <c:pt idx="44">
                  <c:v>0.08</c:v>
                </c:pt>
                <c:pt idx="45">
                  <c:v>0.125</c:v>
                </c:pt>
                <c:pt idx="46">
                  <c:v>0.18</c:v>
                </c:pt>
                <c:pt idx="47">
                  <c:v>0.245</c:v>
                </c:pt>
                <c:pt idx="48">
                  <c:v>0.32</c:v>
                </c:pt>
                <c:pt idx="49">
                  <c:v>0.405</c:v>
                </c:pt>
                <c:pt idx="50">
                  <c:v>0.5</c:v>
                </c:pt>
                <c:pt idx="51">
                  <c:v>0.605</c:v>
                </c:pt>
                <c:pt idx="52">
                  <c:v>0.72</c:v>
                </c:pt>
                <c:pt idx="53">
                  <c:v>0.845</c:v>
                </c:pt>
                <c:pt idx="54">
                  <c:v>0.98</c:v>
                </c:pt>
                <c:pt idx="55">
                  <c:v>1.125</c:v>
                </c:pt>
                <c:pt idx="56">
                  <c:v>1.28</c:v>
                </c:pt>
                <c:pt idx="57">
                  <c:v>1.445</c:v>
                </c:pt>
                <c:pt idx="58">
                  <c:v>1.62</c:v>
                </c:pt>
                <c:pt idx="59">
                  <c:v>1.805</c:v>
                </c:pt>
                <c:pt idx="60">
                  <c:v>2</c:v>
                </c:pt>
                <c:pt idx="61">
                  <c:v>2.205</c:v>
                </c:pt>
                <c:pt idx="62">
                  <c:v>2.42</c:v>
                </c:pt>
                <c:pt idx="63">
                  <c:v>2.645</c:v>
                </c:pt>
                <c:pt idx="64">
                  <c:v>2.88</c:v>
                </c:pt>
                <c:pt idx="65">
                  <c:v>3.125</c:v>
                </c:pt>
                <c:pt idx="66">
                  <c:v>3.38</c:v>
                </c:pt>
                <c:pt idx="67">
                  <c:v>3.645</c:v>
                </c:pt>
                <c:pt idx="68">
                  <c:v>3.92</c:v>
                </c:pt>
                <c:pt idx="69">
                  <c:v>4.205</c:v>
                </c:pt>
                <c:pt idx="70">
                  <c:v>4.5</c:v>
                </c:pt>
                <c:pt idx="71">
                  <c:v>4.805</c:v>
                </c:pt>
                <c:pt idx="72">
                  <c:v>5.12</c:v>
                </c:pt>
                <c:pt idx="73">
                  <c:v>5.445</c:v>
                </c:pt>
                <c:pt idx="74">
                  <c:v>5.78</c:v>
                </c:pt>
                <c:pt idx="75">
                  <c:v>6.125</c:v>
                </c:pt>
                <c:pt idx="76">
                  <c:v>6.48</c:v>
                </c:pt>
                <c:pt idx="77">
                  <c:v>6.845</c:v>
                </c:pt>
                <c:pt idx="78">
                  <c:v>7.22</c:v>
                </c:pt>
                <c:pt idx="79">
                  <c:v>7.605</c:v>
                </c:pt>
                <c:pt idx="80">
                  <c:v>8</c:v>
                </c:pt>
              </c:numCache>
            </c:numRef>
          </c:yVal>
        </c:ser>
        <c:ser>
          <c:idx val="1"/>
          <c:order val="1"/>
          <c:tx>
            <c:v>Huber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28575">
              <a:solidFill>
                <a:srgbClr val="EB681F"/>
              </a:solidFill>
            </a:ln>
          </c:spPr>
          <c:marker>
            <c:symbol val="none"/>
            <c:size val="3"/>
          </c:marker>
          <c:xVal>
            <c:numRef>
              <c:f>'Chart Data'!$C$2:$C$82</c:f>
              <c:numCache>
                <c:formatCode>0.00</c:formatCode>
                <c:ptCount val="81"/>
                <c:pt idx="0">
                  <c:v>-4</c:v>
                </c:pt>
                <c:pt idx="1">
                  <c:v>-3.9</c:v>
                </c:pt>
                <c:pt idx="2">
                  <c:v>-3.8</c:v>
                </c:pt>
                <c:pt idx="3">
                  <c:v>-3.7</c:v>
                </c:pt>
                <c:pt idx="4">
                  <c:v>-3.6</c:v>
                </c:pt>
                <c:pt idx="5">
                  <c:v>-3.5</c:v>
                </c:pt>
                <c:pt idx="6">
                  <c:v>-3.4</c:v>
                </c:pt>
                <c:pt idx="7">
                  <c:v>-3.3</c:v>
                </c:pt>
                <c:pt idx="8">
                  <c:v>-3.2</c:v>
                </c:pt>
                <c:pt idx="9">
                  <c:v>-3.1</c:v>
                </c:pt>
                <c:pt idx="10">
                  <c:v>-3</c:v>
                </c:pt>
                <c:pt idx="11">
                  <c:v>-2.9</c:v>
                </c:pt>
                <c:pt idx="12">
                  <c:v>-2.8</c:v>
                </c:pt>
                <c:pt idx="13">
                  <c:v>-2.7</c:v>
                </c:pt>
                <c:pt idx="14">
                  <c:v>-2.6</c:v>
                </c:pt>
                <c:pt idx="15">
                  <c:v>-2.5</c:v>
                </c:pt>
                <c:pt idx="16">
                  <c:v>-2.4</c:v>
                </c:pt>
                <c:pt idx="17">
                  <c:v>-2.3</c:v>
                </c:pt>
                <c:pt idx="18">
                  <c:v>-2.2</c:v>
                </c:pt>
                <c:pt idx="19">
                  <c:v>-2.1</c:v>
                </c:pt>
                <c:pt idx="20">
                  <c:v>-2</c:v>
                </c:pt>
                <c:pt idx="21">
                  <c:v>-1.9</c:v>
                </c:pt>
                <c:pt idx="22">
                  <c:v>-1.8</c:v>
                </c:pt>
                <c:pt idx="23">
                  <c:v>-1.7</c:v>
                </c:pt>
                <c:pt idx="24">
                  <c:v>-1.6</c:v>
                </c:pt>
                <c:pt idx="25">
                  <c:v>-1.5</c:v>
                </c:pt>
                <c:pt idx="26">
                  <c:v>-1.4</c:v>
                </c:pt>
                <c:pt idx="27">
                  <c:v>-1.3</c:v>
                </c:pt>
                <c:pt idx="28">
                  <c:v>-1.2</c:v>
                </c:pt>
                <c:pt idx="29">
                  <c:v>-1.1</c:v>
                </c:pt>
                <c:pt idx="30">
                  <c:v>-1</c:v>
                </c:pt>
                <c:pt idx="31">
                  <c:v>-0.9</c:v>
                </c:pt>
                <c:pt idx="32">
                  <c:v>-0.8</c:v>
                </c:pt>
                <c:pt idx="33">
                  <c:v>-0.7</c:v>
                </c:pt>
                <c:pt idx="34">
                  <c:v>-0.6</c:v>
                </c:pt>
                <c:pt idx="35">
                  <c:v>-0.5</c:v>
                </c:pt>
                <c:pt idx="36">
                  <c:v>-0.4</c:v>
                </c:pt>
                <c:pt idx="37">
                  <c:v>-0.3</c:v>
                </c:pt>
                <c:pt idx="38">
                  <c:v>-0.2</c:v>
                </c:pt>
                <c:pt idx="39">
                  <c:v>-0.1</c:v>
                </c:pt>
                <c:pt idx="40">
                  <c:v>0</c:v>
                </c:pt>
                <c:pt idx="41">
                  <c:v>0.1</c:v>
                </c:pt>
                <c:pt idx="42">
                  <c:v>0.2</c:v>
                </c:pt>
                <c:pt idx="43">
                  <c:v>0.3</c:v>
                </c:pt>
                <c:pt idx="44">
                  <c:v>0.4</c:v>
                </c:pt>
                <c:pt idx="45">
                  <c:v>0.5</c:v>
                </c:pt>
                <c:pt idx="46">
                  <c:v>0.6</c:v>
                </c:pt>
                <c:pt idx="47">
                  <c:v>0.7</c:v>
                </c:pt>
                <c:pt idx="48">
                  <c:v>0.8</c:v>
                </c:pt>
                <c:pt idx="49">
                  <c:v>0.9</c:v>
                </c:pt>
                <c:pt idx="50">
                  <c:v>1</c:v>
                </c:pt>
                <c:pt idx="51">
                  <c:v>1.1</c:v>
                </c:pt>
                <c:pt idx="52">
                  <c:v>1.2</c:v>
                </c:pt>
                <c:pt idx="53">
                  <c:v>1.3</c:v>
                </c:pt>
                <c:pt idx="54">
                  <c:v>1.4</c:v>
                </c:pt>
                <c:pt idx="55">
                  <c:v>1.5</c:v>
                </c:pt>
                <c:pt idx="56">
                  <c:v>1.6</c:v>
                </c:pt>
                <c:pt idx="57">
                  <c:v>1.7</c:v>
                </c:pt>
                <c:pt idx="58">
                  <c:v>1.8</c:v>
                </c:pt>
                <c:pt idx="59">
                  <c:v>1.9</c:v>
                </c:pt>
                <c:pt idx="60">
                  <c:v>2</c:v>
                </c:pt>
                <c:pt idx="61">
                  <c:v>2.1</c:v>
                </c:pt>
                <c:pt idx="62">
                  <c:v>2.2</c:v>
                </c:pt>
                <c:pt idx="63">
                  <c:v>2.3</c:v>
                </c:pt>
                <c:pt idx="64">
                  <c:v>2.4</c:v>
                </c:pt>
                <c:pt idx="65">
                  <c:v>2.5</c:v>
                </c:pt>
                <c:pt idx="66">
                  <c:v>2.6</c:v>
                </c:pt>
                <c:pt idx="67">
                  <c:v>2.7</c:v>
                </c:pt>
                <c:pt idx="68">
                  <c:v>2.8</c:v>
                </c:pt>
                <c:pt idx="69">
                  <c:v>2.9</c:v>
                </c:pt>
                <c:pt idx="70">
                  <c:v>3</c:v>
                </c:pt>
                <c:pt idx="71">
                  <c:v>3.1</c:v>
                </c:pt>
                <c:pt idx="72">
                  <c:v>3.2</c:v>
                </c:pt>
                <c:pt idx="73">
                  <c:v>3.3</c:v>
                </c:pt>
                <c:pt idx="74">
                  <c:v>3.4</c:v>
                </c:pt>
                <c:pt idx="75">
                  <c:v>3.5</c:v>
                </c:pt>
                <c:pt idx="76">
                  <c:v>3.6</c:v>
                </c:pt>
                <c:pt idx="77">
                  <c:v>3.7</c:v>
                </c:pt>
                <c:pt idx="78">
                  <c:v>3.8</c:v>
                </c:pt>
                <c:pt idx="79">
                  <c:v>3.9</c:v>
                </c:pt>
                <c:pt idx="80">
                  <c:v>4</c:v>
                </c:pt>
              </c:numCache>
            </c:numRef>
          </c:xVal>
          <c:yVal>
            <c:numRef>
              <c:f>'Chart Data'!$D$2:$D$82</c:f>
              <c:numCache>
                <c:formatCode>0.00</c:formatCode>
                <c:ptCount val="81"/>
                <c:pt idx="0">
                  <c:v>4.875</c:v>
                </c:pt>
                <c:pt idx="1">
                  <c:v>4.725</c:v>
                </c:pt>
                <c:pt idx="2">
                  <c:v>4.575</c:v>
                </c:pt>
                <c:pt idx="3">
                  <c:v>4.425</c:v>
                </c:pt>
                <c:pt idx="4">
                  <c:v>4.275</c:v>
                </c:pt>
                <c:pt idx="5">
                  <c:v>4.125</c:v>
                </c:pt>
                <c:pt idx="6">
                  <c:v>3.975</c:v>
                </c:pt>
                <c:pt idx="7">
                  <c:v>3.825</c:v>
                </c:pt>
                <c:pt idx="8">
                  <c:v>3.675</c:v>
                </c:pt>
                <c:pt idx="9">
                  <c:v>3.525</c:v>
                </c:pt>
                <c:pt idx="10">
                  <c:v>3.375</c:v>
                </c:pt>
                <c:pt idx="11">
                  <c:v>3.225</c:v>
                </c:pt>
                <c:pt idx="12">
                  <c:v>3.075</c:v>
                </c:pt>
                <c:pt idx="13">
                  <c:v>2.925</c:v>
                </c:pt>
                <c:pt idx="14">
                  <c:v>2.775</c:v>
                </c:pt>
                <c:pt idx="15">
                  <c:v>2.625</c:v>
                </c:pt>
                <c:pt idx="16">
                  <c:v>2.475</c:v>
                </c:pt>
                <c:pt idx="17">
                  <c:v>2.325</c:v>
                </c:pt>
                <c:pt idx="18">
                  <c:v>2.175</c:v>
                </c:pt>
                <c:pt idx="19">
                  <c:v>2.025</c:v>
                </c:pt>
                <c:pt idx="20">
                  <c:v>1.875</c:v>
                </c:pt>
                <c:pt idx="21">
                  <c:v>1.725</c:v>
                </c:pt>
                <c:pt idx="22">
                  <c:v>1.575</c:v>
                </c:pt>
                <c:pt idx="23">
                  <c:v>1.425</c:v>
                </c:pt>
                <c:pt idx="24">
                  <c:v>1.275</c:v>
                </c:pt>
                <c:pt idx="25">
                  <c:v>1.125</c:v>
                </c:pt>
                <c:pt idx="26">
                  <c:v>0.98</c:v>
                </c:pt>
                <c:pt idx="27">
                  <c:v>0.845</c:v>
                </c:pt>
                <c:pt idx="28">
                  <c:v>0.72</c:v>
                </c:pt>
                <c:pt idx="29">
                  <c:v>0.605</c:v>
                </c:pt>
                <c:pt idx="30">
                  <c:v>0.5</c:v>
                </c:pt>
                <c:pt idx="31">
                  <c:v>0.405</c:v>
                </c:pt>
                <c:pt idx="32">
                  <c:v>0.32</c:v>
                </c:pt>
                <c:pt idx="33">
                  <c:v>0.245</c:v>
                </c:pt>
                <c:pt idx="34">
                  <c:v>0.18</c:v>
                </c:pt>
                <c:pt idx="35">
                  <c:v>0.125</c:v>
                </c:pt>
                <c:pt idx="36">
                  <c:v>0.08</c:v>
                </c:pt>
                <c:pt idx="37">
                  <c:v>0.045</c:v>
                </c:pt>
                <c:pt idx="38">
                  <c:v>0.02</c:v>
                </c:pt>
                <c:pt idx="39">
                  <c:v>0.005</c:v>
                </c:pt>
                <c:pt idx="40">
                  <c:v>0</c:v>
                </c:pt>
                <c:pt idx="41">
                  <c:v>0.005</c:v>
                </c:pt>
                <c:pt idx="42">
                  <c:v>0.02</c:v>
                </c:pt>
                <c:pt idx="43">
                  <c:v>0.045</c:v>
                </c:pt>
                <c:pt idx="44">
                  <c:v>0.08</c:v>
                </c:pt>
                <c:pt idx="45">
                  <c:v>0.125</c:v>
                </c:pt>
                <c:pt idx="46">
                  <c:v>0.18</c:v>
                </c:pt>
                <c:pt idx="47">
                  <c:v>0.245</c:v>
                </c:pt>
                <c:pt idx="48">
                  <c:v>0.32</c:v>
                </c:pt>
                <c:pt idx="49">
                  <c:v>0.405</c:v>
                </c:pt>
                <c:pt idx="50">
                  <c:v>0.5</c:v>
                </c:pt>
                <c:pt idx="51">
                  <c:v>0.605</c:v>
                </c:pt>
                <c:pt idx="52">
                  <c:v>0.72</c:v>
                </c:pt>
                <c:pt idx="53">
                  <c:v>0.845</c:v>
                </c:pt>
                <c:pt idx="54">
                  <c:v>0.98</c:v>
                </c:pt>
                <c:pt idx="55">
                  <c:v>1.125</c:v>
                </c:pt>
                <c:pt idx="56">
                  <c:v>1.275</c:v>
                </c:pt>
                <c:pt idx="57">
                  <c:v>1.425</c:v>
                </c:pt>
                <c:pt idx="58">
                  <c:v>1.575</c:v>
                </c:pt>
                <c:pt idx="59">
                  <c:v>1.725</c:v>
                </c:pt>
                <c:pt idx="60">
                  <c:v>1.875</c:v>
                </c:pt>
                <c:pt idx="61">
                  <c:v>2.025</c:v>
                </c:pt>
                <c:pt idx="62">
                  <c:v>2.175</c:v>
                </c:pt>
                <c:pt idx="63">
                  <c:v>2.325</c:v>
                </c:pt>
                <c:pt idx="64">
                  <c:v>2.475</c:v>
                </c:pt>
                <c:pt idx="65">
                  <c:v>2.625</c:v>
                </c:pt>
                <c:pt idx="66">
                  <c:v>2.775</c:v>
                </c:pt>
                <c:pt idx="67">
                  <c:v>2.925</c:v>
                </c:pt>
                <c:pt idx="68">
                  <c:v>3.075</c:v>
                </c:pt>
                <c:pt idx="69">
                  <c:v>3.225</c:v>
                </c:pt>
                <c:pt idx="70">
                  <c:v>3.375</c:v>
                </c:pt>
                <c:pt idx="71">
                  <c:v>3.525</c:v>
                </c:pt>
                <c:pt idx="72">
                  <c:v>3.675</c:v>
                </c:pt>
                <c:pt idx="73">
                  <c:v>3.825</c:v>
                </c:pt>
                <c:pt idx="74">
                  <c:v>3.975</c:v>
                </c:pt>
                <c:pt idx="75">
                  <c:v>4.125</c:v>
                </c:pt>
                <c:pt idx="76">
                  <c:v>4.275</c:v>
                </c:pt>
                <c:pt idx="77">
                  <c:v>4.425</c:v>
                </c:pt>
                <c:pt idx="78">
                  <c:v>4.575</c:v>
                </c:pt>
                <c:pt idx="79">
                  <c:v>4.725</c:v>
                </c:pt>
                <c:pt idx="80">
                  <c:v>4.875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Потеря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majorUnit val="4"/>
      </c:valAx>
      <c:valAx>
        <c:axId val="48650112"/>
        <c:scaling>
          <c:orientation val="minMax"/>
          <c:max val="4"/>
          <c:min val="-4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Ошибка r = z − 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02D69"/>
              </a:solidFill>
              <a:latin typeface="HSE Sans"/>
              <a:ea typeface="HSE Sans"/>
              <a:cs typeface="HSE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"/>
        <c:ser>
          <c:idx val="0"/>
          <c:order val="0"/>
          <c:tx>
            <c:v>Quantile loss</c:v>
          </c:tx>
          <c:spPr>
            <a:solidFill xmlns:a="http://schemas.openxmlformats.org/drawingml/2006/main">
              <a:srgbClr val="234A9B"/>
            </a:solidFill>
            <a:ln xmlns:a="http://schemas.openxmlformats.org/drawingml/2006/main" w="28575">
              <a:solidFill>
                <a:srgbClr val="234A9B"/>
              </a:solidFill>
            </a:ln>
          </c:spPr>
          <c:marker>
            <c:symbol val="none"/>
            <c:size val="3"/>
          </c:marker>
          <c:xVal>
            <c:numRef>
              <c:f>'Chart Data'!$A$2:$A$42</c:f>
              <c:numCache>
                <c:formatCode>0.00</c:formatCode>
                <c:ptCount val="41"/>
                <c:pt idx="0">
                  <c:v>-10</c:v>
                </c:pt>
                <c:pt idx="1">
                  <c:v>-9.5</c:v>
                </c:pt>
                <c:pt idx="2">
                  <c:v>-9</c:v>
                </c:pt>
                <c:pt idx="3">
                  <c:v>-8.5</c:v>
                </c:pt>
                <c:pt idx="4">
                  <c:v>-8</c:v>
                </c:pt>
                <c:pt idx="5">
                  <c:v>-7.5</c:v>
                </c:pt>
                <c:pt idx="6">
                  <c:v>-7</c:v>
                </c:pt>
                <c:pt idx="7">
                  <c:v>-6.5</c:v>
                </c:pt>
                <c:pt idx="8">
                  <c:v>-6</c:v>
                </c:pt>
                <c:pt idx="9">
                  <c:v>-5.5</c:v>
                </c:pt>
                <c:pt idx="10">
                  <c:v>-5</c:v>
                </c:pt>
                <c:pt idx="11">
                  <c:v>-4.5</c:v>
                </c:pt>
                <c:pt idx="12">
                  <c:v>-4</c:v>
                </c:pt>
                <c:pt idx="13">
                  <c:v>-3.5</c:v>
                </c:pt>
                <c:pt idx="14">
                  <c:v>-3</c:v>
                </c:pt>
                <c:pt idx="15">
                  <c:v>-2.5</c:v>
                </c:pt>
                <c:pt idx="16">
                  <c:v>-2</c:v>
                </c:pt>
                <c:pt idx="17">
                  <c:v>-1.5</c:v>
                </c:pt>
                <c:pt idx="18">
                  <c:v>-1</c:v>
                </c:pt>
                <c:pt idx="19">
                  <c:v>-0.5</c:v>
                </c:pt>
                <c:pt idx="20">
                  <c:v>0</c:v>
                </c:pt>
                <c:pt idx="21">
                  <c:v>0.5</c:v>
                </c:pt>
                <c:pt idx="22">
                  <c:v>1</c:v>
                </c:pt>
                <c:pt idx="23">
                  <c:v>1.5</c:v>
                </c:pt>
                <c:pt idx="24">
                  <c:v>2</c:v>
                </c:pt>
                <c:pt idx="25">
                  <c:v>2.5</c:v>
                </c:pt>
                <c:pt idx="26">
                  <c:v>3</c:v>
                </c:pt>
                <c:pt idx="27">
                  <c:v>3.5</c:v>
                </c:pt>
                <c:pt idx="28">
                  <c:v>4</c:v>
                </c:pt>
                <c:pt idx="29">
                  <c:v>4.5</c:v>
                </c:pt>
                <c:pt idx="30">
                  <c:v>5</c:v>
                </c:pt>
                <c:pt idx="31">
                  <c:v>5.5</c:v>
                </c:pt>
                <c:pt idx="32">
                  <c:v>6</c:v>
                </c:pt>
                <c:pt idx="33">
                  <c:v>6.5</c:v>
                </c:pt>
                <c:pt idx="34">
                  <c:v>7</c:v>
                </c:pt>
                <c:pt idx="35">
                  <c:v>7.5</c:v>
                </c:pt>
                <c:pt idx="36">
                  <c:v>8</c:v>
                </c:pt>
                <c:pt idx="37">
                  <c:v>8.5</c:v>
                </c:pt>
                <c:pt idx="38">
                  <c:v>9</c:v>
                </c:pt>
                <c:pt idx="39">
                  <c:v>9.5</c:v>
                </c:pt>
                <c:pt idx="40">
                  <c:v>10</c:v>
                </c:pt>
              </c:numCache>
            </c:numRef>
          </c:xVal>
          <c:yVal>
            <c:numRef>
              <c:f>'Chart Data'!$B$2:$B$42</c:f>
              <c:numCache>
                <c:formatCode>0.00</c:formatCode>
                <c:ptCount val="41"/>
                <c:pt idx="0">
                  <c:v>8</c:v>
                </c:pt>
                <c:pt idx="1">
                  <c:v>7.6</c:v>
                </c:pt>
                <c:pt idx="2">
                  <c:v>7.2</c:v>
                </c:pt>
                <c:pt idx="3">
                  <c:v>6.8</c:v>
                </c:pt>
                <c:pt idx="4">
                  <c:v>6.4</c:v>
                </c:pt>
                <c:pt idx="5">
                  <c:v>6</c:v>
                </c:pt>
                <c:pt idx="6">
                  <c:v>5.6</c:v>
                </c:pt>
                <c:pt idx="7">
                  <c:v>5.2</c:v>
                </c:pt>
                <c:pt idx="8">
                  <c:v>4.8</c:v>
                </c:pt>
                <c:pt idx="9">
                  <c:v>4.4</c:v>
                </c:pt>
                <c:pt idx="10">
                  <c:v>4</c:v>
                </c:pt>
                <c:pt idx="11">
                  <c:v>3.6</c:v>
                </c:pt>
                <c:pt idx="12">
                  <c:v>3.2</c:v>
                </c:pt>
                <c:pt idx="13">
                  <c:v>2.8</c:v>
                </c:pt>
                <c:pt idx="14">
                  <c:v>2.4</c:v>
                </c:pt>
                <c:pt idx="15">
                  <c:v>2</c:v>
                </c:pt>
                <c:pt idx="16">
                  <c:v>1.6</c:v>
                </c:pt>
                <c:pt idx="17">
                  <c:v>1.2</c:v>
                </c:pt>
                <c:pt idx="18">
                  <c:v>0.8</c:v>
                </c:pt>
                <c:pt idx="19">
                  <c:v>0.4</c:v>
                </c:pt>
                <c:pt idx="20">
                  <c:v>0</c:v>
                </c:pt>
                <c:pt idx="21">
                  <c:v>0.1</c:v>
                </c:pt>
                <c:pt idx="22">
                  <c:v>0.2</c:v>
                </c:pt>
                <c:pt idx="23">
                  <c:v>0.3</c:v>
                </c:pt>
                <c:pt idx="24">
                  <c:v>0.4</c:v>
                </c:pt>
                <c:pt idx="25">
                  <c:v>0.5</c:v>
                </c:pt>
                <c:pt idx="26">
                  <c:v>0.6</c:v>
                </c:pt>
                <c:pt idx="27">
                  <c:v>0.7</c:v>
                </c:pt>
                <c:pt idx="28">
                  <c:v>0.8</c:v>
                </c:pt>
                <c:pt idx="29">
                  <c:v>0.9</c:v>
                </c:pt>
                <c:pt idx="30">
                  <c:v>1</c:v>
                </c:pt>
                <c:pt idx="31">
                  <c:v>1.1</c:v>
                </c:pt>
                <c:pt idx="32">
                  <c:v>1.2</c:v>
                </c:pt>
                <c:pt idx="33">
                  <c:v>1.3</c:v>
                </c:pt>
                <c:pt idx="34">
                  <c:v>1.4</c:v>
                </c:pt>
                <c:pt idx="35">
                  <c:v>1.5</c:v>
                </c:pt>
                <c:pt idx="36">
                  <c:v>1.6</c:v>
                </c:pt>
                <c:pt idx="37">
                  <c:v>1.7</c:v>
                </c:pt>
                <c:pt idx="38">
                  <c:v>1.8</c:v>
                </c:pt>
                <c:pt idx="39">
                  <c:v>1.9</c:v>
                </c:pt>
                <c:pt idx="40">
                  <c:v>2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Потеря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majorUnit val="4"/>
      </c:valAx>
      <c:valAx>
        <c:axId val="48650112"/>
        <c:scaling>
          <c:orientation val="minMax"/>
          <c:max val="10"/>
          <c:min val="-1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Прогноз z − факт y, мин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majorUnit val="1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scatterChart>
        <c:scatterStyle val="lineMarker"/>
        <c:ser>
          <c:idx val="0"/>
          <c:order val="0"/>
          <c:tx>
            <c:v>Train</c:v>
          </c:tx>
          <c:spPr>
            <a:solidFill xmlns:a="http://schemas.openxmlformats.org/drawingml/2006/main">
              <a:srgbClr val="102D69"/>
            </a:solidFill>
            <a:ln xmlns:a="http://schemas.openxmlformats.org/drawingml/2006/main" w="0">
              <a:noFill/>
            </a:ln>
          </c:spPr>
          <c:marker>
            <c:symbol val="circle"/>
            <c:size val="9"/>
            <c:spPr>
              <a:solidFill xmlns:a="http://schemas.openxmlformats.org/drawingml/2006/main">
                <a:srgbClr val="102D69"/>
              </a:solidFill>
              <a:ln xmlns:a="http://schemas.openxmlformats.org/drawingml/2006/main" w="9525">
                <a:solidFill>
                  <a:srgbClr val="102D69"/>
                </a:solidFill>
              </a:ln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xVal>
          <c:yVal>
            <c:numRef>
              <c:f>'Chart Data'!$B$2:$B$6</c:f>
              <c:numCache>
                <c:formatCode>0</c:formatCode>
                <c:ptCount val="5"/>
                <c:pt idx="0">
                  <c:v>18</c:v>
                </c:pt>
                <c:pt idx="1">
                  <c:v>20</c:v>
                </c:pt>
                <c:pt idx="2">
                  <c:v>25</c:v>
                </c:pt>
                <c:pt idx="3">
                  <c:v>29</c:v>
                </c:pt>
                <c:pt idx="4">
                  <c:v>33</c:v>
                </c:pt>
              </c:numCache>
            </c:numRef>
          </c:yVal>
        </c:ser>
        <c:ser>
          <c:idx val="1"/>
          <c:order val="1"/>
          <c:tx>
            <c:v>Validation</c:v>
          </c:tx>
          <c:spPr>
            <a:solidFill xmlns:a="http://schemas.openxmlformats.org/drawingml/2006/main">
              <a:srgbClr val="11A0D7"/>
            </a:solidFill>
            <a:ln xmlns:a="http://schemas.openxmlformats.org/drawingml/2006/main" w="0">
              <a:noFill/>
            </a:ln>
          </c:spPr>
          <c:marker>
            <c:symbol val="diamond"/>
            <c:size val="9"/>
            <c:spPr>
              <a:solidFill xmlns:a="http://schemas.openxmlformats.org/drawingml/2006/main">
                <a:srgbClr val="11A0D7"/>
              </a:solidFill>
              <a:ln xmlns:a="http://schemas.openxmlformats.org/drawingml/2006/main" w="9525">
                <a:solidFill>
                  <a:srgbClr val="11A0D7"/>
                </a:solidFill>
              </a:ln>
            </c:spPr>
          </c:marker>
          <c:xVal>
            <c:numRef>
              <c:f>'Chart Data'!$C$2:$C$5</c:f>
              <c:numCache>
                <c:formatCode>General</c:formatCode>
                <c:ptCount val="4"/>
                <c:pt idx="0">
                  <c:v>1.5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xVal>
          <c:yVal>
            <c:numRef>
              <c:f>'Chart Data'!$D$2:$D$5</c:f>
              <c:numCache>
                <c:formatCode>0</c:formatCode>
                <c:ptCount val="4"/>
                <c:pt idx="0">
                  <c:v>19.5</c:v>
                </c:pt>
                <c:pt idx="1">
                  <c:v>23.2</c:v>
                </c:pt>
                <c:pt idx="2">
                  <c:v>26.4</c:v>
                </c:pt>
                <c:pt idx="3">
                  <c:v>31.1</c:v>
                </c:pt>
              </c:numCache>
            </c:numRef>
          </c:yVal>
        </c:ser>
        <c:ser>
          <c:idx val="2"/>
          <c:order val="2"/>
          <c:tx>
            <c:v>Линейное семейство</c:v>
          </c:tx>
          <c:spPr>
            <a:solidFill xmlns:a="http://schemas.openxmlformats.org/drawingml/2006/main">
              <a:srgbClr val="234A9B"/>
            </a:solidFill>
            <a:ln xmlns:a="http://schemas.openxmlformats.org/drawingml/2006/main" w="28575">
              <a:solidFill>
                <a:srgbClr val="234A9B"/>
              </a:solidFill>
            </a:ln>
          </c:spPr>
          <c:marker>
            <c:symbol val="none"/>
            <c:size val="3"/>
          </c:marker>
          <c:xVal>
            <c:numRef>
              <c:f>'Chart Data'!$E$2:$E$82</c:f>
              <c:numCache>
                <c:formatCode>0.00</c:formatCode>
                <c:ptCount val="81"/>
                <c:pt idx="0">
                  <c:v>1</c:v>
                </c:pt>
                <c:pt idx="1">
                  <c:v>1.05</c:v>
                </c:pt>
                <c:pt idx="2">
                  <c:v>1.1</c:v>
                </c:pt>
                <c:pt idx="3">
                  <c:v>1.15</c:v>
                </c:pt>
                <c:pt idx="4">
                  <c:v>1.2</c:v>
                </c:pt>
                <c:pt idx="5">
                  <c:v>1.25</c:v>
                </c:pt>
                <c:pt idx="6">
                  <c:v>1.3</c:v>
                </c:pt>
                <c:pt idx="7">
                  <c:v>1.35</c:v>
                </c:pt>
                <c:pt idx="8">
                  <c:v>1.4</c:v>
                </c:pt>
                <c:pt idx="9">
                  <c:v>1.45</c:v>
                </c:pt>
                <c:pt idx="10">
                  <c:v>1.5</c:v>
                </c:pt>
                <c:pt idx="11">
                  <c:v>1.55</c:v>
                </c:pt>
                <c:pt idx="12">
                  <c:v>1.6</c:v>
                </c:pt>
                <c:pt idx="13">
                  <c:v>1.65</c:v>
                </c:pt>
                <c:pt idx="14">
                  <c:v>1.7</c:v>
                </c:pt>
                <c:pt idx="15">
                  <c:v>1.75</c:v>
                </c:pt>
                <c:pt idx="16">
                  <c:v>1.8</c:v>
                </c:pt>
                <c:pt idx="17">
                  <c:v>1.85</c:v>
                </c:pt>
                <c:pt idx="18">
                  <c:v>1.9</c:v>
                </c:pt>
                <c:pt idx="19">
                  <c:v>1.95</c:v>
                </c:pt>
                <c:pt idx="20">
                  <c:v>2</c:v>
                </c:pt>
                <c:pt idx="21">
                  <c:v>2.05</c:v>
                </c:pt>
                <c:pt idx="22">
                  <c:v>2.1</c:v>
                </c:pt>
                <c:pt idx="23">
                  <c:v>2.15</c:v>
                </c:pt>
                <c:pt idx="24">
                  <c:v>2.2</c:v>
                </c:pt>
                <c:pt idx="25">
                  <c:v>2.25</c:v>
                </c:pt>
                <c:pt idx="26">
                  <c:v>2.3</c:v>
                </c:pt>
                <c:pt idx="27">
                  <c:v>2.35</c:v>
                </c:pt>
                <c:pt idx="28">
                  <c:v>2.4</c:v>
                </c:pt>
                <c:pt idx="29">
                  <c:v>2.45</c:v>
                </c:pt>
                <c:pt idx="30">
                  <c:v>2.5</c:v>
                </c:pt>
                <c:pt idx="31">
                  <c:v>2.55</c:v>
                </c:pt>
                <c:pt idx="32">
                  <c:v>2.6</c:v>
                </c:pt>
                <c:pt idx="33">
                  <c:v>2.65</c:v>
                </c:pt>
                <c:pt idx="34">
                  <c:v>2.7</c:v>
                </c:pt>
                <c:pt idx="35">
                  <c:v>2.75</c:v>
                </c:pt>
                <c:pt idx="36">
                  <c:v>2.8</c:v>
                </c:pt>
                <c:pt idx="37">
                  <c:v>2.85</c:v>
                </c:pt>
                <c:pt idx="38">
                  <c:v>2.9</c:v>
                </c:pt>
                <c:pt idx="39">
                  <c:v>2.95</c:v>
                </c:pt>
                <c:pt idx="40">
                  <c:v>3</c:v>
                </c:pt>
                <c:pt idx="41">
                  <c:v>3.05</c:v>
                </c:pt>
                <c:pt idx="42">
                  <c:v>3.1</c:v>
                </c:pt>
                <c:pt idx="43">
                  <c:v>3.15</c:v>
                </c:pt>
                <c:pt idx="44">
                  <c:v>3.2</c:v>
                </c:pt>
                <c:pt idx="45">
                  <c:v>3.25</c:v>
                </c:pt>
                <c:pt idx="46">
                  <c:v>3.3</c:v>
                </c:pt>
                <c:pt idx="47">
                  <c:v>3.35</c:v>
                </c:pt>
                <c:pt idx="48">
                  <c:v>3.4</c:v>
                </c:pt>
                <c:pt idx="49">
                  <c:v>3.45</c:v>
                </c:pt>
                <c:pt idx="50">
                  <c:v>3.5</c:v>
                </c:pt>
                <c:pt idx="51">
                  <c:v>3.55</c:v>
                </c:pt>
                <c:pt idx="52">
                  <c:v>3.6</c:v>
                </c:pt>
                <c:pt idx="53">
                  <c:v>3.65</c:v>
                </c:pt>
                <c:pt idx="54">
                  <c:v>3.7</c:v>
                </c:pt>
                <c:pt idx="55">
                  <c:v>3.75</c:v>
                </c:pt>
                <c:pt idx="56">
                  <c:v>3.8</c:v>
                </c:pt>
                <c:pt idx="57">
                  <c:v>3.85</c:v>
                </c:pt>
                <c:pt idx="58">
                  <c:v>3.9</c:v>
                </c:pt>
                <c:pt idx="59">
                  <c:v>3.95</c:v>
                </c:pt>
                <c:pt idx="60">
                  <c:v>4</c:v>
                </c:pt>
                <c:pt idx="61">
                  <c:v>4.05</c:v>
                </c:pt>
                <c:pt idx="62">
                  <c:v>4.1</c:v>
                </c:pt>
                <c:pt idx="63">
                  <c:v>4.15</c:v>
                </c:pt>
                <c:pt idx="64">
                  <c:v>4.2</c:v>
                </c:pt>
                <c:pt idx="65">
                  <c:v>4.25</c:v>
                </c:pt>
                <c:pt idx="66">
                  <c:v>4.3</c:v>
                </c:pt>
                <c:pt idx="67">
                  <c:v>4.35</c:v>
                </c:pt>
                <c:pt idx="68">
                  <c:v>4.4</c:v>
                </c:pt>
                <c:pt idx="69">
                  <c:v>4.45</c:v>
                </c:pt>
                <c:pt idx="70">
                  <c:v>4.5</c:v>
                </c:pt>
                <c:pt idx="71">
                  <c:v>4.55</c:v>
                </c:pt>
                <c:pt idx="72">
                  <c:v>4.6</c:v>
                </c:pt>
                <c:pt idx="73">
                  <c:v>4.65</c:v>
                </c:pt>
                <c:pt idx="74">
                  <c:v>4.7</c:v>
                </c:pt>
                <c:pt idx="75">
                  <c:v>4.75</c:v>
                </c:pt>
                <c:pt idx="76">
                  <c:v>4.8</c:v>
                </c:pt>
                <c:pt idx="77">
                  <c:v>4.85</c:v>
                </c:pt>
                <c:pt idx="78">
                  <c:v>4.9</c:v>
                </c:pt>
                <c:pt idx="79">
                  <c:v>4.95</c:v>
                </c:pt>
                <c:pt idx="80">
                  <c:v>5</c:v>
                </c:pt>
              </c:numCache>
            </c:numRef>
          </c:xVal>
          <c:yVal>
            <c:numRef>
              <c:f>'Chart Data'!$F$2:$F$82</c:f>
              <c:numCache>
                <c:formatCode>0.00</c:formatCode>
                <c:ptCount val="81"/>
                <c:pt idx="0">
                  <c:v>17.2</c:v>
                </c:pt>
                <c:pt idx="1">
                  <c:v>17.395</c:v>
                </c:pt>
                <c:pt idx="2">
                  <c:v>17.59</c:v>
                </c:pt>
                <c:pt idx="3">
                  <c:v>17.785</c:v>
                </c:pt>
                <c:pt idx="4">
                  <c:v>17.98</c:v>
                </c:pt>
                <c:pt idx="5">
                  <c:v>18.175</c:v>
                </c:pt>
                <c:pt idx="6">
                  <c:v>18.37</c:v>
                </c:pt>
                <c:pt idx="7">
                  <c:v>18.565</c:v>
                </c:pt>
                <c:pt idx="8">
                  <c:v>18.76</c:v>
                </c:pt>
                <c:pt idx="9">
                  <c:v>18.955</c:v>
                </c:pt>
                <c:pt idx="10">
                  <c:v>19.15</c:v>
                </c:pt>
                <c:pt idx="11">
                  <c:v>19.345</c:v>
                </c:pt>
                <c:pt idx="12">
                  <c:v>19.54</c:v>
                </c:pt>
                <c:pt idx="13">
                  <c:v>19.735</c:v>
                </c:pt>
                <c:pt idx="14">
                  <c:v>19.93</c:v>
                </c:pt>
                <c:pt idx="15">
                  <c:v>20.125</c:v>
                </c:pt>
                <c:pt idx="16">
                  <c:v>20.32</c:v>
                </c:pt>
                <c:pt idx="17">
                  <c:v>20.515</c:v>
                </c:pt>
                <c:pt idx="18">
                  <c:v>20.71</c:v>
                </c:pt>
                <c:pt idx="19">
                  <c:v>20.905</c:v>
                </c:pt>
                <c:pt idx="20">
                  <c:v>21.1</c:v>
                </c:pt>
                <c:pt idx="21">
                  <c:v>21.295</c:v>
                </c:pt>
                <c:pt idx="22">
                  <c:v>21.49</c:v>
                </c:pt>
                <c:pt idx="23">
                  <c:v>21.685</c:v>
                </c:pt>
                <c:pt idx="24">
                  <c:v>21.88</c:v>
                </c:pt>
                <c:pt idx="25">
                  <c:v>22.075</c:v>
                </c:pt>
                <c:pt idx="26">
                  <c:v>22.27</c:v>
                </c:pt>
                <c:pt idx="27">
                  <c:v>22.465</c:v>
                </c:pt>
                <c:pt idx="28">
                  <c:v>22.66</c:v>
                </c:pt>
                <c:pt idx="29">
                  <c:v>22.855</c:v>
                </c:pt>
                <c:pt idx="30">
                  <c:v>23.05</c:v>
                </c:pt>
                <c:pt idx="31">
                  <c:v>23.245</c:v>
                </c:pt>
                <c:pt idx="32">
                  <c:v>23.44</c:v>
                </c:pt>
                <c:pt idx="33">
                  <c:v>23.635</c:v>
                </c:pt>
                <c:pt idx="34">
                  <c:v>23.83</c:v>
                </c:pt>
                <c:pt idx="35">
                  <c:v>24.025</c:v>
                </c:pt>
                <c:pt idx="36">
                  <c:v>24.22</c:v>
                </c:pt>
                <c:pt idx="37">
                  <c:v>24.415</c:v>
                </c:pt>
                <c:pt idx="38">
                  <c:v>24.61</c:v>
                </c:pt>
                <c:pt idx="39">
                  <c:v>24.805</c:v>
                </c:pt>
                <c:pt idx="40">
                  <c:v>25</c:v>
                </c:pt>
                <c:pt idx="41">
                  <c:v>25.195</c:v>
                </c:pt>
                <c:pt idx="42">
                  <c:v>25.39</c:v>
                </c:pt>
                <c:pt idx="43">
                  <c:v>25.585</c:v>
                </c:pt>
                <c:pt idx="44">
                  <c:v>25.78</c:v>
                </c:pt>
                <c:pt idx="45">
                  <c:v>25.975</c:v>
                </c:pt>
                <c:pt idx="46">
                  <c:v>26.17</c:v>
                </c:pt>
                <c:pt idx="47">
                  <c:v>26.365</c:v>
                </c:pt>
                <c:pt idx="48">
                  <c:v>26.56</c:v>
                </c:pt>
                <c:pt idx="49">
                  <c:v>26.755</c:v>
                </c:pt>
                <c:pt idx="50">
                  <c:v>26.95</c:v>
                </c:pt>
                <c:pt idx="51">
                  <c:v>27.145</c:v>
                </c:pt>
                <c:pt idx="52">
                  <c:v>27.34</c:v>
                </c:pt>
                <c:pt idx="53">
                  <c:v>27.535</c:v>
                </c:pt>
                <c:pt idx="54">
                  <c:v>27.73</c:v>
                </c:pt>
                <c:pt idx="55">
                  <c:v>27.925</c:v>
                </c:pt>
                <c:pt idx="56">
                  <c:v>28.12</c:v>
                </c:pt>
                <c:pt idx="57">
                  <c:v>28.315</c:v>
                </c:pt>
                <c:pt idx="58">
                  <c:v>28.51</c:v>
                </c:pt>
                <c:pt idx="59">
                  <c:v>28.705</c:v>
                </c:pt>
                <c:pt idx="60">
                  <c:v>28.9</c:v>
                </c:pt>
                <c:pt idx="61">
                  <c:v>29.095</c:v>
                </c:pt>
                <c:pt idx="62">
                  <c:v>29.29</c:v>
                </c:pt>
                <c:pt idx="63">
                  <c:v>29.485</c:v>
                </c:pt>
                <c:pt idx="64">
                  <c:v>29.68</c:v>
                </c:pt>
                <c:pt idx="65">
                  <c:v>29.875</c:v>
                </c:pt>
                <c:pt idx="66">
                  <c:v>30.07</c:v>
                </c:pt>
                <c:pt idx="67">
                  <c:v>30.265</c:v>
                </c:pt>
                <c:pt idx="68">
                  <c:v>30.46</c:v>
                </c:pt>
                <c:pt idx="69">
                  <c:v>30.655</c:v>
                </c:pt>
                <c:pt idx="70">
                  <c:v>30.85</c:v>
                </c:pt>
                <c:pt idx="71">
                  <c:v>31.045</c:v>
                </c:pt>
                <c:pt idx="72">
                  <c:v>31.24</c:v>
                </c:pt>
                <c:pt idx="73">
                  <c:v>31.435</c:v>
                </c:pt>
                <c:pt idx="74">
                  <c:v>31.63</c:v>
                </c:pt>
                <c:pt idx="75">
                  <c:v>31.825</c:v>
                </c:pt>
                <c:pt idx="76">
                  <c:v>32.02</c:v>
                </c:pt>
                <c:pt idx="77">
                  <c:v>32.215</c:v>
                </c:pt>
                <c:pt idx="78">
                  <c:v>32.41</c:v>
                </c:pt>
                <c:pt idx="79">
                  <c:v>32.605</c:v>
                </c:pt>
                <c:pt idx="80">
                  <c:v>32.8</c:v>
                </c:pt>
              </c:numCache>
            </c:numRef>
          </c:yVal>
        </c:ser>
        <c:ser>
          <c:idx val="3"/>
          <c:order val="3"/>
          <c:tx>
            <c:v>Гибкая кривая</c:v>
          </c:tx>
          <c:spPr>
            <a:solidFill xmlns:a="http://schemas.openxmlformats.org/drawingml/2006/main">
              <a:srgbClr val="EB681F"/>
            </a:solidFill>
            <a:ln xmlns:a="http://schemas.openxmlformats.org/drawingml/2006/main" w="28575">
              <a:solidFill>
                <a:srgbClr val="EB681F"/>
              </a:solidFill>
            </a:ln>
          </c:spPr>
          <c:marker>
            <c:symbol val="none"/>
            <c:size val="3"/>
          </c:marker>
          <c:xVal>
            <c:numRef>
              <c:f>'Chart Data'!$G$2:$G$82</c:f>
              <c:numCache>
                <c:formatCode>0.00</c:formatCode>
                <c:ptCount val="81"/>
                <c:pt idx="0">
                  <c:v>1</c:v>
                </c:pt>
                <c:pt idx="1">
                  <c:v>1.05</c:v>
                </c:pt>
                <c:pt idx="2">
                  <c:v>1.1</c:v>
                </c:pt>
                <c:pt idx="3">
                  <c:v>1.15</c:v>
                </c:pt>
                <c:pt idx="4">
                  <c:v>1.2</c:v>
                </c:pt>
                <c:pt idx="5">
                  <c:v>1.25</c:v>
                </c:pt>
                <c:pt idx="6">
                  <c:v>1.3</c:v>
                </c:pt>
                <c:pt idx="7">
                  <c:v>1.35</c:v>
                </c:pt>
                <c:pt idx="8">
                  <c:v>1.4</c:v>
                </c:pt>
                <c:pt idx="9">
                  <c:v>1.45</c:v>
                </c:pt>
                <c:pt idx="10">
                  <c:v>1.5</c:v>
                </c:pt>
                <c:pt idx="11">
                  <c:v>1.55</c:v>
                </c:pt>
                <c:pt idx="12">
                  <c:v>1.6</c:v>
                </c:pt>
                <c:pt idx="13">
                  <c:v>1.65</c:v>
                </c:pt>
                <c:pt idx="14">
                  <c:v>1.7</c:v>
                </c:pt>
                <c:pt idx="15">
                  <c:v>1.75</c:v>
                </c:pt>
                <c:pt idx="16">
                  <c:v>1.8</c:v>
                </c:pt>
                <c:pt idx="17">
                  <c:v>1.85</c:v>
                </c:pt>
                <c:pt idx="18">
                  <c:v>1.9</c:v>
                </c:pt>
                <c:pt idx="19">
                  <c:v>1.95</c:v>
                </c:pt>
                <c:pt idx="20">
                  <c:v>2</c:v>
                </c:pt>
                <c:pt idx="21">
                  <c:v>2.05</c:v>
                </c:pt>
                <c:pt idx="22">
                  <c:v>2.1</c:v>
                </c:pt>
                <c:pt idx="23">
                  <c:v>2.15</c:v>
                </c:pt>
                <c:pt idx="24">
                  <c:v>2.2</c:v>
                </c:pt>
                <c:pt idx="25">
                  <c:v>2.25</c:v>
                </c:pt>
                <c:pt idx="26">
                  <c:v>2.3</c:v>
                </c:pt>
                <c:pt idx="27">
                  <c:v>2.35</c:v>
                </c:pt>
                <c:pt idx="28">
                  <c:v>2.4</c:v>
                </c:pt>
                <c:pt idx="29">
                  <c:v>2.45</c:v>
                </c:pt>
                <c:pt idx="30">
                  <c:v>2.5</c:v>
                </c:pt>
                <c:pt idx="31">
                  <c:v>2.55</c:v>
                </c:pt>
                <c:pt idx="32">
                  <c:v>2.6</c:v>
                </c:pt>
                <c:pt idx="33">
                  <c:v>2.65</c:v>
                </c:pt>
                <c:pt idx="34">
                  <c:v>2.7</c:v>
                </c:pt>
                <c:pt idx="35">
                  <c:v>2.75</c:v>
                </c:pt>
                <c:pt idx="36">
                  <c:v>2.8</c:v>
                </c:pt>
                <c:pt idx="37">
                  <c:v>2.85</c:v>
                </c:pt>
                <c:pt idx="38">
                  <c:v>2.9</c:v>
                </c:pt>
                <c:pt idx="39">
                  <c:v>2.95</c:v>
                </c:pt>
                <c:pt idx="40">
                  <c:v>3</c:v>
                </c:pt>
                <c:pt idx="41">
                  <c:v>3.05</c:v>
                </c:pt>
                <c:pt idx="42">
                  <c:v>3.1</c:v>
                </c:pt>
                <c:pt idx="43">
                  <c:v>3.15</c:v>
                </c:pt>
                <c:pt idx="44">
                  <c:v>3.2</c:v>
                </c:pt>
                <c:pt idx="45">
                  <c:v>3.25</c:v>
                </c:pt>
                <c:pt idx="46">
                  <c:v>3.3</c:v>
                </c:pt>
                <c:pt idx="47">
                  <c:v>3.35</c:v>
                </c:pt>
                <c:pt idx="48">
                  <c:v>3.4</c:v>
                </c:pt>
                <c:pt idx="49">
                  <c:v>3.45</c:v>
                </c:pt>
                <c:pt idx="50">
                  <c:v>3.5</c:v>
                </c:pt>
                <c:pt idx="51">
                  <c:v>3.55</c:v>
                </c:pt>
                <c:pt idx="52">
                  <c:v>3.6</c:v>
                </c:pt>
                <c:pt idx="53">
                  <c:v>3.65</c:v>
                </c:pt>
                <c:pt idx="54">
                  <c:v>3.7</c:v>
                </c:pt>
                <c:pt idx="55">
                  <c:v>3.75</c:v>
                </c:pt>
                <c:pt idx="56">
                  <c:v>3.8</c:v>
                </c:pt>
                <c:pt idx="57">
                  <c:v>3.85</c:v>
                </c:pt>
                <c:pt idx="58">
                  <c:v>3.9</c:v>
                </c:pt>
                <c:pt idx="59">
                  <c:v>3.95</c:v>
                </c:pt>
                <c:pt idx="60">
                  <c:v>4</c:v>
                </c:pt>
                <c:pt idx="61">
                  <c:v>4.05</c:v>
                </c:pt>
                <c:pt idx="62">
                  <c:v>4.1</c:v>
                </c:pt>
                <c:pt idx="63">
                  <c:v>4.15</c:v>
                </c:pt>
                <c:pt idx="64">
                  <c:v>4.2</c:v>
                </c:pt>
                <c:pt idx="65">
                  <c:v>4.25</c:v>
                </c:pt>
                <c:pt idx="66">
                  <c:v>4.3</c:v>
                </c:pt>
                <c:pt idx="67">
                  <c:v>4.35</c:v>
                </c:pt>
                <c:pt idx="68">
                  <c:v>4.4</c:v>
                </c:pt>
                <c:pt idx="69">
                  <c:v>4.45</c:v>
                </c:pt>
                <c:pt idx="70">
                  <c:v>4.5</c:v>
                </c:pt>
                <c:pt idx="71">
                  <c:v>4.55</c:v>
                </c:pt>
                <c:pt idx="72">
                  <c:v>4.6</c:v>
                </c:pt>
                <c:pt idx="73">
                  <c:v>4.65</c:v>
                </c:pt>
                <c:pt idx="74">
                  <c:v>4.7</c:v>
                </c:pt>
                <c:pt idx="75">
                  <c:v>4.75</c:v>
                </c:pt>
                <c:pt idx="76">
                  <c:v>4.8</c:v>
                </c:pt>
                <c:pt idx="77">
                  <c:v>4.85</c:v>
                </c:pt>
                <c:pt idx="78">
                  <c:v>4.9</c:v>
                </c:pt>
                <c:pt idx="79">
                  <c:v>4.95</c:v>
                </c:pt>
                <c:pt idx="80">
                  <c:v>5</c:v>
                </c:pt>
              </c:numCache>
            </c:numRef>
          </c:xVal>
          <c:yVal>
            <c:numRef>
              <c:f>'Chart Data'!$H$2:$H$82</c:f>
              <c:numCache>
                <c:formatCode>0.00</c:formatCode>
                <c:ptCount val="81"/>
                <c:pt idx="0">
                  <c:v>18</c:v>
                </c:pt>
                <c:pt idx="1">
                  <c:v>18.9893870313</c:v>
                </c:pt>
                <c:pt idx="2">
                  <c:v>19.7816975</c:v>
                </c:pt>
                <c:pt idx="3">
                  <c:v>20.3995876562</c:v>
                </c:pt>
                <c:pt idx="4">
                  <c:v>20.86432</c:v>
                </c:pt>
                <c:pt idx="5">
                  <c:v>21.1958007813</c:v>
                </c:pt>
                <c:pt idx="6">
                  <c:v>21.4126175</c:v>
                </c:pt>
                <c:pt idx="7">
                  <c:v>21.5320764062</c:v>
                </c:pt>
                <c:pt idx="8">
                  <c:v>21.57024</c:v>
                </c:pt>
                <c:pt idx="9">
                  <c:v>21.5419645312</c:v>
                </c:pt>
                <c:pt idx="10">
                  <c:v>21.4609375</c:v>
                </c:pt>
                <c:pt idx="11">
                  <c:v>21.3397151563</c:v>
                </c:pt>
                <c:pt idx="12">
                  <c:v>21.18976</c:v>
                </c:pt>
                <c:pt idx="13">
                  <c:v>21.0214782813</c:v>
                </c:pt>
                <c:pt idx="14">
                  <c:v>20.8442575</c:v>
                </c:pt>
                <c:pt idx="15">
                  <c:v>20.6665039063</c:v>
                </c:pt>
                <c:pt idx="16">
                  <c:v>20.49568</c:v>
                </c:pt>
                <c:pt idx="17">
                  <c:v>20.3383420313</c:v>
                </c:pt>
                <c:pt idx="18">
                  <c:v>20.2001775</c:v>
                </c:pt>
                <c:pt idx="19">
                  <c:v>20.0860426562</c:v>
                </c:pt>
                <c:pt idx="20">
                  <c:v>20</c:v>
                </c:pt>
                <c:pt idx="21">
                  <c:v>19.9453557812</c:v>
                </c:pt>
                <c:pt idx="22">
                  <c:v>19.9246975</c:v>
                </c:pt>
                <c:pt idx="23">
                  <c:v>19.9399314063</c:v>
                </c:pt>
                <c:pt idx="24">
                  <c:v>19.99232</c:v>
                </c:pt>
                <c:pt idx="25">
                  <c:v>20.0825195313</c:v>
                </c:pt>
                <c:pt idx="26">
                  <c:v>20.2106175</c:v>
                </c:pt>
                <c:pt idx="27">
                  <c:v>20.3761701562</c:v>
                </c:pt>
                <c:pt idx="28">
                  <c:v>20.57824</c:v>
                </c:pt>
                <c:pt idx="29">
                  <c:v>20.8154332813</c:v>
                </c:pt>
                <c:pt idx="30">
                  <c:v>21.0859375</c:v>
                </c:pt>
                <c:pt idx="31">
                  <c:v>21.3875589062</c:v>
                </c:pt>
                <c:pt idx="32">
                  <c:v>21.71776</c:v>
                </c:pt>
                <c:pt idx="33">
                  <c:v>22.0736970313</c:v>
                </c:pt>
                <c:pt idx="34">
                  <c:v>22.4522575</c:v>
                </c:pt>
                <c:pt idx="35">
                  <c:v>22.8500976563</c:v>
                </c:pt>
                <c:pt idx="36">
                  <c:v>23.26368</c:v>
                </c:pt>
                <c:pt idx="37">
                  <c:v>23.6893107813</c:v>
                </c:pt>
                <c:pt idx="38">
                  <c:v>24.1231775</c:v>
                </c:pt>
                <c:pt idx="39">
                  <c:v>24.5613864063</c:v>
                </c:pt>
                <c:pt idx="40">
                  <c:v>25</c:v>
                </c:pt>
                <c:pt idx="41">
                  <c:v>25.4350745313</c:v>
                </c:pt>
                <c:pt idx="42">
                  <c:v>25.8626975</c:v>
                </c:pt>
                <c:pt idx="43">
                  <c:v>26.2790251563</c:v>
                </c:pt>
                <c:pt idx="44">
                  <c:v>26.68032</c:v>
                </c:pt>
                <c:pt idx="45">
                  <c:v>27.0629882813</c:v>
                </c:pt>
                <c:pt idx="46">
                  <c:v>27.4236175</c:v>
                </c:pt>
                <c:pt idx="47">
                  <c:v>27.7590139063</c:v>
                </c:pt>
                <c:pt idx="48">
                  <c:v>28.06624</c:v>
                </c:pt>
                <c:pt idx="49">
                  <c:v>28.3426520312</c:v>
                </c:pt>
                <c:pt idx="50">
                  <c:v>28.5859375</c:v>
                </c:pt>
                <c:pt idx="51">
                  <c:v>28.7941526562</c:v>
                </c:pt>
                <c:pt idx="52">
                  <c:v>28.96576</c:v>
                </c:pt>
                <c:pt idx="53">
                  <c:v>29.0996657813</c:v>
                </c:pt>
                <c:pt idx="54">
                  <c:v>29.1952575</c:v>
                </c:pt>
                <c:pt idx="55">
                  <c:v>29.2524414063</c:v>
                </c:pt>
                <c:pt idx="56">
                  <c:v>29.27168</c:v>
                </c:pt>
                <c:pt idx="57">
                  <c:v>29.2540295313</c:v>
                </c:pt>
                <c:pt idx="58">
                  <c:v>29.2011775</c:v>
                </c:pt>
                <c:pt idx="59">
                  <c:v>29.1154801563</c:v>
                </c:pt>
                <c:pt idx="60">
                  <c:v>29</c:v>
                </c:pt>
                <c:pt idx="61">
                  <c:v>28.8585432812</c:v>
                </c:pt>
                <c:pt idx="62">
                  <c:v>28.6956975</c:v>
                </c:pt>
                <c:pt idx="63">
                  <c:v>28.5168689062</c:v>
                </c:pt>
                <c:pt idx="64">
                  <c:v>28.32832</c:v>
                </c:pt>
                <c:pt idx="65">
                  <c:v>28.1372070313</c:v>
                </c:pt>
                <c:pt idx="66">
                  <c:v>27.9516175</c:v>
                </c:pt>
                <c:pt idx="67">
                  <c:v>27.7806076563</c:v>
                </c:pt>
                <c:pt idx="68">
                  <c:v>27.63424</c:v>
                </c:pt>
                <c:pt idx="69">
                  <c:v>27.5236207812</c:v>
                </c:pt>
                <c:pt idx="70">
                  <c:v>27.4609375</c:v>
                </c:pt>
                <c:pt idx="71">
                  <c:v>27.4594964063</c:v>
                </c:pt>
                <c:pt idx="72">
                  <c:v>27.53376</c:v>
                </c:pt>
                <c:pt idx="73">
                  <c:v>27.6993845312</c:v>
                </c:pt>
                <c:pt idx="74">
                  <c:v>27.9732575</c:v>
                </c:pt>
                <c:pt idx="75">
                  <c:v>28.3735351563</c:v>
                </c:pt>
                <c:pt idx="76">
                  <c:v>28.91968</c:v>
                </c:pt>
                <c:pt idx="77">
                  <c:v>29.6324982812</c:v>
                </c:pt>
                <c:pt idx="78">
                  <c:v>30.5341775</c:v>
                </c:pt>
                <c:pt idx="79">
                  <c:v>31.6483239063</c:v>
                </c:pt>
                <c:pt idx="80">
                  <c:v>33</c:v>
                </c:pt>
              </c:numCache>
            </c:numRef>
          </c:yVal>
        </c:ser>
        <c:axId val="48650112"/>
        <c:axId val="48672768"/>
      </c:scatterChart>
      <c:valAx>
        <c:axId val="48672768"/>
        <c:scaling>
          <c:orientation val="minMax"/>
          <c:max val="35"/>
          <c:min val="1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Время, мин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50112"/>
        <c:majorUnit val="5"/>
      </c:valAx>
      <c:valAx>
        <c:axId val="48650112"/>
        <c:scaling>
          <c:orientation val="minMax"/>
          <c:max val="5"/>
          <c:min val="1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102D69"/>
                    </a:solidFill>
                    <a:latin typeface="HSE Sans"/>
                    <a:ea typeface="HSE Sans"/>
                    <a:cs typeface="HSE Sans"/>
                  </a:rPr>
                  <a:t>Расстояние, км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02D69"/>
                  </a:solidFill>
                  <a:latin typeface="HSE Sans"/>
                  <a:ea typeface="HSE Sans"/>
                  <a:cs typeface="HSE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A6B2C4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</a:p>
        </c:txPr>
        <c:crossAx val="48672768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02D69"/>
              </a:solidFill>
              <a:latin typeface="HSE Sans"/>
              <a:ea typeface="HSE Sans"/>
              <a:cs typeface="HSE San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8CD95C0D-D7DC-EF40-9E45-F5F0A4817C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B85EA7E-BEC4-B745-B2A8-D4E4AFC614F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Национальный Исследовательский Университет </a:t>
            </a:r>
            <a:r>
              <a:t>«Высшая Школа Экономики»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C6FAE0FA-3CAF-BA4B-8F9F-5FEF3C2F3CC6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</a:t>
            </a:r>
            <a:endParaRPr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44AFB2BF-A7AB-5648-ADCD-2A7F1BD3581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Лекция 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823253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Содержание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 лекции</a:t>
            </a:r>
            <a:endParaRPr/>
          </a:p>
        </p:txBody>
      </p:sp>
      <p:sp>
        <p:nvSpPr>
          <p:cNvPr id="7" name="v8-content-1">
            <a:extLst xmlns:a="http://schemas.openxmlformats.org/drawingml/2006/main">
              <a:ext uri="{FF2B5EF4-FFF2-40B4-BE49-F238E27FC236}">
                <a16:creationId xmlns:a16="http://schemas.microsoft.com/office/drawing/2014/main" id="{35493BA1-121E-434B-9D20-44162086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193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1</a:t>
            </a:r>
          </a:p>
        </p:txBody>
      </p:sp>
      <p:sp>
        <p:nvSpPr>
          <p:cNvPr id="8" name="v8-content-2">
            <a:extLst xmlns:a="http://schemas.openxmlformats.org/drawingml/2006/main">
              <a:ext uri="{FF2B5EF4-FFF2-40B4-BE49-F238E27FC236}">
                <a16:creationId xmlns:a16="http://schemas.microsoft.com/office/drawing/2014/main" id="{F8B34F6D-54C8-4860-A5D0-42EE8803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193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Прикладная задача и её постановка</a:t>
            </a:r>
          </a:p>
        </p:txBody>
      </p:sp>
      <p:sp>
        <p:nvSpPr>
          <p:cNvPr id="9" name="v8-content-3">
            <a:extLst xmlns:a="http://schemas.openxmlformats.org/drawingml/2006/main">
              <a:ext uri="{FF2B5EF4-FFF2-40B4-BE49-F238E27FC236}">
                <a16:creationId xmlns:a16="http://schemas.microsoft.com/office/drawing/2014/main" id="{79952722-E044-4FD7-B536-DB670182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6230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2</a:t>
            </a:r>
          </a:p>
        </p:txBody>
      </p:sp>
      <p:sp>
        <p:nvSpPr>
          <p:cNvPr id="10" name="v8-content-4">
            <a:extLst xmlns:a="http://schemas.openxmlformats.org/drawingml/2006/main">
              <a:ext uri="{FF2B5EF4-FFF2-40B4-BE49-F238E27FC236}">
                <a16:creationId xmlns:a16="http://schemas.microsoft.com/office/drawing/2014/main" id="{AFF99F38-6766-4918-85CF-3585BC3B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623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Представление данных и признаки</a:t>
            </a:r>
          </a:p>
        </p:txBody>
      </p:sp>
      <p:sp>
        <p:nvSpPr>
          <p:cNvPr id="11" name="v8-content-5">
            <a:extLst xmlns:a="http://schemas.openxmlformats.org/drawingml/2006/main">
              <a:ext uri="{FF2B5EF4-FFF2-40B4-BE49-F238E27FC236}">
                <a16:creationId xmlns:a16="http://schemas.microsoft.com/office/drawing/2014/main" id="{AA2741B8-05A5-4DEB-92AA-CE8202B9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052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3</a:t>
            </a:r>
          </a:p>
        </p:txBody>
      </p:sp>
      <p:sp>
        <p:nvSpPr>
          <p:cNvPr id="12" name="v8-content-6">
            <a:extLst xmlns:a="http://schemas.openxmlformats.org/drawingml/2006/main">
              <a:ext uri="{FF2B5EF4-FFF2-40B4-BE49-F238E27FC236}">
                <a16:creationId xmlns:a16="http://schemas.microsoft.com/office/drawing/2014/main" id="{5047C179-E5C0-4478-A8DF-F2EF12BE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052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Типы задач машинного обучения</a:t>
            </a:r>
          </a:p>
        </p:txBody>
      </p:sp>
      <p:sp>
        <p:nvSpPr>
          <p:cNvPr id="13" name="v8-content-7">
            <a:extLst xmlns:a="http://schemas.openxmlformats.org/drawingml/2006/main">
              <a:ext uri="{FF2B5EF4-FFF2-40B4-BE49-F238E27FC236}">
                <a16:creationId xmlns:a16="http://schemas.microsoft.com/office/drawing/2014/main" id="{256E57D7-3587-4B64-AB1B-06EA1D4A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4820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4</a:t>
            </a:r>
          </a:p>
        </p:txBody>
      </p:sp>
      <p:sp>
        <p:nvSpPr>
          <p:cNvPr id="14" name="v8-content-8">
            <a:extLst xmlns:a="http://schemas.openxmlformats.org/drawingml/2006/main">
              <a:ext uri="{FF2B5EF4-FFF2-40B4-BE49-F238E27FC236}">
                <a16:creationId xmlns:a16="http://schemas.microsoft.com/office/drawing/2014/main" id="{6700EC12-B76F-4DE3-8F18-942CA6A2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482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Модель, предсказание и функция потерь</a:t>
            </a:r>
          </a:p>
        </p:txBody>
      </p:sp>
      <p:sp>
        <p:nvSpPr>
          <p:cNvPr id="15" name="v8-content-9">
            <a:extLst xmlns:a="http://schemas.openxmlformats.org/drawingml/2006/main">
              <a:ext uri="{FF2B5EF4-FFF2-40B4-BE49-F238E27FC236}">
                <a16:creationId xmlns:a16="http://schemas.microsoft.com/office/drawing/2014/main" id="{A8483BFD-A45F-485D-9826-30641676B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911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5</a:t>
            </a:r>
          </a:p>
        </p:txBody>
      </p:sp>
      <p:sp>
        <p:nvSpPr>
          <p:cNvPr id="16" name="v8-content-10">
            <a:extLst xmlns:a="http://schemas.openxmlformats.org/drawingml/2006/main">
              <a:ext uri="{FF2B5EF4-FFF2-40B4-BE49-F238E27FC236}">
                <a16:creationId xmlns:a16="http://schemas.microsoft.com/office/drawing/2014/main" id="{DF05B92B-1B6F-4EAB-B655-B051A1919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9115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Обучение и оценка качества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Прикладная задача и её постановка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Прикладная задача и её постановка</a:t>
            </a:r>
            <a:endParaRPr/>
          </a:p>
        </p:txBody>
      </p:sp>
      <p:sp>
        <p:nvSpPr>
          <p:cNvPr id="7" name="v8-content-11">
            <a:extLst xmlns:a="http://schemas.openxmlformats.org/drawingml/2006/main">
              <a:ext uri="{FF2B5EF4-FFF2-40B4-BE49-F238E27FC236}">
                <a16:creationId xmlns:a16="http://schemas.microsoft.com/office/drawing/2014/main" id="{E859A30D-4F9A-4EE4-889E-E88FEAEA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485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5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01</a:t>
            </a:r>
          </a:p>
        </p:txBody>
      </p:sp>
      <p:sp>
        <p:nvSpPr>
          <p:cNvPr id="8" name="v8-content-12">
            <a:extLst xmlns:a="http://schemas.openxmlformats.org/drawingml/2006/main">
              <a:ext uri="{FF2B5EF4-FFF2-40B4-BE49-F238E27FC236}">
                <a16:creationId xmlns:a16="http://schemas.microsoft.com/office/drawing/2014/main" id="{27E2494D-7F2B-414D-91FF-88A60A01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67000"/>
            <a:ext cx="9058275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Объект, целевой ответ и назначение прогноза.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Математические пространства объектов и ответов.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Задача сервиса доставки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Прикладная задача и её постановка</a:t>
            </a:r>
            <a:endParaRPr/>
          </a:p>
        </p:txBody>
      </p:sp>
      <p:sp>
        <p:nvSpPr>
          <p:cNvPr id="7" name="v8-content-13">
            <a:extLst xmlns:a="http://schemas.openxmlformats.org/drawingml/2006/main">
              <a:ext uri="{FF2B5EF4-FFF2-40B4-BE49-F238E27FC236}">
                <a16:creationId xmlns:a16="http://schemas.microsoft.com/office/drawing/2014/main" id="{75C0C249-97AB-4AC5-B725-55AF44D4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013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подтверждении заказа сервис оценивает время до вручения.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Этот прогноз используют при планировании занятости курьеров.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295650"/>
          <a:ext xmlns:a="http://schemas.openxmlformats.org/drawingml/2006/main" cx="11029950" cy="2552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62250"/>
                <a:gridCol w="8267700"/>
              </a:tblGrid>
              <a:tr h="51054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Элемент постановки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Определение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1054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Объект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Заказ и состояние сервиса в момент подтверждения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1054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Целевой ответ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Фактическое время от подтверждения до вручения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Данные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История завершённых доставок с признаками на момент прогноза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1054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Применение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Новые заказы при меняющихся маршрутах и нагрузке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14">
            <a:extLst xmlns:a="http://schemas.openxmlformats.org/drawingml/2006/main">
              <a:ext uri="{FF2B5EF4-FFF2-40B4-BE49-F238E27FC236}">
                <a16:creationId xmlns:a16="http://schemas.microsoft.com/office/drawing/2014/main" id="{5516055C-E56A-491E-B94E-DA73619D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9125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Назначение прогноза определяет, какие ошибки существенны и как измерять качество.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Объекты и целевая переменная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Прикладная задача и её постановка</a:t>
            </a:r>
            <a:endParaRPr/>
          </a:p>
        </p:txBody>
      </p:sp>
      <p:sp>
        <p:nvSpPr>
          <p:cNvPr id="7" name="v8-content-15">
            <a:extLst xmlns:a="http://schemas.openxmlformats.org/drawingml/2006/main">
              <a:ext uri="{FF2B5EF4-FFF2-40B4-BE49-F238E27FC236}">
                <a16:creationId xmlns:a16="http://schemas.microsoft.com/office/drawing/2014/main" id="{09DF39C0-DC46-4C10-BDB3-FC1F33F7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095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Машинное обучение изучает методы восстановления закономерностей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 конечной выборке наблюдений.</a:t>
            </a:r>
          </a:p>
        </p:txBody>
      </p:sp>
      <p:sp>
        <p:nvSpPr>
          <p:cNvPr id="8" name="v8-content-16">
            <a:extLst xmlns:a="http://schemas.openxmlformats.org/drawingml/2006/main">
              <a:ext uri="{FF2B5EF4-FFF2-40B4-BE49-F238E27FC236}">
                <a16:creationId xmlns:a16="http://schemas.microsoft.com/office/drawing/2014/main" id="{CB8FBFBD-E53D-4F4C-8654-EC632D0A3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0425"/>
            <a:ext cx="242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x</m:t>
                </m:r>
                <m:r>
                  <m:t>∈</m:t>
                </m:r>
                <m:r>
                  <m:rPr>
                    <m:nor/>
                    <m:sty m:val="p"/>
                  </m:rPr>
                  <m:t>𝕏</m:t>
                </m:r>
              </m:oMath>
            </a14:m>
          </a:p>
        </p:txBody>
      </p:sp>
      <p:sp>
        <p:nvSpPr>
          <p:cNvPr id="9" name="v8-content-17">
            <a:extLst xmlns:a="http://schemas.openxmlformats.org/drawingml/2006/main">
              <a:ext uri="{FF2B5EF4-FFF2-40B4-BE49-F238E27FC236}">
                <a16:creationId xmlns:a16="http://schemas.microsoft.com/office/drawing/2014/main" id="{D642C323-19CD-41F2-85CA-F3D439AE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0995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𝕏 — пространство объектов.</a:t>
            </a:r>
          </a:p>
        </p:txBody>
      </p:sp>
      <p:sp>
        <p:nvSpPr>
          <p:cNvPr id="10" name="v8-content-18">
            <a:extLst xmlns:a="http://schemas.openxmlformats.org/drawingml/2006/main">
              <a:ext uri="{FF2B5EF4-FFF2-40B4-BE49-F238E27FC236}">
                <a16:creationId xmlns:a16="http://schemas.microsoft.com/office/drawing/2014/main" id="{C092D7C2-F8EE-422B-838D-91A98DE5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38625"/>
            <a:ext cx="2428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y</m:t>
                </m:r>
                <m:r>
                  <m:t>∈</m:t>
                </m:r>
                <m:r>
                  <m:rPr>
                    <m:nor/>
                    <m:sty m:val="p"/>
                  </m:rPr>
                  <m:t>𝕐</m:t>
                </m:r>
              </m:oMath>
            </a14:m>
          </a:p>
        </p:txBody>
      </p:sp>
      <p:sp>
        <p:nvSpPr>
          <p:cNvPr id="11" name="v8-content-19">
            <a:extLst xmlns:a="http://schemas.openxmlformats.org/drawingml/2006/main">
              <a:ext uri="{FF2B5EF4-FFF2-40B4-BE49-F238E27FC236}">
                <a16:creationId xmlns:a16="http://schemas.microsoft.com/office/drawing/2014/main" id="{071A92F3-ADC7-4760-955C-B6CF67E1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267200"/>
            <a:ext cx="771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𝕐 — пространство значений целевой переменной.</a:t>
            </a:r>
          </a:p>
        </p:txBody>
      </p:sp>
      <p:sp>
        <p:nvSpPr>
          <p:cNvPr id="12" name="v8-content-20">
            <a:extLst xmlns:a="http://schemas.openxmlformats.org/drawingml/2006/main">
              <a:ext uri="{FF2B5EF4-FFF2-40B4-BE49-F238E27FC236}">
                <a16:creationId xmlns:a16="http://schemas.microsoft.com/office/drawing/2014/main" id="{6ED04548-8E87-4991-A1AF-CEE1208F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721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Пример: x — заказ в момент подтверждения,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y — время от подтверждения до вручения, в минутах.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Представление данных и признаки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Представление данных и признаки</a:t>
            </a:r>
            <a:endParaRPr/>
          </a:p>
        </p:txBody>
      </p:sp>
      <p:sp>
        <p:nvSpPr>
          <p:cNvPr id="7" name="v8-content-21">
            <a:extLst xmlns:a="http://schemas.openxmlformats.org/drawingml/2006/main">
              <a:ext uri="{FF2B5EF4-FFF2-40B4-BE49-F238E27FC236}">
                <a16:creationId xmlns:a16="http://schemas.microsoft.com/office/drawing/2014/main" id="{403ACA6B-552F-4C72-87DC-ACEE6E417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485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5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02</a:t>
            </a:r>
          </a:p>
        </p:txBody>
      </p:sp>
      <p:sp>
        <p:nvSpPr>
          <p:cNvPr id="8" name="v8-content-22">
            <a:extLst xmlns:a="http://schemas.openxmlformats.org/drawingml/2006/main">
              <a:ext uri="{FF2B5EF4-FFF2-40B4-BE49-F238E27FC236}">
                <a16:creationId xmlns:a16="http://schemas.microsoft.com/office/drawing/2014/main" id="{29F25330-8418-4E00-B555-19922F9D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67000"/>
            <a:ext cx="9058275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Функции признаков и числовое кодирование.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Выборка и матрица признаков.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Доступность информации при прогнозе.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Признаки объекта (Features)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Представление данных и признаки</a:t>
            </a:r>
            <a:endParaRPr/>
          </a:p>
        </p:txBody>
      </p:sp>
      <p:sp>
        <p:nvSpPr>
          <p:cNvPr id="7" name="v8-content-23">
            <a:extLst xmlns:a="http://schemas.openxmlformats.org/drawingml/2006/main">
              <a:ext uri="{FF2B5EF4-FFF2-40B4-BE49-F238E27FC236}">
                <a16:creationId xmlns:a16="http://schemas.microsoft.com/office/drawing/2014/main" id="{7110572B-F04B-4FD8-A59D-4925B2F3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0137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Признак описывает свойство объекта, доступное в момент прогноза.</a:t>
            </a:r>
          </a:p>
        </p:txBody>
      </p:sp>
      <p:sp>
        <p:nvSpPr>
          <p:cNvPr id="8" name="v8-content-24">
            <a:extLst xmlns:a="http://schemas.openxmlformats.org/drawingml/2006/main">
              <a:ext uri="{FF2B5EF4-FFF2-40B4-BE49-F238E27FC236}">
                <a16:creationId xmlns:a16="http://schemas.microsoft.com/office/drawing/2014/main" id="{A6F47CBF-60FE-47E5-8D69-224A221A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41243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f</m:t>
                    </m:r>
                  </m:e>
                  <m:sub>
                    <m:r>
                      <m:t>j</m:t>
                    </m:r>
                  </m:sub>
                </m:sSub>
                <m:r>
                  <m:t>:</m:t>
                </m:r>
                <m:r>
                  <m:rPr>
                    <m:nor/>
                    <m:sty m:val="p"/>
                  </m:rPr>
                  <m:t>𝕏</m:t>
                </m:r>
                <m:r>
                  <m:t>→</m:t>
                </m:r>
                <m:sSub>
                  <m:e>
                    <m:r>
                      <m:t>D</m:t>
                    </m:r>
                  </m:e>
                  <m:sub>
                    <m:r>
                      <m:t>j</m:t>
                    </m:r>
                  </m:sub>
                </m:sSub>
              </m:oMath>
            </a14:m>
          </a:p>
        </p:txBody>
      </p:sp>
      <p:sp>
        <p:nvSpPr>
          <p:cNvPr id="9" name="v8-content-25">
            <a:extLst xmlns:a="http://schemas.openxmlformats.org/drawingml/2006/main">
              <a:ext uri="{FF2B5EF4-FFF2-40B4-BE49-F238E27FC236}">
                <a16:creationId xmlns:a16="http://schemas.microsoft.com/office/drawing/2014/main" id="{F21C9654-F647-48F6-B869-CCBCAC125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038475"/>
            <a:ext cx="64484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fⱼ(x) — значение признака для объекта x.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Dⱼ — множество возможных значений.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90550" y="4181475"/>
          <a:ext xmlns:a="http://schemas.openxmlformats.org/drawingml/2006/main" cx="11029950" cy="1762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419850"/>
                <a:gridCol w="4610100"/>
              </a:tblGrid>
              <a:tr h="44053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Признак заказа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Пример значения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44053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Расчётная длина маршрута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3,2 км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4053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Район доставки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Северный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0531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Число позиций в заказе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11" name="v8-content-26">
            <a:extLst xmlns:a="http://schemas.openxmlformats.org/drawingml/2006/main">
              <a:ext uri="{FF2B5EF4-FFF2-40B4-BE49-F238E27FC236}">
                <a16:creationId xmlns:a16="http://schemas.microsoft.com/office/drawing/2014/main" id="{1E55B3F0-0CEA-4B3A-836F-D2804A31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484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Для числовой модели признаки кодируют в вектор. Способ кодирования зависит от их типа.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Типы признаков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Представление данных и признаки</a:t>
            </a:r>
            <a:endParaRPr/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0550" y="2286000"/>
          <a:ext xmlns:a="http://schemas.openxmlformats.org/drawingml/2006/main" cx="11029950" cy="3733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33625"/>
                <a:gridCol w="3667125"/>
                <a:gridCol w="5029200"/>
              </a:tblGrid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Тип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Область значений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Структура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Бинарный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{0, 1}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Два возможных значения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Числовой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ℝ или его подмножество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Осмысленные арифметические операции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Категориальный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C = {c₁, …, cₖ}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Множество без заданного порядка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Порядковый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C с отношением порядка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Порядок не задаёт расстояний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Set-valued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Подмножества C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Несколько категорий одновременно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Структурный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Тексты, изображения, звук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Требуется выбор представления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v8-content-27">
            <a:extLst xmlns:a="http://schemas.openxmlformats.org/drawingml/2006/main">
              <a:ext uri="{FF2B5EF4-FFF2-40B4-BE49-F238E27FC236}">
                <a16:creationId xmlns:a16="http://schemas.microsoft.com/office/drawing/2014/main" id="{49C1C9FA-C47C-4778-9B03-795194F36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5315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Код категории не определяет ни расстояние между категориями, ни их порядок.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Кодирование категориального признака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Представление данных и признаки</a:t>
            </a:r>
            <a:endParaRPr/>
          </a:p>
        </p:txBody>
      </p:sp>
      <p:sp>
        <p:nvSpPr>
          <p:cNvPr id="7" name="v8-content-28">
            <a:extLst xmlns:a="http://schemas.openxmlformats.org/drawingml/2006/main">
              <a:ext uri="{FF2B5EF4-FFF2-40B4-BE49-F238E27FC236}">
                <a16:creationId xmlns:a16="http://schemas.microsoft.com/office/drawing/2014/main" id="{8A3B4E13-347A-4A83-B08D-74A28969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11001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Район доставки принимает значения «Северный», «Центральный», «Южный».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171825"/>
          <a:ext xmlns:a="http://schemas.openxmlformats.org/drawingml/2006/main" cx="11029950" cy="21336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724275"/>
                <a:gridCol w="1971675"/>
                <a:gridCol w="5334000"/>
              </a:tblGrid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Район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Код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Индикаторы: one-hot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Северный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(1, 0, 0)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Центральный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(0, 1, 0)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Южный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(0, 0, 1)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29">
            <a:extLst xmlns:a="http://schemas.openxmlformats.org/drawingml/2006/main">
              <a:ext uri="{FF2B5EF4-FFF2-40B4-BE49-F238E27FC236}">
                <a16:creationId xmlns:a16="http://schemas.microsoft.com/office/drawing/2014/main" id="{D872D019-97F9-4E3F-9AF4-20294E84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48325"/>
            <a:ext cx="110109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использовании кода как числа модель может учитывать порядок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 разности кодов. Индикаторы задают отдельный признак для каждой категории.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Обучающая выборка и обозначения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Представление данных и признаки</a:t>
            </a:r>
            <a:endParaRPr/>
          </a:p>
        </p:txBody>
      </p:sp>
      <p:sp>
        <p:nvSpPr>
          <p:cNvPr id="7" name="v8-content-30">
            <a:extLst xmlns:a="http://schemas.openxmlformats.org/drawingml/2006/main">
              <a:ext uri="{FF2B5EF4-FFF2-40B4-BE49-F238E27FC236}">
                <a16:creationId xmlns:a16="http://schemas.microsoft.com/office/drawing/2014/main" id="{BB24BE8D-58DF-4CA6-A6E2-B7C7609F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638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x</m:t>
                    </m:r>
                  </m:e>
                  <m:sub>
                    <m:r>
                      <m:t>i</m:t>
                    </m:r>
                  </m:sub>
                </m:sSub>
                <m:r>
                  <m:t>=</m:t>
                </m:r>
                <m:r>
                  <m:t>(</m:t>
                </m:r>
                <m:sSub>
                  <m:e>
                    <m:r>
                      <m:t>x</m:t>
                    </m:r>
                  </m:e>
                  <m:sub>
                    <m:r>
                      <m:t>i</m:t>
                    </m:r>
                    <m:r>
                      <m:t>1</m:t>
                    </m:r>
                  </m:sub>
                </m:sSub>
                <m:r>
                  <m:t>,</m:t>
                </m:r>
                <m:r>
                  <m:t>…</m:t>
                </m:r>
                <m:r>
                  <m:t>,</m:t>
                </m:r>
                <m:sSub>
                  <m:e>
                    <m:r>
                      <m:t>x</m:t>
                    </m:r>
                  </m:e>
                  <m:sub>
                    <m:r>
                      <m:t>id</m:t>
                    </m:r>
                  </m:sub>
                </m:sSub>
                <m:r>
                  <m:t>)</m:t>
                </m:r>
                <m:r>
                  <m:t>∈</m:t>
                </m:r>
                <m:sSup>
                  <m:e>
                    <m:r>
                      <m:t>ℝ</m:t>
                    </m:r>
                  </m:e>
                  <m:sup>
                    <m:r>
                      <m:t>d</m:t>
                    </m:r>
                  </m:sup>
                </m:sSup>
              </m:oMath>
            </a14:m>
          </a:p>
        </p:txBody>
      </p:sp>
      <p:sp>
        <p:nvSpPr>
          <p:cNvPr id="8" name="v8-content-31">
            <a:extLst xmlns:a="http://schemas.openxmlformats.org/drawingml/2006/main">
              <a:ext uri="{FF2B5EF4-FFF2-40B4-BE49-F238E27FC236}">
                <a16:creationId xmlns:a16="http://schemas.microsoft.com/office/drawing/2014/main" id="{CEBDBA49-4D8B-4389-93FB-1912234E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400300"/>
            <a:ext cx="3905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d признаков на объект.</a:t>
            </a:r>
          </a:p>
        </p:txBody>
      </p:sp>
      <p:sp>
        <p:nvSpPr>
          <p:cNvPr id="9" name="v8-content-32">
            <a:extLst xmlns:a="http://schemas.openxmlformats.org/drawingml/2006/main">
              <a:ext uri="{FF2B5EF4-FFF2-40B4-BE49-F238E27FC236}">
                <a16:creationId xmlns:a16="http://schemas.microsoft.com/office/drawing/2014/main" id="{AB463F84-5FD1-4417-82CF-29C87395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00400"/>
            <a:ext cx="6381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X</m:t>
                </m:r>
                <m:r>
                  <m:t>=</m:t>
                </m:r>
                <m:r>
                  <m:t>{</m:t>
                </m:r>
                <m:r>
                  <m:t>(</m:t>
                </m:r>
                <m:sSub>
                  <m:e>
                    <m:r>
                      <m:t>x</m:t>
                    </m:r>
                  </m:e>
                  <m:sub>
                    <m:r>
                      <m:t>i</m:t>
                    </m:r>
                  </m:sub>
                </m:sSub>
                <m:r>
                  <m:t>,</m:t>
                </m:r>
                <m:sSub>
                  <m:e>
                    <m:r>
                      <m:t>y</m:t>
                    </m:r>
                  </m:e>
                  <m:sub>
                    <m:r>
                      <m:t>i</m:t>
                    </m:r>
                  </m:sub>
                </m:sSub>
                <m:r>
                  <m:t>)</m:t>
                </m:r>
                <m:sSubSup>
                  <m:e>
                    <m:r>
                      <m:t>}</m:t>
                    </m:r>
                  </m:e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</m:sSubSup>
              </m:oMath>
            </a14:m>
          </a:p>
        </p:txBody>
      </p:sp>
      <p:sp>
        <p:nvSpPr>
          <p:cNvPr id="10" name="v8-content-33">
            <a:extLst xmlns:a="http://schemas.openxmlformats.org/drawingml/2006/main">
              <a:ext uri="{FF2B5EF4-FFF2-40B4-BE49-F238E27FC236}">
                <a16:creationId xmlns:a16="http://schemas.microsoft.com/office/drawing/2014/main" id="{6B9359B0-4C61-4CFB-B3F1-319C5482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81375"/>
            <a:ext cx="3905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ℓ размеченных наблюдений.</a:t>
            </a:r>
          </a:p>
        </p:txBody>
      </p:sp>
      <p:sp>
        <p:nvSpPr>
          <p:cNvPr id="11" name="v8-content-34">
            <a:extLst xmlns:a="http://schemas.openxmlformats.org/drawingml/2006/main">
              <a:ext uri="{FF2B5EF4-FFF2-40B4-BE49-F238E27FC236}">
                <a16:creationId xmlns:a16="http://schemas.microsoft.com/office/drawing/2014/main" id="{279AFE37-0142-44F3-B288-58CEF67E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67225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F</m:t>
                </m:r>
                <m:r>
                  <m:t>=</m:t>
                </m:r>
                <m:r>
                  <m:t>(</m:t>
                </m:r>
                <m:sSub>
                  <m:e>
                    <m:r>
                      <m:t>x</m:t>
                    </m:r>
                  </m:e>
                  <m:sub>
                    <m:r>
                      <m:t>ij</m:t>
                    </m:r>
                  </m:sub>
                </m:sSub>
                <m:r>
                  <m:t>)</m:t>
                </m:r>
                <m:r>
                  <m:t>∈</m:t>
                </m:r>
                <m:sSup>
                  <m:e>
                    <m:r>
                      <m:t>ℝ</m:t>
                    </m:r>
                  </m:e>
                  <m:sup>
                    <m:r>
                      <m:t>ℓ</m:t>
                    </m:r>
                    <m:r>
                      <m:t>×</m:t>
                    </m:r>
                    <m:r>
                      <m:t>d</m:t>
                    </m:r>
                  </m:sup>
                </m:sSup>
              </m:oMath>
            </a14:m>
          </a:p>
        </p:txBody>
      </p:sp>
      <p:sp>
        <p:nvSpPr>
          <p:cNvPr id="12" name="v8-content-35">
            <a:extLst xmlns:a="http://schemas.openxmlformats.org/drawingml/2006/main">
              <a:ext uri="{FF2B5EF4-FFF2-40B4-BE49-F238E27FC236}">
                <a16:creationId xmlns:a16="http://schemas.microsoft.com/office/drawing/2014/main" id="{0E4D3810-F161-46F4-B723-2A1B9547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67225"/>
            <a:ext cx="5219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y</m:t>
                </m:r>
                <m:r>
                  <m:t>=</m:t>
                </m:r>
                <m:r>
                  <m:t>(</m:t>
                </m:r>
                <m:sSub>
                  <m:e>
                    <m:r>
                      <m:t>y</m:t>
                    </m:r>
                  </m:e>
                  <m:sub>
                    <m:r>
                      <m:t>1</m:t>
                    </m:r>
                  </m:sub>
                </m:sSub>
                <m:r>
                  <m:t>,</m:t>
                </m:r>
                <m:r>
                  <m:t>…</m:t>
                </m:r>
                <m:r>
                  <m:t>,</m:t>
                </m:r>
                <m:sSub>
                  <m:e>
                    <m:r>
                      <m:t>y</m:t>
                    </m:r>
                  </m:e>
                  <m:sub>
                    <m:r>
                      <m:t>ℓ</m:t>
                    </m:r>
                  </m:sub>
                </m:sSub>
                <m:sSup>
                  <m:e>
                    <m:r>
                      <m:t>)</m:t>
                    </m:r>
                  </m:e>
                  <m:sup>
                    <m:r>
                      <m:t>T</m:t>
                    </m:r>
                  </m:sup>
                </m:sSup>
              </m:oMath>
            </a14:m>
          </a:p>
        </p:txBody>
      </p:sp>
      <p:sp>
        <p:nvSpPr>
          <p:cNvPr id="13" name="v8-content-36">
            <a:extLst xmlns:a="http://schemas.openxmlformats.org/drawingml/2006/main">
              <a:ext uri="{FF2B5EF4-FFF2-40B4-BE49-F238E27FC236}">
                <a16:creationId xmlns:a16="http://schemas.microsoft.com/office/drawing/2014/main" id="{E0F36D25-9156-4711-A306-90499AD59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198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После кодирования: F — числовая матрица признаков, y — вектор ответов.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Доступность признаков во времени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 Представление данных и признаки</a:t>
            </a:r>
            <a:endParaRPr/>
          </a:p>
        </p:txBody>
      </p:sp>
      <p:sp>
        <p:nvSpPr>
          <p:cNvPr id="7" name="v8-content-37">
            <a:extLst xmlns:a="http://schemas.openxmlformats.org/drawingml/2006/main">
              <a:ext uri="{FF2B5EF4-FFF2-40B4-BE49-F238E27FC236}">
                <a16:creationId xmlns:a16="http://schemas.microsoft.com/office/drawing/2014/main" id="{D66FB3F2-29DA-440F-AA6A-E2AE82D05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09442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Историческая запись содержит больше информации, чем доступно при прогнозе.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209925"/>
          <a:ext xmlns:a="http://schemas.openxmlformats.org/drawingml/2006/main" cx="1102995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381500"/>
                <a:gridCol w="3810000"/>
                <a:gridCol w="2838450"/>
              </a:tblGrid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Признак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В момент подтверждения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Решение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Расчётное расстояние маршрута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Известно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Используем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Состав и размер заказа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Известны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Используем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Текущая загрузка курьеров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Известна по журналу событий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Используем срез на этот момент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Фактическая длительность сборки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Появится позже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Утечка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Фактическое время вручения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Появится позже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Из него строим таргет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38">
            <a:extLst xmlns:a="http://schemas.openxmlformats.org/drawingml/2006/main">
              <a:ext uri="{FF2B5EF4-FFF2-40B4-BE49-F238E27FC236}">
                <a16:creationId xmlns:a16="http://schemas.microsoft.com/office/drawing/2014/main" id="{6BCD578B-8554-40E3-830F-3F6210A0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6745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Корректность признака определяется моментом доступности, а не корреляцией с таргетом.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Типы задач машинного обучения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Типы задач машинного обучения</a:t>
            </a:r>
            <a:endParaRPr/>
          </a:p>
        </p:txBody>
      </p:sp>
      <p:sp>
        <p:nvSpPr>
          <p:cNvPr id="7" name="v8-content-39">
            <a:extLst xmlns:a="http://schemas.openxmlformats.org/drawingml/2006/main">
              <a:ext uri="{FF2B5EF4-FFF2-40B4-BE49-F238E27FC236}">
                <a16:creationId xmlns:a16="http://schemas.microsoft.com/office/drawing/2014/main" id="{AE6BAE8F-9AD7-44FA-917E-A756EBD6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485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5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03</a:t>
            </a:r>
          </a:p>
        </p:txBody>
      </p:sp>
      <p:sp>
        <p:nvSpPr>
          <p:cNvPr id="8" name="v8-content-40">
            <a:extLst xmlns:a="http://schemas.openxmlformats.org/drawingml/2006/main">
              <a:ext uri="{FF2B5EF4-FFF2-40B4-BE49-F238E27FC236}">
                <a16:creationId xmlns:a16="http://schemas.microsoft.com/office/drawing/2014/main" id="{8F706353-8CF8-4B8B-858A-CD8513BB2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67000"/>
            <a:ext cx="9058275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Способ обучения и структура ответа.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Регрессия, классификация, ранжирование, прогнозирование.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Структурированные ответы и задачи без разметки.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Задача и способ обучения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Типы задач машинного обучения</a:t>
            </a:r>
            <a:endParaRPr/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0550" y="2286000"/>
          <a:ext xmlns:a="http://schemas.openxmlformats.org/drawingml/2006/main" cx="11029950" cy="3829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3876675"/>
                <a:gridCol w="4200525"/>
              </a:tblGrid>
              <a:tr h="6381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Способ обучения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Обучающий сигнал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Пример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6381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 учителем</a:t>
                      </a:r>
                    </a:p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Supervised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Ответы y для объектов x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Длительность доставки по заказу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6381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Без учителя</a:t>
                      </a:r>
                    </a:p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Unsupervised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Структура наблюдаемых 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Группы клиентов по поведению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 частичной разметкой</a:t>
                      </a:r>
                    </a:p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Semi-supervised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Размеченные и неразмеченные объекты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Классификация с небольшой разметкой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6381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Самоконтролируемое</a:t>
                      </a:r>
                    </a:p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Self-supervised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Задача, построенная из самих данных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Предсказание скрытого фрагмента текста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 подкреплением</a:t>
                      </a:r>
                    </a:p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Reinforcement learning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Вознаграждения за последовательность действий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Управление агентом в среде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8" name="v8-content-41">
            <a:extLst xmlns:a="http://schemas.openxmlformats.org/drawingml/2006/main">
              <a:ext uri="{FF2B5EF4-FFF2-40B4-BE49-F238E27FC236}">
                <a16:creationId xmlns:a16="http://schemas.microsoft.com/office/drawing/2014/main" id="{ED9644DA-456C-42C2-8A0E-8F7F8E9E3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Способ обучения задаёт источник обучающего сигнала, тип задачи — структуру требуемого ответа.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Регрессия (Regression)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Типы задач машинного обучения</a:t>
            </a:r>
            <a:endParaRPr/>
          </a:p>
        </p:txBody>
      </p:sp>
      <p:sp>
        <p:nvSpPr>
          <p:cNvPr id="7" name="v8-content-42">
            <a:extLst xmlns:a="http://schemas.openxmlformats.org/drawingml/2006/main">
              <a:ext uri="{FF2B5EF4-FFF2-40B4-BE49-F238E27FC236}">
                <a16:creationId xmlns:a16="http://schemas.microsoft.com/office/drawing/2014/main" id="{025030DA-25C9-4F73-A370-7B122CA0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5267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Скалярная регрессия</a:t>
            </a:r>
          </a:p>
        </p:txBody>
      </p:sp>
      <p:sp>
        <p:nvSpPr>
          <p:cNvPr id="8" name="v8-content-43">
            <a:extLst xmlns:a="http://schemas.openxmlformats.org/drawingml/2006/main">
              <a:ext uri="{FF2B5EF4-FFF2-40B4-BE49-F238E27FC236}">
                <a16:creationId xmlns:a16="http://schemas.microsoft.com/office/drawing/2014/main" id="{1900F059-44AC-4035-A780-96C91059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43225"/>
            <a:ext cx="5238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rPr>
                    <m:nor/>
                    <m:sty m:val="p"/>
                  </m:rPr>
                  <m:t>𝕐</m:t>
                </m:r>
                <m:r>
                  <m:t>⊆</m:t>
                </m:r>
                <m:r>
                  <m:t>ℝ</m:t>
                </m:r>
              </m:oMath>
            </a14:m>
          </a:p>
        </p:txBody>
      </p:sp>
      <p:sp>
        <p:nvSpPr>
          <p:cNvPr id="9" name="v8-content-44">
            <a:extLst xmlns:a="http://schemas.openxmlformats.org/drawingml/2006/main">
              <a:ext uri="{FF2B5EF4-FFF2-40B4-BE49-F238E27FC236}">
                <a16:creationId xmlns:a16="http://schemas.microsoft.com/office/drawing/2014/main" id="{42993A1E-43CE-4769-8E89-62A4D422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524827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Время доставки заказа.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Объём продаж за период.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Стоимость объекта.</a:t>
            </a:r>
          </a:p>
        </p:txBody>
      </p:sp>
      <p:sp>
        <p:nvSpPr>
          <p:cNvPr id="10" name="v8-content-45">
            <a:extLst xmlns:a="http://schemas.openxmlformats.org/drawingml/2006/main">
              <a:ext uri="{FF2B5EF4-FFF2-40B4-BE49-F238E27FC236}">
                <a16:creationId xmlns:a16="http://schemas.microsoft.com/office/drawing/2014/main" id="{A706900C-64B1-48C9-A5BA-696A3679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05050"/>
            <a:ext cx="51530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25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Многомерная регрессия</a:t>
            </a:r>
          </a:p>
        </p:txBody>
      </p:sp>
      <p:sp>
        <p:nvSpPr>
          <p:cNvPr id="11" name="v8-content-46">
            <a:extLst xmlns:a="http://schemas.openxmlformats.org/drawingml/2006/main">
              <a:ext uri="{FF2B5EF4-FFF2-40B4-BE49-F238E27FC236}">
                <a16:creationId xmlns:a16="http://schemas.microsoft.com/office/drawing/2014/main" id="{8EAFD287-3D1B-4EC7-A401-2E234D5C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943225"/>
            <a:ext cx="51530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rPr>
                    <m:nor/>
                    <m:sty m:val="p"/>
                  </m:rPr>
                  <m:t>𝕐</m:t>
                </m:r>
                <m:r>
                  <m:t>⊆</m:t>
                </m:r>
                <m:sSup>
                  <m:e>
                    <m:r>
                      <m:t>ℝ</m:t>
                    </m:r>
                  </m:e>
                  <m:sup>
                    <m:r>
                      <m:t>m</m:t>
                    </m:r>
                  </m:sup>
                </m:sSup>
              </m:oMath>
            </a14:m>
          </a:p>
        </p:txBody>
      </p:sp>
      <p:sp>
        <p:nvSpPr>
          <p:cNvPr id="12" name="v8-content-47">
            <a:extLst xmlns:a="http://schemas.openxmlformats.org/drawingml/2006/main">
              <a:ext uri="{FF2B5EF4-FFF2-40B4-BE49-F238E27FC236}">
                <a16:creationId xmlns:a16="http://schemas.microsoft.com/office/drawing/2014/main" id="{00A0EC9F-7D68-484B-AB9C-6BC95F7C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76675"/>
            <a:ext cx="5153025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Длительности сборки и пути.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Координаты положения объекта.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Продажи по нескольким категориям.</a:t>
            </a:r>
          </a:p>
        </p:txBody>
      </p:sp>
      <p:sp>
        <p:nvSpPr>
          <p:cNvPr id="13" name="v8-content-48">
            <a:extLst xmlns:a="http://schemas.openxmlformats.org/drawingml/2006/main">
              <a:ext uri="{FF2B5EF4-FFF2-40B4-BE49-F238E27FC236}">
                <a16:creationId xmlns:a16="http://schemas.microsoft.com/office/drawing/2014/main" id="{F1D9ED68-302D-4A8D-824C-D1F50FF7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579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Структура ответа задаёт, какие отклонения и отношения между координатами имеют смысл.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Классификация (Classification)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Типы задач машинного обучения</a:t>
            </a:r>
            <a:endParaRPr/>
          </a:p>
        </p:txBody>
      </p:sp>
      <p:sp>
        <p:nvSpPr>
          <p:cNvPr id="7" name="v8-content-49">
            <a:extLst xmlns:a="http://schemas.openxmlformats.org/drawingml/2006/main">
              <a:ext uri="{FF2B5EF4-FFF2-40B4-BE49-F238E27FC236}">
                <a16:creationId xmlns:a16="http://schemas.microsoft.com/office/drawing/2014/main" id="{861B6EB2-7F6F-4B07-8536-137A92E8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66950"/>
            <a:ext cx="11001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Ответ задаёт принадлежность объекта к одному или нескольким классам.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343275"/>
          <a:ext xmlns:a="http://schemas.openxmlformats.org/drawingml/2006/main" cx="11029950" cy="22288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76575"/>
                <a:gridCol w="3257550"/>
                <a:gridCol w="4695825"/>
              </a:tblGrid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Постановка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Пространство ответов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Пример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Бинарная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y ∈ {0, 1}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Нарушен ли срок доставки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Многоклассовая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y ∈ {1, …, K}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Одна основная причина обращения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721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Многометочная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y ∈ {0, 1}ᴷ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Все темы обращения одновременно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50">
            <a:extLst xmlns:a="http://schemas.openxmlformats.org/drawingml/2006/main">
              <a:ext uri="{FF2B5EF4-FFF2-40B4-BE49-F238E27FC236}">
                <a16:creationId xmlns:a16="http://schemas.microsoft.com/office/drawing/2014/main" id="{6805C8E0-C914-4C1E-AE6D-0AC524422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05500"/>
            <a:ext cx="11001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многометочной задаче каждая координата ответа указывает,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относится ли объект к соответствующему классу.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Прогнозирование рядов (Forecasting)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Типы задач машинного обучения</a:t>
            </a:r>
            <a:endParaRPr/>
          </a:p>
        </p:txBody>
      </p:sp>
      <p:sp>
        <p:nvSpPr>
          <p:cNvPr id="7" name="v8-content-51">
            <a:extLst xmlns:a="http://schemas.openxmlformats.org/drawingml/2006/main">
              <a:ext uri="{FF2B5EF4-FFF2-40B4-BE49-F238E27FC236}">
                <a16:creationId xmlns:a16="http://schemas.microsoft.com/office/drawing/2014/main" id="{07187610-CF7A-4688-8F18-6CF3EA961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100137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Сервис планирует число курьеров на следующую неделю.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этого нужен прогноз количества заказов на каждый день.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333750"/>
          <a:ext xmlns:a="http://schemas.openxmlformats.org/drawingml/2006/main" cx="11029950" cy="2457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71850"/>
                <a:gridCol w="7658100"/>
              </a:tblGrid>
              <a:tr h="49149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Элемент задачи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В этом примере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49149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История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Количество заказов по дням за предыдущие недели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9149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Дополнительные признаки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День недели, праздники, запланированные акции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149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Горизонт прогноза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Следующие 7 дней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9149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Ответ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Семь чисел: прогноз спроса на каждый день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52">
            <a:extLst xmlns:a="http://schemas.openxmlformats.org/drawingml/2006/main">
              <a:ext uri="{FF2B5EF4-FFF2-40B4-BE49-F238E27FC236}">
                <a16:creationId xmlns:a16="http://schemas.microsoft.com/office/drawing/2014/main" id="{7A41B362-69D5-45E1-B60A-E5C0CE7C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722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Время задаёт порядок наблюдений. При проверке воспроизводим прогноз из прошлого в будущее.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Ранжирование (Ranking) и рекомендации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Типы задач машинного обучения</a:t>
            </a:r>
            <a:endParaRPr/>
          </a:p>
        </p:txBody>
      </p:sp>
      <p:sp>
        <p:nvSpPr>
          <p:cNvPr id="7" name="v8-content-53">
            <a:extLst xmlns:a="http://schemas.openxmlformats.org/drawingml/2006/main">
              <a:ext uri="{FF2B5EF4-FFF2-40B4-BE49-F238E27FC236}">
                <a16:creationId xmlns:a16="http://schemas.microsoft.com/office/drawing/2014/main" id="{CF2CBEC2-46AD-4D39-8989-FB7D0C34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109918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ранжировании нужно упорядочить кандидатов по полезности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конкретного запроса или пользователя.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505200"/>
          <a:ext xmlns:a="http://schemas.openxmlformats.org/drawingml/2006/main" cx="11029950" cy="18192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600325"/>
                <a:gridCol w="3638550"/>
                <a:gridCol w="4791075"/>
              </a:tblGrid>
              <a:tr h="6064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Приложение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Контекст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Что упорядочиваем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6064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Поиск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Текст запроса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Документы по соответствию запросу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60642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Рекомендации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Пользователь и его интересы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Товары или фильмы по интересу для него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54">
            <a:extLst xmlns:a="http://schemas.openxmlformats.org/drawingml/2006/main">
              <a:ext uri="{FF2B5EF4-FFF2-40B4-BE49-F238E27FC236}">
                <a16:creationId xmlns:a16="http://schemas.microsoft.com/office/drawing/2014/main" id="{56A6CE49-02D4-4D9F-85B2-8C5D6089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10991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Один из подходов: модель присваивает каждому кандидату числовую оценку,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после чего кандидатов сортируют по убыванию этой оценки.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Структурированные ответы (Structured prediction)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Типы задач машинного обучения</a:t>
            </a:r>
            <a:endParaRPr/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0550" y="2362200"/>
          <a:ext xmlns:a="http://schemas.openxmlformats.org/drawingml/2006/main" cx="11029950" cy="2876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52750"/>
                <a:gridCol w="3267075"/>
                <a:gridCol w="4810125"/>
              </a:tblGrid>
              <a:tr h="57531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Задача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Объект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Ответ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7531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Сегментация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Изображение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Класс каждого пикселя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7531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Распознавание речи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Аудиосигнал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Последовательность слов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531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Машинный перевод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Текст на одном языке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Текст на другом языке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7531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Генерация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Условие, например текстовое описание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Текст, изображение или другой объект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v8-content-55">
            <a:extLst xmlns:a="http://schemas.openxmlformats.org/drawingml/2006/main">
              <a:ext uri="{FF2B5EF4-FFF2-40B4-BE49-F238E27FC236}">
                <a16:creationId xmlns:a16="http://schemas.microsoft.com/office/drawing/2014/main" id="{3E2BDF54-9BA4-4541-AF57-A5DD77AE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48325"/>
            <a:ext cx="11001375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Компоненты ответа связаны: в тексте важен порядок слов,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сегментации — согласованность классов соседних пикселей.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Длина ответа может различаться у разных объектов.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Задачи без готовой разметки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 Типы задач машинного обучения</a:t>
            </a:r>
            <a:endParaRPr/>
          </a:p>
        </p:txBody>
      </p:sp>
      <p:sp>
        <p:nvSpPr>
          <p:cNvPr id="7" name="v8-content-56">
            <a:extLst xmlns:a="http://schemas.openxmlformats.org/drawingml/2006/main">
              <a:ext uri="{FF2B5EF4-FFF2-40B4-BE49-F238E27FC236}">
                <a16:creationId xmlns:a16="http://schemas.microsoft.com/office/drawing/2014/main" id="{567FCA9E-5D69-4426-9C98-98F7EB27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11029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X</m:t>
                </m:r>
                <m:r>
                  <m:t>=</m:t>
                </m:r>
                <m:r>
                  <m:t>{</m:t>
                </m:r>
                <m:sSub>
                  <m:e>
                    <m:r>
                      <m:t>x</m:t>
                    </m:r>
                  </m:e>
                  <m:sub>
                    <m:r>
                      <m:t>i</m:t>
                    </m:r>
                  </m:sub>
                </m:sSub>
                <m:sSubSup>
                  <m:e>
                    <m:r>
                      <m:t>}</m:t>
                    </m:r>
                  </m:e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</m:sSubSup>
              </m:oMath>
            </a14:m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076575"/>
          <a:ext xmlns:a="http://schemas.openxmlformats.org/drawingml/2006/main" cx="11029950" cy="2762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962275"/>
                <a:gridCol w="4095750"/>
                <a:gridCol w="3971925"/>
              </a:tblGrid>
              <a:tr h="5524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Задача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Результат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Пример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524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Кластеризация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Группы по выбранному сходству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Сегменты клиентов по поведению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524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Снижение размерности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Компактное представление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Сжатие и визуализация описаний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Оценивание распределения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Модель распределения данных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Генерация новых наблюдений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524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Поиск аномалий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Степень нетипичности объекта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Необычные операции или сигналы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57">
            <a:extLst xmlns:a="http://schemas.openxmlformats.org/drawingml/2006/main">
              <a:ext uri="{FF2B5EF4-FFF2-40B4-BE49-F238E27FC236}">
                <a16:creationId xmlns:a16="http://schemas.microsoft.com/office/drawing/2014/main" id="{FF6B6B37-AD05-4F92-9B51-8300B107F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Наличие разметки и критерий качества зависят от постановки. Поиск аномалий бывает и с учителем.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Модель, предсказание и функция потерь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Модель, предсказание и функция потерь</a:t>
            </a:r>
            <a:endParaRPr/>
          </a:p>
        </p:txBody>
      </p:sp>
      <p:sp>
        <p:nvSpPr>
          <p:cNvPr id="7" name="v8-content-58">
            <a:extLst xmlns:a="http://schemas.openxmlformats.org/drawingml/2006/main">
              <a:ext uri="{FF2B5EF4-FFF2-40B4-BE49-F238E27FC236}">
                <a16:creationId xmlns:a16="http://schemas.microsoft.com/office/drawing/2014/main" id="{410A02B1-5D4A-469B-9B41-643EA6B0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485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5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04</a:t>
            </a:r>
          </a:p>
        </p:txBody>
      </p:sp>
      <p:sp>
        <p:nvSpPr>
          <p:cNvPr id="8" name="v8-content-59">
            <a:extLst xmlns:a="http://schemas.openxmlformats.org/drawingml/2006/main">
              <a:ext uri="{FF2B5EF4-FFF2-40B4-BE49-F238E27FC236}">
                <a16:creationId xmlns:a16="http://schemas.microsoft.com/office/drawing/2014/main" id="{E77DBF4B-FED5-4ACE-8999-E8E21243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67000"/>
            <a:ext cx="9058275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Семейство моделей и алгоритм обучения.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Ограничения на допустимые зависимости.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Потеря на одном объекте.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Модель и семейство моделей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Модель, предсказание и функция потерь</a:t>
            </a:r>
            <a:endParaRPr/>
          </a:p>
        </p:txBody>
      </p:sp>
      <p:sp>
        <p:nvSpPr>
          <p:cNvPr id="7" name="v8-content-60">
            <a:extLst xmlns:a="http://schemas.openxmlformats.org/drawingml/2006/main">
              <a:ext uri="{FF2B5EF4-FFF2-40B4-BE49-F238E27FC236}">
                <a16:creationId xmlns:a16="http://schemas.microsoft.com/office/drawing/2014/main" id="{FFE5E2B8-1F76-415E-A87D-5F0B53FF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52675"/>
            <a:ext cx="110299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a</m:t>
                </m:r>
                <m:r>
                  <m:t>:</m:t>
                </m:r>
                <m:r>
                  <m:rPr>
                    <m:nor/>
                    <m:sty m:val="p"/>
                  </m:rPr>
                  <m:t>𝕏</m:t>
                </m:r>
                <m:r>
                  <m:t>→</m:t>
                </m:r>
                <m:r>
                  <m:rPr>
                    <m:nor/>
                    <m:sty m:val="p"/>
                  </m:rPr>
                  <m:t>𝕐</m:t>
                </m:r>
                <m:r>
                  <m:t>,</m:t>
                </m:r>
                <m:r>
                  <m:t xml:space="preserve"> </m:t>
                </m:r>
                <m:r>
                  <m:t>a</m:t>
                </m:r>
                <m:r>
                  <m:t>∈</m:t>
                </m:r>
                <m:r>
                  <m:rPr>
                    <m:nor/>
                    <m:sty m:val="p"/>
                  </m:rPr>
                  <m:t>𝒜</m:t>
                </m:r>
              </m:oMath>
            </a14:m>
          </a:p>
        </p:txBody>
      </p:sp>
      <p:sp>
        <p:nvSpPr>
          <p:cNvPr id="8" name="v8-content-61">
            <a:extLst xmlns:a="http://schemas.openxmlformats.org/drawingml/2006/main">
              <a:ext uri="{FF2B5EF4-FFF2-40B4-BE49-F238E27FC236}">
                <a16:creationId xmlns:a16="http://schemas.microsoft.com/office/drawing/2014/main" id="{B5AF3C44-5F24-417D-9016-200017E5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110013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Модель a сопоставляет объекту x прогноз a(x).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Семейство 𝒜 — множество моделей, среди которых выбираем решение.</a:t>
            </a:r>
          </a:p>
        </p:txBody>
      </p:sp>
      <p:sp>
        <p:nvSpPr>
          <p:cNvPr id="9" name="v8-content-62">
            <a:extLst xmlns:a="http://schemas.openxmlformats.org/drawingml/2006/main">
              <a:ext uri="{FF2B5EF4-FFF2-40B4-BE49-F238E27FC236}">
                <a16:creationId xmlns:a16="http://schemas.microsoft.com/office/drawing/2014/main" id="{58937929-EA8B-4635-9079-D2853861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110013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Семейство задаёт допустимую форму зависимости.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Алгоритм обучения по выборке выбирает конкретную модель из 𝒜.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Линейное семейство: пример модели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Модель, предсказание и функция потерь</a:t>
            </a:r>
            <a:endParaRPr/>
          </a:p>
        </p:txBody>
      </p:sp>
      <p:sp>
        <p:nvSpPr>
          <p:cNvPr id="7" name="v8-content-63">
            <a:extLst xmlns:a="http://schemas.openxmlformats.org/drawingml/2006/main">
              <a:ext uri="{FF2B5EF4-FFF2-40B4-BE49-F238E27FC236}">
                <a16:creationId xmlns:a16="http://schemas.microsoft.com/office/drawing/2014/main" id="{52B958F0-567B-4A7A-A055-CC43ABF5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1100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Пусть объект представлен вектором из d числовых признаков.</a:t>
            </a:r>
          </a:p>
        </p:txBody>
      </p:sp>
      <p:sp>
        <p:nvSpPr>
          <p:cNvPr id="8" name="v8-content-64">
            <a:extLst xmlns:a="http://schemas.openxmlformats.org/drawingml/2006/main">
              <a:ext uri="{FF2B5EF4-FFF2-40B4-BE49-F238E27FC236}">
                <a16:creationId xmlns:a16="http://schemas.microsoft.com/office/drawing/2014/main" id="{F2A6152C-13AB-4B82-816B-5ACABFEF3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33725"/>
            <a:ext cx="11029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a</m:t>
                    </m:r>
                  </m:e>
                  <m:sub>
                    <m:r>
                      <m:t>w</m:t>
                    </m:r>
                  </m:sub>
                </m:sSub>
                <m:r>
                  <m:t>(</m:t>
                </m:r>
                <m:r>
                  <m:t>x</m:t>
                </m:r>
                <m:r>
                  <m:t>)</m:t>
                </m:r>
                <m:r>
                  <m:t>=</m:t>
                </m:r>
                <m:sSub>
                  <m:e>
                    <m:r>
                      <m:t>w</m:t>
                    </m:r>
                  </m:e>
                  <m:sub>
                    <m:r>
                      <m:t>0</m:t>
                    </m:r>
                  </m:sub>
                </m:sSub>
                <m:r>
                  <m:t>+</m:t>
                </m:r>
                <m:sSub>
                  <m:e>
                    <m:r>
                      <m:t>w</m:t>
                    </m:r>
                  </m:e>
                  <m:sub>
                    <m:r>
                      <m:t>1</m:t>
                    </m:r>
                  </m:sub>
                </m:sSub>
                <m:sSub>
                  <m:e>
                    <m:r>
                      <m:t>x</m:t>
                    </m:r>
                  </m:e>
                  <m:sub>
                    <m:r>
                      <m:t>1</m:t>
                    </m:r>
                  </m:sub>
                </m:sSub>
                <m:r>
                  <m:t>+</m:t>
                </m:r>
                <m:r>
                  <m:t>…</m:t>
                </m:r>
                <m:r>
                  <m:t>+</m:t>
                </m:r>
                <m:sSub>
                  <m:e>
                    <m:r>
                      <m:t>w</m:t>
                    </m:r>
                  </m:e>
                  <m:sub>
                    <m:r>
                      <m:t>d</m:t>
                    </m:r>
                  </m:sub>
                </m:sSub>
                <m:sSub>
                  <m:e>
                    <m:r>
                      <m:t>x</m:t>
                    </m:r>
                  </m:e>
                  <m:sub>
                    <m:r>
                      <m:t>d</m:t>
                    </m:r>
                  </m:sub>
                </m:sSub>
              </m:oMath>
            </a14:m>
          </a:p>
        </p:txBody>
      </p:sp>
      <p:sp>
        <p:nvSpPr>
          <p:cNvPr id="9" name="v8-content-65">
            <a:extLst xmlns:a="http://schemas.openxmlformats.org/drawingml/2006/main">
              <a:ext uri="{FF2B5EF4-FFF2-40B4-BE49-F238E27FC236}">
                <a16:creationId xmlns:a16="http://schemas.microsoft.com/office/drawing/2014/main" id="{371A324E-DF1E-4671-B9CE-10717C51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29125"/>
            <a:ext cx="11001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Коэффициенты при признаках — веса модели, w₀ — свободный член.</a:t>
            </a:r>
          </a:p>
        </p:txBody>
      </p:sp>
      <p:sp>
        <p:nvSpPr>
          <p:cNvPr id="10" name="v8-content-66">
            <a:extLst xmlns:a="http://schemas.openxmlformats.org/drawingml/2006/main">
              <a:ext uri="{FF2B5EF4-FFF2-40B4-BE49-F238E27FC236}">
                <a16:creationId xmlns:a16="http://schemas.microsoft.com/office/drawing/2014/main" id="{E16AFE2E-7B5D-4552-A6CC-774AADC0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29225"/>
            <a:ext cx="11001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Семейство 𝒜 содержит такие модели при всех вещественных значениях весов.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Обучение выбирает веса по наблюдаемым данным.</a:t>
            </a:r>
          </a:p>
        </p:txBody>
      </p:sp>
      <p:sp>
        <p:nvSpPr>
          <p:cNvPr id="11" name="v8-content-67">
            <a:extLst xmlns:a="http://schemas.openxmlformats.org/drawingml/2006/main">
              <a:ext uri="{FF2B5EF4-FFF2-40B4-BE49-F238E27FC236}">
                <a16:creationId xmlns:a16="http://schemas.microsoft.com/office/drawing/2014/main" id="{37ABD826-DEA4-494F-AE64-A5B73810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246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Здесь линейная модель иллюстрирует семейство. Её обучение разберём в следующих лекциях.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Функция потерь на одном объекте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 Модель, предсказание и функция потерь</a:t>
            </a:r>
            <a:endParaRPr/>
          </a:p>
        </p:txBody>
      </p:sp>
      <p:sp>
        <p:nvSpPr>
          <p:cNvPr id="7" name="v8-content-68">
            <a:extLst xmlns:a="http://schemas.openxmlformats.org/drawingml/2006/main">
              <a:ext uri="{FF2B5EF4-FFF2-40B4-BE49-F238E27FC236}">
                <a16:creationId xmlns:a16="http://schemas.microsoft.com/office/drawing/2014/main" id="{34224782-9E74-4847-B583-B00B32AD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10991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Потеря L(y, z) задаёт цену прогноза z при истинном ответе y.</a:t>
            </a:r>
          </a:p>
        </p:txBody>
      </p:sp>
      <p:sp>
        <p:nvSpPr>
          <p:cNvPr id="8" name="v8-content-69">
            <a:extLst xmlns:a="http://schemas.openxmlformats.org/drawingml/2006/main">
              <a:ext uri="{FF2B5EF4-FFF2-40B4-BE49-F238E27FC236}">
                <a16:creationId xmlns:a16="http://schemas.microsoft.com/office/drawing/2014/main" id="{10D25041-EFE4-42DE-8F4D-DF5D2339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110299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L</m:t>
                </m:r>
                <m:r>
                  <m:t>:</m:t>
                </m:r>
                <m:r>
                  <m:rPr>
                    <m:nor/>
                    <m:sty m:val="p"/>
                  </m:rPr>
                  <m:t>𝕐</m:t>
                </m:r>
                <m:r>
                  <m:t>×</m:t>
                </m:r>
                <m:r>
                  <m:rPr>
                    <m:nor/>
                    <m:sty m:val="p"/>
                  </m:rPr>
                  <m:t>𝕐</m:t>
                </m:r>
                <m:r>
                  <m:t>→</m:t>
                </m:r>
                <m:sSub>
                  <m:e>
                    <m:r>
                      <m:t>ℝ</m:t>
                    </m:r>
                  </m:e>
                  <m:sub>
                    <m:r>
                      <m:t>≥</m:t>
                    </m:r>
                    <m:r>
                      <m:t>0</m:t>
                    </m:r>
                  </m:sub>
                </m:sSub>
                <m:r>
                  <m:t>,</m:t>
                </m:r>
                <m:r>
                  <m:t xml:space="preserve"> </m:t>
                </m:r>
                <m:r>
                  <m:t>z</m:t>
                </m:r>
                <m:r>
                  <m:t>=</m:t>
                </m:r>
                <m:r>
                  <m:t>a</m:t>
                </m:r>
                <m:r>
                  <m:t>(</m:t>
                </m:r>
                <m:r>
                  <m:t>x</m:t>
                </m:r>
                <m:r>
                  <m:t>)</m:t>
                </m:r>
              </m:oMath>
            </a14:m>
          </a:p>
        </p:txBody>
      </p:sp>
      <p:sp>
        <p:nvSpPr>
          <p:cNvPr id="9" name="v8-content-70">
            <a:extLst xmlns:a="http://schemas.openxmlformats.org/drawingml/2006/main">
              <a:ext uri="{FF2B5EF4-FFF2-40B4-BE49-F238E27FC236}">
                <a16:creationId xmlns:a16="http://schemas.microsoft.com/office/drawing/2014/main" id="{DDA4E56B-5231-4A48-8C77-808E78FB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Регрессия: y, z ∈ ℝ</a:t>
            </a:r>
          </a:p>
        </p:txBody>
      </p:sp>
      <p:sp>
        <p:nvSpPr>
          <p:cNvPr id="10" name="v8-content-71">
            <a:extLst xmlns:a="http://schemas.openxmlformats.org/drawingml/2006/main">
              <a:ext uri="{FF2B5EF4-FFF2-40B4-BE49-F238E27FC236}">
                <a16:creationId xmlns:a16="http://schemas.microsoft.com/office/drawing/2014/main" id="{EED717B7-ECED-46FC-BC74-C1E4CAE7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52578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L</m:t>
                    </m:r>
                  </m:e>
                  <m:sub>
                    <m:r>
                      <m:t>2</m:t>
                    </m:r>
                  </m:sub>
                </m:sSub>
                <m:r>
                  <m:t>(</m:t>
                </m:r>
                <m:r>
                  <m:t>y</m:t>
                </m:r>
                <m:r>
                  <m:t>,</m:t>
                </m:r>
                <m:r>
                  <m:t>z</m:t>
                </m:r>
                <m:r>
                  <m:t>)</m:t>
                </m:r>
                <m:r>
                  <m:t>=</m:t>
                </m:r>
                <m:r>
                  <m:t>(</m:t>
                </m:r>
                <m:r>
                  <m:t>y</m:t>
                </m:r>
                <m:r>
                  <m:t>-</m:t>
                </m:r>
                <m:r>
                  <m:t>z</m:t>
                </m:r>
                <m:sSup>
                  <m:e>
                    <m:r>
                      <m:t>)</m:t>
                    </m:r>
                  </m:e>
                  <m:sup>
                    <m:r>
                      <m:t>2</m:t>
                    </m:r>
                  </m:sup>
                </m:sSup>
              </m:oMath>
            </a14:m>
          </a:p>
        </p:txBody>
      </p:sp>
      <p:sp>
        <p:nvSpPr>
          <p:cNvPr id="11" name="v8-content-72">
            <a:extLst xmlns:a="http://schemas.openxmlformats.org/drawingml/2006/main">
              <a:ext uri="{FF2B5EF4-FFF2-40B4-BE49-F238E27FC236}">
                <a16:creationId xmlns:a16="http://schemas.microsoft.com/office/drawing/2014/main" id="{2CB54704-2803-4718-9FA4-7E6FBFC2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048125"/>
            <a:ext cx="5238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Классификация: y, z ∈ {1, …, K}</a:t>
            </a:r>
          </a:p>
        </p:txBody>
      </p:sp>
      <p:sp>
        <p:nvSpPr>
          <p:cNvPr id="12" name="v8-content-73">
            <a:extLst xmlns:a="http://schemas.openxmlformats.org/drawingml/2006/main">
              <a:ext uri="{FF2B5EF4-FFF2-40B4-BE49-F238E27FC236}">
                <a16:creationId xmlns:a16="http://schemas.microsoft.com/office/drawing/2014/main" id="{A1EB89FB-D24B-4935-900B-B121720A4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4695825"/>
            <a:ext cx="5238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L</m:t>
                    </m:r>
                  </m:e>
                  <m:sub>
                    <m:r>
                      <m:t>0</m:t>
                    </m:r>
                    <m:r>
                      <m:t>/</m:t>
                    </m:r>
                    <m:r>
                      <m:t>1</m:t>
                    </m:r>
                  </m:sub>
                </m:sSub>
                <m:r>
                  <m:t>(</m:t>
                </m:r>
                <m:r>
                  <m:t>y</m:t>
                </m:r>
                <m:r>
                  <m:t>,</m:t>
                </m:r>
                <m:r>
                  <m:t>z</m:t>
                </m:r>
                <m:r>
                  <m:t>)</m:t>
                </m:r>
                <m:r>
                  <m:t>=</m:t>
                </m:r>
                <m:r>
                  <m:t>1</m:t>
                </m:r>
                <m:r>
                  <m:t>{</m:t>
                </m:r>
                <m:r>
                  <m:t>y</m:t>
                </m:r>
                <m:r>
                  <m:t>≠</m:t>
                </m:r>
                <m:r>
                  <m:t>z</m:t>
                </m:r>
                <m:r>
                  <m:t>}</m:t>
                </m:r>
              </m:oMath>
            </a14:m>
          </a:p>
        </p:txBody>
      </p:sp>
      <p:sp>
        <p:nvSpPr>
          <p:cNvPr id="13" name="v8-content-74">
            <a:extLst xmlns:a="http://schemas.openxmlformats.org/drawingml/2006/main">
              <a:ext uri="{FF2B5EF4-FFF2-40B4-BE49-F238E27FC236}">
                <a16:creationId xmlns:a16="http://schemas.microsoft.com/office/drawing/2014/main" id="{59BD5E2D-F17E-4144-8CB6-1C6B954F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05525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Индикатор 1{y ≠ z} равен 1 при ошибке классификации и 0 при правильном ответе.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Обучение и оценка качества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75">
            <a:extLst xmlns:a="http://schemas.openxmlformats.org/drawingml/2006/main">
              <a:ext uri="{FF2B5EF4-FFF2-40B4-BE49-F238E27FC236}">
                <a16:creationId xmlns:a16="http://schemas.microsoft.com/office/drawing/2014/main" id="{42DFA5DB-C583-4EAF-AA2A-22E59997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90800"/>
            <a:ext cx="14859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5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5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05</a:t>
            </a:r>
          </a:p>
        </p:txBody>
      </p:sp>
      <p:sp>
        <p:nvSpPr>
          <p:cNvPr id="8" name="v8-content-76">
            <a:extLst xmlns:a="http://schemas.openxmlformats.org/drawingml/2006/main">
              <a:ext uri="{FF2B5EF4-FFF2-40B4-BE49-F238E27FC236}">
                <a16:creationId xmlns:a16="http://schemas.microsoft.com/office/drawing/2014/main" id="{5AB91A0E-F787-44A1-A5ED-472916F4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67000"/>
            <a:ext cx="9058275" cy="2152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5.1. Эмпирический риск и оптимизация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5.2. Метрики и выбор функции потерь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5.3. Обобщение и протокол оценки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Потеря, критерий обучения и метрика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0550" y="2371725"/>
          <a:ext xmlns:a="http://schemas.openxmlformats.org/drawingml/2006/main" cx="1102995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00400"/>
                <a:gridCol w="3733800"/>
                <a:gridCol w="4095750"/>
              </a:tblGrid>
              <a:tr h="6429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Понятие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Что измеряет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Как используется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6429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Потеря (Loss)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Цену одной ошибки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Сравниваем прогноз с известным ответом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6429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Критерий обучения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Ошибки модели на обучающей выборке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Минимизируем при выборе модели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Метрика (Metric)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Нужное нам свойство качества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Оцениваем результат на новых данных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8" name="v8-content-77">
            <a:extLst xmlns:a="http://schemas.openxmlformats.org/drawingml/2006/main">
              <a:ext uri="{FF2B5EF4-FFF2-40B4-BE49-F238E27FC236}">
                <a16:creationId xmlns:a16="http://schemas.microsoft.com/office/drawing/2014/main" id="{164E9B5A-6999-4D0E-83CB-BCF75008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95900"/>
            <a:ext cx="1100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Например, средний квадрат ошибки можно и минимизировать при обучении,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 вычислять при проверке. Роль зависит от того, зачем и на каких данных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мы его считаем.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Эмпирический риск и задача обучения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78">
            <a:extLst xmlns:a="http://schemas.openxmlformats.org/drawingml/2006/main">
              <a:ext uri="{FF2B5EF4-FFF2-40B4-BE49-F238E27FC236}">
                <a16:creationId xmlns:a16="http://schemas.microsoft.com/office/drawing/2014/main" id="{3E2B11FD-677C-4AA3-BFD1-AFDBC338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110013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Эмпирический риск — средняя потеря на обучающей выборке:</a:t>
            </a:r>
          </a:p>
        </p:txBody>
      </p:sp>
      <p:sp>
        <p:nvSpPr>
          <p:cNvPr id="8" name="v8-content-79">
            <a:extLst xmlns:a="http://schemas.openxmlformats.org/drawingml/2006/main">
              <a:ext uri="{FF2B5EF4-FFF2-40B4-BE49-F238E27FC236}">
                <a16:creationId xmlns:a16="http://schemas.microsoft.com/office/drawing/2014/main" id="{BFB369EA-820A-4A20-936A-8B95ADDAC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0375"/>
            <a:ext cx="110299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Q</m:t>
                </m:r>
                <m:r>
                  <m:t>(</m:t>
                </m:r>
                <m:r>
                  <m:t>a</m:t>
                </m:r>
                <m:r>
                  <m:t>,</m:t>
                </m:r>
                <m:r>
                  <m:t>X</m:t>
                </m:r>
                <m:r>
                  <m:t>)</m:t>
                </m:r>
                <m:r>
                  <m:t>=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ℓ</m:t>
                    </m:r>
                  </m:den>
                </m:f>
                <m:nary>
                  <m:naryPr>
                    <m:chr m:val="∑"/>
                    <m:limLoc m:val="subSup"/>
                    <m:subHide m:val="off"/>
                    <m:supHide m:val="off"/>
                  </m:naryPr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  <m:e>
                    <m:r>
                      <m:t>L</m:t>
                    </m:r>
                    <m:r>
                      <m:t>(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,</m:t>
                    </m:r>
                    <m:r>
                      <m:t>a</m:t>
                    </m:r>
                    <m:r>
                      <m:t>(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)</m:t>
                    </m:r>
                    <m:r>
                      <m:t>)</m:t>
                    </m:r>
                  </m:e>
                </m:nary>
              </m:oMath>
            </a14:m>
          </a:p>
        </p:txBody>
      </p:sp>
      <p:sp>
        <p:nvSpPr>
          <p:cNvPr id="9" name="v8-content-80">
            <a:extLst xmlns:a="http://schemas.openxmlformats.org/drawingml/2006/main">
              <a:ext uri="{FF2B5EF4-FFF2-40B4-BE49-F238E27FC236}">
                <a16:creationId xmlns:a16="http://schemas.microsoft.com/office/drawing/2014/main" id="{3E49057D-6E88-4680-A8CA-AA0BB296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91025"/>
            <a:ext cx="11001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Ищем модель из семейства 𝒜 с наименьшим значением этого критерия:</a:t>
            </a:r>
          </a:p>
        </p:txBody>
      </p:sp>
      <p:sp>
        <p:nvSpPr>
          <p:cNvPr id="10" name="v8-content-81">
            <a:extLst xmlns:a="http://schemas.openxmlformats.org/drawingml/2006/main">
              <a:ext uri="{FF2B5EF4-FFF2-40B4-BE49-F238E27FC236}">
                <a16:creationId xmlns:a16="http://schemas.microsoft.com/office/drawing/2014/main" id="{BBE6161A-6570-49E0-B6DB-62CC021E0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1029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p>
                  <m:e>
                    <m:r>
                      <m:t>a</m:t>
                    </m:r>
                  </m:e>
                  <m:sup>
                    <m:r>
                      <m:t>*</m:t>
                    </m:r>
                  </m:sup>
                </m:sSup>
                <m:r>
                  <m:t>∈</m:t>
                </m:r>
                <m:sSub>
                  <m:e>
                    <m:r>
                      <m:rPr>
                        <m:nor/>
                        <m:sty m:val="p"/>
                      </m:rPr>
                      <m:t>argmin</m:t>
                    </m:r>
                  </m:e>
                  <m:sub>
                    <m:r>
                      <m:t>a</m:t>
                    </m:r>
                    <m:r>
                      <m:t>∈</m:t>
                    </m:r>
                    <m:r>
                      <m:rPr>
                        <m:nor/>
                        <m:sty m:val="p"/>
                      </m:rPr>
                      <m:t>𝒜</m:t>
                    </m:r>
                  </m:sub>
                </m:sSub>
                <m:r>
                  <m:t>Q</m:t>
                </m:r>
                <m:r>
                  <m:t>(</m:t>
                </m:r>
                <m:r>
                  <m:t>a</m:t>
                </m:r>
                <m:r>
                  <m:t>,</m:t>
                </m:r>
                <m:r>
                  <m:t>X</m:t>
                </m:r>
                <m:r>
                  <m:t>)</m:t>
                </m:r>
              </m:oMath>
            </a14:m>
          </a:p>
        </p:txBody>
      </p:sp>
      <p:sp>
        <p:nvSpPr>
          <p:cNvPr id="11" name="v8-content-82">
            <a:extLst xmlns:a="http://schemas.openxmlformats.org/drawingml/2006/main">
              <a:ext uri="{FF2B5EF4-FFF2-40B4-BE49-F238E27FC236}">
                <a16:creationId xmlns:a16="http://schemas.microsoft.com/office/drawing/2014/main" id="{8A514693-02FE-4AC2-9A8E-CE0DC759A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argmin возвращает решение задачи минимизации. Способ поиска зависит от модели и потерь.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Абсолютные ошибки: MAE, MSE, RMSE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83">
            <a:extLst xmlns:a="http://schemas.openxmlformats.org/drawingml/2006/main">
              <a:ext uri="{FF2B5EF4-FFF2-40B4-BE49-F238E27FC236}">
                <a16:creationId xmlns:a16="http://schemas.microsoft.com/office/drawing/2014/main" id="{9DC01D11-4C08-4752-BCB2-BD42CA2A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1029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r</m:t>
                    </m:r>
                  </m:e>
                  <m:sub>
                    <m:r>
                      <m:t>i</m:t>
                    </m:r>
                  </m:sub>
                </m:sSub>
                <m:r>
                  <m:t>=</m:t>
                </m:r>
                <m:r>
                  <m:t>a</m:t>
                </m:r>
                <m:r>
                  <m:t>(</m:t>
                </m:r>
                <m:sSub>
                  <m:e>
                    <m:r>
                      <m:t>x</m:t>
                    </m:r>
                  </m:e>
                  <m:sub>
                    <m:r>
                      <m:t>i</m:t>
                    </m:r>
                  </m:sub>
                </m:sSub>
                <m:r>
                  <m:t>)</m:t>
                </m:r>
                <m:r>
                  <m:t>-</m:t>
                </m:r>
                <m:sSub>
                  <m:e>
                    <m:r>
                      <m:t>y</m:t>
                    </m:r>
                  </m:e>
                  <m:sub>
                    <m:r>
                      <m:t>i</m:t>
                    </m:r>
                  </m:sub>
                </m:sSub>
              </m:oMath>
            </a14:m>
          </a:p>
        </p:txBody>
      </p:sp>
      <p:sp>
        <p:nvSpPr>
          <p:cNvPr id="8" name="v8-content-84">
            <a:extLst xmlns:a="http://schemas.openxmlformats.org/drawingml/2006/main">
              <a:ext uri="{FF2B5EF4-FFF2-40B4-BE49-F238E27FC236}">
                <a16:creationId xmlns:a16="http://schemas.microsoft.com/office/drawing/2014/main" id="{D7239176-FF79-412A-B809-123DB290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24200"/>
            <a:ext cx="50577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rPr>
                    <m:nor/>
                    <m:sty m:val="p"/>
                  </m:rPr>
                  <m:t>MAE</m:t>
                </m:r>
                <m:r>
                  <m:t>=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ℓ</m:t>
                    </m:r>
                  </m:den>
                </m:f>
                <m:nary>
                  <m:naryPr>
                    <m:chr m:val="∑"/>
                    <m:limLoc m:val="subSup"/>
                    <m:subHide m:val="off"/>
                    <m:supHide m:val="off"/>
                  </m:naryPr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  <m:e>
                    <m:r>
                      <m:t>|</m:t>
                    </m:r>
                    <m:sSub>
                      <m:e>
                        <m:r>
                          <m:t>r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|</m:t>
                    </m:r>
                  </m:e>
                </m:nary>
              </m:oMath>
            </a14:m>
          </a:p>
        </p:txBody>
      </p:sp>
      <p:sp>
        <p:nvSpPr>
          <p:cNvPr id="9" name="v8-content-85">
            <a:extLst xmlns:a="http://schemas.openxmlformats.org/drawingml/2006/main">
              <a:ext uri="{FF2B5EF4-FFF2-40B4-BE49-F238E27FC236}">
                <a16:creationId xmlns:a16="http://schemas.microsoft.com/office/drawing/2014/main" id="{0CC81F6C-A6F4-4F92-8223-2C8A85F3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09925"/>
            <a:ext cx="53054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Средний модуль отклонения.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Размерность ответа.</a:t>
            </a:r>
          </a:p>
        </p:txBody>
      </p:sp>
      <p:sp>
        <p:nvSpPr>
          <p:cNvPr id="10" name="v8-content-86">
            <a:extLst xmlns:a="http://schemas.openxmlformats.org/drawingml/2006/main">
              <a:ext uri="{FF2B5EF4-FFF2-40B4-BE49-F238E27FC236}">
                <a16:creationId xmlns:a16="http://schemas.microsoft.com/office/drawing/2014/main" id="{36063740-8990-4333-81DB-8BBB34363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50577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rPr>
                    <m:nor/>
                    <m:sty m:val="p"/>
                  </m:rPr>
                  <m:t>MSE</m:t>
                </m:r>
                <m:r>
                  <m:t>=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ℓ</m:t>
                    </m:r>
                  </m:den>
                </m:f>
                <m:nary>
                  <m:naryPr>
                    <m:chr m:val="∑"/>
                    <m:limLoc m:val="subSup"/>
                    <m:subHide m:val="off"/>
                    <m:supHide m:val="off"/>
                  </m:naryPr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  <m:e>
                    <m:sSubSup>
                      <m:e>
                        <m:r>
                          <m:t>r</m:t>
                        </m:r>
                      </m:e>
                      <m:sub>
                        <m:r>
                          <m:t>i</m:t>
                        </m:r>
                      </m:sub>
                      <m:sup>
                        <m:r>
                          <m:t>2</m:t>
                        </m:r>
                      </m:sup>
                    </m:sSubSup>
                  </m:e>
                </m:nary>
              </m:oMath>
            </a14:m>
          </a:p>
        </p:txBody>
      </p:sp>
      <p:sp>
        <p:nvSpPr>
          <p:cNvPr id="11" name="v8-content-87">
            <a:extLst xmlns:a="http://schemas.openxmlformats.org/drawingml/2006/main">
              <a:ext uri="{FF2B5EF4-FFF2-40B4-BE49-F238E27FC236}">
                <a16:creationId xmlns:a16="http://schemas.microsoft.com/office/drawing/2014/main" id="{FC42DB9D-1CC6-4EB6-A5DD-67157813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314825"/>
            <a:ext cx="53054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Квадратичный штраф за остаток.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Квадрат размерности ответа.</a:t>
            </a:r>
          </a:p>
        </p:txBody>
      </p:sp>
      <p:sp>
        <p:nvSpPr>
          <p:cNvPr id="12" name="v8-content-88">
            <a:extLst xmlns:a="http://schemas.openxmlformats.org/drawingml/2006/main">
              <a:ext uri="{FF2B5EF4-FFF2-40B4-BE49-F238E27FC236}">
                <a16:creationId xmlns:a16="http://schemas.microsoft.com/office/drawing/2014/main" id="{8DD337AC-374F-4D74-ADBB-9BD6808D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62575"/>
            <a:ext cx="50577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rPr>
                    <m:nor/>
                    <m:sty m:val="p"/>
                  </m:rPr>
                  <m:t>RMSE</m:t>
                </m:r>
                <m:r>
                  <m:t>=</m:t>
                </m:r>
                <m:rad>
                  <m:radPr>
                    <m:degHide m:val="on"/>
                  </m:radPr>
                  <m:deg/>
                  <m:e>
                    <m:r>
                      <m:rPr>
                        <m:nor/>
                        <m:sty m:val="p"/>
                      </m:rPr>
                      <m:t>MSE</m:t>
                    </m:r>
                  </m:e>
                </m:rad>
              </m:oMath>
            </a14:m>
          </a:p>
        </p:txBody>
      </p:sp>
      <p:sp>
        <p:nvSpPr>
          <p:cNvPr id="13" name="v8-content-89">
            <a:extLst xmlns:a="http://schemas.openxmlformats.org/drawingml/2006/main">
              <a:ext uri="{FF2B5EF4-FFF2-40B4-BE49-F238E27FC236}">
                <a16:creationId xmlns:a16="http://schemas.microsoft.com/office/drawing/2014/main" id="{F8E55719-9F3F-4C65-AD6A-6A0D230A1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429250"/>
            <a:ext cx="53149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Размерность ответа. Порядок моделей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совпадает с MSE на этой выборке.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Метрика меняет выбор модели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2352675"/>
          <a:ext xmlns:a="http://schemas.openxmlformats.org/drawingml/2006/main" cx="6086475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62050"/>
                <a:gridCol w="1619250"/>
                <a:gridCol w="1647825"/>
                <a:gridCol w="1657350"/>
              </a:tblGrid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Заказ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Факт, мин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Прогноз A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Прогноз B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34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44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50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54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75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64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mlns:a="http://schemas.openxmlformats.org/drawingml/2006/main" x="7153275" y="2352675"/>
          <a:ext xmlns:a="http://schemas.openxmlformats.org/drawingml/2006/main" cx="4391025" cy="2209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1076325"/>
                <a:gridCol w="1076325"/>
              </a:tblGrid>
              <a:tr h="5524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Метрика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524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MAE, мин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524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MSE, мин²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RMSE, мин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6,71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90">
            <a:extLst xmlns:a="http://schemas.openxmlformats.org/drawingml/2006/main">
              <a:ext uri="{FF2B5EF4-FFF2-40B4-BE49-F238E27FC236}">
                <a16:creationId xmlns:a16="http://schemas.microsoft.com/office/drawing/2014/main" id="{D2C325A9-310B-410C-A85A-7FAA584CC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14900"/>
            <a:ext cx="43434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MAE предпочитает A.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RMSE предпочитает B.</a:t>
            </a:r>
          </a:p>
        </p:txBody>
      </p:sp>
      <p:sp>
        <p:nvSpPr>
          <p:cNvPr id="10" name="v8-content-91">
            <a:extLst xmlns:a="http://schemas.openxmlformats.org/drawingml/2006/main">
              <a:ext uri="{FF2B5EF4-FFF2-40B4-BE49-F238E27FC236}">
                <a16:creationId xmlns:a16="http://schemas.microsoft.com/office/drawing/2014/main" id="{49141EA8-F216-4657-86B0-96AFD527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43625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A ошибается редко, но сильно. Выбор между A и B требует определить цену такого промаха.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R²: ошибка относительно вариации ответа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92">
            <a:extLst xmlns:a="http://schemas.openxmlformats.org/drawingml/2006/main">
              <a:ext uri="{FF2B5EF4-FFF2-40B4-BE49-F238E27FC236}">
                <a16:creationId xmlns:a16="http://schemas.microsoft.com/office/drawing/2014/main" id="{F0913EF0-356D-49AC-9170-F2B01CB0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110299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p>
                  <m:e>
                    <m:r>
                      <m:t>R</m:t>
                    </m:r>
                  </m:e>
                  <m:sup>
                    <m:r>
                      <m:t>2</m:t>
                    </m:r>
                  </m:sup>
                </m:sSup>
                <m:r>
                  <m:t>=</m:t>
                </m:r>
                <m:r>
                  <m:t>1</m:t>
                </m:r>
                <m:r>
                  <m:t>-</m:t>
                </m:r>
                <m:f>
                  <m:fPr>
                    <m:type m:val="bar"/>
                  </m:fPr>
                  <m:num>
                    <m:nary>
                      <m:naryPr>
                        <m:chr m:val="∑"/>
                        <m:limLoc m:val="subSup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ℓ</m:t>
                        </m:r>
                      </m:sup>
                      <m:e>
                        <m:r>
                          <m:t>(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t>-</m:t>
                        </m:r>
                        <m:r>
                          <m:t>a</m:t>
                        </m:r>
                        <m:r>
                          <m:t>(</m:t>
                        </m:r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t>)</m:t>
                        </m:r>
                        <m:sSup>
                          <m:e>
                            <m: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</m:num>
                  <m:den>
                    <m:nary>
                      <m:naryPr>
                        <m:chr m:val="∑"/>
                        <m:limLoc m:val="subSup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ℓ</m:t>
                        </m:r>
                      </m:sup>
                      <m:e>
                        <m:r>
                          <m:t>(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t>-</m:t>
                        </m:r>
                        <m:bar>
                          <m:barPr>
                            <m:pos m:val="top"/>
                          </m:barPr>
                          <m:e>
                            <m:r>
                              <m:t>y</m:t>
                            </m:r>
                          </m:e>
                        </m:bar>
                        <m:sSup>
                          <m:e>
                            <m: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nary>
                  </m:den>
                </m:f>
                <m:r>
                  <m:t>,</m:t>
                </m:r>
                <m:r>
                  <m:t xml:space="preserve"> </m:t>
                </m:r>
                <m:bar>
                  <m:barPr>
                    <m:pos m:val="top"/>
                  </m:barPr>
                  <m:e>
                    <m:r>
                      <m:t>y</m:t>
                    </m:r>
                  </m:e>
                </m:bar>
                <m:r>
                  <m:t>=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ℓ</m:t>
                    </m:r>
                  </m:den>
                </m:f>
                <m:nary>
                  <m:naryPr>
                    <m:chr m:val="∑"/>
                    <m:limLoc m:val="subSup"/>
                    <m:subHide m:val="off"/>
                    <m:supHide m:val="off"/>
                  </m:naryPr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  <m:e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</m:e>
                </m:nary>
              </m:oMath>
            </a14:m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962400"/>
          <a:ext xmlns:a="http://schemas.openxmlformats.org/drawingml/2006/main" cx="11029950" cy="1981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19325"/>
                <a:gridCol w="8810625"/>
              </a:tblGrid>
              <a:tr h="4953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Значение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Интерпретация на оцениваемой выборке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4953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R² = 1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Прогнозы совпадают с ответами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4953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R² = 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Ошибка совпадает с прогнозом среднего ȳ этой выборки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R² &lt; 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Ошибка больше, чем у прогноза среднего ȳ этой выборки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93">
            <a:extLst xmlns:a="http://schemas.openxmlformats.org/drawingml/2006/main">
              <a:ext uri="{FF2B5EF4-FFF2-40B4-BE49-F238E27FC236}">
                <a16:creationId xmlns:a16="http://schemas.microsoft.com/office/drawing/2014/main" id="{012933F0-E573-40EE-9192-9B13269F7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484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При постоянном y формула не определена. R² может быть отрицательным без нижней границы.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Относительная ошибка и масштаб объектов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94">
            <a:extLst xmlns:a="http://schemas.openxmlformats.org/drawingml/2006/main">
              <a:ext uri="{FF2B5EF4-FFF2-40B4-BE49-F238E27FC236}">
                <a16:creationId xmlns:a16="http://schemas.microsoft.com/office/drawing/2014/main" id="{D79AC4FD-41D7-42F0-A3FE-FFA63786C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540067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rPr>
                    <m:nor/>
                    <m:sty m:val="p"/>
                  </m:rPr>
                  <m:t>MAPE</m:t>
                </m:r>
                <m:r>
                  <m:t>=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ℓ</m:t>
                    </m:r>
                  </m:den>
                </m:f>
                <m:nary>
                  <m:naryPr>
                    <m:chr m:val="∑"/>
                    <m:limLoc m:val="subSup"/>
                    <m:subHide m:val="off"/>
                    <m:supHide m:val="off"/>
                  </m:naryPr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  <m:e>
                    <m:f>
                      <m:fPr>
                        <m:type m:val="bar"/>
                      </m:fPr>
                      <m:num>
                        <m:r>
                          <m:t>|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t>-</m:t>
                        </m:r>
                        <m:r>
                          <m:t>a</m:t>
                        </m:r>
                        <m:r>
                          <m:t>(</m:t>
                        </m:r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t>)</m:t>
                        </m:r>
                        <m:r>
                          <m:t>|</m:t>
                        </m:r>
                      </m:num>
                      <m:den>
                        <m:r>
                          <m:t>|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t>|</m:t>
                        </m:r>
                      </m:den>
                    </m:f>
                  </m:e>
                </m:nary>
              </m:oMath>
            </a14:m>
          </a:p>
        </p:txBody>
      </p:sp>
      <p:sp>
        <p:nvSpPr>
          <p:cNvPr id="8" name="v8-content-95">
            <a:extLst xmlns:a="http://schemas.openxmlformats.org/drawingml/2006/main">
              <a:ext uri="{FF2B5EF4-FFF2-40B4-BE49-F238E27FC236}">
                <a16:creationId xmlns:a16="http://schemas.microsoft.com/office/drawing/2014/main" id="{4F8D6B99-628F-450A-8BA3-45B911B5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43150"/>
            <a:ext cx="53054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rPr>
                    <m:nor/>
                    <m:sty m:val="p"/>
                  </m:rPr>
                  <m:t>WAPE</m:t>
                </m:r>
                <m:r>
                  <m:t>=</m:t>
                </m:r>
                <m:f>
                  <m:fPr>
                    <m:type m:val="bar"/>
                  </m:fPr>
                  <m:num>
                    <m:nary>
                      <m:naryPr>
                        <m:chr m:val="∑"/>
                        <m:limLoc m:val="subSup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ℓ</m:t>
                        </m:r>
                      </m:sup>
                      <m:e>
                        <m:r>
                          <m:t>|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t>-</m:t>
                        </m:r>
                        <m:r>
                          <m:t>a</m:t>
                        </m:r>
                        <m:r>
                          <m:t>(</m:t>
                        </m:r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t>)</m:t>
                        </m:r>
                        <m:r>
                          <m:t>|</m:t>
                        </m:r>
                      </m:e>
                    </m:nary>
                  </m:num>
                  <m:den>
                    <m:nary>
                      <m:naryPr>
                        <m:chr m:val="∑"/>
                        <m:limLoc m:val="subSup"/>
                        <m:subHide m:val="off"/>
                        <m:supHide m:val="off"/>
                      </m:naryPr>
                      <m:sub>
                        <m:r>
                          <m:t>i</m:t>
                        </m:r>
                        <m:r>
                          <m:t>=</m:t>
                        </m:r>
                        <m:r>
                          <m:t>1</m:t>
                        </m:r>
                      </m:sub>
                      <m:sup>
                        <m:r>
                          <m:t>ℓ</m:t>
                        </m:r>
                      </m:sup>
                      <m:e>
                        <m:r>
                          <m:t>|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t>|</m:t>
                        </m:r>
                      </m:e>
                    </m:nary>
                  </m:den>
                </m:f>
              </m:oMath>
            </a14:m>
          </a:p>
        </p:txBody>
      </p:sp>
      <p:sp>
        <p:nvSpPr>
          <p:cNvPr id="9" name="v8-content-96">
            <a:extLst xmlns:a="http://schemas.openxmlformats.org/drawingml/2006/main">
              <a:ext uri="{FF2B5EF4-FFF2-40B4-BE49-F238E27FC236}">
                <a16:creationId xmlns:a16="http://schemas.microsoft.com/office/drawing/2014/main" id="{1825150B-2136-4128-A57C-6E3955D0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5286375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Каждый объект имеет равный вес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 среднем относительных ошибок.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 определена при yᵢ = 0.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Малые |yᵢ| дают большие вклады.</a:t>
            </a:r>
          </a:p>
        </p:txBody>
      </p:sp>
      <p:sp>
        <p:nvSpPr>
          <p:cNvPr id="10" name="v8-content-97">
            <a:extLst xmlns:a="http://schemas.openxmlformats.org/drawingml/2006/main">
              <a:ext uri="{FF2B5EF4-FFF2-40B4-BE49-F238E27FC236}">
                <a16:creationId xmlns:a16="http://schemas.microsoft.com/office/drawing/2014/main" id="{77DEC9FE-255C-40AD-AE76-CC6B1DA6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819525"/>
            <a:ext cx="5286375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Нормирует общую абсолютную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ошибку на суммарный объём.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 определена при Σ|yᵢ| = 0.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равной относительной ошибке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вклад крупных объектов больше.</a:t>
            </a:r>
          </a:p>
        </p:txBody>
      </p:sp>
      <p:sp>
        <p:nvSpPr>
          <p:cNvPr id="11" name="v8-content-98">
            <a:extLst xmlns:a="http://schemas.openxmlformats.org/drawingml/2006/main">
              <a:ext uri="{FF2B5EF4-FFF2-40B4-BE49-F238E27FC236}">
                <a16:creationId xmlns:a16="http://schemas.microsoft.com/office/drawing/2014/main" id="{FCC89AA7-F380-4631-B6E0-B2410D1EC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341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Пример: факты (1, 100), ошибки (1, 10). MAPE = 55%, WAPE ≈ 10,9%.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Ошибка в логарифмическом масштабе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99">
            <a:extLst xmlns:a="http://schemas.openxmlformats.org/drawingml/2006/main">
              <a:ext uri="{FF2B5EF4-FFF2-40B4-BE49-F238E27FC236}">
                <a16:creationId xmlns:a16="http://schemas.microsoft.com/office/drawing/2014/main" id="{0B38D747-0A48-4D1D-AACA-7B4E7964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11029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rPr>
                    <m:nor/>
                    <m:sty m:val="p"/>
                  </m:rPr>
                  <m:t>MSLE</m:t>
                </m:r>
                <m:r>
                  <m:t>=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ℓ</m:t>
                    </m:r>
                  </m:den>
                </m:f>
                <m:nary>
                  <m:naryPr>
                    <m:chr m:val="∑"/>
                    <m:limLoc m:val="subSup"/>
                    <m:subHide m:val="off"/>
                    <m:supHide m:val="off"/>
                  </m:naryPr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  <m:e>
                    <m:r>
                      <m:t>(</m:t>
                    </m:r>
                    <m:r>
                      <m:t>log</m:t>
                    </m:r>
                    <m:r>
                      <m:t>(</m:t>
                    </m:r>
                    <m:r>
                      <m:t>1</m:t>
                    </m:r>
                    <m:r>
                      <m:t>+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)</m:t>
                    </m:r>
                    <m:r>
                      <m:t>-</m:t>
                    </m:r>
                    <m:r>
                      <m:t>log</m:t>
                    </m:r>
                    <m:r>
                      <m:t>(</m:t>
                    </m:r>
                    <m:r>
                      <m:t>1</m:t>
                    </m:r>
                    <m:r>
                      <m:t>+</m:t>
                    </m:r>
                    <m:r>
                      <m:t>a</m:t>
                    </m:r>
                    <m:r>
                      <m:t>(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)</m:t>
                    </m:r>
                    <m:r>
                      <m:t>)</m:t>
                    </m:r>
                    <m:sSup>
                      <m:e>
                        <m:r>
                          <m:t>)</m:t>
                        </m:r>
                      </m:e>
                      <m:sup>
                        <m:r>
                          <m:t>2</m:t>
                        </m:r>
                      </m:sup>
                    </m:sSup>
                  </m:e>
                </m:nary>
              </m:oMath>
            </a14:m>
          </a:p>
        </p:txBody>
      </p:sp>
      <p:sp>
        <p:nvSpPr>
          <p:cNvPr id="8" name="v8-content-100">
            <a:extLst xmlns:a="http://schemas.openxmlformats.org/drawingml/2006/main">
              <a:ext uri="{FF2B5EF4-FFF2-40B4-BE49-F238E27FC236}">
                <a16:creationId xmlns:a16="http://schemas.microsoft.com/office/drawing/2014/main" id="{F35C289D-F9BD-4E3A-A054-69F1BED2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81400"/>
            <a:ext cx="11029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rPr>
                    <m:nor/>
                    <m:sty m:val="p"/>
                  </m:rPr>
                  <m:t>RMSLE</m:t>
                </m:r>
                <m:r>
                  <m:t>=</m:t>
                </m:r>
                <m:rad>
                  <m:radPr>
                    <m:degHide m:val="on"/>
                  </m:radPr>
                  <m:deg/>
                  <m:e>
                    <m:r>
                      <m:rPr>
                        <m:nor/>
                        <m:sty m:val="p"/>
                      </m:rPr>
                      <m:t>MSLE</m:t>
                    </m:r>
                  </m:e>
                </m:rad>
              </m:oMath>
            </a14:m>
          </a:p>
        </p:txBody>
      </p:sp>
      <p:sp>
        <p:nvSpPr>
          <p:cNvPr id="9" name="v8-content-101">
            <a:extLst xmlns:a="http://schemas.openxmlformats.org/drawingml/2006/main">
              <a:ext uri="{FF2B5EF4-FFF2-40B4-BE49-F238E27FC236}">
                <a16:creationId xmlns:a16="http://schemas.microsoft.com/office/drawing/2014/main" id="{871D74C4-581C-4352-B2C5-DEDACCD9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1100137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Для неотрицательных величин с большим разбросом масштаба,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например продаж по товарам. Логарифм уменьшает влияние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крупных абсолютных отклонений при больших значениях ответа.</a:t>
            </a:r>
          </a:p>
        </p:txBody>
      </p:sp>
      <p:sp>
        <p:nvSpPr>
          <p:cNvPr id="10" name="v8-content-102">
            <a:extLst xmlns:a="http://schemas.openxmlformats.org/drawingml/2006/main">
              <a:ext uri="{FF2B5EF4-FFF2-40B4-BE49-F238E27FC236}">
                <a16:creationId xmlns:a16="http://schemas.microsoft.com/office/drawing/2014/main" id="{E50D15EC-7C48-46EB-BB70-85C18DD2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81725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RMSLE измеряет отклонения log(1 + y). Она не равна средней процентной ошибке.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Как потеря влияет на прогноз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103">
            <a:extLst xmlns:a="http://schemas.openxmlformats.org/drawingml/2006/main">
              <a:ext uri="{FF2B5EF4-FFF2-40B4-BE49-F238E27FC236}">
                <a16:creationId xmlns:a16="http://schemas.microsoft.com/office/drawing/2014/main" id="{87904737-B23D-4669-AAB6-26DA8327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11001375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Даже при одинаковых признаках время доставки может различаться.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Функция потерь определяет, какую характеристику этого разброса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стремится предсказать модель.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743325"/>
          <a:ext xmlns:a="http://schemas.openxmlformats.org/drawingml/2006/main" cx="11029950" cy="1762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86175"/>
                <a:gridCol w="7343775"/>
              </a:tblGrid>
              <a:tr h="5873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Потеря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К какому прогнозу стремимся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873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Квадратичная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Среднее время при данных признаках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87375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Абсолютная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Медианное время при данных признаках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104">
            <a:extLst xmlns:a="http://schemas.openxmlformats.org/drawingml/2006/main">
              <a:ext uri="{FF2B5EF4-FFF2-40B4-BE49-F238E27FC236}">
                <a16:creationId xmlns:a16="http://schemas.microsoft.com/office/drawing/2014/main" id="{C109D393-FCB3-4D09-8CB3-FF0981DE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124575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Это ориентир при свободном выборе прогноза. Возможности конкретной модели ограничены её семейством.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Потеря Хьюбера (Huber loss)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105">
            <a:extLst xmlns:a="http://schemas.openxmlformats.org/drawingml/2006/main">
              <a:ext uri="{FF2B5EF4-FFF2-40B4-BE49-F238E27FC236}">
                <a16:creationId xmlns:a16="http://schemas.microsoft.com/office/drawing/2014/main" id="{60458312-98AC-4E22-9753-4430C964D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11029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L</m:t>
                    </m:r>
                  </m:e>
                  <m:sub>
                    <m:r>
                      <m:t>δ</m:t>
                    </m:r>
                  </m:sub>
                </m:sSub>
                <m:r>
                  <m:t>(r)=</m:t>
                </m:r>
                <m:d>
                  <m:dPr>
                    <m:begChr m:val="{"/>
                    <m:endChr m:val=""/>
                    <m:grow m:val="1"/>
                  </m:dPr>
                  <m:e>
                    <m:m>
                      <m:mPr>
                        <m:mcs>
                          <m:mc>
                            <m:mcPr>
                              <m:count m:val="2"/>
                              <m:mcJc m:val="left"/>
                            </m:mcPr>
                          </m:mc>
                        </m:mcs>
                      </m:mPr>
                      <m:mr>
                        <m:e>
                          <m:f>
                            <m:fPr>
                              <m:type m:val="bar"/>
                            </m:fPr>
                            <m:num>
                              <m:sSup>
                                <m:e>
                                  <m:r>
                                    <m:t>r</m:t>
                                  </m:r>
                                </m:e>
                                <m:sup>
                                  <m: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m:t>2</m:t>
                              </m:r>
                            </m:den>
                          </m:f>
                          <m:r>
                            <m:t>,</m:t>
                          </m:r>
                        </m:e>
                        <m:e>
                          <m:r>
                            <m:t>|r|≤δ</m:t>
                          </m:r>
                        </m:e>
                      </m:mr>
                      <m:mr>
                        <m:e>
                          <m:r>
                            <m:t>δ(|r|−</m:t>
                          </m:r>
                          <m:f>
                            <m:fPr>
                              <m:type m:val="bar"/>
                            </m:fPr>
                            <m:num>
                              <m:r>
                                <m:t>δ</m:t>
                              </m:r>
                            </m:num>
                            <m:den>
                              <m:r>
                                <m:t>2</m:t>
                              </m:r>
                            </m:den>
                          </m:f>
                          <m:r>
                            <m:t>)</m:t>
                          </m:r>
                          <m:r>
                            <m:t>,</m:t>
                          </m:r>
                        </m:e>
                        <m:e>
                          <m:r>
                            <m:t>|r|&gt;δ</m:t>
                          </m:r>
                        </m:e>
                      </m:mr>
                    </m:m>
                  </m:e>
                </m:d>
              </m:oMath>
            </a14:m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3945255"/>
          <a:ext xmlns:a="http://schemas.openxmlformats.org/drawingml/2006/main" cx="6343650" cy="218884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ed769b3ddb745a9"/>
          </a:graphicData>
        </a:graphic>
      </p:graphicFrame>
      <p:sp>
        <p:nvSpPr>
          <p:cNvPr id="9" name="v8-content-106">
            <a:extLst xmlns:a="http://schemas.openxmlformats.org/drawingml/2006/main">
              <a:ext uri="{FF2B5EF4-FFF2-40B4-BE49-F238E27FC236}">
                <a16:creationId xmlns:a16="http://schemas.microsoft.com/office/drawing/2014/main" id="{0F786B33-345D-49F3-B0DE-50F5EBDE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971925"/>
            <a:ext cx="4191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δ &gt; 0 — порог перехода.</a:t>
            </a:r>
          </a:p>
        </p:txBody>
      </p:sp>
      <p:sp>
        <p:nvSpPr>
          <p:cNvPr id="10" name="v8-content-107">
            <a:extLst xmlns:a="http://schemas.openxmlformats.org/drawingml/2006/main">
              <a:ext uri="{FF2B5EF4-FFF2-40B4-BE49-F238E27FC236}">
                <a16:creationId xmlns:a16="http://schemas.microsoft.com/office/drawing/2014/main" id="{A716CF8C-BE8F-4153-A4FF-92157F53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591050"/>
            <a:ext cx="419100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малых ошибках штраф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квадратичный, при больших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растёт линейно.</a:t>
            </a:r>
          </a:p>
        </p:txBody>
      </p:sp>
      <p:sp>
        <p:nvSpPr>
          <p:cNvPr id="11" name="v8-content-108">
            <a:extLst xmlns:a="http://schemas.openxmlformats.org/drawingml/2006/main">
              <a:ext uri="{FF2B5EF4-FFF2-40B4-BE49-F238E27FC236}">
                <a16:creationId xmlns:a16="http://schemas.microsoft.com/office/drawing/2014/main" id="{86914CDD-E052-401D-B438-5E6397B7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2460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На графике δ = 1,5. По сравнению с квадратичной потерей крупные промахи получают меньший штраф.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Квантильная потеря (Quantile loss)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109">
            <a:extLst xmlns:a="http://schemas.openxmlformats.org/drawingml/2006/main">
              <a:ext uri="{FF2B5EF4-FFF2-40B4-BE49-F238E27FC236}">
                <a16:creationId xmlns:a16="http://schemas.microsoft.com/office/drawing/2014/main" id="{EB495C30-7042-4F12-92B9-4D7BE4AF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11029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b>
                  <m:e>
                    <m:r>
                      <m:t>L</m:t>
                    </m:r>
                  </m:e>
                  <m:sub>
                    <m:r>
                      <m:t>τ</m:t>
                    </m:r>
                  </m:sub>
                </m:sSub>
                <m:r>
                  <m:t>(y,z)=</m:t>
                </m:r>
                <m:d>
                  <m:dPr>
                    <m:begChr m:val="{"/>
                    <m:endChr m:val=""/>
                    <m:grow m:val="1"/>
                  </m:dPr>
                  <m:e>
                    <m:m>
                      <m:mPr>
                        <m:mcs>
                          <m:mc>
                            <m:mcPr>
                              <m:count m:val="2"/>
                              <m:mcJc m:val="left"/>
                            </m:mcPr>
                          </m:mc>
                        </m:mcs>
                      </m:mPr>
                      <m:mr>
                        <m:e>
                          <m:r>
                            <m:t>τ(y−z)</m:t>
                          </m:r>
                          <m:r>
                            <m:t>,</m:t>
                          </m:r>
                        </m:e>
                        <m:e>
                          <m:r>
                            <m:t>y≥z</m:t>
                          </m:r>
                        </m:e>
                      </m:mr>
                      <m:mr>
                        <m:e>
                          <m:r>
                            <m:t>(1−τ)(z−y)</m:t>
                          </m:r>
                          <m:r>
                            <m:t>,</m:t>
                          </m:r>
                        </m:e>
                        <m:e>
                          <m:r>
                            <m:t>y&lt;z</m:t>
                          </m:r>
                        </m:e>
                      </m:mr>
                    </m:m>
                  </m:e>
                </m:d>
              </m:oMath>
            </a14:m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590550" y="3762375"/>
          <a:ext xmlns:a="http://schemas.openxmlformats.org/drawingml/2006/main" cx="6343650" cy="23717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3be70c474aa47e6"/>
          </a:graphicData>
        </a:graphic>
      </p:graphicFrame>
      <p:sp>
        <p:nvSpPr>
          <p:cNvPr id="9" name="v8-content-110">
            <a:extLst xmlns:a="http://schemas.openxmlformats.org/drawingml/2006/main">
              <a:ext uri="{FF2B5EF4-FFF2-40B4-BE49-F238E27FC236}">
                <a16:creationId xmlns:a16="http://schemas.microsoft.com/office/drawing/2014/main" id="{57858E3D-C869-4F75-A722-8A88C72C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933825"/>
            <a:ext cx="4191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0 &lt; τ &lt; 1 задаёт веса ошибок.</a:t>
            </a:r>
          </a:p>
        </p:txBody>
      </p:sp>
      <p:sp>
        <p:nvSpPr>
          <p:cNvPr id="10" name="v8-content-111">
            <a:extLst xmlns:a="http://schemas.openxmlformats.org/drawingml/2006/main">
              <a:ext uri="{FF2B5EF4-FFF2-40B4-BE49-F238E27FC236}">
                <a16:creationId xmlns:a16="http://schemas.microsoft.com/office/drawing/2014/main" id="{8477149C-61B0-4140-82EA-E4C2665DA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810125"/>
            <a:ext cx="4191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 графике τ = 0,8.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Недооценка времени в 4 раза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дороже такой же переоценки.</a:t>
            </a:r>
          </a:p>
        </p:txBody>
      </p:sp>
      <p:sp>
        <p:nvSpPr>
          <p:cNvPr id="11" name="v8-content-112">
            <a:extLst xmlns:a="http://schemas.openxmlformats.org/drawingml/2006/main">
              <a:ext uri="{FF2B5EF4-FFF2-40B4-BE49-F238E27FC236}">
                <a16:creationId xmlns:a16="http://schemas.microsoft.com/office/drawing/2014/main" id="{06FE8470-AD6B-430A-B262-9AF3DF56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4365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При τ = 0,8 ориентир — время, в которое укладываются 80% заказов с такими признаками.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Accuracy: доля правильных ответов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113">
            <a:extLst xmlns:a="http://schemas.openxmlformats.org/drawingml/2006/main">
              <a:ext uri="{FF2B5EF4-FFF2-40B4-BE49-F238E27FC236}">
                <a16:creationId xmlns:a16="http://schemas.microsoft.com/office/drawing/2014/main" id="{7474C335-684B-4A56-8456-57A79E7F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110299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rPr>
                    <m:nor/>
                    <m:sty m:val="p"/>
                  </m:rPr>
                  <m:t>Accuracy</m:t>
                </m:r>
                <m:r>
                  <m:t>=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ℓ</m:t>
                    </m:r>
                  </m:den>
                </m:f>
                <m:nary>
                  <m:naryPr>
                    <m:chr m:val="∑"/>
                    <m:limLoc m:val="subSup"/>
                    <m:subHide m:val="off"/>
                    <m:supHide m:val="off"/>
                  </m:naryPr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  <m:e>
                    <m:r>
                      <m:t>1</m:t>
                    </m:r>
                    <m:r>
                      <m:t>{</m:t>
                    </m:r>
                    <m:r>
                      <m:t>a</m:t>
                    </m:r>
                    <m:r>
                      <m:t>(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)</m:t>
                    </m:r>
                  </m:e>
                </m:nary>
                <m:r>
                  <m:t>=</m:t>
                </m:r>
                <m:sSub>
                  <m:e>
                    <m:r>
                      <m:t>y</m:t>
                    </m:r>
                  </m:e>
                  <m:sub>
                    <m:r>
                      <m:t>i</m:t>
                    </m:r>
                  </m:sub>
                </m:sSub>
                <m:r>
                  <m:t>}</m:t>
                </m:r>
              </m:oMath>
            </a14:m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695700"/>
          <a:ext xmlns:a="http://schemas.openxmlformats.org/drawingml/2006/main" cx="11029950" cy="1619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981450"/>
                <a:gridCol w="3524250"/>
                <a:gridCol w="3524250"/>
              </a:tblGrid>
              <a:tr h="5397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Фактический исход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Прогноз «вовремя»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Прогноз «опоздание»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397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Вовремя: 950 заказов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930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397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Опоздание: 50 заказов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114">
            <a:extLst xmlns:a="http://schemas.openxmlformats.org/drawingml/2006/main">
              <a:ext uri="{FF2B5EF4-FFF2-40B4-BE49-F238E27FC236}">
                <a16:creationId xmlns:a16="http://schemas.microsoft.com/office/drawing/2014/main" id="{C301ECFF-E2BD-4C06-8D24-FEB7B6626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657850"/>
            <a:ext cx="11001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Верно 960 ответов из 1000: accuracy = 96%.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При этом модель пропустила 20 из 50 опозданий.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Критерий качества в задаче доставки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90550" y="2619375"/>
          <a:ext xmlns:a="http://schemas.openxmlformats.org/drawingml/2006/main" cx="11029950" cy="24574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210425"/>
                <a:gridCol w="3819525"/>
              </a:tblGrid>
              <a:tr h="61436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Что важно сервису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Чем измеряем качество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61436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Типичный размер отклонения в минутах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MAE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61436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Крупные отклонения особенно нежелательны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RMSE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4363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Недооценка и переоценка имеют разную цену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950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Средняя стоимость ошибок с учётом их знака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8" name="v8-content-115">
            <a:extLst xmlns:a="http://schemas.openxmlformats.org/drawingml/2006/main">
              <a:ext uri="{FF2B5EF4-FFF2-40B4-BE49-F238E27FC236}">
                <a16:creationId xmlns:a16="http://schemas.microsoft.com/office/drawing/2014/main" id="{CB82E1BC-314A-478D-A8BA-93558E27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1100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Критерий обучения выбираем под эту цель. Дополнительно проверяем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ошибки по районам, нагрузке и времени суток: среднее по сервису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может скрыть проблемы в отдельных группах заказов.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Обучающая, валидационная и тестовая выборки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116">
            <a:extLst xmlns:a="http://schemas.openxmlformats.org/drawingml/2006/main">
              <a:ext uri="{FF2B5EF4-FFF2-40B4-BE49-F238E27FC236}">
                <a16:creationId xmlns:a16="http://schemas.microsoft.com/office/drawing/2014/main" id="{F376A141-A1AF-46CF-9A64-0A29B9E8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11001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Качество на данных обучения может быть завышено: модель подбирали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0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 их ответам. Для выбора и проверки нужны отдельные данные.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590550" y="3514725"/>
          <a:ext xmlns:a="http://schemas.openxmlformats.org/drawingml/2006/main" cx="11029950" cy="24193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400550"/>
                <a:gridCol w="6629400"/>
              </a:tblGrid>
              <a:tr h="6048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Часть данных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Назначение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6048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Train: обучение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Подбираем параметры модели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6048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Validation: выбор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Сравниваем варианты модели и выбираем лучший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04838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Test: проверка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Оцениваем выбранное решение после завершения подбора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117">
            <a:extLst xmlns:a="http://schemas.openxmlformats.org/drawingml/2006/main">
              <a:ext uri="{FF2B5EF4-FFF2-40B4-BE49-F238E27FC236}">
                <a16:creationId xmlns:a16="http://schemas.microsoft.com/office/drawing/2014/main" id="{EFA8C085-E4F2-45F0-8664-962505ED3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76975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Все части должны соответствовать сценарию применения. Далее посмотрим, зачем их разделять.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Ошибка на обучении и на новых объектах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90550" y="2400300"/>
          <a:ext xmlns:a="http://schemas.openxmlformats.org/drawingml/2006/main" cx="6686550" cy="35337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3e81f55dae429a"/>
          </a:graphicData>
        </a:graphic>
      </p:graphicFrame>
      <p:graphicFrame>
        <p:nvGraphicFramePr>
          <p:cNvPr id="17" name=""/>
          <p:cNvGraphicFramePr/>
          <p:nvPr/>
        </p:nvGraphicFramePr>
        <p:xfrm>
          <a:off xmlns:a="http://schemas.openxmlformats.org/drawingml/2006/main" x="7658100" y="2543175"/>
          <a:ext xmlns:a="http://schemas.openxmlformats.org/drawingml/2006/main" cx="3886200" cy="1809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47850"/>
                <a:gridCol w="1019175"/>
                <a:gridCol w="1019175"/>
              </a:tblGrid>
              <a:tr h="603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MSE, мин²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Train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Valid.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603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Линейная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0,38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0,13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60325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Гибкая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6,58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v8-content-118">
            <a:extLst xmlns:a="http://schemas.openxmlformats.org/drawingml/2006/main">
              <a:ext uri="{FF2B5EF4-FFF2-40B4-BE49-F238E27FC236}">
                <a16:creationId xmlns:a16="http://schemas.microsoft.com/office/drawing/2014/main" id="{EEEF9045-9622-464B-AD6E-4257AD01F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91075"/>
            <a:ext cx="3876675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Увеличение гибкости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позволяет точнее описать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train, но не гарантирует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950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качество на validation.</a:t>
            </a:r>
          </a:p>
        </p:txBody>
      </p:sp>
      <p:sp>
        <p:nvSpPr>
          <p:cNvPr id="10" name="v8-content-119">
            <a:extLst xmlns:a="http://schemas.openxmlformats.org/drawingml/2006/main">
              <a:ext uri="{FF2B5EF4-FFF2-40B4-BE49-F238E27FC236}">
                <a16:creationId xmlns:a16="http://schemas.microsoft.com/office/drawing/2014/main" id="{2F582552-C4FB-4B3D-B5AB-CC8851C1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15075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Синтетический пример. Сравнение семейств требует данных, не использованных для подгонки.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Подбор модели и итоговая проверка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sp>
        <p:nvSpPr>
          <p:cNvPr id="7" name="v8-content-120">
            <a:extLst xmlns:a="http://schemas.openxmlformats.org/drawingml/2006/main">
              <a:ext uri="{FF2B5EF4-FFF2-40B4-BE49-F238E27FC236}">
                <a16:creationId xmlns:a16="http://schemas.microsoft.com/office/drawing/2014/main" id="{0804E8CD-15B7-4140-9F4F-17A893D9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336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1</a:t>
            </a:r>
          </a:p>
        </p:txBody>
      </p:sp>
      <p:sp>
        <p:nvSpPr>
          <p:cNvPr id="8" name="v8-content-121">
            <a:extLst xmlns:a="http://schemas.openxmlformats.org/drawingml/2006/main">
              <a:ext uri="{FF2B5EF4-FFF2-40B4-BE49-F238E27FC236}">
                <a16:creationId xmlns:a16="http://schemas.microsoft.com/office/drawing/2014/main" id="{D41D6E7A-1A00-4806-8AFF-6F2416C4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33625"/>
            <a:ext cx="1004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Обучаем варианты на train</a:t>
            </a:r>
          </a:p>
        </p:txBody>
      </p:sp>
      <p:sp>
        <p:nvSpPr>
          <p:cNvPr id="9" name="v8-content-122">
            <a:extLst xmlns:a="http://schemas.openxmlformats.org/drawingml/2006/main">
              <a:ext uri="{FF2B5EF4-FFF2-40B4-BE49-F238E27FC236}">
                <a16:creationId xmlns:a16="http://schemas.microsoft.com/office/drawing/2014/main" id="{433475E7-8068-43A6-B31E-6D28BFBD2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47975"/>
            <a:ext cx="1004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Например, сравниваем разные наборы признаков и семейства моделей.</a:t>
            </a:r>
          </a:p>
        </p:txBody>
      </p:sp>
      <p:sp>
        <p:nvSpPr>
          <p:cNvPr id="10" name="v8-content-123">
            <a:extLst xmlns:a="http://schemas.openxmlformats.org/drawingml/2006/main">
              <a:ext uri="{FF2B5EF4-FFF2-40B4-BE49-F238E27FC236}">
                <a16:creationId xmlns:a16="http://schemas.microsoft.com/office/drawing/2014/main" id="{25877FEA-6BF8-48CD-9063-78E6BFD2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052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2</a:t>
            </a:r>
          </a:p>
        </p:txBody>
      </p:sp>
      <p:sp>
        <p:nvSpPr>
          <p:cNvPr id="11" name="v8-content-124">
            <a:extLst xmlns:a="http://schemas.openxmlformats.org/drawingml/2006/main">
              <a:ext uri="{FF2B5EF4-FFF2-40B4-BE49-F238E27FC236}">
                <a16:creationId xmlns:a16="http://schemas.microsoft.com/office/drawing/2014/main" id="{DECDD065-0CA1-4E9E-8D69-E1079ABF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05200"/>
            <a:ext cx="1004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Сравниваем варианты на validation</a:t>
            </a:r>
          </a:p>
        </p:txBody>
      </p:sp>
      <p:sp>
        <p:nvSpPr>
          <p:cNvPr id="12" name="v8-content-125">
            <a:extLst xmlns:a="http://schemas.openxmlformats.org/drawingml/2006/main">
              <a:ext uri="{FF2B5EF4-FFF2-40B4-BE49-F238E27FC236}">
                <a16:creationId xmlns:a16="http://schemas.microsoft.com/office/drawing/2014/main" id="{CAD69AAC-E1FA-413D-BD38-340119AB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019550"/>
            <a:ext cx="1004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Считаем заранее выбранную метрику и фиксируем решение.</a:t>
            </a:r>
          </a:p>
        </p:txBody>
      </p:sp>
      <p:sp>
        <p:nvSpPr>
          <p:cNvPr id="13" name="v8-content-126">
            <a:extLst xmlns:a="http://schemas.openxmlformats.org/drawingml/2006/main">
              <a:ext uri="{FF2B5EF4-FFF2-40B4-BE49-F238E27FC236}">
                <a16:creationId xmlns:a16="http://schemas.microsoft.com/office/drawing/2014/main" id="{EBA63100-E95A-4264-BA8B-E0E60810D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7677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234A9B"/>
                </a:solidFill>
                <a:latin typeface="HSE Sans"/>
                <a:ea typeface="HSE Sans"/>
                <a:cs typeface="HSE Sans"/>
              </a:defRPr>
            </a:pPr>
            <a:r>
              <a:rPr sz="2400" b="1">
                <a:solidFill>
                  <a:srgbClr val="234A9B"/>
                </a:solidFill>
                <a:latin typeface="HSE Sans"/>
                <a:ea typeface="HSE Sans"/>
                <a:cs typeface="HSE Sans"/>
              </a:rPr>
              <a:t>3</a:t>
            </a:r>
          </a:p>
        </p:txBody>
      </p:sp>
      <p:sp>
        <p:nvSpPr>
          <p:cNvPr id="14" name="v8-content-127">
            <a:extLst xmlns:a="http://schemas.openxmlformats.org/drawingml/2006/main">
              <a:ext uri="{FF2B5EF4-FFF2-40B4-BE49-F238E27FC236}">
                <a16:creationId xmlns:a16="http://schemas.microsoft.com/office/drawing/2014/main" id="{6320CDFD-17D1-47D0-BE3E-D7243814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676775"/>
            <a:ext cx="10048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175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Оцениваем решение на test</a:t>
            </a:r>
          </a:p>
        </p:txBody>
      </p:sp>
      <p:sp>
        <p:nvSpPr>
          <p:cNvPr id="15" name="v8-content-128">
            <a:extLst xmlns:a="http://schemas.openxmlformats.org/drawingml/2006/main">
              <a:ext uri="{FF2B5EF4-FFF2-40B4-BE49-F238E27FC236}">
                <a16:creationId xmlns:a16="http://schemas.microsoft.com/office/drawing/2014/main" id="{25180194-1129-46FB-90AE-FAB752A6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191125"/>
            <a:ext cx="1004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87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Получаем итоговую оценку качества на отложенных данных.</a:t>
            </a:r>
          </a:p>
        </p:txBody>
      </p:sp>
      <p:sp>
        <p:nvSpPr>
          <p:cNvPr id="16" name="v8-content-129">
            <a:extLst xmlns:a="http://schemas.openxmlformats.org/drawingml/2006/main">
              <a:ext uri="{FF2B5EF4-FFF2-40B4-BE49-F238E27FC236}">
                <a16:creationId xmlns:a16="http://schemas.microsoft.com/office/drawing/2014/main" id="{03B06125-8990-44DE-A838-6FF284A4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72225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Если выбирать модель по test, он тоже становится частью подбора и теряет роль финальной проверки.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Разбиение для прогноза будущих заказов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 Обучение и оценка качества</a:t>
            </a:r>
            <a:endParaRPr/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90550" y="2352675"/>
          <a:ext xmlns:a="http://schemas.openxmlformats.org/drawingml/2006/main" cx="11029950" cy="26289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47975"/>
                <a:gridCol w="2209800"/>
                <a:gridCol w="5972175"/>
              </a:tblGrid>
              <a:tr h="52578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Период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Роль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SE Sans"/>
                          <a:ea typeface="HSE Sans"/>
                          <a:cs typeface="HSE Sans"/>
                        </a:rPr>
                        <a:t>Что делаем</a:t>
                      </a:r>
                    </a:p>
                  </a:txBody>
                  <a:tcPr marL="91440" marR="91440" marT="45720" marB="45720" anchor="ctr">
                    <a:solidFill>
                      <a:srgbClr val="102D69"/>
                    </a:solidFill>
                  </a:tcPr>
                </a:tc>
              </a:tr>
              <a:tr h="52578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Январь — март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Train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Оценить преобразования и параметры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2578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Апрель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Validation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Сравнить признаки, семейства, критерии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Май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Test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Один раз оценить выбранное решение</a:t>
                      </a:r>
                    </a:p>
                  </a:txBody>
                  <a:tcPr marL="91440" marR="91440" marT="45720" marB="45720" anchor="ctr">
                    <a:solidFill>
                      <a:srgbClr val="EFF4FB"/>
                    </a:solidFill>
                  </a:tcPr>
                </a:tc>
              </a:tr>
              <a:tr h="525780"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Июнь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Применение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66675" rIns="114300" bIns="66675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02D69"/>
                          </a:solidFill>
                          <a:latin typeface="HSE Sans"/>
                          <a:ea typeface="HSE Sans"/>
                          <a:cs typeface="HSE Sans"/>
                        </a:rPr>
                        <a:t>Строить прогнозы для новых заказов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v8-content-130">
            <a:extLst xmlns:a="http://schemas.openxmlformats.org/drawingml/2006/main">
              <a:ext uri="{FF2B5EF4-FFF2-40B4-BE49-F238E27FC236}">
                <a16:creationId xmlns:a16="http://schemas.microsoft.com/office/drawing/2014/main" id="{DD77A0B1-9CAA-496E-994E-894C600A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334000"/>
            <a:ext cx="11001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Случайное смешивание дат может скрыть изменения нагрузки,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2025" b="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2025" b="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сезонности и условий доставки.</a:t>
            </a:r>
          </a:p>
        </p:txBody>
      </p:sp>
      <p:sp>
        <p:nvSpPr>
          <p:cNvPr id="9" name="v8-content-131">
            <a:extLst xmlns:a="http://schemas.openxmlformats.org/drawingml/2006/main">
              <a:ext uri="{FF2B5EF4-FFF2-40B4-BE49-F238E27FC236}">
                <a16:creationId xmlns:a16="http://schemas.microsoft.com/office/drawing/2014/main" id="{255E4797-DE28-42AB-8EEF-E734E406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05550"/>
            <a:ext cx="1100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5F6B7A"/>
                </a:solidFill>
                <a:latin typeface="HSE Sans"/>
                <a:ea typeface="HSE Sans"/>
                <a:cs typeface="HSE Sans"/>
              </a:defRPr>
            </a:pPr>
            <a:r>
              <a:rPr sz="1650" b="0">
                <a:solidFill>
                  <a:srgbClr val="5F6B7A"/>
                </a:solidFill>
                <a:latin typeface="HSE Sans"/>
                <a:ea typeface="HSE Sans"/>
                <a:cs typeface="HSE Sans"/>
              </a:rPr>
              <a:t>Ответы на test не используем при подборе модели и признаков.</a:t>
            </a:r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648CF85-8F56-2C4F-8090-85FF4624B58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143689" y="540904"/>
            <a:ext cx="2007884" cy="415925"/>
          </a:xfr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Национальный исследовательский</a:t>
            </a:r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университет «Высшая школа</a:t>
            </a:r>
            <a:endParaRPr/>
          </a:p>
          <a:p xmlns:a="http://schemas.openxmlformats.org/drawingml/2006/main">
            <a:pPr>
              <a:defRPr sz="1000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1000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экономики»</a:t>
            </a:r>
            <a:endParaRPr/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5576F3CC-3C73-F441-AAE6-50AF712EACB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Введение в машинное обучение</a:t>
            </a:r>
            <a:endParaRPr/>
          </a:p>
        </p:txBody>
      </p: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C7D49100-ECF5-A24F-9537-3BD16DFCCC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85788" y="1438275"/>
            <a:ext cx="11058525" cy="647700"/>
          </a:xfr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3200" b="1">
                <a:solidFill>
                  <a:srgbClr val="102D69"/>
                </a:solidFill>
                <a:latin typeface="HSE Sans"/>
                <a:ea typeface="HSE Sans"/>
                <a:cs typeface="HSE Sans"/>
              </a:defRPr>
            </a:pPr>
            <a:r>
              <a:rPr sz="3200" b="1">
                <a:solidFill>
                  <a:srgbClr val="102D69"/>
                </a:solidFill>
                <a:latin typeface="HSE Sans"/>
                <a:ea typeface="HSE Sans"/>
                <a:cs typeface="HSE Sans"/>
              </a:rPr>
              <a:t>Математическая постановка: резюме</a:t>
            </a:r>
            <a:endParaRPr sz="3200" b="1"/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F4B1D31-3576-0740-BA52-B317564F66BD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Итоги лекции</a:t>
            </a:r>
            <a:endParaRPr/>
          </a:p>
        </p:txBody>
      </p:sp>
      <p:sp>
        <p:nvSpPr>
          <p:cNvPr id="7" name="v8-content-132">
            <a:extLst xmlns:a="http://schemas.openxmlformats.org/drawingml/2006/main">
              <a:ext uri="{FF2B5EF4-FFF2-40B4-BE49-F238E27FC236}">
                <a16:creationId xmlns:a16="http://schemas.microsoft.com/office/drawing/2014/main" id="{3AC93306-487A-4489-8AC9-78471927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38375"/>
            <a:ext cx="11029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X</m:t>
                </m:r>
                <m:r>
                  <m:t>=</m:t>
                </m:r>
                <m:r>
                  <m:t>{</m:t>
                </m:r>
                <m:r>
                  <m:t>(</m:t>
                </m:r>
                <m:sSub>
                  <m:e>
                    <m:r>
                      <m:t>x</m:t>
                    </m:r>
                  </m:e>
                  <m:sub>
                    <m:r>
                      <m:t>i</m:t>
                    </m:r>
                  </m:sub>
                </m:sSub>
                <m:r>
                  <m:t>,</m:t>
                </m:r>
                <m:sSub>
                  <m:e>
                    <m:r>
                      <m:t>y</m:t>
                    </m:r>
                  </m:e>
                  <m:sub>
                    <m:r>
                      <m:t>i</m:t>
                    </m:r>
                  </m:sub>
                </m:sSub>
                <m:r>
                  <m:t>)</m:t>
                </m:r>
                <m:sSubSup>
                  <m:e>
                    <m:r>
                      <m:t>}</m:t>
                    </m:r>
                  </m:e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</m:sSubSup>
                <m:r>
                  <m:t>,</m:t>
                </m:r>
                <m:r>
                  <m:t xml:space="preserve"> </m:t>
                </m:r>
                <m:sSub>
                  <m:e>
                    <m:r>
                      <m:t>x</m:t>
                    </m:r>
                  </m:e>
                  <m:sub>
                    <m:r>
                      <m:t>i</m:t>
                    </m:r>
                  </m:sub>
                </m:sSub>
                <m:r>
                  <m:t>∈</m:t>
                </m:r>
                <m:r>
                  <m:rPr>
                    <m:nor/>
                    <m:sty m:val="p"/>
                  </m:rPr>
                  <m:t>𝕏</m:t>
                </m:r>
                <m:r>
                  <m:t>,</m:t>
                </m:r>
                <m:r>
                  <m:t xml:space="preserve"> </m:t>
                </m:r>
                <m:sSub>
                  <m:e>
                    <m:r>
                      <m:t>y</m:t>
                    </m:r>
                  </m:e>
                  <m:sub>
                    <m:r>
                      <m:t>i</m:t>
                    </m:r>
                  </m:sub>
                </m:sSub>
                <m:r>
                  <m:t>∈</m:t>
                </m:r>
                <m:r>
                  <m:rPr>
                    <m:nor/>
                    <m:sty m:val="p"/>
                  </m:rPr>
                  <m:t>𝕐</m:t>
                </m:r>
              </m:oMath>
            </a14:m>
          </a:p>
        </p:txBody>
      </p:sp>
      <p:sp>
        <p:nvSpPr>
          <p:cNvPr id="8" name="v8-content-133">
            <a:extLst xmlns:a="http://schemas.openxmlformats.org/drawingml/2006/main">
              <a:ext uri="{FF2B5EF4-FFF2-40B4-BE49-F238E27FC236}">
                <a16:creationId xmlns:a16="http://schemas.microsoft.com/office/drawing/2014/main" id="{D49BAF1D-57A3-4F6C-83CB-5D886012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561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a</m:t>
                </m:r>
                <m:r>
                  <m:t>∈</m:t>
                </m:r>
                <m:r>
                  <m:rPr>
                    <m:nor/>
                    <m:sty m:val="p"/>
                  </m:rPr>
                  <m:t>𝒜</m:t>
                </m:r>
                <m:r>
                  <m:t>,</m:t>
                </m:r>
                <m:r>
                  <m:t xml:space="preserve"> </m:t>
                </m:r>
                <m:r>
                  <m:t>a</m:t>
                </m:r>
                <m:r>
                  <m:t>:</m:t>
                </m:r>
                <m:r>
                  <m:rPr>
                    <m:nor/>
                    <m:sty m:val="p"/>
                  </m:rPr>
                  <m:t>𝕏</m:t>
                </m:r>
                <m:r>
                  <m:t>→</m:t>
                </m:r>
                <m:r>
                  <m:rPr>
                    <m:nor/>
                    <m:sty m:val="p"/>
                  </m:rPr>
                  <m:t>𝕐</m:t>
                </m:r>
              </m:oMath>
            </a14:m>
          </a:p>
        </p:txBody>
      </p:sp>
      <p:sp>
        <p:nvSpPr>
          <p:cNvPr id="9" name="v8-content-134">
            <a:extLst xmlns:a="http://schemas.openxmlformats.org/drawingml/2006/main">
              <a:ext uri="{FF2B5EF4-FFF2-40B4-BE49-F238E27FC236}">
                <a16:creationId xmlns:a16="http://schemas.microsoft.com/office/drawing/2014/main" id="{3FACC594-AADB-4765-9A31-10BEE5A3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371850"/>
            <a:ext cx="4895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L</m:t>
                </m:r>
                <m:r>
                  <m:t>:</m:t>
                </m:r>
                <m:r>
                  <m:rPr>
                    <m:nor/>
                    <m:sty m:val="p"/>
                  </m:rPr>
                  <m:t>𝕐</m:t>
                </m:r>
                <m:r>
                  <m:t>×</m:t>
                </m:r>
                <m:r>
                  <m:rPr>
                    <m:nor/>
                    <m:sty m:val="p"/>
                  </m:rPr>
                  <m:t>𝕐</m:t>
                </m:r>
                <m:r>
                  <m:t>→</m:t>
                </m:r>
                <m:sSub>
                  <m:e>
                    <m:r>
                      <m:t>ℝ</m:t>
                    </m:r>
                  </m:e>
                  <m:sub>
                    <m:r>
                      <m:t>≥</m:t>
                    </m:r>
                    <m:r>
                      <m:t>0</m:t>
                    </m:r>
                  </m:sub>
                </m:sSub>
              </m:oMath>
            </a14:m>
          </a:p>
        </p:txBody>
      </p:sp>
      <p:sp>
        <p:nvSpPr>
          <p:cNvPr id="10" name="v8-content-135">
            <a:extLst xmlns:a="http://schemas.openxmlformats.org/drawingml/2006/main">
              <a:ext uri="{FF2B5EF4-FFF2-40B4-BE49-F238E27FC236}">
                <a16:creationId xmlns:a16="http://schemas.microsoft.com/office/drawing/2014/main" id="{E9F1B370-7D07-45E6-BB58-8BE23A57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11029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r>
                  <m:t>Q</m:t>
                </m:r>
                <m:r>
                  <m:t>(</m:t>
                </m:r>
                <m:r>
                  <m:t>a</m:t>
                </m:r>
                <m:r>
                  <m:t>,</m:t>
                </m:r>
                <m:r>
                  <m:t>X</m:t>
                </m:r>
                <m:r>
                  <m:t>)</m:t>
                </m:r>
                <m:r>
                  <m:t>=</m:t>
                </m:r>
                <m:f>
                  <m:fPr>
                    <m:type m:val="bar"/>
                  </m:fPr>
                  <m:num>
                    <m:r>
                      <m:t>1</m:t>
                    </m:r>
                  </m:num>
                  <m:den>
                    <m:r>
                      <m:t>ℓ</m:t>
                    </m:r>
                  </m:den>
                </m:f>
                <m:nary>
                  <m:naryPr>
                    <m:chr m:val="∑"/>
                    <m:limLoc m:val="subSup"/>
                    <m:subHide m:val="off"/>
                    <m:supHide m:val="off"/>
                  </m:naryPr>
                  <m:sub>
                    <m:r>
                      <m:t>i</m:t>
                    </m:r>
                    <m:r>
                      <m:t>=</m:t>
                    </m:r>
                    <m:r>
                      <m:t>1</m:t>
                    </m:r>
                  </m:sub>
                  <m:sup>
                    <m:r>
                      <m:t>ℓ</m:t>
                    </m:r>
                  </m:sup>
                  <m:e>
                    <m:r>
                      <m:t>L</m:t>
                    </m:r>
                    <m:r>
                      <m:t>(</m:t>
                    </m:r>
                    <m:sSub>
                      <m:e>
                        <m:r>
                          <m:t>y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,</m:t>
                    </m:r>
                    <m:r>
                      <m:t>a</m:t>
                    </m:r>
                    <m:r>
                      <m:t>(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t>)</m:t>
                    </m:r>
                    <m:r>
                      <m:t>)</m:t>
                    </m:r>
                  </m:e>
                </m:nary>
              </m:oMath>
            </a14:m>
          </a:p>
        </p:txBody>
      </p:sp>
      <p:sp>
        <p:nvSpPr>
          <p:cNvPr id="11" name="v8-content-136">
            <a:extLst xmlns:a="http://schemas.openxmlformats.org/drawingml/2006/main">
              <a:ext uri="{FF2B5EF4-FFF2-40B4-BE49-F238E27FC236}">
                <a16:creationId xmlns:a16="http://schemas.microsoft.com/office/drawing/2014/main" id="{56774335-8E85-4FE1-854D-9CC18349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34025"/>
            <a:ext cx="110299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>
                <a:solidFill>
                  <a:srgbClr val="102D69"/>
                </a:solidFill>
                <a:latin typeface="Cambria Math"/>
                <a:ea typeface="Cambria Math"/>
                <a:cs typeface="Cambria Math"/>
              </a:defRPr>
            </a:pPr>
            <a14:m xmlns:a14="http://schemas.microsoft.com/office/drawing/2010/main">
              <m:oMath xmlns:m="http://schemas.openxmlformats.org/officeDocument/2006/math">
                <m:sSup>
                  <m:e>
                    <m:r>
                      <m:t>a</m:t>
                    </m:r>
                  </m:e>
                  <m:sup>
                    <m:r>
                      <m:t>*</m:t>
                    </m:r>
                  </m:sup>
                </m:sSup>
                <m:r>
                  <m:t>∈</m:t>
                </m:r>
                <m:sSub>
                  <m:e>
                    <m:r>
                      <m:rPr>
                        <m:nor/>
                        <m:sty m:val="p"/>
                      </m:rPr>
                      <m:t>argmin</m:t>
                    </m:r>
                  </m:e>
                  <m:sub>
                    <m:r>
                      <m:t>a</m:t>
                    </m:r>
                    <m:r>
                      <m:t>∈</m:t>
                    </m:r>
                    <m:r>
                      <m:rPr>
                        <m:nor/>
                        <m:sty m:val="p"/>
                      </m:rPr>
                      <m:t>𝒜</m:t>
                    </m:r>
                  </m:sub>
                </m:sSub>
                <m:r>
                  <m:t>Q</m:t>
                </m:r>
                <m:r>
                  <m:t>(</m:t>
                </m:r>
                <m:r>
                  <m:t>a</m:t>
                </m:r>
                <m:r>
                  <m:t>,</m:t>
                </m:r>
                <m:r>
                  <m:t>X</m:t>
                </m:r>
                <m:r>
                  <m:t>)</m:t>
                </m:r>
              </m:oMath>
            </a14:m>
          </a:p>
        </p:txBody>
      </p:sp>
    </p:spTree>
    <p:extLst>
      <p:ext uri="{BB962C8B-B14F-4D97-AF65-F5344CB8AC3E}">
        <p14:creationId xmlns:p14="http://schemas.microsoft.com/office/powerpoint/2010/main" val="140984671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8-content-137">
            <a:extLst xmlns:a="http://schemas.openxmlformats.org/drawingml/2006/main">
              <a:ext uri="{FF2B5EF4-FFF2-40B4-BE49-F238E27FC236}">
                <a16:creationId xmlns:a16="http://schemas.microsoft.com/office/drawing/2014/main" id="{AE517BBC-C091-452B-A6B6-D4E10472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62550"/>
            <a:ext cx="11010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700" b="0">
                <a:solidFill>
                  <a:srgbClr val="FFFFFF"/>
                </a:solidFill>
                <a:latin typeface="HSE Sans"/>
                <a:ea typeface="HSE Sans"/>
                <a:cs typeface="HSE Sans"/>
              </a:defRPr>
            </a:pPr>
            <a:r>
              <a:rPr sz="2700" b="0">
                <a:solidFill>
                  <a:srgbClr val="FFFFFF"/>
                </a:solidFill>
                <a:latin typeface="HSE Sans"/>
                <a:ea typeface="HSE Sans"/>
                <a:cs typeface="HSE Sans"/>
              </a:rPr>
              <a:t>Вопросы</a:t>
            </a:r>
          </a:p>
        </p:txBody>
      </p:sp>
    </p:spTree>
    <p:extLst>
      <p:ext uri="{BB962C8B-B14F-4D97-AF65-F5344CB8AC3E}">
        <p14:creationId xmlns:p14="http://schemas.microsoft.com/office/powerpoint/2010/main" val="1282161965"/>
      </p:ext>
    </p:extLst>
  </p:cSld>
</p:sld>
</file>

<file path=ppt/theme/theme1.xml><?xml version="1.0" encoding="utf-8"?>
<a:theme xmlns:a="http://schemas.openxmlformats.org/drawingml/2006/main" name="Office Theme">
  <a:themeElements>
    <a:clrScheme name="Пользовательские 1">
      <a:dk1>
        <a:srgbClr val="0F2C68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Пользовательские 1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2026-09-08T23:08:09.3210000Z</dcterms:created>
  <dcterms:modified xsi:type="dcterms:W3CDTF">2026-09-08T23:08:09.3210000Z</dcterms:modified>
</coreProperties>
</file>